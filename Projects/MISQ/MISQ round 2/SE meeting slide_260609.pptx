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7"/>
  </p:notesMasterIdLst>
  <p:sldIdLst>
    <p:sldId id="260" r:id="rId2"/>
    <p:sldId id="349" r:id="rId3"/>
    <p:sldId id="350" r:id="rId4"/>
    <p:sldId id="348" r:id="rId5"/>
    <p:sldId id="322" r:id="rId6"/>
    <p:sldId id="334" r:id="rId7"/>
    <p:sldId id="333" r:id="rId8"/>
    <p:sldId id="347" r:id="rId9"/>
    <p:sldId id="344" r:id="rId10"/>
    <p:sldId id="346" r:id="rId11"/>
    <p:sldId id="343" r:id="rId12"/>
    <p:sldId id="335" r:id="rId13"/>
    <p:sldId id="336" r:id="rId14"/>
    <p:sldId id="342" r:id="rId15"/>
    <p:sldId id="341" r:id="rId16"/>
  </p:sldIdLst>
  <p:sldSz cx="14630400" cy="6858000"/>
  <p:notesSz cx="6858000" cy="9144000"/>
  <p:embeddedFontLst>
    <p:embeddedFont>
      <p:font typeface="等线" panose="02010600030101010101" pitchFamily="2" charset="-122"/>
      <p:regular r:id="rId18"/>
      <p:bold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ato Black" panose="020F0502020204030203" pitchFamily="34" charset="0"/>
      <p:bold r:id="rId30"/>
      <p:italic r:id="rId31"/>
      <p:boldItalic r:id="rId32"/>
    </p:embeddedFont>
    <p:embeddedFont>
      <p:font typeface="Lato Light" panose="020F0502020204030203" pitchFamily="34" charset="0"/>
      <p:regular r:id="rId33"/>
      <p: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49"/>
            <p14:sldId id="350"/>
            <p14:sldId id="348"/>
            <p14:sldId id="322"/>
            <p14:sldId id="334"/>
            <p14:sldId id="333"/>
            <p14:sldId id="347"/>
            <p14:sldId id="344"/>
            <p14:sldId id="346"/>
            <p14:sldId id="343"/>
            <p14:sldId id="335"/>
            <p14:sldId id="336"/>
            <p14:sldId id="342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2" autoAdjust="0"/>
    <p:restoredTop sz="96044" autoAdjust="0"/>
  </p:normalViewPr>
  <p:slideViewPr>
    <p:cSldViewPr snapToGrid="0" showGuides="1">
      <p:cViewPr varScale="1">
        <p:scale>
          <a:sx n="136" d="100"/>
          <a:sy n="136" d="100"/>
        </p:scale>
        <p:origin x="1000" y="192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5/10/relationships/revisionInfo" Target="revisionInfo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ylanchen/Desktop/geek-community/Projects/MISQ/MISQ%20round%202/writeup/meeting260609_summariz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ylanchen/Desktop/geek-community/Projects/MISQ/MISQ%20round%202/writeup/meeting260609_summariz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298158144509534"/>
          <c:y val="2.9360309504368218E-2"/>
          <c:w val="0.83216836007543871"/>
          <c:h val="0.82913332350703361"/>
        </c:manualLayout>
      </c:layout>
      <c:scatterChart>
        <c:scatterStyle val="lineMarker"/>
        <c:varyColors val="0"/>
        <c:ser>
          <c:idx val="0"/>
          <c:order val="0"/>
          <c:tx>
            <c:strRef>
              <c:f>'interaction plot (20260608)'!$B$17</c:f>
              <c:strCache>
                <c:ptCount val="1"/>
                <c:pt idx="0">
                  <c:v>AI Answer</c:v>
                </c:pt>
              </c:strCache>
            </c:strRef>
          </c:tx>
          <c:spPr>
            <a:ln w="19050" cap="flat" cmpd="sng" algn="ctr">
              <a:solidFill>
                <a:schemeClr val="accent4"/>
              </a:solidFill>
              <a:prstDash val="solid"/>
              <a:miter lim="800000"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noFill/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accent4"/>
                </a:solidFill>
                <a:ln w="9525">
                  <a:noFill/>
                </a:ln>
                <a:effectLst/>
              </c:spPr>
            </c:marker>
            <c:bubble3D val="0"/>
            <c:spPr>
              <a:ln w="19050" cap="flat" cmpd="sng" algn="ctr">
                <a:solidFill>
                  <a:schemeClr val="accent4"/>
                </a:solidFill>
                <a:prstDash val="dash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2C-7040-82E0-C4EE90DCD883}"/>
              </c:ext>
            </c:extLst>
          </c:dPt>
          <c:xVal>
            <c:numRef>
              <c:f>'interaction plot (20260608)'!$A$18:$A$22</c:f>
              <c:numCache>
                <c:formatCode>General</c:formatCode>
                <c:ptCount val="5"/>
                <c:pt idx="0">
                  <c:v>6.2315934999999998</c:v>
                </c:pt>
                <c:pt idx="1">
                  <c:v>5.1203884999999998</c:v>
                </c:pt>
                <c:pt idx="2">
                  <c:v>0</c:v>
                </c:pt>
                <c:pt idx="3">
                  <c:v>7</c:v>
                </c:pt>
                <c:pt idx="4">
                  <c:v>0</c:v>
                </c:pt>
              </c:numCache>
            </c:numRef>
          </c:xVal>
          <c:yVal>
            <c:numRef>
              <c:f>'interaction plot (20260608)'!$B$18:$B$22</c:f>
              <c:numCache>
                <c:formatCode>General</c:formatCode>
                <c:ptCount val="5"/>
                <c:pt idx="0">
                  <c:v>-5.4421707499999999E-2</c:v>
                </c:pt>
                <c:pt idx="1">
                  <c:v>-4.4174824999999862E-3</c:v>
                </c:pt>
                <c:pt idx="2">
                  <c:v>0.22600000000000001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52C-7040-82E0-C4EE90DCD883}"/>
            </c:ext>
          </c:extLst>
        </c:ser>
        <c:ser>
          <c:idx val="1"/>
          <c:order val="1"/>
          <c:tx>
            <c:strRef>
              <c:f>'interaction plot (20260608)'!$C$17</c:f>
              <c:strCache>
                <c:ptCount val="1"/>
                <c:pt idx="0">
                  <c:v>No Answer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252C-7040-82E0-C4EE90DCD883}"/>
              </c:ext>
            </c:extLst>
          </c:dPt>
          <c:xVal>
            <c:numRef>
              <c:f>'interaction plot (20260608)'!$A$21:$A$22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xVal>
          <c:yVal>
            <c:numRef>
              <c:f>'interaction plot (20260608)'!$C$21:$C$22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52C-7040-82E0-C4EE90DCD8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3614864"/>
        <c:axId val="1273614384"/>
      </c:scatterChart>
      <c:valAx>
        <c:axId val="1273614384"/>
        <c:scaling>
          <c:orientation val="minMax"/>
          <c:max val="0.4"/>
          <c:min val="-0.2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#</a:t>
                </a:r>
                <a:r>
                  <a:rPr lang="zh-CN"/>
                  <a:t> </a:t>
                </a:r>
                <a:r>
                  <a:rPr lang="en-US"/>
                  <a:t>Human</a:t>
                </a:r>
                <a:r>
                  <a:rPr lang="zh-CN"/>
                  <a:t> </a:t>
                </a:r>
                <a:r>
                  <a:rPr lang="en-US"/>
                  <a:t>Answer</a:t>
                </a:r>
                <a:r>
                  <a:rPr lang="zh-CN"/>
                  <a:t> </a:t>
                </a:r>
                <a:r>
                  <a:rPr lang="en-US"/>
                  <a:t>within</a:t>
                </a:r>
                <a:r>
                  <a:rPr lang="zh-CN"/>
                  <a:t> </a:t>
                </a:r>
                <a:r>
                  <a:rPr lang="en-US"/>
                  <a:t>7</a:t>
                </a:r>
                <a:r>
                  <a:rPr lang="zh-CN"/>
                  <a:t> </a:t>
                </a:r>
                <a:r>
                  <a:rPr lang="en-US"/>
                  <a:t>days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614864"/>
        <c:crosses val="autoZero"/>
        <c:crossBetween val="midCat"/>
        <c:majorUnit val="0.2"/>
      </c:valAx>
      <c:valAx>
        <c:axId val="1273614864"/>
        <c:scaling>
          <c:orientation val="minMax"/>
          <c:max val="7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AI</a:t>
                </a:r>
                <a:r>
                  <a:rPr lang="zh-CN"/>
                  <a:t> </a:t>
                </a:r>
                <a:r>
                  <a:rPr lang="en-US"/>
                  <a:t>answer</a:t>
                </a:r>
                <a:r>
                  <a:rPr lang="zh-CN"/>
                  <a:t> </a:t>
                </a:r>
                <a:r>
                  <a:rPr lang="en-US"/>
                  <a:t>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614384"/>
        <c:crossesAt val="-0.30000000000000004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315394792776895"/>
          <c:y val="0.10924970324905096"/>
          <c:w val="0.25857867109885391"/>
          <c:h val="0.18759548922788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118129357254689"/>
          <c:y val="2.9360309504368218E-2"/>
          <c:w val="0.79891442520144573"/>
          <c:h val="0.8391663253846019"/>
        </c:manualLayout>
      </c:layout>
      <c:scatterChart>
        <c:scatterStyle val="lineMarker"/>
        <c:varyColors val="0"/>
        <c:ser>
          <c:idx val="0"/>
          <c:order val="0"/>
          <c:tx>
            <c:strRef>
              <c:f>'interaction plot (20260608)'!$B$25</c:f>
              <c:strCache>
                <c:ptCount val="1"/>
                <c:pt idx="0">
                  <c:v>AI Answer</c:v>
                </c:pt>
              </c:strCache>
            </c:strRef>
          </c:tx>
          <c:spPr>
            <a:ln w="19050" cap="rnd">
              <a:solidFill>
                <a:srgbClr val="0F9FD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19050" cap="rnd">
                <a:solidFill>
                  <a:srgbClr val="0F9FD5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A1-D94E-99BB-7E041CBCBC14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19050" cap="rnd">
                <a:solidFill>
                  <a:srgbClr val="0F9FD5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EA1-D94E-99BB-7E041CBCBC14}"/>
              </c:ext>
            </c:extLst>
          </c:dPt>
          <c:xVal>
            <c:numRef>
              <c:f>'interaction plot (20260608)'!$A$28:$A$30</c:f>
              <c:numCache>
                <c:formatCode>General</c:formatCode>
                <c:ptCount val="3"/>
                <c:pt idx="0">
                  <c:v>0</c:v>
                </c:pt>
                <c:pt idx="1">
                  <c:v>0.40333040000000009</c:v>
                </c:pt>
                <c:pt idx="2">
                  <c:v>0.70744960000000001</c:v>
                </c:pt>
              </c:numCache>
            </c:numRef>
          </c:xVal>
          <c:yVal>
            <c:numRef>
              <c:f>'interaction plot (20260608)'!$B$28:$B$30</c:f>
              <c:numCache>
                <c:formatCode>General</c:formatCode>
                <c:ptCount val="3"/>
                <c:pt idx="0">
                  <c:v>-0.12</c:v>
                </c:pt>
                <c:pt idx="1">
                  <c:v>2.1165640000000013E-2</c:v>
                </c:pt>
                <c:pt idx="2">
                  <c:v>0.12760736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EA1-D94E-99BB-7E041CBCBC14}"/>
            </c:ext>
          </c:extLst>
        </c:ser>
        <c:ser>
          <c:idx val="1"/>
          <c:order val="1"/>
          <c:tx>
            <c:strRef>
              <c:f>'interaction plot (20260608)'!$C$25</c:f>
              <c:strCache>
                <c:ptCount val="1"/>
                <c:pt idx="0">
                  <c:v>No Answer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7EA1-D94E-99BB-7E041CBCBC14}"/>
              </c:ext>
            </c:extLst>
          </c:dPt>
          <c:xVal>
            <c:numRef>
              <c:f>'interaction plot (20260608)'!$A$26:$A$27</c:f>
              <c:numCache>
                <c:formatCode>General</c:formatCode>
                <c:ptCount val="2"/>
                <c:pt idx="0">
                  <c:v>0.8</c:v>
                </c:pt>
                <c:pt idx="1">
                  <c:v>0</c:v>
                </c:pt>
              </c:numCache>
            </c:numRef>
          </c:xVal>
          <c:yVal>
            <c:numRef>
              <c:f>'interaction plot (20260608)'!$C$26:$C$27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EA1-D94E-99BB-7E041CBCB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3614864"/>
        <c:axId val="1273614384"/>
      </c:scatterChart>
      <c:valAx>
        <c:axId val="1273614384"/>
        <c:scaling>
          <c:orientation val="minMax"/>
          <c:min val="-0.2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First</a:t>
                </a:r>
                <a:r>
                  <a:rPr lang="zh-CN"/>
                  <a:t> </a:t>
                </a:r>
                <a:r>
                  <a:rPr lang="en-US"/>
                  <a:t>Human</a:t>
                </a:r>
                <a:r>
                  <a:rPr lang="zh-CN"/>
                  <a:t> </a:t>
                </a:r>
                <a:r>
                  <a:rPr lang="en-US"/>
                  <a:t>Answer</a:t>
                </a:r>
                <a:r>
                  <a:rPr lang="zh-CN"/>
                  <a:t> </a:t>
                </a:r>
                <a:r>
                  <a:rPr lang="en-US"/>
                  <a:t>Quality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614864"/>
        <c:crosses val="autoZero"/>
        <c:crossBetween val="midCat"/>
        <c:majorUnit val="0.2"/>
      </c:valAx>
      <c:valAx>
        <c:axId val="1273614864"/>
        <c:scaling>
          <c:orientation val="minMax"/>
          <c:max val="0.8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AI</a:t>
                </a:r>
                <a:r>
                  <a:rPr lang="zh-CN"/>
                  <a:t> </a:t>
                </a:r>
                <a:r>
                  <a:rPr lang="en-US"/>
                  <a:t>answer</a:t>
                </a:r>
                <a:r>
                  <a:rPr lang="zh-CN"/>
                  <a:t> </a:t>
                </a:r>
                <a:r>
                  <a:rPr lang="en-US"/>
                  <a:t>Quality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614384"/>
        <c:crossesAt val="-0.30000000000000004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771295322681701"/>
          <c:y val="0.64437273411814489"/>
          <c:w val="0.26011983443440051"/>
          <c:h val="0.161104439074298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39A1-8FA5-3E65-0194-DEEADA5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66E87-BCF5-9438-D672-384B981D7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9FF06-D95F-2767-19EF-16ED0E9BE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53D60-1E03-CA52-A433-A3888DA45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4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1A5D-7D74-6117-A74F-A5F3BA5B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42610-040B-E2AB-CFFE-E8809A40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AFC2B-0255-2E78-888D-DC340A2B7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2ACC1-208C-F242-BA20-D7012F5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96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6C38-FB0F-1113-6F97-CCF9C3AA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DFC73-A33C-0E77-20CE-70E917C78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7ADF8-6533-0892-6DD8-ABF6003DA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40CC0-89A3-12DF-0E5D-4D64465CA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44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921-1D34-3A56-4A1F-0B1A1460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6EC9A-ECAA-9C76-0926-F31AAF6B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D0C9-AD3B-BBB4-6204-0D54D507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11D5-817E-CAF7-A273-7675C327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2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E3AA-EE04-F564-4385-FCD80234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46DAA-2042-21A8-0063-0271E0CF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6224E-127D-B1DE-BDEA-5709E300F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335F6-D2C0-FE1B-8C6B-B7DED6DF9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135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0B81-4BDE-7857-928A-B68A3660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CB540-9438-2469-99EE-74123D688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8A777-E3EF-69DB-3236-4C38128F9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2E87-C2B5-4377-42B3-41F736F2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42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6B9C-2966-DE80-4EDA-E1BF5633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2D25-3E49-BFBA-83C1-830337FB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94652-A131-9D70-958D-04BF77BD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FE27-FF58-02C8-4961-461AE9E84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83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2B7C-AD8A-6A2F-F2BB-B03289A9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A9B27-7924-A438-B2C7-42651235B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B4D90-1038-248B-9308-0F93708A0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851E-9A30-E95A-E392-3B38960A7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48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7CB9-3EAF-D267-4421-A4A9B0B4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E4118-5BF3-78C5-A971-4F31AE72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6B6E-B4C7-E98E-ACD3-BE3961231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3CA94-4357-FC76-5C98-9DDEAEB17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60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8163-8F49-4C5E-CC1B-473CEC17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D25D3-F20D-CDE0-BDF5-020790CDC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D1672-E6E2-7FE8-5753-2D4D4E5A1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A076C-4908-5A6D-EA54-867640A8C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90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0ED-9507-AB3E-C349-8ACF8FD4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4E089-436F-F14F-6009-1FC53DBAE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72B6D-972E-C5F6-E7D1-10F86AE30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03B62-7197-F0BD-1BF5-4B0060FD8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73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322A-06F1-DA0B-5328-10721450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5C169-DA06-06C3-348E-C001ABDAE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63956-FAFA-EA7E-5B68-01A7C6CE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68171-7EC9-CE5C-9B30-7065FF5A9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39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035A-1884-BF11-F3BA-E24DF34F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B838D-CDBF-0729-B8B3-FE6F2EBD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82BA9-5350-3554-065D-009A83BFA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5457-63B1-DC50-EF2B-F9220EF5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69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9097-6136-B88F-91D4-292C1FB4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8004-9A21-E610-1EDD-F98E7498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FC0A-0EAC-F6E7-0CDE-D84704C5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9E2B-5F26-75A6-D5BF-EB0A92208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MISQ</a:t>
            </a:r>
            <a:r>
              <a:rPr lang="zh-CN" altLang="en-US" sz="6000" b="1" dirty="0"/>
              <a:t> </a:t>
            </a:r>
            <a:r>
              <a:rPr lang="en-US" altLang="zh-CN" sz="6000" b="1" dirty="0"/>
              <a:t>round</a:t>
            </a:r>
            <a:r>
              <a:rPr lang="zh-CN" altLang="en-US" sz="6000" b="1" dirty="0"/>
              <a:t> </a:t>
            </a:r>
            <a:r>
              <a:rPr lang="en-US" altLang="zh-CN" sz="6000" b="1" dirty="0"/>
              <a:t>2</a:t>
            </a:r>
            <a:r>
              <a:rPr lang="zh-CN" altLang="en-US" sz="6000" b="1" dirty="0"/>
              <a:t> </a:t>
            </a:r>
            <a:r>
              <a:rPr lang="en-US" altLang="zh-CN" sz="6000" b="1" dirty="0"/>
              <a:t>revision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E35E-5395-2501-5F04-73398142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DEFB9-CCC3-3C09-3145-E25F49C7B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Background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D0B7F09-8F76-A986-5562-6BAF24D2B095}"/>
              </a:ext>
            </a:extLst>
          </p:cNvPr>
          <p:cNvSpPr/>
          <p:nvPr/>
        </p:nvSpPr>
        <p:spPr>
          <a:xfrm>
            <a:off x="4353345" y="1293962"/>
            <a:ext cx="5445493" cy="290894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" name="箭头: 右 7">
            <a:extLst>
              <a:ext uri="{FF2B5EF4-FFF2-40B4-BE49-F238E27FC236}">
                <a16:creationId xmlns:a16="http://schemas.microsoft.com/office/drawing/2014/main" id="{E897DE51-C7CE-5F05-45E4-D5EE1259F64F}"/>
              </a:ext>
            </a:extLst>
          </p:cNvPr>
          <p:cNvSpPr/>
          <p:nvPr/>
        </p:nvSpPr>
        <p:spPr>
          <a:xfrm>
            <a:off x="3236638" y="2979750"/>
            <a:ext cx="2199799" cy="687250"/>
          </a:xfrm>
          <a:prstGeom prst="rightArrow">
            <a:avLst/>
          </a:prstGeom>
          <a:solidFill>
            <a:srgbClr val="0070C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pic>
        <p:nvPicPr>
          <p:cNvPr id="5" name="Picture 2" descr="ChatGPT Logo - SVG, PNG, AI, EPS Vectors">
            <a:extLst>
              <a:ext uri="{FF2B5EF4-FFF2-40B4-BE49-F238E27FC236}">
                <a16:creationId xmlns:a16="http://schemas.microsoft.com/office/drawing/2014/main" id="{44259F3E-723E-E5F5-6F7B-AA27B470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654" y="4955655"/>
            <a:ext cx="869746" cy="86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43">
            <a:extLst>
              <a:ext uri="{FF2B5EF4-FFF2-40B4-BE49-F238E27FC236}">
                <a16:creationId xmlns:a16="http://schemas.microsoft.com/office/drawing/2014/main" id="{992F29AA-918E-E0D2-8A50-58C68A829094}"/>
              </a:ext>
            </a:extLst>
          </p:cNvPr>
          <p:cNvSpPr txBox="1"/>
          <p:nvPr/>
        </p:nvSpPr>
        <p:spPr>
          <a:xfrm flipH="1">
            <a:off x="1231105" y="5788247"/>
            <a:ext cx="293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External </a:t>
            </a:r>
            <a:r>
              <a:rPr lang="en-US" altLang="zh-CN" sz="1600" b="1" dirty="0" err="1"/>
              <a:t>Gen</a:t>
            </a:r>
            <a:r>
              <a:rPr lang="en-US" sz="1600" b="1" dirty="0" err="1"/>
              <a:t>AI</a:t>
            </a:r>
            <a:r>
              <a:rPr lang="en-US" sz="1600" b="1" dirty="0"/>
              <a:t> </a:t>
            </a:r>
          </a:p>
          <a:p>
            <a:pPr algn="ctr"/>
            <a:r>
              <a:rPr lang="en-US" sz="1600" dirty="0"/>
              <a:t>(e.g., ChatGPT)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3BB0874-3055-D29E-DA0A-6372D55B269C}"/>
              </a:ext>
            </a:extLst>
          </p:cNvPr>
          <p:cNvSpPr/>
          <p:nvPr/>
        </p:nvSpPr>
        <p:spPr>
          <a:xfrm rot="5400000">
            <a:off x="2318503" y="4336181"/>
            <a:ext cx="786388" cy="320040"/>
          </a:xfrm>
          <a:prstGeom prst="rightArrow">
            <a:avLst/>
          </a:prstGeom>
          <a:solidFill>
            <a:srgbClr val="0070C0">
              <a:alpha val="242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3C063-8E31-2741-4DB2-D6E4A9B27E7B}"/>
              </a:ext>
            </a:extLst>
          </p:cNvPr>
          <p:cNvSpPr txBox="1"/>
          <p:nvPr/>
        </p:nvSpPr>
        <p:spPr>
          <a:xfrm>
            <a:off x="10084971" y="2712364"/>
            <a:ext cx="82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1B859BB5-3DD2-22A1-CE10-3A6F0C321A9E}"/>
              </a:ext>
            </a:extLst>
          </p:cNvPr>
          <p:cNvSpPr txBox="1"/>
          <p:nvPr/>
        </p:nvSpPr>
        <p:spPr>
          <a:xfrm>
            <a:off x="5691479" y="3478084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6DE060A-D376-1058-04B0-FB6596B27267}"/>
              </a:ext>
            </a:extLst>
          </p:cNvPr>
          <p:cNvSpPr txBox="1"/>
          <p:nvPr/>
        </p:nvSpPr>
        <p:spPr>
          <a:xfrm>
            <a:off x="7237771" y="3478084"/>
            <a:ext cx="1137523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Answers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6B0E528E-1131-B42A-E28D-80176FAD18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85" t="252" r="685" b="53500"/>
          <a:stretch/>
        </p:blipFill>
        <p:spPr>
          <a:xfrm>
            <a:off x="5619750" y="2926311"/>
            <a:ext cx="1261981" cy="580820"/>
          </a:xfrm>
          <a:prstGeom prst="rect">
            <a:avLst/>
          </a:prstGeom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14C74625-3B8D-2DBB-8CAE-AB5CB71A75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752" b="1"/>
          <a:stretch/>
        </p:blipFill>
        <p:spPr>
          <a:xfrm>
            <a:off x="7103516" y="2937609"/>
            <a:ext cx="1261981" cy="580820"/>
          </a:xfrm>
          <a:prstGeom prst="rect">
            <a:avLst/>
          </a:prstGeom>
        </p:spPr>
      </p:pic>
      <p:sp>
        <p:nvSpPr>
          <p:cNvPr id="14" name="TextBox 27">
            <a:extLst>
              <a:ext uri="{FF2B5EF4-FFF2-40B4-BE49-F238E27FC236}">
                <a16:creationId xmlns:a16="http://schemas.microsoft.com/office/drawing/2014/main" id="{D5659E09-B63D-93D6-AA5C-DB2C20F5CF0D}"/>
              </a:ext>
            </a:extLst>
          </p:cNvPr>
          <p:cNvSpPr txBox="1"/>
          <p:nvPr/>
        </p:nvSpPr>
        <p:spPr>
          <a:xfrm>
            <a:off x="3246261" y="2712364"/>
            <a:ext cx="838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2A258-8A19-A8A3-BF72-295AF500F06D}"/>
              </a:ext>
            </a:extLst>
          </p:cNvPr>
          <p:cNvSpPr txBox="1"/>
          <p:nvPr/>
        </p:nvSpPr>
        <p:spPr>
          <a:xfrm flipH="1">
            <a:off x="10914454" y="3699326"/>
            <a:ext cx="125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Answerers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B667B38-4DFA-A13D-6A1F-875DF65BC9CE}"/>
              </a:ext>
            </a:extLst>
          </p:cNvPr>
          <p:cNvSpPr txBox="1"/>
          <p:nvPr/>
        </p:nvSpPr>
        <p:spPr>
          <a:xfrm flipH="1">
            <a:off x="2032609" y="3667000"/>
            <a:ext cx="139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Questioners</a:t>
            </a:r>
          </a:p>
        </p:txBody>
      </p:sp>
      <p:sp>
        <p:nvSpPr>
          <p:cNvPr id="17" name="man-silhouette_43368">
            <a:extLst>
              <a:ext uri="{FF2B5EF4-FFF2-40B4-BE49-F238E27FC236}">
                <a16:creationId xmlns:a16="http://schemas.microsoft.com/office/drawing/2014/main" id="{626C59FD-ADE4-D1AF-E57C-4911211DB0CF}"/>
              </a:ext>
            </a:extLst>
          </p:cNvPr>
          <p:cNvSpPr/>
          <p:nvPr/>
        </p:nvSpPr>
        <p:spPr>
          <a:xfrm>
            <a:off x="11317279" y="2664870"/>
            <a:ext cx="447494" cy="1118932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answer_268107">
            <a:extLst>
              <a:ext uri="{FF2B5EF4-FFF2-40B4-BE49-F238E27FC236}">
                <a16:creationId xmlns:a16="http://schemas.microsoft.com/office/drawing/2014/main" id="{A36F752B-93E9-A6D6-1AA8-CD7C4CDB2625}"/>
              </a:ext>
            </a:extLst>
          </p:cNvPr>
          <p:cNvSpPr/>
          <p:nvPr/>
        </p:nvSpPr>
        <p:spPr>
          <a:xfrm>
            <a:off x="2311665" y="2657101"/>
            <a:ext cx="838427" cy="1063351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peech-bubble-with-question-mark_65814">
            <a:extLst>
              <a:ext uri="{FF2B5EF4-FFF2-40B4-BE49-F238E27FC236}">
                <a16:creationId xmlns:a16="http://schemas.microsoft.com/office/drawing/2014/main" id="{647139B0-0458-97FD-AE78-B3A389B6E86A}"/>
              </a:ext>
            </a:extLst>
          </p:cNvPr>
          <p:cNvSpPr/>
          <p:nvPr/>
        </p:nvSpPr>
        <p:spPr>
          <a:xfrm>
            <a:off x="2100580" y="2125148"/>
            <a:ext cx="609685" cy="531953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箭头: 右 9">
            <a:extLst>
              <a:ext uri="{FF2B5EF4-FFF2-40B4-BE49-F238E27FC236}">
                <a16:creationId xmlns:a16="http://schemas.microsoft.com/office/drawing/2014/main" id="{24EE3E3D-0632-5D2F-6A6F-584CF8636226}"/>
              </a:ext>
            </a:extLst>
          </p:cNvPr>
          <p:cNvSpPr/>
          <p:nvPr/>
        </p:nvSpPr>
        <p:spPr>
          <a:xfrm rot="10800000">
            <a:off x="8509547" y="2979749"/>
            <a:ext cx="2396375" cy="68724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1" name="文本框 33">
            <a:extLst>
              <a:ext uri="{FF2B5EF4-FFF2-40B4-BE49-F238E27FC236}">
                <a16:creationId xmlns:a16="http://schemas.microsoft.com/office/drawing/2014/main" id="{8FAB543A-FC46-9941-79EE-45325D473FC0}"/>
              </a:ext>
            </a:extLst>
          </p:cNvPr>
          <p:cNvSpPr txBox="1"/>
          <p:nvPr/>
        </p:nvSpPr>
        <p:spPr>
          <a:xfrm>
            <a:off x="4581782" y="1299768"/>
            <a:ext cx="4893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Online Q&amp;A Communities</a:t>
            </a:r>
          </a:p>
        </p:txBody>
      </p:sp>
      <p:sp>
        <p:nvSpPr>
          <p:cNvPr id="22" name="technological_376048">
            <a:extLst>
              <a:ext uri="{FF2B5EF4-FFF2-40B4-BE49-F238E27FC236}">
                <a16:creationId xmlns:a16="http://schemas.microsoft.com/office/drawing/2014/main" id="{E67976D2-F0F9-CE72-1B0C-6561037E1DD4}"/>
              </a:ext>
            </a:extLst>
          </p:cNvPr>
          <p:cNvSpPr/>
          <p:nvPr/>
        </p:nvSpPr>
        <p:spPr>
          <a:xfrm>
            <a:off x="8597993" y="1505117"/>
            <a:ext cx="731386" cy="688578"/>
          </a:xfrm>
          <a:custGeom>
            <a:avLst/>
            <a:gdLst>
              <a:gd name="connsiteX0" fmla="*/ 234365 w 607639"/>
              <a:gd name="connsiteY0" fmla="*/ 415983 h 572074"/>
              <a:gd name="connsiteX1" fmla="*/ 373276 w 607639"/>
              <a:gd name="connsiteY1" fmla="*/ 415983 h 572074"/>
              <a:gd name="connsiteX2" fmla="*/ 399260 w 607639"/>
              <a:gd name="connsiteY2" fmla="*/ 442031 h 572074"/>
              <a:gd name="connsiteX3" fmla="*/ 373276 w 607639"/>
              <a:gd name="connsiteY3" fmla="*/ 467990 h 572074"/>
              <a:gd name="connsiteX4" fmla="*/ 234365 w 607639"/>
              <a:gd name="connsiteY4" fmla="*/ 467990 h 572074"/>
              <a:gd name="connsiteX5" fmla="*/ 208380 w 607639"/>
              <a:gd name="connsiteY5" fmla="*/ 442031 h 572074"/>
              <a:gd name="connsiteX6" fmla="*/ 234365 w 607639"/>
              <a:gd name="connsiteY6" fmla="*/ 415983 h 572074"/>
              <a:gd name="connsiteX7" fmla="*/ 503414 w 607639"/>
              <a:gd name="connsiteY7" fmla="*/ 364023 h 572074"/>
              <a:gd name="connsiteX8" fmla="*/ 503414 w 607639"/>
              <a:gd name="connsiteY8" fmla="*/ 416013 h 572074"/>
              <a:gd name="connsiteX9" fmla="*/ 555571 w 607639"/>
              <a:gd name="connsiteY9" fmla="*/ 416013 h 572074"/>
              <a:gd name="connsiteX10" fmla="*/ 555571 w 607639"/>
              <a:gd name="connsiteY10" fmla="*/ 364023 h 572074"/>
              <a:gd name="connsiteX11" fmla="*/ 52068 w 607639"/>
              <a:gd name="connsiteY11" fmla="*/ 364023 h 572074"/>
              <a:gd name="connsiteX12" fmla="*/ 52068 w 607639"/>
              <a:gd name="connsiteY12" fmla="*/ 416013 h 572074"/>
              <a:gd name="connsiteX13" fmla="*/ 104136 w 607639"/>
              <a:gd name="connsiteY13" fmla="*/ 416013 h 572074"/>
              <a:gd name="connsiteX14" fmla="*/ 104136 w 607639"/>
              <a:gd name="connsiteY14" fmla="*/ 364023 h 572074"/>
              <a:gd name="connsiteX15" fmla="*/ 364541 w 607639"/>
              <a:gd name="connsiteY15" fmla="*/ 311970 h 572074"/>
              <a:gd name="connsiteX16" fmla="*/ 399259 w 607639"/>
              <a:gd name="connsiteY16" fmla="*/ 346653 h 572074"/>
              <a:gd name="connsiteX17" fmla="*/ 364541 w 607639"/>
              <a:gd name="connsiteY17" fmla="*/ 381336 h 572074"/>
              <a:gd name="connsiteX18" fmla="*/ 329823 w 607639"/>
              <a:gd name="connsiteY18" fmla="*/ 346653 h 572074"/>
              <a:gd name="connsiteX19" fmla="*/ 364541 w 607639"/>
              <a:gd name="connsiteY19" fmla="*/ 311970 h 572074"/>
              <a:gd name="connsiteX20" fmla="*/ 243063 w 607639"/>
              <a:gd name="connsiteY20" fmla="*/ 311970 h 572074"/>
              <a:gd name="connsiteX21" fmla="*/ 277746 w 607639"/>
              <a:gd name="connsiteY21" fmla="*/ 346653 h 572074"/>
              <a:gd name="connsiteX22" fmla="*/ 243063 w 607639"/>
              <a:gd name="connsiteY22" fmla="*/ 381336 h 572074"/>
              <a:gd name="connsiteX23" fmla="*/ 208380 w 607639"/>
              <a:gd name="connsiteY23" fmla="*/ 346653 h 572074"/>
              <a:gd name="connsiteX24" fmla="*/ 243063 w 607639"/>
              <a:gd name="connsiteY24" fmla="*/ 311970 h 572074"/>
              <a:gd name="connsiteX25" fmla="*/ 156204 w 607639"/>
              <a:gd name="connsiteY25" fmla="*/ 260042 h 572074"/>
              <a:gd name="connsiteX26" fmla="*/ 156204 w 607639"/>
              <a:gd name="connsiteY26" fmla="*/ 337983 h 572074"/>
              <a:gd name="connsiteX27" fmla="*/ 156204 w 607639"/>
              <a:gd name="connsiteY27" fmla="*/ 442053 h 572074"/>
              <a:gd name="connsiteX28" fmla="*/ 156204 w 607639"/>
              <a:gd name="connsiteY28" fmla="*/ 519995 h 572074"/>
              <a:gd name="connsiteX29" fmla="*/ 451346 w 607639"/>
              <a:gd name="connsiteY29" fmla="*/ 519995 h 572074"/>
              <a:gd name="connsiteX30" fmla="*/ 451346 w 607639"/>
              <a:gd name="connsiteY30" fmla="*/ 442053 h 572074"/>
              <a:gd name="connsiteX31" fmla="*/ 451346 w 607639"/>
              <a:gd name="connsiteY31" fmla="*/ 337983 h 572074"/>
              <a:gd name="connsiteX32" fmla="*/ 451346 w 607639"/>
              <a:gd name="connsiteY32" fmla="*/ 260042 h 572074"/>
              <a:gd name="connsiteX33" fmla="*/ 303775 w 607639"/>
              <a:gd name="connsiteY33" fmla="*/ 51991 h 572074"/>
              <a:gd name="connsiteX34" fmla="*/ 277786 w 607639"/>
              <a:gd name="connsiteY34" fmla="*/ 78030 h 572074"/>
              <a:gd name="connsiteX35" fmla="*/ 303775 w 607639"/>
              <a:gd name="connsiteY35" fmla="*/ 103981 h 572074"/>
              <a:gd name="connsiteX36" fmla="*/ 329854 w 607639"/>
              <a:gd name="connsiteY36" fmla="*/ 78030 h 572074"/>
              <a:gd name="connsiteX37" fmla="*/ 303775 w 607639"/>
              <a:gd name="connsiteY37" fmla="*/ 51991 h 572074"/>
              <a:gd name="connsiteX38" fmla="*/ 303775 w 607639"/>
              <a:gd name="connsiteY38" fmla="*/ 0 h 572074"/>
              <a:gd name="connsiteX39" fmla="*/ 381922 w 607639"/>
              <a:gd name="connsiteY39" fmla="*/ 78030 h 572074"/>
              <a:gd name="connsiteX40" fmla="*/ 329854 w 607639"/>
              <a:gd name="connsiteY40" fmla="*/ 151528 h 572074"/>
              <a:gd name="connsiteX41" fmla="*/ 329854 w 607639"/>
              <a:gd name="connsiteY41" fmla="*/ 208051 h 572074"/>
              <a:gd name="connsiteX42" fmla="*/ 477425 w 607639"/>
              <a:gd name="connsiteY42" fmla="*/ 208051 h 572074"/>
              <a:gd name="connsiteX43" fmla="*/ 503414 w 607639"/>
              <a:gd name="connsiteY43" fmla="*/ 234002 h 572074"/>
              <a:gd name="connsiteX44" fmla="*/ 503414 w 607639"/>
              <a:gd name="connsiteY44" fmla="*/ 312032 h 572074"/>
              <a:gd name="connsiteX45" fmla="*/ 581561 w 607639"/>
              <a:gd name="connsiteY45" fmla="*/ 312032 h 572074"/>
              <a:gd name="connsiteX46" fmla="*/ 607639 w 607639"/>
              <a:gd name="connsiteY46" fmla="*/ 337983 h 572074"/>
              <a:gd name="connsiteX47" fmla="*/ 607639 w 607639"/>
              <a:gd name="connsiteY47" fmla="*/ 442053 h 572074"/>
              <a:gd name="connsiteX48" fmla="*/ 581561 w 607639"/>
              <a:gd name="connsiteY48" fmla="*/ 468004 h 572074"/>
              <a:gd name="connsiteX49" fmla="*/ 503414 w 607639"/>
              <a:gd name="connsiteY49" fmla="*/ 468004 h 572074"/>
              <a:gd name="connsiteX50" fmla="*/ 503414 w 607639"/>
              <a:gd name="connsiteY50" fmla="*/ 546034 h 572074"/>
              <a:gd name="connsiteX51" fmla="*/ 477425 w 607639"/>
              <a:gd name="connsiteY51" fmla="*/ 572074 h 572074"/>
              <a:gd name="connsiteX52" fmla="*/ 130214 w 607639"/>
              <a:gd name="connsiteY52" fmla="*/ 572074 h 572074"/>
              <a:gd name="connsiteX53" fmla="*/ 104136 w 607639"/>
              <a:gd name="connsiteY53" fmla="*/ 546034 h 572074"/>
              <a:gd name="connsiteX54" fmla="*/ 104136 w 607639"/>
              <a:gd name="connsiteY54" fmla="*/ 468004 h 572074"/>
              <a:gd name="connsiteX55" fmla="*/ 26078 w 607639"/>
              <a:gd name="connsiteY55" fmla="*/ 468004 h 572074"/>
              <a:gd name="connsiteX56" fmla="*/ 0 w 607639"/>
              <a:gd name="connsiteY56" fmla="*/ 442053 h 572074"/>
              <a:gd name="connsiteX57" fmla="*/ 0 w 607639"/>
              <a:gd name="connsiteY57" fmla="*/ 337983 h 572074"/>
              <a:gd name="connsiteX58" fmla="*/ 26078 w 607639"/>
              <a:gd name="connsiteY58" fmla="*/ 312032 h 572074"/>
              <a:gd name="connsiteX59" fmla="*/ 104136 w 607639"/>
              <a:gd name="connsiteY59" fmla="*/ 312032 h 572074"/>
              <a:gd name="connsiteX60" fmla="*/ 104136 w 607639"/>
              <a:gd name="connsiteY60" fmla="*/ 234002 h 572074"/>
              <a:gd name="connsiteX61" fmla="*/ 130214 w 607639"/>
              <a:gd name="connsiteY61" fmla="*/ 208051 h 572074"/>
              <a:gd name="connsiteX62" fmla="*/ 277786 w 607639"/>
              <a:gd name="connsiteY62" fmla="*/ 208051 h 572074"/>
              <a:gd name="connsiteX63" fmla="*/ 277786 w 607639"/>
              <a:gd name="connsiteY63" fmla="*/ 151528 h 572074"/>
              <a:gd name="connsiteX64" fmla="*/ 225718 w 607639"/>
              <a:gd name="connsiteY64" fmla="*/ 78030 h 572074"/>
              <a:gd name="connsiteX65" fmla="*/ 303775 w 607639"/>
              <a:gd name="connsiteY65" fmla="*/ 0 h 57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572074">
                <a:moveTo>
                  <a:pt x="234365" y="415983"/>
                </a:moveTo>
                <a:lnTo>
                  <a:pt x="373276" y="415983"/>
                </a:lnTo>
                <a:cubicBezTo>
                  <a:pt x="387603" y="415983"/>
                  <a:pt x="399260" y="427629"/>
                  <a:pt x="399260" y="442031"/>
                </a:cubicBezTo>
                <a:cubicBezTo>
                  <a:pt x="399260" y="456344"/>
                  <a:pt x="387603" y="467990"/>
                  <a:pt x="373276" y="467990"/>
                </a:cubicBezTo>
                <a:lnTo>
                  <a:pt x="234365" y="467990"/>
                </a:lnTo>
                <a:cubicBezTo>
                  <a:pt x="220038" y="467990"/>
                  <a:pt x="208380" y="456344"/>
                  <a:pt x="208380" y="442031"/>
                </a:cubicBezTo>
                <a:cubicBezTo>
                  <a:pt x="208380" y="427629"/>
                  <a:pt x="220038" y="415983"/>
                  <a:pt x="234365" y="415983"/>
                </a:cubicBezTo>
                <a:close/>
                <a:moveTo>
                  <a:pt x="503414" y="364023"/>
                </a:moveTo>
                <a:lnTo>
                  <a:pt x="503414" y="416013"/>
                </a:lnTo>
                <a:lnTo>
                  <a:pt x="555571" y="416013"/>
                </a:lnTo>
                <a:lnTo>
                  <a:pt x="555571" y="364023"/>
                </a:lnTo>
                <a:close/>
                <a:moveTo>
                  <a:pt x="52068" y="364023"/>
                </a:moveTo>
                <a:lnTo>
                  <a:pt x="52068" y="416013"/>
                </a:lnTo>
                <a:lnTo>
                  <a:pt x="104136" y="416013"/>
                </a:lnTo>
                <a:lnTo>
                  <a:pt x="104136" y="364023"/>
                </a:lnTo>
                <a:close/>
                <a:moveTo>
                  <a:pt x="364541" y="311970"/>
                </a:moveTo>
                <a:cubicBezTo>
                  <a:pt x="383715" y="311970"/>
                  <a:pt x="399259" y="327498"/>
                  <a:pt x="399259" y="346653"/>
                </a:cubicBezTo>
                <a:cubicBezTo>
                  <a:pt x="399259" y="365808"/>
                  <a:pt x="383715" y="381336"/>
                  <a:pt x="364541" y="381336"/>
                </a:cubicBezTo>
                <a:cubicBezTo>
                  <a:pt x="345367" y="381336"/>
                  <a:pt x="329823" y="365808"/>
                  <a:pt x="329823" y="346653"/>
                </a:cubicBezTo>
                <a:cubicBezTo>
                  <a:pt x="329823" y="327498"/>
                  <a:pt x="345367" y="311970"/>
                  <a:pt x="364541" y="311970"/>
                </a:cubicBezTo>
                <a:close/>
                <a:moveTo>
                  <a:pt x="243063" y="311970"/>
                </a:moveTo>
                <a:cubicBezTo>
                  <a:pt x="262218" y="311970"/>
                  <a:pt x="277746" y="327498"/>
                  <a:pt x="277746" y="346653"/>
                </a:cubicBezTo>
                <a:cubicBezTo>
                  <a:pt x="277746" y="365808"/>
                  <a:pt x="262218" y="381336"/>
                  <a:pt x="243063" y="381336"/>
                </a:cubicBezTo>
                <a:cubicBezTo>
                  <a:pt x="223908" y="381336"/>
                  <a:pt x="208380" y="365808"/>
                  <a:pt x="208380" y="346653"/>
                </a:cubicBezTo>
                <a:cubicBezTo>
                  <a:pt x="208380" y="327498"/>
                  <a:pt x="223908" y="311970"/>
                  <a:pt x="243063" y="311970"/>
                </a:cubicBezTo>
                <a:close/>
                <a:moveTo>
                  <a:pt x="156204" y="260042"/>
                </a:moveTo>
                <a:lnTo>
                  <a:pt x="156204" y="337983"/>
                </a:lnTo>
                <a:lnTo>
                  <a:pt x="156204" y="442053"/>
                </a:lnTo>
                <a:lnTo>
                  <a:pt x="156204" y="519995"/>
                </a:lnTo>
                <a:lnTo>
                  <a:pt x="451346" y="519995"/>
                </a:lnTo>
                <a:lnTo>
                  <a:pt x="451346" y="442053"/>
                </a:lnTo>
                <a:lnTo>
                  <a:pt x="451346" y="337983"/>
                </a:lnTo>
                <a:lnTo>
                  <a:pt x="451346" y="260042"/>
                </a:lnTo>
                <a:close/>
                <a:moveTo>
                  <a:pt x="303775" y="51991"/>
                </a:moveTo>
                <a:cubicBezTo>
                  <a:pt x="289445" y="51991"/>
                  <a:pt x="277786" y="63633"/>
                  <a:pt x="277786" y="78030"/>
                </a:cubicBezTo>
                <a:cubicBezTo>
                  <a:pt x="277786" y="92339"/>
                  <a:pt x="289445" y="103981"/>
                  <a:pt x="303775" y="103981"/>
                </a:cubicBezTo>
                <a:cubicBezTo>
                  <a:pt x="318194" y="103981"/>
                  <a:pt x="329854" y="92339"/>
                  <a:pt x="329854" y="78030"/>
                </a:cubicBezTo>
                <a:cubicBezTo>
                  <a:pt x="329854" y="63633"/>
                  <a:pt x="318194" y="51991"/>
                  <a:pt x="303775" y="51991"/>
                </a:cubicBezTo>
                <a:close/>
                <a:moveTo>
                  <a:pt x="303775" y="0"/>
                </a:moveTo>
                <a:cubicBezTo>
                  <a:pt x="346854" y="0"/>
                  <a:pt x="381922" y="35016"/>
                  <a:pt x="381922" y="78030"/>
                </a:cubicBezTo>
                <a:cubicBezTo>
                  <a:pt x="381922" y="111891"/>
                  <a:pt x="360116" y="140774"/>
                  <a:pt x="329854" y="151528"/>
                </a:cubicBezTo>
                <a:lnTo>
                  <a:pt x="329854" y="208051"/>
                </a:lnTo>
                <a:lnTo>
                  <a:pt x="477425" y="208051"/>
                </a:lnTo>
                <a:cubicBezTo>
                  <a:pt x="491754" y="208051"/>
                  <a:pt x="503414" y="219693"/>
                  <a:pt x="503414" y="234002"/>
                </a:cubicBezTo>
                <a:lnTo>
                  <a:pt x="503414" y="312032"/>
                </a:lnTo>
                <a:lnTo>
                  <a:pt x="581561" y="312032"/>
                </a:lnTo>
                <a:cubicBezTo>
                  <a:pt x="595980" y="312032"/>
                  <a:pt x="607639" y="323675"/>
                  <a:pt x="607639" y="337983"/>
                </a:cubicBezTo>
                <a:lnTo>
                  <a:pt x="607639" y="442053"/>
                </a:lnTo>
                <a:cubicBezTo>
                  <a:pt x="607639" y="456362"/>
                  <a:pt x="595980" y="468004"/>
                  <a:pt x="581561" y="468004"/>
                </a:cubicBezTo>
                <a:lnTo>
                  <a:pt x="503414" y="468004"/>
                </a:lnTo>
                <a:lnTo>
                  <a:pt x="503414" y="546034"/>
                </a:lnTo>
                <a:cubicBezTo>
                  <a:pt x="503414" y="560432"/>
                  <a:pt x="491754" y="572074"/>
                  <a:pt x="477425" y="572074"/>
                </a:cubicBezTo>
                <a:lnTo>
                  <a:pt x="130214" y="572074"/>
                </a:lnTo>
                <a:cubicBezTo>
                  <a:pt x="115796" y="572074"/>
                  <a:pt x="104136" y="560432"/>
                  <a:pt x="104136" y="546034"/>
                </a:cubicBezTo>
                <a:lnTo>
                  <a:pt x="104136" y="468004"/>
                </a:lnTo>
                <a:lnTo>
                  <a:pt x="26078" y="468004"/>
                </a:lnTo>
                <a:cubicBezTo>
                  <a:pt x="11659" y="468004"/>
                  <a:pt x="0" y="456362"/>
                  <a:pt x="0" y="442053"/>
                </a:cubicBezTo>
                <a:lnTo>
                  <a:pt x="0" y="337983"/>
                </a:lnTo>
                <a:cubicBezTo>
                  <a:pt x="0" y="323675"/>
                  <a:pt x="11659" y="312032"/>
                  <a:pt x="26078" y="312032"/>
                </a:cubicBezTo>
                <a:lnTo>
                  <a:pt x="104136" y="312032"/>
                </a:lnTo>
                <a:lnTo>
                  <a:pt x="104136" y="234002"/>
                </a:lnTo>
                <a:cubicBezTo>
                  <a:pt x="104136" y="219693"/>
                  <a:pt x="115796" y="208051"/>
                  <a:pt x="130214" y="208051"/>
                </a:cubicBezTo>
                <a:lnTo>
                  <a:pt x="277786" y="208051"/>
                </a:lnTo>
                <a:lnTo>
                  <a:pt x="277786" y="151528"/>
                </a:lnTo>
                <a:cubicBezTo>
                  <a:pt x="247435" y="140774"/>
                  <a:pt x="225718" y="111891"/>
                  <a:pt x="225718" y="78030"/>
                </a:cubicBezTo>
                <a:cubicBezTo>
                  <a:pt x="225718" y="35016"/>
                  <a:pt x="260697" y="0"/>
                  <a:pt x="303775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文本框 29">
            <a:extLst>
              <a:ext uri="{FF2B5EF4-FFF2-40B4-BE49-F238E27FC236}">
                <a16:creationId xmlns:a16="http://schemas.microsoft.com/office/drawing/2014/main" id="{D1895257-2898-CA9A-1478-5119798A48E3}"/>
              </a:ext>
            </a:extLst>
          </p:cNvPr>
          <p:cNvSpPr txBox="1"/>
          <p:nvPr/>
        </p:nvSpPr>
        <p:spPr>
          <a:xfrm>
            <a:off x="8139044" y="2136138"/>
            <a:ext cx="1659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Internal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GenAI</a:t>
            </a:r>
          </a:p>
        </p:txBody>
      </p:sp>
      <p:sp>
        <p:nvSpPr>
          <p:cNvPr id="24" name="箭头: 右 37">
            <a:extLst>
              <a:ext uri="{FF2B5EF4-FFF2-40B4-BE49-F238E27FC236}">
                <a16:creationId xmlns:a16="http://schemas.microsoft.com/office/drawing/2014/main" id="{91AB549A-AF48-CD96-976C-A2E79FE078A9}"/>
              </a:ext>
            </a:extLst>
          </p:cNvPr>
          <p:cNvSpPr/>
          <p:nvPr/>
        </p:nvSpPr>
        <p:spPr>
          <a:xfrm rot="8293985">
            <a:off x="7586373" y="2238718"/>
            <a:ext cx="877182" cy="27256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128C50B3-0519-7E6B-0EFE-C5826A74D8CE}"/>
              </a:ext>
            </a:extLst>
          </p:cNvPr>
          <p:cNvSpPr txBox="1"/>
          <p:nvPr/>
        </p:nvSpPr>
        <p:spPr>
          <a:xfrm>
            <a:off x="7283948" y="1905317"/>
            <a:ext cx="1127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Supply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6B8DF1D-BB46-5837-33B8-0D943071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688" y="4626717"/>
            <a:ext cx="8278792" cy="1583797"/>
          </a:xfrm>
        </p:spPr>
        <p:txBody>
          <a:bodyPr>
            <a:normAutofit/>
          </a:bodyPr>
          <a:lstStyle/>
          <a:p>
            <a:pPr marL="57150" lvl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Our Research Question:</a:t>
            </a:r>
          </a:p>
          <a:p>
            <a:pPr marL="514350"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How does internal GenAI affect </a:t>
            </a:r>
            <a:r>
              <a:rPr lang="en-US" altLang="en-US" sz="1800" i="1" dirty="0"/>
              <a:t>human answerers </a:t>
            </a:r>
            <a:r>
              <a:rPr lang="en-US" altLang="zh-CN" sz="1800" b="1" i="1" dirty="0"/>
              <a:t>(supply)</a:t>
            </a:r>
            <a:r>
              <a:rPr lang="zh-CN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/>
              <a:t>viewers</a:t>
            </a:r>
            <a:r>
              <a:rPr lang="en-US" altLang="en-US" sz="1800" dirty="0"/>
              <a:t> </a:t>
            </a:r>
            <a:r>
              <a:rPr lang="en-US" altLang="zh-CN" sz="1800" b="1" i="1" dirty="0"/>
              <a:t>(recognition)</a:t>
            </a:r>
            <a:r>
              <a:rPr lang="zh-CN" altLang="en-US" sz="1800" dirty="0"/>
              <a:t> </a:t>
            </a:r>
            <a:r>
              <a:rPr lang="en-US" altLang="en-US" sz="1800" dirty="0"/>
              <a:t>in online Q&amp;A communities?</a:t>
            </a:r>
          </a:p>
        </p:txBody>
      </p:sp>
    </p:spTree>
    <p:extLst>
      <p:ext uri="{BB962C8B-B14F-4D97-AF65-F5344CB8AC3E}">
        <p14:creationId xmlns:p14="http://schemas.microsoft.com/office/powerpoint/2010/main" val="326471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08E-B209-FE4F-A2B9-8CBF3CD4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578D2B-A0EA-0BEE-B2BB-7D7FE2923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 Randomized Field Experiment on </a:t>
            </a:r>
            <a:r>
              <a:rPr lang="en-US" i="1" dirty="0"/>
              <a:t>SegmentFault</a:t>
            </a:r>
            <a:endParaRPr lang="en-US" altLang="zh-CN" dirty="0"/>
          </a:p>
        </p:txBody>
      </p:sp>
      <p:pic>
        <p:nvPicPr>
          <p:cNvPr id="26" name="图片 4">
            <a:extLst>
              <a:ext uri="{FF2B5EF4-FFF2-40B4-BE49-F238E27FC236}">
                <a16:creationId xmlns:a16="http://schemas.microsoft.com/office/drawing/2014/main" id="{FE94AB31-32EC-CCBB-D2E7-BE569A82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36" y="1988549"/>
            <a:ext cx="2936391" cy="4439802"/>
          </a:xfrm>
          <a:prstGeom prst="rect">
            <a:avLst/>
          </a:prstGeom>
        </p:spPr>
      </p:pic>
      <p:pic>
        <p:nvPicPr>
          <p:cNvPr id="27" name="图片 8">
            <a:extLst>
              <a:ext uri="{FF2B5EF4-FFF2-40B4-BE49-F238E27FC236}">
                <a16:creationId xmlns:a16="http://schemas.microsoft.com/office/drawing/2014/main" id="{310F81E8-3981-905C-2DF0-79F5AC93D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468" y="1988549"/>
            <a:ext cx="2853214" cy="4439802"/>
          </a:xfrm>
          <a:prstGeom prst="rect">
            <a:avLst/>
          </a:prstGeom>
        </p:spPr>
      </p:pic>
      <p:sp>
        <p:nvSpPr>
          <p:cNvPr id="28" name="矩形 9">
            <a:extLst>
              <a:ext uri="{FF2B5EF4-FFF2-40B4-BE49-F238E27FC236}">
                <a16:creationId xmlns:a16="http://schemas.microsoft.com/office/drawing/2014/main" id="{8A53A0D5-78EE-D287-BB35-B47A3B0ED336}"/>
              </a:ext>
            </a:extLst>
          </p:cNvPr>
          <p:cNvSpPr/>
          <p:nvPr/>
        </p:nvSpPr>
        <p:spPr>
          <a:xfrm>
            <a:off x="3665084" y="2126269"/>
            <a:ext cx="2723144" cy="1180183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10">
            <a:extLst>
              <a:ext uri="{FF2B5EF4-FFF2-40B4-BE49-F238E27FC236}">
                <a16:creationId xmlns:a16="http://schemas.microsoft.com/office/drawing/2014/main" id="{059EDCC6-C9F4-1629-16F3-487360D1068D}"/>
              </a:ext>
            </a:extLst>
          </p:cNvPr>
          <p:cNvSpPr/>
          <p:nvPr/>
        </p:nvSpPr>
        <p:spPr>
          <a:xfrm>
            <a:off x="8632665" y="2126269"/>
            <a:ext cx="2644017" cy="144725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11">
            <a:extLst>
              <a:ext uri="{FF2B5EF4-FFF2-40B4-BE49-F238E27FC236}">
                <a16:creationId xmlns:a16="http://schemas.microsoft.com/office/drawing/2014/main" id="{719DFC14-7B0E-D0CD-C17A-1375B5738512}"/>
              </a:ext>
            </a:extLst>
          </p:cNvPr>
          <p:cNvSpPr/>
          <p:nvPr/>
        </p:nvSpPr>
        <p:spPr>
          <a:xfrm>
            <a:off x="3665083" y="3372017"/>
            <a:ext cx="2723144" cy="529940"/>
          </a:xfrm>
          <a:prstGeom prst="rect">
            <a:avLst/>
          </a:prstGeom>
          <a:solidFill>
            <a:schemeClr val="bg1">
              <a:alpha val="5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12">
            <a:extLst>
              <a:ext uri="{FF2B5EF4-FFF2-40B4-BE49-F238E27FC236}">
                <a16:creationId xmlns:a16="http://schemas.microsoft.com/office/drawing/2014/main" id="{8EBF75DD-5490-BF69-D071-C5D9B44A1D99}"/>
              </a:ext>
            </a:extLst>
          </p:cNvPr>
          <p:cNvSpPr/>
          <p:nvPr/>
        </p:nvSpPr>
        <p:spPr>
          <a:xfrm>
            <a:off x="3665083" y="4137348"/>
            <a:ext cx="2723144" cy="135340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13">
            <a:extLst>
              <a:ext uri="{FF2B5EF4-FFF2-40B4-BE49-F238E27FC236}">
                <a16:creationId xmlns:a16="http://schemas.microsoft.com/office/drawing/2014/main" id="{67BE22BD-F6EF-421B-8F60-29F286B2DAEE}"/>
              </a:ext>
            </a:extLst>
          </p:cNvPr>
          <p:cNvSpPr/>
          <p:nvPr/>
        </p:nvSpPr>
        <p:spPr>
          <a:xfrm>
            <a:off x="8632665" y="5716817"/>
            <a:ext cx="2644017" cy="711533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48">
            <a:extLst>
              <a:ext uri="{FF2B5EF4-FFF2-40B4-BE49-F238E27FC236}">
                <a16:creationId xmlns:a16="http://schemas.microsoft.com/office/drawing/2014/main" id="{97251A3A-0E4A-6661-943C-68F34E6701F7}"/>
              </a:ext>
            </a:extLst>
          </p:cNvPr>
          <p:cNvSpPr/>
          <p:nvPr/>
        </p:nvSpPr>
        <p:spPr>
          <a:xfrm>
            <a:off x="3665083" y="5491165"/>
            <a:ext cx="2723144" cy="893072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50">
            <a:extLst>
              <a:ext uri="{FF2B5EF4-FFF2-40B4-BE49-F238E27FC236}">
                <a16:creationId xmlns:a16="http://schemas.microsoft.com/office/drawing/2014/main" id="{8005F2CB-4358-52C0-735B-8F1B98607754}"/>
              </a:ext>
            </a:extLst>
          </p:cNvPr>
          <p:cNvSpPr/>
          <p:nvPr/>
        </p:nvSpPr>
        <p:spPr>
          <a:xfrm>
            <a:off x="8632664" y="4877033"/>
            <a:ext cx="2644017" cy="839780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51">
            <a:extLst>
              <a:ext uri="{FF2B5EF4-FFF2-40B4-BE49-F238E27FC236}">
                <a16:creationId xmlns:a16="http://schemas.microsoft.com/office/drawing/2014/main" id="{5B026C1F-2A66-01E0-68B4-F60CC10AA965}"/>
              </a:ext>
            </a:extLst>
          </p:cNvPr>
          <p:cNvSpPr/>
          <p:nvPr/>
        </p:nvSpPr>
        <p:spPr>
          <a:xfrm flipV="1">
            <a:off x="8632664" y="3808918"/>
            <a:ext cx="2644017" cy="1068115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54">
            <a:extLst>
              <a:ext uri="{FF2B5EF4-FFF2-40B4-BE49-F238E27FC236}">
                <a16:creationId xmlns:a16="http://schemas.microsoft.com/office/drawing/2014/main" id="{F948CCAB-F022-B89C-D42E-6642086E39B0}"/>
              </a:ext>
            </a:extLst>
          </p:cNvPr>
          <p:cNvCxnSpPr>
            <a:cxnSpLocks/>
          </p:cNvCxnSpPr>
          <p:nvPr/>
        </p:nvCxnSpPr>
        <p:spPr>
          <a:xfrm>
            <a:off x="7429938" y="1484767"/>
            <a:ext cx="0" cy="494358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55">
            <a:extLst>
              <a:ext uri="{FF2B5EF4-FFF2-40B4-BE49-F238E27FC236}">
                <a16:creationId xmlns:a16="http://schemas.microsoft.com/office/drawing/2014/main" id="{645566C4-0017-AF21-EAFC-1AE8AAE03FE2}"/>
              </a:ext>
            </a:extLst>
          </p:cNvPr>
          <p:cNvSpPr/>
          <p:nvPr/>
        </p:nvSpPr>
        <p:spPr>
          <a:xfrm>
            <a:off x="3451835" y="1426100"/>
            <a:ext cx="2936369" cy="367164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AI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group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(treatment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group)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: 圆角 57">
            <a:extLst>
              <a:ext uri="{FF2B5EF4-FFF2-40B4-BE49-F238E27FC236}">
                <a16:creationId xmlns:a16="http://schemas.microsoft.com/office/drawing/2014/main" id="{5C0B6943-2CCC-EF05-3389-18A1773DD833}"/>
              </a:ext>
            </a:extLst>
          </p:cNvPr>
          <p:cNvSpPr/>
          <p:nvPr/>
        </p:nvSpPr>
        <p:spPr>
          <a:xfrm>
            <a:off x="8423468" y="1422393"/>
            <a:ext cx="2853203" cy="367164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no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AI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group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(control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group)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789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71D8-BF54-5128-C271-FF5B4960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E6CAB-8D3B-40E8-AF48-66062A82ED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1CEBBA-1FEB-FCF8-A04D-8376337D67A6}"/>
              </a:ext>
            </a:extLst>
          </p:cNvPr>
          <p:cNvSpPr/>
          <p:nvPr/>
        </p:nvSpPr>
        <p:spPr>
          <a:xfrm>
            <a:off x="9738020" y="3814691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5A3A7E-5DAB-F83F-F96F-C360DC393834}"/>
              </a:ext>
            </a:extLst>
          </p:cNvPr>
          <p:cNvSpPr/>
          <p:nvPr/>
        </p:nvSpPr>
        <p:spPr>
          <a:xfrm>
            <a:off x="2538563" y="3814691"/>
            <a:ext cx="1614440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A7A1E2-DBC8-65CB-E7F2-8D59840E28A1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153003" y="4134731"/>
            <a:ext cx="5585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BB0932D-0284-5470-38A0-C53AD7F36603}"/>
              </a:ext>
            </a:extLst>
          </p:cNvPr>
          <p:cNvSpPr/>
          <p:nvPr/>
        </p:nvSpPr>
        <p:spPr>
          <a:xfrm>
            <a:off x="8097330" y="4892098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CD972-1EA3-3C4A-6C10-9B13D0C0BAAD}"/>
              </a:ext>
            </a:extLst>
          </p:cNvPr>
          <p:cNvSpPr/>
          <p:nvPr/>
        </p:nvSpPr>
        <p:spPr>
          <a:xfrm>
            <a:off x="9738020" y="3108960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8222CE-5584-7E35-6483-142B8158105E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V="1">
            <a:off x="4153003" y="3429000"/>
            <a:ext cx="5585017" cy="705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5573D-E16A-F29F-BE44-355DC1B2E0DC}"/>
              </a:ext>
            </a:extLst>
          </p:cNvPr>
          <p:cNvSpPr/>
          <p:nvPr/>
        </p:nvSpPr>
        <p:spPr>
          <a:xfrm>
            <a:off x="6317110" y="4892098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C91A5F-7013-43FD-C8AA-551E2BDEF851}"/>
              </a:ext>
            </a:extLst>
          </p:cNvPr>
          <p:cNvSpPr/>
          <p:nvPr/>
        </p:nvSpPr>
        <p:spPr>
          <a:xfrm>
            <a:off x="4526856" y="4892098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F7570805-1BCE-0364-9860-8E0358406F11}"/>
              </a:ext>
            </a:extLst>
          </p:cNvPr>
          <p:cNvSpPr/>
          <p:nvPr/>
        </p:nvSpPr>
        <p:spPr>
          <a:xfrm rot="16200000">
            <a:off x="6679324" y="2867372"/>
            <a:ext cx="532374" cy="331748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87BC8D-C0F1-F6CC-52C7-59F8432A9089}"/>
              </a:ext>
            </a:extLst>
          </p:cNvPr>
          <p:cNvSpPr/>
          <p:nvPr/>
        </p:nvSpPr>
        <p:spPr>
          <a:xfrm>
            <a:off x="4526856" y="2364069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Degradation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DDAD36-AF8F-8ED9-F319-E7275E626284}"/>
              </a:ext>
            </a:extLst>
          </p:cNvPr>
          <p:cNvSpPr/>
          <p:nvPr/>
        </p:nvSpPr>
        <p:spPr>
          <a:xfrm>
            <a:off x="6317110" y="2364069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Diversion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A66812-7CEC-C57C-E47C-04D800C75D95}"/>
              </a:ext>
            </a:extLst>
          </p:cNvPr>
          <p:cNvSpPr/>
          <p:nvPr/>
        </p:nvSpPr>
        <p:spPr>
          <a:xfrm>
            <a:off x="8107364" y="2364069"/>
            <a:ext cx="1509790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r>
              <a:rPr lang="en-US" dirty="0"/>
              <a:t>levated </a:t>
            </a:r>
            <a:r>
              <a:rPr lang="en-US" altLang="zh-CN" dirty="0"/>
              <a:t>E</a:t>
            </a:r>
            <a:r>
              <a:rPr lang="en-US" dirty="0"/>
              <a:t>xpectations 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0CF41174-329E-25AE-FB38-A575A00568F4}"/>
              </a:ext>
            </a:extLst>
          </p:cNvPr>
          <p:cNvSpPr/>
          <p:nvPr/>
        </p:nvSpPr>
        <p:spPr>
          <a:xfrm rot="5400000" flipV="1">
            <a:off x="6678911" y="1793101"/>
            <a:ext cx="533200" cy="3317484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F5ED7-EA7B-4733-D8E9-A5702E0FE69C}"/>
              </a:ext>
            </a:extLst>
          </p:cNvPr>
          <p:cNvSpPr txBox="1"/>
          <p:nvPr/>
        </p:nvSpPr>
        <p:spPr>
          <a:xfrm>
            <a:off x="9341757" y="308251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(-)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B2FB0-0AC6-371E-2B8C-3D4565EA01AC}"/>
              </a:ext>
            </a:extLst>
          </p:cNvPr>
          <p:cNvSpPr txBox="1"/>
          <p:nvPr/>
        </p:nvSpPr>
        <p:spPr>
          <a:xfrm>
            <a:off x="9341757" y="377188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(-)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62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5491-7B52-55BB-89F5-D611CADA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73A91C8-ED3E-78B5-4E00-E0795000CB6D}"/>
              </a:ext>
            </a:extLst>
          </p:cNvPr>
          <p:cNvSpPr/>
          <p:nvPr/>
        </p:nvSpPr>
        <p:spPr>
          <a:xfrm>
            <a:off x="4265763" y="2111383"/>
            <a:ext cx="7086697" cy="16704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31037-5933-1A79-9662-91675D694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31E2C1-683F-8D3A-C679-1881B9B72032}"/>
              </a:ext>
            </a:extLst>
          </p:cNvPr>
          <p:cNvSpPr/>
          <p:nvPr/>
        </p:nvSpPr>
        <p:spPr>
          <a:xfrm>
            <a:off x="9738020" y="3814691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4AE379-A0B9-5338-9F8A-65783A79153E}"/>
              </a:ext>
            </a:extLst>
          </p:cNvPr>
          <p:cNvSpPr/>
          <p:nvPr/>
        </p:nvSpPr>
        <p:spPr>
          <a:xfrm>
            <a:off x="2538563" y="3814691"/>
            <a:ext cx="1614440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6503E0-4442-FC22-258C-4D81B144DF6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153003" y="4134731"/>
            <a:ext cx="5585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DC65E-E2C1-BDA7-C7C6-5D3761380F5A}"/>
              </a:ext>
            </a:extLst>
          </p:cNvPr>
          <p:cNvSpPr/>
          <p:nvPr/>
        </p:nvSpPr>
        <p:spPr>
          <a:xfrm>
            <a:off x="8097330" y="4892098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1CE875-1115-04B4-7505-7FCE9B855FB3}"/>
              </a:ext>
            </a:extLst>
          </p:cNvPr>
          <p:cNvSpPr/>
          <p:nvPr/>
        </p:nvSpPr>
        <p:spPr>
          <a:xfrm>
            <a:off x="9738020" y="3108960"/>
            <a:ext cx="1519824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91F01-E698-D514-EFD7-FC825B044AB9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V="1">
            <a:off x="4153003" y="3429000"/>
            <a:ext cx="5585017" cy="705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90A293-FE9F-9786-1809-F9B2BAAAD152}"/>
              </a:ext>
            </a:extLst>
          </p:cNvPr>
          <p:cNvSpPr/>
          <p:nvPr/>
        </p:nvSpPr>
        <p:spPr>
          <a:xfrm>
            <a:off x="6317110" y="4892098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80BBE9-1408-1B04-8977-877A09C2D92F}"/>
              </a:ext>
            </a:extLst>
          </p:cNvPr>
          <p:cNvSpPr/>
          <p:nvPr/>
        </p:nvSpPr>
        <p:spPr>
          <a:xfrm>
            <a:off x="4526856" y="4892098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56D35953-715A-9627-1D65-8DA2341D5411}"/>
              </a:ext>
            </a:extLst>
          </p:cNvPr>
          <p:cNvSpPr/>
          <p:nvPr/>
        </p:nvSpPr>
        <p:spPr>
          <a:xfrm rot="16200000">
            <a:off x="6679324" y="2867372"/>
            <a:ext cx="532374" cy="331748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2D170B-19B1-FCA2-A0CB-11D14BCBA75F}"/>
              </a:ext>
            </a:extLst>
          </p:cNvPr>
          <p:cNvSpPr/>
          <p:nvPr/>
        </p:nvSpPr>
        <p:spPr>
          <a:xfrm>
            <a:off x="4526856" y="2364069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Degradation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A9E33A-1EB2-1FDA-2AEF-7241ABA5700F}"/>
              </a:ext>
            </a:extLst>
          </p:cNvPr>
          <p:cNvSpPr/>
          <p:nvPr/>
        </p:nvSpPr>
        <p:spPr>
          <a:xfrm>
            <a:off x="6317110" y="2364069"/>
            <a:ext cx="1519825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Diversion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F9CC20-9852-885F-DE0A-83933764FC9A}"/>
              </a:ext>
            </a:extLst>
          </p:cNvPr>
          <p:cNvSpPr/>
          <p:nvPr/>
        </p:nvSpPr>
        <p:spPr>
          <a:xfrm>
            <a:off x="8107364" y="2364069"/>
            <a:ext cx="1509790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r>
              <a:rPr lang="en-US" dirty="0"/>
              <a:t>levated </a:t>
            </a:r>
            <a:r>
              <a:rPr lang="en-US" altLang="zh-CN" dirty="0"/>
              <a:t>E</a:t>
            </a:r>
            <a:r>
              <a:rPr lang="en-US" dirty="0"/>
              <a:t>xpectations 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D9B2F9A4-2E7C-AF73-B71D-E7680893787D}"/>
              </a:ext>
            </a:extLst>
          </p:cNvPr>
          <p:cNvSpPr/>
          <p:nvPr/>
        </p:nvSpPr>
        <p:spPr>
          <a:xfrm rot="5400000" flipV="1">
            <a:off x="6678911" y="1793101"/>
            <a:ext cx="533200" cy="3317484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2A3978F9-C393-9BB9-22EE-D13BCBB9A141}"/>
              </a:ext>
            </a:extLst>
          </p:cNvPr>
          <p:cNvSpPr/>
          <p:nvPr/>
        </p:nvSpPr>
        <p:spPr>
          <a:xfrm>
            <a:off x="10612847" y="1457572"/>
            <a:ext cx="1417889" cy="13982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296C19E-F651-7C9F-9C94-F1A089A62D3C}"/>
              </a:ext>
            </a:extLst>
          </p:cNvPr>
          <p:cNvSpPr/>
          <p:nvPr/>
        </p:nvSpPr>
        <p:spPr>
          <a:xfrm>
            <a:off x="8148297" y="4550190"/>
            <a:ext cx="1417889" cy="13982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7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19AF8-F8E5-0CB8-C43B-1480141A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4BAA9C-8DEA-5BBC-3F6E-61856308F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A3CFED-2D4E-69C4-000C-7DE9E1E02BCD}"/>
              </a:ext>
            </a:extLst>
          </p:cNvPr>
          <p:cNvSpPr/>
          <p:nvPr/>
        </p:nvSpPr>
        <p:spPr>
          <a:xfrm>
            <a:off x="11257779" y="2348475"/>
            <a:ext cx="132814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DB4052-3431-1C3A-F021-CC9E23F3C492}"/>
              </a:ext>
            </a:extLst>
          </p:cNvPr>
          <p:cNvSpPr/>
          <p:nvPr/>
        </p:nvSpPr>
        <p:spPr>
          <a:xfrm>
            <a:off x="10118840" y="3206607"/>
            <a:ext cx="1519823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 Quality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BE47C4-3D48-6526-A94D-81FBFEA3C25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9171580" y="2641575"/>
            <a:ext cx="0" cy="5650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1A51188-1592-F303-8015-B57C01B3CC8C}"/>
              </a:ext>
            </a:extLst>
          </p:cNvPr>
          <p:cNvSpPr/>
          <p:nvPr/>
        </p:nvSpPr>
        <p:spPr>
          <a:xfrm>
            <a:off x="8411668" y="3206607"/>
            <a:ext cx="1519823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 Length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C363AB-B9E1-439F-C235-805B429190AE}"/>
              </a:ext>
            </a:extLst>
          </p:cNvPr>
          <p:cNvSpPr txBox="1"/>
          <p:nvPr/>
        </p:nvSpPr>
        <p:spPr>
          <a:xfrm>
            <a:off x="2071131" y="417662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2ADF70-E3A8-0A34-FEAC-927ED62634DC}"/>
              </a:ext>
            </a:extLst>
          </p:cNvPr>
          <p:cNvSpPr txBox="1"/>
          <p:nvPr/>
        </p:nvSpPr>
        <p:spPr>
          <a:xfrm>
            <a:off x="12184265" y="4265826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11A8AE-D947-1E9D-6647-0B6D8FB0E546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0878752" y="2668515"/>
            <a:ext cx="0" cy="53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FD213C73-E9DA-EFD1-D91A-A998F9CDB7EF}"/>
              </a:ext>
            </a:extLst>
          </p:cNvPr>
          <p:cNvSpPr/>
          <p:nvPr/>
        </p:nvSpPr>
        <p:spPr>
          <a:xfrm rot="5400000">
            <a:off x="7273797" y="-1272916"/>
            <a:ext cx="379343" cy="10876550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E3E023-91E6-0B1E-2251-F08E453E39B7}"/>
              </a:ext>
            </a:extLst>
          </p:cNvPr>
          <p:cNvSpPr txBox="1"/>
          <p:nvPr/>
        </p:nvSpPr>
        <p:spPr>
          <a:xfrm>
            <a:off x="6551155" y="432920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FAA12-47CA-9E70-5CE2-EA19C189E85E}"/>
              </a:ext>
            </a:extLst>
          </p:cNvPr>
          <p:cNvSpPr/>
          <p:nvPr/>
        </p:nvSpPr>
        <p:spPr>
          <a:xfrm>
            <a:off x="7820732" y="2348475"/>
            <a:ext cx="9144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124651-F00F-7A39-FB65-41D3647FB546}"/>
              </a:ext>
            </a:extLst>
          </p:cNvPr>
          <p:cNvSpPr/>
          <p:nvPr/>
        </p:nvSpPr>
        <p:spPr>
          <a:xfrm>
            <a:off x="5604578" y="2348475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E45BCB-BE5B-0F80-CFC5-FDF95CB21943}"/>
              </a:ext>
            </a:extLst>
          </p:cNvPr>
          <p:cNvSpPr/>
          <p:nvPr/>
        </p:nvSpPr>
        <p:spPr>
          <a:xfrm>
            <a:off x="1607061" y="2348475"/>
            <a:ext cx="9144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EA3A5E-DEB4-3622-EECD-25D43CCB9A43}"/>
              </a:ext>
            </a:extLst>
          </p:cNvPr>
          <p:cNvCxnSpPr>
            <a:cxnSpLocks/>
          </p:cNvCxnSpPr>
          <p:nvPr/>
        </p:nvCxnSpPr>
        <p:spPr>
          <a:xfrm>
            <a:off x="2521461" y="2668515"/>
            <a:ext cx="3083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6354EF3-C994-C5F9-0A52-85D32B6DAD42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3333656" y="2693485"/>
            <a:ext cx="0" cy="513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AB8E152-2900-3307-1D53-76E55E3CC4B2}"/>
              </a:ext>
            </a:extLst>
          </p:cNvPr>
          <p:cNvSpPr/>
          <p:nvPr/>
        </p:nvSpPr>
        <p:spPr>
          <a:xfrm>
            <a:off x="2705255" y="3206607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Length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AAE294-DA3B-5566-F17F-46C1DB348B63}"/>
              </a:ext>
            </a:extLst>
          </p:cNvPr>
          <p:cNvCxnSpPr>
            <a:cxnSpLocks/>
          </p:cNvCxnSpPr>
          <p:nvPr/>
        </p:nvCxnSpPr>
        <p:spPr>
          <a:xfrm>
            <a:off x="8735132" y="2668515"/>
            <a:ext cx="2522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C9409C3-4D70-3DE9-46AE-14789F19687E}"/>
              </a:ext>
            </a:extLst>
          </p:cNvPr>
          <p:cNvSpPr/>
          <p:nvPr/>
        </p:nvSpPr>
        <p:spPr>
          <a:xfrm>
            <a:off x="4160429" y="3206607"/>
            <a:ext cx="125680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A83569-2753-48BC-9728-F6E03D6CB7B8}"/>
              </a:ext>
            </a:extLst>
          </p:cNvPr>
          <p:cNvCxnSpPr>
            <a:cxnSpLocks/>
          </p:cNvCxnSpPr>
          <p:nvPr/>
        </p:nvCxnSpPr>
        <p:spPr>
          <a:xfrm flipV="1">
            <a:off x="4788829" y="2712507"/>
            <a:ext cx="0" cy="4625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30042D1-AAD2-F223-BD17-FD6BB6B047BF}"/>
              </a:ext>
            </a:extLst>
          </p:cNvPr>
          <p:cNvSpPr txBox="1"/>
          <p:nvPr/>
        </p:nvSpPr>
        <p:spPr>
          <a:xfrm>
            <a:off x="0" y="0"/>
            <a:ext cx="2447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260608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1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50A6-05BC-4705-AA12-F5FF07C0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BC67E-7E45-92EE-71D1-D027A611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1511F-1078-A628-C5DF-66B6A89DA8DA}"/>
              </a:ext>
            </a:extLst>
          </p:cNvPr>
          <p:cNvSpPr txBox="1"/>
          <p:nvPr/>
        </p:nvSpPr>
        <p:spPr>
          <a:xfrm>
            <a:off x="0" y="-4772"/>
            <a:ext cx="4404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260608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Ben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adjustments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F55CB7-CA95-38F6-4BD0-E4986099DA9B}"/>
              </a:ext>
            </a:extLst>
          </p:cNvPr>
          <p:cNvSpPr/>
          <p:nvPr/>
        </p:nvSpPr>
        <p:spPr>
          <a:xfrm>
            <a:off x="10546143" y="1442757"/>
            <a:ext cx="132814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</a:t>
            </a:r>
            <a:r>
              <a:rPr lang="en-US" altLang="zh-CN" dirty="0"/>
              <a:t>Quality</a:t>
            </a:r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4777AF-C3E7-4983-3C49-AA8B3192F4AE}"/>
              </a:ext>
            </a:extLst>
          </p:cNvPr>
          <p:cNvSpPr/>
          <p:nvPr/>
        </p:nvSpPr>
        <p:spPr>
          <a:xfrm>
            <a:off x="7829880" y="2264753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735E3B-A306-8B54-0E43-CA5D5C770015}"/>
              </a:ext>
            </a:extLst>
          </p:cNvPr>
          <p:cNvSpPr/>
          <p:nvPr/>
        </p:nvSpPr>
        <p:spPr>
          <a:xfrm>
            <a:off x="3418617" y="1649720"/>
            <a:ext cx="1328146" cy="1084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D415182-C9BE-7140-6FE8-1EDA95AFFA42}"/>
              </a:ext>
            </a:extLst>
          </p:cNvPr>
          <p:cNvCxnSpPr>
            <a:cxnSpLocks/>
          </p:cNvCxnSpPr>
          <p:nvPr/>
        </p:nvCxnSpPr>
        <p:spPr>
          <a:xfrm>
            <a:off x="4746763" y="2567960"/>
            <a:ext cx="3083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0826DD-FBBE-6EDD-F919-0475F9BF6636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5558958" y="2548242"/>
            <a:ext cx="0" cy="1327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B6B8B02-740A-8E9C-B04B-CC6CB27143B6}"/>
              </a:ext>
            </a:extLst>
          </p:cNvPr>
          <p:cNvSpPr/>
          <p:nvPr/>
        </p:nvSpPr>
        <p:spPr>
          <a:xfrm>
            <a:off x="4930557" y="3875451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Length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DA5872-B401-391B-AEBD-707D2AB3C4A7}"/>
              </a:ext>
            </a:extLst>
          </p:cNvPr>
          <p:cNvSpPr/>
          <p:nvPr/>
        </p:nvSpPr>
        <p:spPr>
          <a:xfrm>
            <a:off x="8641832" y="3892283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EB463F-9549-A791-0A9F-CCC2CE67E64F}"/>
              </a:ext>
            </a:extLst>
          </p:cNvPr>
          <p:cNvCxnSpPr>
            <a:cxnSpLocks/>
          </p:cNvCxnSpPr>
          <p:nvPr/>
        </p:nvCxnSpPr>
        <p:spPr>
          <a:xfrm flipV="1">
            <a:off x="9683353" y="1785063"/>
            <a:ext cx="0" cy="210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1ADC3B-A5D6-60C9-00A9-C23CF1006955}"/>
              </a:ext>
            </a:extLst>
          </p:cNvPr>
          <p:cNvCxnSpPr>
            <a:cxnSpLocks/>
          </p:cNvCxnSpPr>
          <p:nvPr/>
        </p:nvCxnSpPr>
        <p:spPr>
          <a:xfrm flipV="1">
            <a:off x="4746763" y="1762797"/>
            <a:ext cx="5799380" cy="22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BBFA70C-E987-4F07-BD58-283E90D949B4}"/>
              </a:ext>
            </a:extLst>
          </p:cNvPr>
          <p:cNvCxnSpPr>
            <a:cxnSpLocks/>
          </p:cNvCxnSpPr>
          <p:nvPr/>
        </p:nvCxnSpPr>
        <p:spPr>
          <a:xfrm flipV="1">
            <a:off x="5831074" y="1785063"/>
            <a:ext cx="870771" cy="20697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31A3D7E-B03A-3268-6AC1-AFDEE7F34984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7504186" y="2584793"/>
            <a:ext cx="1137646" cy="16275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ight Brace 60">
            <a:extLst>
              <a:ext uri="{FF2B5EF4-FFF2-40B4-BE49-F238E27FC236}">
                <a16:creationId xmlns:a16="http://schemas.microsoft.com/office/drawing/2014/main" id="{CCB5BBDF-572C-A761-43AB-430D9235895D}"/>
              </a:ext>
            </a:extLst>
          </p:cNvPr>
          <p:cNvSpPr/>
          <p:nvPr/>
        </p:nvSpPr>
        <p:spPr>
          <a:xfrm rot="5400000">
            <a:off x="6235154" y="1990661"/>
            <a:ext cx="298012" cy="5931087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F051CB36-DA1C-987C-A4D0-EF8239D1AD5B}"/>
              </a:ext>
            </a:extLst>
          </p:cNvPr>
          <p:cNvSpPr/>
          <p:nvPr/>
        </p:nvSpPr>
        <p:spPr>
          <a:xfrm rot="5400000">
            <a:off x="7497447" y="1414640"/>
            <a:ext cx="298012" cy="845567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B88760-99B8-72BA-E6D4-6A289A9EC724}"/>
              </a:ext>
            </a:extLst>
          </p:cNvPr>
          <p:cNvSpPr txBox="1"/>
          <p:nvPr/>
        </p:nvSpPr>
        <p:spPr>
          <a:xfrm>
            <a:off x="5507926" y="5099608"/>
            <a:ext cx="175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Fast</a:t>
            </a:r>
            <a:r>
              <a:rPr lang="en-US" dirty="0"/>
              <a:t> Processing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60A52F-0989-F938-F88E-994D94F67510}"/>
              </a:ext>
            </a:extLst>
          </p:cNvPr>
          <p:cNvSpPr txBox="1"/>
          <p:nvPr/>
        </p:nvSpPr>
        <p:spPr>
          <a:xfrm>
            <a:off x="6744411" y="5804481"/>
            <a:ext cx="180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Slow</a:t>
            </a:r>
            <a:r>
              <a:rPr lang="en-US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115973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369E-7899-96C6-0242-CCA912B8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78E4AA-15EE-FBE9-483E-83AF296B4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</a:t>
            </a:r>
            <a:r>
              <a:rPr lang="en-US" altLang="zh-CN" dirty="0"/>
              <a:t>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en-US" dirty="0"/>
              <a:t>: </a:t>
            </a:r>
            <a:r>
              <a:rPr lang="en-US" altLang="en-US" dirty="0"/>
              <a:t>Competition with a "Weaker" Competitor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562B5C-D9E6-02FA-9A08-EB105CCC11B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2000" dirty="0"/>
              <a:t>Core Logic: </a:t>
            </a:r>
          </a:p>
          <a:p>
            <a:pPr lvl="1" defTabSz="914327">
              <a:lnSpc>
                <a:spcPct val="120000"/>
              </a:lnSpc>
            </a:pPr>
            <a:r>
              <a:rPr lang="en-US" altLang="en-US" sz="1800" dirty="0"/>
              <a:t>Humans view AI as a weaker competitor</a:t>
            </a:r>
            <a:r>
              <a:rPr lang="zh-CN" altLang="en-US" sz="1800" dirty="0"/>
              <a:t> </a:t>
            </a:r>
            <a:r>
              <a:rPr lang="en-US" altLang="zh-CN" sz="1800" dirty="0"/>
              <a:t>(without</a:t>
            </a:r>
            <a:r>
              <a:rPr lang="zh-CN" altLang="en-US" sz="1800" dirty="0"/>
              <a:t> </a:t>
            </a:r>
            <a:r>
              <a:rPr lang="en-US" altLang="zh-CN" sz="1800" dirty="0"/>
              <a:t>seeing</a:t>
            </a:r>
            <a:r>
              <a:rPr lang="zh-CN" altLang="en-US" sz="1800" dirty="0"/>
              <a:t> </a:t>
            </a:r>
            <a:r>
              <a:rPr lang="en-US" altLang="zh-CN" sz="1800" dirty="0"/>
              <a:t>content)</a:t>
            </a:r>
            <a:r>
              <a:rPr lang="en-US" altLang="en-US" sz="1800" dirty="0"/>
              <a:t>, </a:t>
            </a:r>
          </a:p>
          <a:p>
            <a:pPr lvl="1" defTabSz="914327">
              <a:lnSpc>
                <a:spcPct val="120000"/>
              </a:lnSpc>
            </a:pPr>
            <a:r>
              <a:rPr lang="en-US" altLang="en-US" sz="1800" dirty="0"/>
              <a:t>yet AI </a:t>
            </a:r>
            <a:r>
              <a:rPr lang="en-US" altLang="zh-CN" sz="1800" dirty="0"/>
              <a:t>content</a:t>
            </a:r>
            <a:r>
              <a:rPr lang="en-US" altLang="en-US" sz="1800" dirty="0"/>
              <a:t> triggers strong competitive dynamics that </a:t>
            </a:r>
            <a:r>
              <a:rPr lang="en-US" altLang="zh-CN" sz="1800" dirty="0">
                <a:solidFill>
                  <a:srgbClr val="FF0000"/>
                </a:solidFill>
              </a:rPr>
              <a:t>deter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human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contributions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/>
              <a:t>and</a:t>
            </a:r>
            <a:r>
              <a:rPr lang="zh-CN" altLang="en-US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elevate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human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answer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quality</a:t>
            </a:r>
            <a:r>
              <a:rPr lang="en-US" altLang="en-US" sz="1800" dirty="0"/>
              <a:t>.</a:t>
            </a:r>
          </a:p>
          <a:p>
            <a:pPr defTabSz="914327">
              <a:lnSpc>
                <a:spcPct val="120000"/>
              </a:lnSpc>
            </a:pPr>
            <a:endParaRPr lang="en-US" altLang="en-US" sz="1800" dirty="0"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86F0B5-67DD-702A-41A7-EDC33DC1E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57618"/>
              </p:ext>
            </p:extLst>
          </p:nvPr>
        </p:nvGraphicFramePr>
        <p:xfrm>
          <a:off x="1006475" y="2995453"/>
          <a:ext cx="12617451" cy="2992752"/>
        </p:xfrm>
        <a:graphic>
          <a:graphicData uri="http://schemas.openxmlformats.org/drawingml/2006/table">
            <a:tbl>
              <a:tblPr/>
              <a:tblGrid>
                <a:gridCol w="4205817">
                  <a:extLst>
                    <a:ext uri="{9D8B030D-6E8A-4147-A177-3AD203B41FA5}">
                      <a16:colId xmlns:a16="http://schemas.microsoft.com/office/drawing/2014/main" val="467291939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3768826293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2119890597"/>
                    </a:ext>
                  </a:extLst>
                </a:gridCol>
              </a:tblGrid>
              <a:tr h="54413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800" dirty="0"/>
                        <a:t>DV:</a:t>
                      </a:r>
                      <a:r>
                        <a:rPr lang="zh-CN" altLang="en-US" sz="1800" dirty="0"/>
                        <a:t> 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Contribution (Fast)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Answer Quality (Slow)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09051"/>
                  </a:ext>
                </a:extLst>
              </a:tr>
              <a:tr h="54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AI Presence (as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a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weaker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competitor</a:t>
                      </a:r>
                      <a:r>
                        <a:rPr lang="en-US" sz="1800" b="1" dirty="0"/>
                        <a:t>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H1: </a:t>
                      </a:r>
                      <a:r>
                        <a:rPr lang="en-US" sz="1800" b="1" dirty="0"/>
                        <a:t>↑</a:t>
                      </a:r>
                      <a:r>
                        <a:rPr lang="en-US" sz="1800" dirty="0"/>
                        <a:t> (easy win → motivates entry)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H3: </a:t>
                      </a:r>
                      <a:r>
                        <a:rPr lang="en-US" sz="1800" b="1"/>
                        <a:t>↓</a:t>
                      </a:r>
                      <a:r>
                        <a:rPr lang="en-US" sz="1800"/>
                        <a:t> (weak rival → complacency)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073917"/>
                  </a:ext>
                </a:extLst>
              </a:tr>
              <a:tr h="95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Moderated by Length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H2: </a:t>
                      </a:r>
                      <a:r>
                        <a:rPr lang="en-US" sz="1800" b="1" dirty="0"/>
                        <a:t>attenuates H1</a:t>
                      </a:r>
                      <a:r>
                        <a:rPr lang="en-US" sz="1800" dirty="0"/>
                        <a:t>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(occupied space → deters entry)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3508"/>
                  </a:ext>
                </a:extLst>
              </a:tr>
              <a:tr h="95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Moderated by Quality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H4: </a:t>
                      </a:r>
                      <a:r>
                        <a:rPr lang="en-US" sz="1800" b="1" dirty="0"/>
                        <a:t>reverses H3</a:t>
                      </a:r>
                      <a:r>
                        <a:rPr lang="en-US" sz="1800" dirty="0"/>
                        <a:t>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(credible rival → raises the bar)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34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8B1B1-9203-7CE3-C4B5-B1B6961FD6F9}"/>
              </a:ext>
            </a:extLst>
          </p:cNvPr>
          <p:cNvSpPr txBox="1"/>
          <p:nvPr/>
        </p:nvSpPr>
        <p:spPr>
          <a:xfrm>
            <a:off x="9911672" y="6458745"/>
            <a:ext cx="471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Detailed</a:t>
            </a:r>
            <a:r>
              <a:rPr lang="zh-CN" altLang="en-US" dirty="0"/>
              <a:t> </a:t>
            </a:r>
            <a:r>
              <a:rPr lang="en-US" altLang="zh-CN" dirty="0"/>
              <a:t>theoretical</a:t>
            </a:r>
            <a:r>
              <a:rPr lang="zh-CN" altLang="en-US" dirty="0"/>
              <a:t> </a:t>
            </a:r>
            <a:r>
              <a:rPr lang="en-US" altLang="zh-CN" dirty="0"/>
              <a:t>development,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5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63D3-175B-A25F-3591-D11CD4CA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A83E5F-D8E2-4F96-E463-BF81724D0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Contribution </a:t>
            </a:r>
            <a:r>
              <a:rPr lang="en-US" altLang="en-US" sz="2000" dirty="0"/>
              <a:t>(Fast Processing — Length as Signal)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D0882-D713-5CDC-AD76-E8E9E9A51548}"/>
              </a:ext>
            </a:extLst>
          </p:cNvPr>
          <p:cNvSpPr txBox="1">
            <a:spLocks/>
          </p:cNvSpPr>
          <p:nvPr/>
        </p:nvSpPr>
        <p:spPr>
          <a:xfrm>
            <a:off x="381000" y="3754796"/>
            <a:ext cx="13928889" cy="2969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H1: AI presence increases human contribution.</a:t>
            </a:r>
          </a:p>
          <a:p>
            <a:pPr lvl="1"/>
            <a:r>
              <a:rPr lang="en-US" altLang="en-US" dirty="0"/>
              <a:t>Humans perceive AI as a</a:t>
            </a:r>
            <a:r>
              <a:rPr lang="zh-CN" altLang="en-US" dirty="0"/>
              <a:t> </a:t>
            </a:r>
            <a:r>
              <a:rPr lang="en-US" altLang="zh-CN" dirty="0"/>
              <a:t>“weak”</a:t>
            </a:r>
            <a:r>
              <a:rPr lang="zh-CN" altLang="en-US" dirty="0"/>
              <a:t> </a:t>
            </a:r>
            <a:r>
              <a:rPr lang="en-US" altLang="en-US" dirty="0"/>
              <a:t>competitor</a:t>
            </a:r>
            <a:r>
              <a:rPr lang="zh-CN" altLang="en-US" dirty="0"/>
              <a:t> </a:t>
            </a:r>
            <a:r>
              <a:rPr lang="en-US" altLang="zh-CN" dirty="0"/>
              <a:t>(because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competitive</a:t>
            </a:r>
            <a:r>
              <a:rPr lang="zh-CN" altLang="en-US" dirty="0"/>
              <a:t> </a:t>
            </a:r>
            <a:r>
              <a:rPr lang="en-US" altLang="zh-CN" dirty="0"/>
              <a:t>arousal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experts</a:t>
            </a:r>
            <a:r>
              <a:rPr lang="zh-CN" altLang="en-US" dirty="0"/>
              <a:t> </a:t>
            </a:r>
            <a:r>
              <a:rPr lang="en-US" altLang="zh-CN" dirty="0"/>
              <a:t>believe</a:t>
            </a:r>
            <a:r>
              <a:rPr lang="zh-CN" altLang="en-US" dirty="0"/>
              <a:t> </a:t>
            </a:r>
            <a:r>
              <a:rPr lang="en-US" altLang="zh-CN" dirty="0" err="1"/>
              <a:t>SegementFault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expert-specific</a:t>
            </a:r>
            <a:r>
              <a:rPr lang="zh-CN" altLang="en-US" dirty="0"/>
              <a:t> </a:t>
            </a:r>
            <a:r>
              <a:rPr lang="en-US" altLang="zh-CN" dirty="0"/>
              <a:t>area)</a:t>
            </a:r>
            <a:endParaRPr lang="en-US" altLang="en-US" dirty="0"/>
          </a:p>
          <a:p>
            <a:pPr lvl="1"/>
            <a:r>
              <a:rPr lang="en-US" altLang="en-US" i="1" dirty="0"/>
              <a:t>Regardless of AI answer length or quality, the competitive trigger stimulates a baseline impulse to respond.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H2: The competitive crowding-out is stronger when the AI answer is longer.</a:t>
            </a:r>
          </a:p>
          <a:p>
            <a:pPr lvl="1"/>
            <a:r>
              <a:rPr lang="en-US" altLang="en-US" dirty="0"/>
              <a:t>Length is a fast-processed heuristic for how </a:t>
            </a:r>
            <a:r>
              <a:rPr lang="en-US" altLang="zh-CN" dirty="0"/>
              <a:t>“comprehensive</a:t>
            </a:r>
            <a:r>
              <a:rPr lang="en-US" altLang="en-US" dirty="0"/>
              <a:t>" the competitive space is.</a:t>
            </a:r>
          </a:p>
          <a:p>
            <a:pPr lvl="1"/>
            <a:r>
              <a:rPr lang="en-US" altLang="en-US" dirty="0"/>
              <a:t>A longer AI answer signals a more formidable competitive barrier → the "easy win" perception erodes → the baseline positive contribution effect is attenuated or reversed.</a:t>
            </a:r>
          </a:p>
          <a:p>
            <a:pPr indent="0" defTabSz="914327">
              <a:lnSpc>
                <a:spcPct val="120000"/>
              </a:lnSpc>
              <a:buNone/>
            </a:pPr>
            <a:endParaRPr lang="en-US" altLang="zh-CN" sz="1800" dirty="0">
              <a:ea typeface="微软雅黑" panose="020B0503020204020204" pitchFamily="34" charset="-122"/>
              <a:cs typeface="+mn-cs"/>
            </a:endParaRPr>
          </a:p>
          <a:p>
            <a:pPr defTabSz="914327">
              <a:lnSpc>
                <a:spcPct val="120000"/>
              </a:lnSpc>
            </a:pPr>
            <a:endParaRPr lang="en-US" altLang="en-US" sz="1800" dirty="0"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5AE4A9-CDFC-7257-D58D-3BC7BD50AAF5}"/>
              </a:ext>
            </a:extLst>
          </p:cNvPr>
          <p:cNvGrpSpPr/>
          <p:nvPr/>
        </p:nvGrpSpPr>
        <p:grpSpPr>
          <a:xfrm>
            <a:off x="4179303" y="1170359"/>
            <a:ext cx="6271793" cy="2442778"/>
            <a:chOff x="4622948" y="1114461"/>
            <a:chExt cx="5931088" cy="38192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3E8E5-7CA3-48AA-9D2B-CB2BB71A0944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Participation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07924E-8BBF-5B76-A3FD-FF7A7E5CD305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6E2B76-04A2-B8A9-B0AB-F776E357EF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CD2B1A1-C004-29E9-F87E-AC27B91D6F45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B48F2A-E462-0F4B-0331-61553C7FD962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4C791110-CBA9-C127-0C14-FA289E7301EF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A12F70-59FC-6F31-7D6E-0AF635CD4AB4}"/>
                </a:ext>
              </a:extLst>
            </p:cNvPr>
            <p:cNvSpPr txBox="1"/>
            <p:nvPr/>
          </p:nvSpPr>
          <p:spPr>
            <a:xfrm>
              <a:off x="6712258" y="4564349"/>
              <a:ext cx="17524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6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E7C2-861B-74EC-7200-27CFF3FC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E2521-DC5E-518F-C516-C987079C5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Answer Quality </a:t>
            </a:r>
            <a:r>
              <a:rPr lang="en-US" altLang="en-US" sz="2400" dirty="0"/>
              <a:t>(Slow Processing — Quality as Benchmark)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16406A-3C10-69BA-A13C-6C054BE8ECE2}"/>
              </a:ext>
            </a:extLst>
          </p:cNvPr>
          <p:cNvSpPr txBox="1">
            <a:spLocks/>
          </p:cNvSpPr>
          <p:nvPr/>
        </p:nvSpPr>
        <p:spPr>
          <a:xfrm>
            <a:off x="350755" y="3828653"/>
            <a:ext cx="13928889" cy="2969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H3: AI presence decreases human answer quality.</a:t>
            </a:r>
          </a:p>
          <a:p>
            <a:pPr lvl="1"/>
            <a:r>
              <a:rPr lang="en-US" altLang="en-US" b="0" dirty="0"/>
              <a:t>Facing a perceived weaker competitor, humans become complacent → reduced effort investment → "I don't need to try hard to beat this" → lower quality.</a:t>
            </a:r>
          </a:p>
          <a:p>
            <a:pPr lvl="1"/>
            <a:r>
              <a:rPr lang="en-US" altLang="en-US" b="0" i="1" dirty="0"/>
              <a:t>Regardless of AI answer length or quality, </a:t>
            </a:r>
            <a:r>
              <a:rPr lang="en-US" altLang="en-US" i="1" dirty="0"/>
              <a:t>the baseline competitive posture toward a "weak" rival lowers the quality bar humans set for themselves.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H4: The negative quality effect reverses when AI answer quality is high.</a:t>
            </a:r>
          </a:p>
          <a:p>
            <a:pPr lvl="1"/>
            <a:r>
              <a:rPr lang="en-US" altLang="en-US" b="0" dirty="0"/>
              <a:t>High AI quality can only be assessed through slow, deliberate processing → once recognized, it shatters the "weak competitor" assumption.</a:t>
            </a:r>
          </a:p>
          <a:p>
            <a:pPr lvl="1"/>
            <a:r>
              <a:rPr lang="en-US" altLang="en-US" b="0" dirty="0"/>
              <a:t>A high-quality AI answer serves as a visible benchmark to surpass → triggers genuine competitive effort → humans invest more to demonstrate superiority → quality rises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i="1" dirty="0"/>
              <a:t>"The AI is actually good — I must prove I'm better."</a:t>
            </a:r>
            <a:endParaRPr lang="en-US" alt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0AD598-334E-2F95-EC07-A95E39B65786}"/>
              </a:ext>
            </a:extLst>
          </p:cNvPr>
          <p:cNvGrpSpPr/>
          <p:nvPr/>
        </p:nvGrpSpPr>
        <p:grpSpPr>
          <a:xfrm>
            <a:off x="4310712" y="1140734"/>
            <a:ext cx="6271793" cy="2575885"/>
            <a:chOff x="4622948" y="1114461"/>
            <a:chExt cx="5931088" cy="40273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D89BA4-CB65-CB0C-1C8D-47352DCC76C0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9B48FB-0E12-1864-A22D-89D010638B9E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42235F-90D5-385B-80D6-8A9B0645B0D4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51A4F7-BD28-C7C2-22A1-829E39C131B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4AE7A6-2041-8AFB-5219-A19E8C2C5A7B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8C97F723-5CD0-0A02-195A-8F07B0756D9B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3DF411-7DE2-BD91-910F-F57C387A3FE6}"/>
                </a:ext>
              </a:extLst>
            </p:cNvPr>
            <p:cNvSpPr txBox="1"/>
            <p:nvPr/>
          </p:nvSpPr>
          <p:spPr>
            <a:xfrm>
              <a:off x="6712258" y="4564349"/>
              <a:ext cx="1584625" cy="577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1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24CE-5D4D-DB67-6941-EAF656C7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AB280-A0D5-DBDF-DB88-4E4D9CC15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B35D6E-4969-9CF3-D045-3425CB11A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399867"/>
              </p:ext>
            </p:extLst>
          </p:nvPr>
        </p:nvGraphicFramePr>
        <p:xfrm>
          <a:off x="2476963" y="2181165"/>
          <a:ext cx="9259696" cy="3947545"/>
        </p:xfrm>
        <a:graphic>
          <a:graphicData uri="http://schemas.openxmlformats.org/drawingml/2006/table">
            <a:tbl>
              <a:tblPr/>
              <a:tblGrid>
                <a:gridCol w="3481303">
                  <a:extLst>
                    <a:ext uri="{9D8B030D-6E8A-4147-A177-3AD203B41FA5}">
                      <a16:colId xmlns:a16="http://schemas.microsoft.com/office/drawing/2014/main" val="2194831079"/>
                    </a:ext>
                  </a:extLst>
                </a:gridCol>
                <a:gridCol w="1597974">
                  <a:extLst>
                    <a:ext uri="{9D8B030D-6E8A-4147-A177-3AD203B41FA5}">
                      <a16:colId xmlns:a16="http://schemas.microsoft.com/office/drawing/2014/main" val="3377069532"/>
                    </a:ext>
                  </a:extLst>
                </a:gridCol>
                <a:gridCol w="1697849">
                  <a:extLst>
                    <a:ext uri="{9D8B030D-6E8A-4147-A177-3AD203B41FA5}">
                      <a16:colId xmlns:a16="http://schemas.microsoft.com/office/drawing/2014/main" val="204925023"/>
                    </a:ext>
                  </a:extLst>
                </a:gridCol>
                <a:gridCol w="1241285">
                  <a:extLst>
                    <a:ext uri="{9D8B030D-6E8A-4147-A177-3AD203B41FA5}">
                      <a16:colId xmlns:a16="http://schemas.microsoft.com/office/drawing/2014/main" val="3863096390"/>
                    </a:ext>
                  </a:extLst>
                </a:gridCol>
                <a:gridCol w="1241285">
                  <a:extLst>
                    <a:ext uri="{9D8B030D-6E8A-4147-A177-3AD203B41FA5}">
                      <a16:colId xmlns:a16="http://schemas.microsoft.com/office/drawing/2014/main" val="67674783"/>
                    </a:ext>
                  </a:extLst>
                </a:gridCol>
              </a:tblGrid>
              <a:tr h="28249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 </a:t>
                      </a:r>
                    </a:p>
                  </a:txBody>
                  <a:tcPr marL="8505" marR="8505" marT="850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(3)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(4)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02163"/>
                  </a:ext>
                </a:extLst>
              </a:tr>
              <a:tr h="84006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DV: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 of the number of human answers provided within 7 days (answerNumi)</a:t>
                      </a:r>
                    </a:p>
                  </a:txBody>
                  <a:tcPr marL="105604" marR="105604" marT="52802" marB="528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human answer quality (human1SimWithLLMi)</a:t>
                      </a:r>
                    </a:p>
                  </a:txBody>
                  <a:tcPr marL="105604" marR="105604" marT="52802" marB="528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4480"/>
                  </a:ext>
                </a:extLst>
              </a:tr>
              <a:tr h="282498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5604" marR="105604" marT="52802" marB="528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-0.046 ***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0.226 **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-0.120 .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3219"/>
                  </a:ext>
                </a:extLst>
              </a:tr>
              <a:tr h="2824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(0.085)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(0.007)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(0.067)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01719"/>
                  </a:ext>
                </a:extLst>
              </a:tr>
              <a:tr h="282498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AILength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5604" marR="105604" marT="52802" marB="528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-0.045 **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-0.013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7539"/>
                  </a:ext>
                </a:extLst>
              </a:tr>
              <a:tr h="2824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95254"/>
                  </a:ext>
                </a:extLst>
              </a:tr>
              <a:tr h="282498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AISimWithLLM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5604" marR="105604" marT="52802" marB="528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-0.038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0.350 ***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25830"/>
                  </a:ext>
                </a:extLst>
              </a:tr>
              <a:tr h="2824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(0.051)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(0.034)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975476"/>
                  </a:ext>
                </a:extLst>
              </a:tr>
              <a:tr h="2824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controls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07335"/>
                  </a:ext>
                </a:extLst>
              </a:tr>
              <a:tr h="2824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questioner controls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89340"/>
                  </a:ext>
                </a:extLst>
              </a:tr>
              <a:tr h="2824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timing FE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2091"/>
                  </a:ext>
                </a:extLst>
              </a:tr>
              <a:tr h="2824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3,613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3,603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8505" marR="8505" marT="8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715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2A863C5-CCC4-0E9C-ADA5-4DD14E2E79E9}"/>
              </a:ext>
            </a:extLst>
          </p:cNvPr>
          <p:cNvSpPr txBox="1"/>
          <p:nvPr/>
        </p:nvSpPr>
        <p:spPr>
          <a:xfrm>
            <a:off x="380999" y="1200298"/>
            <a:ext cx="5618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Human consider AI as a weaker competitor. </a:t>
            </a:r>
          </a:p>
          <a:p>
            <a:r>
              <a:rPr lang="en-US" dirty="0"/>
              <a:t>But AI outcome triggers a strong sense of competition </a:t>
            </a:r>
          </a:p>
        </p:txBody>
      </p:sp>
    </p:spTree>
    <p:extLst>
      <p:ext uri="{BB962C8B-B14F-4D97-AF65-F5344CB8AC3E}">
        <p14:creationId xmlns:p14="http://schemas.microsoft.com/office/powerpoint/2010/main" val="3670396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BC95-99B1-297A-F40F-BD052853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D3FFAF-FBF8-42D3-CCC4-181CEACD1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(interaction</a:t>
            </a:r>
            <a:r>
              <a:rPr lang="zh-CN" altLang="en-US" dirty="0"/>
              <a:t> </a:t>
            </a:r>
            <a:r>
              <a:rPr lang="en-US" altLang="zh-CN" dirty="0"/>
              <a:t>plot)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8F56564-2592-D5A7-2234-7776B56624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1621234"/>
              </p:ext>
            </p:extLst>
          </p:nvPr>
        </p:nvGraphicFramePr>
        <p:xfrm>
          <a:off x="584362" y="2018227"/>
          <a:ext cx="6701883" cy="4750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4653B32-37B9-0346-AC39-21A02EC692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576507"/>
              </p:ext>
            </p:extLst>
          </p:nvPr>
        </p:nvGraphicFramePr>
        <p:xfrm>
          <a:off x="7569192" y="2018227"/>
          <a:ext cx="6325227" cy="4750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E3363D-F9CC-F17B-9979-35933FC9DB11}"/>
              </a:ext>
            </a:extLst>
          </p:cNvPr>
          <p:cNvSpPr txBox="1"/>
          <p:nvPr/>
        </p:nvSpPr>
        <p:spPr>
          <a:xfrm>
            <a:off x="1786053" y="1338797"/>
            <a:ext cx="5618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deter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lengthy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B6078-0B56-E84A-CA45-6E05A7DEA7BE}"/>
              </a:ext>
            </a:extLst>
          </p:cNvPr>
          <p:cNvSpPr txBox="1"/>
          <p:nvPr/>
        </p:nvSpPr>
        <p:spPr>
          <a:xfrm>
            <a:off x="7904354" y="1338797"/>
            <a:ext cx="6491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elevate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high-quality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77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57F3-7903-5ACC-F29F-57C7AAC5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74C49-D94A-7DA6-B248-B4AC5DEF2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3906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7C83-6A9D-2BBF-CD27-CFDDA32D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C2CD2-47CE-536A-6319-F44C52DC6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Robustness</a:t>
            </a:r>
            <a:endParaRPr lang="en-US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CC74D-4CEB-F67A-0FB0-B95EFAAA1B52}"/>
              </a:ext>
            </a:extLst>
          </p:cNvPr>
          <p:cNvSpPr txBox="1"/>
          <p:nvPr/>
        </p:nvSpPr>
        <p:spPr>
          <a:xfrm>
            <a:off x="6946088" y="3244334"/>
            <a:ext cx="680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8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1F7D-515B-4469-7631-0D52DE10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02991-FF92-3811-388F-98BD2B531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Broader Platform Engagement: Effects of AI-Generated Answers on Questioner Activity and Question Visibility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33D60B8-75CC-5700-F534-DF5986ADF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94237"/>
              </p:ext>
            </p:extLst>
          </p:nvPr>
        </p:nvGraphicFramePr>
        <p:xfrm>
          <a:off x="2057399" y="1956605"/>
          <a:ext cx="10515601" cy="3670294"/>
        </p:xfrm>
        <a:graphic>
          <a:graphicData uri="http://schemas.openxmlformats.org/drawingml/2006/table">
            <a:tbl>
              <a:tblPr firstRow="1" firstCol="1" bandRow="1"/>
              <a:tblGrid>
                <a:gridCol w="1738116">
                  <a:extLst>
                    <a:ext uri="{9D8B030D-6E8A-4147-A177-3AD203B41FA5}">
                      <a16:colId xmlns:a16="http://schemas.microsoft.com/office/drawing/2014/main" val="292295766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580340738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506339671"/>
                    </a:ext>
                  </a:extLst>
                </a:gridCol>
                <a:gridCol w="2172645">
                  <a:extLst>
                    <a:ext uri="{9D8B030D-6E8A-4147-A177-3AD203B41FA5}">
                      <a16:colId xmlns:a16="http://schemas.microsoft.com/office/drawing/2014/main" val="3092339590"/>
                    </a:ext>
                  </a:extLst>
                </a:gridCol>
                <a:gridCol w="2346456">
                  <a:extLst>
                    <a:ext uri="{9D8B030D-6E8A-4147-A177-3AD203B41FA5}">
                      <a16:colId xmlns:a16="http://schemas.microsoft.com/office/drawing/2014/main" val="3499156427"/>
                    </a:ext>
                  </a:extLst>
                </a:gridCol>
                <a:gridCol w="2346456">
                  <a:extLst>
                    <a:ext uri="{9D8B030D-6E8A-4147-A177-3AD203B41FA5}">
                      <a16:colId xmlns:a16="http://schemas.microsoft.com/office/drawing/2014/main" val="1965376008"/>
                    </a:ext>
                  </a:extLst>
                </a:gridCol>
              </a:tblGrid>
              <a:tr h="3632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406634"/>
                  </a:ext>
                </a:extLst>
              </a:tr>
              <a:tr h="1005837">
                <a:tc rowSpan="2"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the logarithm of the number of questioner’s subsequent activities after receiving an answer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number of comments the questioner posted in response to answers received by question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Comment</a:t>
                      </a:r>
                      <a:r>
                        <a:rPr lang="en-US" sz="16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cumulative viewership count for question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View</a:t>
                      </a:r>
                      <a:r>
                        <a:rPr lang="en-US" sz="16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80915"/>
                  </a:ext>
                </a:extLst>
              </a:tr>
              <a:tr h="3632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month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 months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months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36194"/>
                  </a:ext>
                </a:extLst>
              </a:tr>
              <a:tr h="391159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6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-0.010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4003"/>
                  </a:ext>
                </a:extLst>
              </a:tr>
              <a:tr h="3632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(0.027)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(0.016)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232426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9402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other controls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41221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2,748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64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1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94920</TotalTime>
  <Words>938</Words>
  <Application>Microsoft Macintosh PowerPoint</Application>
  <PresentationFormat>Custom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Lato</vt:lpstr>
      <vt:lpstr>Arial</vt:lpstr>
      <vt:lpstr>微软雅黑</vt:lpstr>
      <vt:lpstr>等线</vt:lpstr>
      <vt:lpstr>Calibri</vt:lpstr>
      <vt:lpstr>Lato Light</vt:lpstr>
      <vt:lpstr>Georgia</vt:lpstr>
      <vt:lpstr>Times New Roman</vt:lpstr>
      <vt:lpstr>Wingdings</vt:lpstr>
      <vt:lpstr>Lato Black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427</cp:revision>
  <dcterms:created xsi:type="dcterms:W3CDTF">2020-04-20T03:29:34Z</dcterms:created>
  <dcterms:modified xsi:type="dcterms:W3CDTF">2026-06-09T08:52:50Z</dcterms:modified>
  <cp:category/>
</cp:coreProperties>
</file>