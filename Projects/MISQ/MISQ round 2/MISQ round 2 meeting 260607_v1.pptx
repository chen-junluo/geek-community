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0" r:id="rId3"/>
    <p:sldId id="281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74" autoAdjust="0"/>
    <p:restoredTop sz="94660"/>
  </p:normalViewPr>
  <p:slideViewPr>
    <p:cSldViewPr snapToGrid="0">
      <p:cViewPr>
        <p:scale>
          <a:sx n="120" d="100"/>
          <a:sy n="120" d="100"/>
        </p:scale>
        <p:origin x="271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6048-46E8-7166-5D91-F34D7A9F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AF8BC2-58C6-794D-C271-DD234105EAC5}"/>
              </a:ext>
            </a:extLst>
          </p:cNvPr>
          <p:cNvSpPr/>
          <p:nvPr/>
        </p:nvSpPr>
        <p:spPr>
          <a:xfrm>
            <a:off x="9270134" y="40342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C115A-10CD-605C-8836-EA71D41B1C3F}"/>
              </a:ext>
            </a:extLst>
          </p:cNvPr>
          <p:cNvSpPr/>
          <p:nvPr/>
        </p:nvSpPr>
        <p:spPr>
          <a:xfrm>
            <a:off x="9270134" y="3108960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A90EB-6C5C-BB70-C663-8773905E8F31}"/>
              </a:ext>
            </a:extLst>
          </p:cNvPr>
          <p:cNvSpPr/>
          <p:nvPr/>
        </p:nvSpPr>
        <p:spPr>
          <a:xfrm>
            <a:off x="2798410" y="28622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C64F4-210C-9B84-8502-4785777B7DEC}"/>
              </a:ext>
            </a:extLst>
          </p:cNvPr>
          <p:cNvSpPr/>
          <p:nvPr/>
        </p:nvSpPr>
        <p:spPr>
          <a:xfrm>
            <a:off x="2798410" y="4354261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543269-AAD2-E172-CCDD-24804ED736F7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4790841" y="3429000"/>
            <a:ext cx="4479293" cy="51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E5E069-4505-40F1-0C4C-C5C52150D3B2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790841" y="3941588"/>
            <a:ext cx="4479293" cy="4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DC00D-DC45-08FF-C157-0588400DF14A}"/>
              </a:ext>
            </a:extLst>
          </p:cNvPr>
          <p:cNvSpPr/>
          <p:nvPr/>
        </p:nvSpPr>
        <p:spPr>
          <a:xfrm>
            <a:off x="2798410" y="362154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12593E-F048-4A0C-DCBA-862F6B956875}"/>
              </a:ext>
            </a:extLst>
          </p:cNvPr>
          <p:cNvSpPr txBox="1"/>
          <p:nvPr/>
        </p:nvSpPr>
        <p:spPr>
          <a:xfrm>
            <a:off x="1632053" y="281299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97091-4AB4-D3AB-0CBA-A9351382DDDF}"/>
              </a:ext>
            </a:extLst>
          </p:cNvPr>
          <p:cNvSpPr txBox="1"/>
          <p:nvPr/>
        </p:nvSpPr>
        <p:spPr>
          <a:xfrm>
            <a:off x="1632053" y="4809675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A04090-9A6D-A421-DC52-6EC8A64BE2E7}"/>
              </a:ext>
            </a:extLst>
          </p:cNvPr>
          <p:cNvSpPr txBox="1"/>
          <p:nvPr/>
        </p:nvSpPr>
        <p:spPr>
          <a:xfrm>
            <a:off x="5962350" y="3509274"/>
            <a:ext cx="2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F0A993-EC76-FA80-4FFF-FE9383C46CC4}"/>
              </a:ext>
            </a:extLst>
          </p:cNvPr>
          <p:cNvSpPr txBox="1"/>
          <p:nvPr/>
        </p:nvSpPr>
        <p:spPr>
          <a:xfrm>
            <a:off x="7208907" y="258861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F350B-5962-82AA-E4ED-5A10CE14A1CB}"/>
              </a:ext>
            </a:extLst>
          </p:cNvPr>
          <p:cNvSpPr txBox="1"/>
          <p:nvPr/>
        </p:nvSpPr>
        <p:spPr>
          <a:xfrm>
            <a:off x="6205912" y="397653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621279-B148-DC94-3768-FFBEF09961D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298313" cy="158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3BD823A-F25B-AA07-858B-20E83EBE3161}"/>
              </a:ext>
            </a:extLst>
          </p:cNvPr>
          <p:cNvSpPr/>
          <p:nvPr/>
        </p:nvSpPr>
        <p:spPr>
          <a:xfrm rot="10800000">
            <a:off x="2288025" y="2813777"/>
            <a:ext cx="369334" cy="225562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8965FE-7209-3777-3F97-F9F09F5B3C9F}"/>
              </a:ext>
            </a:extLst>
          </p:cNvPr>
          <p:cNvSpPr txBox="1"/>
          <p:nvPr/>
        </p:nvSpPr>
        <p:spPr>
          <a:xfrm>
            <a:off x="423721" y="375692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445F47-C3F6-D2A7-49A8-2A9CFB66FF4C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730012" cy="184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642CAF-A6C3-4590-8C35-2BB389DD0E05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783272" y="2588614"/>
            <a:ext cx="347384" cy="6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68138F8-63B7-A6EB-9E25-4E08A56097D6}"/>
              </a:ext>
            </a:extLst>
          </p:cNvPr>
          <p:cNvSpPr/>
          <p:nvPr/>
        </p:nvSpPr>
        <p:spPr>
          <a:xfrm>
            <a:off x="6367866" y="1948534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C460E6-7891-B5B6-0B69-4E3E4EFBB83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956964" y="2588614"/>
            <a:ext cx="173692" cy="110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6530F4-9494-21BB-B050-EB00E74A36F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4790841" y="3182323"/>
            <a:ext cx="4479293" cy="24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25CCA9-96BD-63C9-40D7-27359F7F4C74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4790841" y="4354261"/>
            <a:ext cx="4479293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793BD73-D73D-4C72-070D-7E8791DC26D4}"/>
              </a:ext>
            </a:extLst>
          </p:cNvPr>
          <p:cNvSpPr txBox="1"/>
          <p:nvPr/>
        </p:nvSpPr>
        <p:spPr>
          <a:xfrm>
            <a:off x="6469126" y="444689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2E2BA-60FA-BEFE-3D9D-8975556DA432}"/>
              </a:ext>
            </a:extLst>
          </p:cNvPr>
          <p:cNvSpPr txBox="1"/>
          <p:nvPr/>
        </p:nvSpPr>
        <p:spPr>
          <a:xfrm>
            <a:off x="5651071" y="2967035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116B8-78AE-400B-4EEC-F3CA611EFB89}"/>
              </a:ext>
            </a:extLst>
          </p:cNvPr>
          <p:cNvSpPr txBox="1"/>
          <p:nvPr/>
        </p:nvSpPr>
        <p:spPr>
          <a:xfrm>
            <a:off x="203457" y="128587"/>
            <a:ext cx="219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Xin’s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version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F908E-DDAE-15DE-6650-0C14D3FFB60F}"/>
              </a:ext>
            </a:extLst>
          </p:cNvPr>
          <p:cNvSpPr txBox="1"/>
          <p:nvPr/>
        </p:nvSpPr>
        <p:spPr>
          <a:xfrm>
            <a:off x="263471" y="774915"/>
            <a:ext cx="8622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participation,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But,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effect,</a:t>
            </a:r>
            <a:r>
              <a:rPr lang="zh-CN" altLang="en-US" dirty="0"/>
              <a:t> </a:t>
            </a:r>
            <a:r>
              <a:rPr lang="en-US" altLang="zh-CN" dirty="0"/>
              <a:t>(AI)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moderator</a:t>
            </a:r>
          </a:p>
        </p:txBody>
      </p:sp>
    </p:spTree>
    <p:extLst>
      <p:ext uri="{BB962C8B-B14F-4D97-AF65-F5344CB8AC3E}">
        <p14:creationId xmlns:p14="http://schemas.microsoft.com/office/powerpoint/2010/main" val="179113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5565-7A8C-4687-3F8E-2DF67A0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BBC832-1BE3-C3F3-FF29-80CC71D394BA}"/>
              </a:ext>
            </a:extLst>
          </p:cNvPr>
          <p:cNvSpPr/>
          <p:nvPr/>
        </p:nvSpPr>
        <p:spPr>
          <a:xfrm>
            <a:off x="9255847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7321FF-A6D9-D9D8-60FB-9356BA837A25}"/>
              </a:ext>
            </a:extLst>
          </p:cNvPr>
          <p:cNvSpPr/>
          <p:nvPr/>
        </p:nvSpPr>
        <p:spPr>
          <a:xfrm>
            <a:off x="9155650" y="23555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8BE21-8C7A-2948-F3EE-785542CD3C52}"/>
              </a:ext>
            </a:extLst>
          </p:cNvPr>
          <p:cNvSpPr/>
          <p:nvPr/>
        </p:nvSpPr>
        <p:spPr>
          <a:xfrm>
            <a:off x="7016199" y="4402018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Quality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C45B0-8D9A-6B7D-0970-D04FFAFF2C4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721838" y="5042098"/>
            <a:ext cx="864608" cy="58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BD9C20D-E1A3-F221-EFC1-7DD23D50743D}"/>
              </a:ext>
            </a:extLst>
          </p:cNvPr>
          <p:cNvSpPr/>
          <p:nvPr/>
        </p:nvSpPr>
        <p:spPr>
          <a:xfrm>
            <a:off x="4725622" y="440201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Length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5B7EF-1EFF-AED8-EA81-681A19A9D7C7}"/>
              </a:ext>
            </a:extLst>
          </p:cNvPr>
          <p:cNvCxnSpPr>
            <a:cxnSpLocks/>
            <a:stCxn id="61" idx="3"/>
            <a:endCxn id="13" idx="1"/>
          </p:cNvCxnSpPr>
          <p:nvPr/>
        </p:nvCxnSpPr>
        <p:spPr>
          <a:xfrm>
            <a:off x="4607626" y="5650395"/>
            <a:ext cx="4648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7CBE7BB-16CE-0412-50BE-50BEBED9B6C6}"/>
              </a:ext>
            </a:extLst>
          </p:cNvPr>
          <p:cNvSpPr/>
          <p:nvPr/>
        </p:nvSpPr>
        <p:spPr>
          <a:xfrm>
            <a:off x="2615195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20AA13-624C-B826-16FB-DE101F6B3FD7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582662" y="5042098"/>
            <a:ext cx="429753" cy="608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45FC41-F8D7-7F97-DAA7-45E27045306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721838" y="1919092"/>
            <a:ext cx="864608" cy="70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B11233B-2F14-C0B0-2452-3127A12DB2F6}"/>
              </a:ext>
            </a:extLst>
          </p:cNvPr>
          <p:cNvSpPr/>
          <p:nvPr/>
        </p:nvSpPr>
        <p:spPr>
          <a:xfrm>
            <a:off x="7016200" y="1253014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FE77C-B75B-1F11-3310-44DBD1F6479B}"/>
              </a:ext>
            </a:extLst>
          </p:cNvPr>
          <p:cNvSpPr/>
          <p:nvPr/>
        </p:nvSpPr>
        <p:spPr>
          <a:xfrm>
            <a:off x="4725622" y="1279012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A77BFA-FC65-D45F-EAC1-5F7531E3369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81375" y="1893094"/>
            <a:ext cx="531041" cy="72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A1D72-D4C2-6769-8C5D-E6B53F5D9A46}"/>
              </a:ext>
            </a:extLst>
          </p:cNvPr>
          <p:cNvSpPr/>
          <p:nvPr/>
        </p:nvSpPr>
        <p:spPr>
          <a:xfrm>
            <a:off x="2615195" y="225667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B26752-9FD1-2C3D-A02C-7D5A2AC10021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4607626" y="2576711"/>
            <a:ext cx="4548024" cy="9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A9E0640-3E70-B56C-847C-F7D7DB9F81D6}"/>
              </a:ext>
            </a:extLst>
          </p:cNvPr>
          <p:cNvSpPr txBox="1"/>
          <p:nvPr/>
        </p:nvSpPr>
        <p:spPr>
          <a:xfrm>
            <a:off x="5091610" y="376454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B66206-50D4-8FDB-366D-5D1A426716E6}"/>
              </a:ext>
            </a:extLst>
          </p:cNvPr>
          <p:cNvSpPr txBox="1"/>
          <p:nvPr/>
        </p:nvSpPr>
        <p:spPr>
          <a:xfrm>
            <a:off x="7942696" y="403591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43930A1D-C311-8792-50A9-C4B7742768C7}"/>
              </a:ext>
            </a:extLst>
          </p:cNvPr>
          <p:cNvSpPr/>
          <p:nvPr/>
        </p:nvSpPr>
        <p:spPr>
          <a:xfrm rot="16046947">
            <a:off x="6642759" y="187279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F36B0F-BC3F-B644-A9A4-C2BFA0B470AE}"/>
              </a:ext>
            </a:extLst>
          </p:cNvPr>
          <p:cNvSpPr txBox="1"/>
          <p:nvPr/>
        </p:nvSpPr>
        <p:spPr>
          <a:xfrm>
            <a:off x="5924554" y="9360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AD3EE-9EDE-245F-69C4-9C432A09D307}"/>
              </a:ext>
            </a:extLst>
          </p:cNvPr>
          <p:cNvSpPr txBox="1"/>
          <p:nvPr/>
        </p:nvSpPr>
        <p:spPr>
          <a:xfrm>
            <a:off x="5091610" y="3535892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370C2-9316-8827-64C6-F4706145E4D0}"/>
              </a:ext>
            </a:extLst>
          </p:cNvPr>
          <p:cNvSpPr txBox="1"/>
          <p:nvPr/>
        </p:nvSpPr>
        <p:spPr>
          <a:xfrm>
            <a:off x="7942696" y="3563029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D73A06A7-CF0B-A36F-A9FE-EA160013DF5C}"/>
              </a:ext>
            </a:extLst>
          </p:cNvPr>
          <p:cNvSpPr/>
          <p:nvPr/>
        </p:nvSpPr>
        <p:spPr>
          <a:xfrm rot="16046947">
            <a:off x="6642759" y="3346717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6DD0C-B41C-4117-C5AB-7A5B503E6342}"/>
              </a:ext>
            </a:extLst>
          </p:cNvPr>
          <p:cNvSpPr txBox="1"/>
          <p:nvPr/>
        </p:nvSpPr>
        <p:spPr>
          <a:xfrm>
            <a:off x="5924554" y="31711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DF92E-23EA-73AB-D27C-53869354BEC5}"/>
              </a:ext>
            </a:extLst>
          </p:cNvPr>
          <p:cNvSpPr txBox="1"/>
          <p:nvPr/>
        </p:nvSpPr>
        <p:spPr>
          <a:xfrm>
            <a:off x="203457" y="128587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exactly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018CF-2E09-3564-1BB7-90864A614617}"/>
              </a:ext>
            </a:extLst>
          </p:cNvPr>
          <p:cNvSpPr txBox="1"/>
          <p:nvPr/>
        </p:nvSpPr>
        <p:spPr>
          <a:xfrm>
            <a:off x="263471" y="774915"/>
            <a:ext cx="4109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plots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br>
              <a:rPr lang="en-US" altLang="zh-CN" dirty="0"/>
            </a:br>
            <a:r>
              <a:rPr lang="en-US" altLang="zh-CN" dirty="0"/>
              <a:t>(next</a:t>
            </a:r>
            <a:r>
              <a:rPr lang="zh-CN" altLang="en-US" dirty="0"/>
              <a:t> </a:t>
            </a:r>
            <a:r>
              <a:rPr lang="en-US" altLang="zh-CN" dirty="0"/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401848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E2F1-0D35-30BD-E58E-49613D60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56367E-E97E-A0CF-8FFF-F95D2021A22A}"/>
              </a:ext>
            </a:extLst>
          </p:cNvPr>
          <p:cNvSpPr/>
          <p:nvPr/>
        </p:nvSpPr>
        <p:spPr>
          <a:xfrm>
            <a:off x="8826514" y="5530977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A3378-0A68-DC31-33AC-9CE2B45FCB2F}"/>
              </a:ext>
            </a:extLst>
          </p:cNvPr>
          <p:cNvSpPr/>
          <p:nvPr/>
        </p:nvSpPr>
        <p:spPr>
          <a:xfrm>
            <a:off x="8741313" y="30972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B7FD01-8D37-AB63-3565-CCE24490089B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93289" y="4229875"/>
            <a:ext cx="4633225" cy="162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5D65B7-EA44-0C86-4020-BD44492182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267448" cy="209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096F67-EF2F-B2EB-D14C-7F00BB44513C}"/>
              </a:ext>
            </a:extLst>
          </p:cNvPr>
          <p:cNvSpPr/>
          <p:nvPr/>
        </p:nvSpPr>
        <p:spPr>
          <a:xfrm>
            <a:off x="6601863" y="199468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1101-2D81-93F7-E39F-70EC78050317}"/>
              </a:ext>
            </a:extLst>
          </p:cNvPr>
          <p:cNvSpPr/>
          <p:nvPr/>
        </p:nvSpPr>
        <p:spPr>
          <a:xfrm>
            <a:off x="4311285" y="2020684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9CE316-6021-FA27-7008-EC96C1ED4FA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067039" y="2634766"/>
            <a:ext cx="531040" cy="10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854D61-7D27-D7AC-C51D-79D546146B82}"/>
              </a:ext>
            </a:extLst>
          </p:cNvPr>
          <p:cNvSpPr/>
          <p:nvPr/>
        </p:nvSpPr>
        <p:spPr>
          <a:xfrm>
            <a:off x="2200858" y="390983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A4B5EA-7985-33D1-14E5-1BB8EEC92D8F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93289" y="3417295"/>
            <a:ext cx="4548024" cy="81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7576E5-1317-1ACF-F12E-2E97E6574E27}"/>
              </a:ext>
            </a:extLst>
          </p:cNvPr>
          <p:cNvSpPr txBox="1"/>
          <p:nvPr/>
        </p:nvSpPr>
        <p:spPr>
          <a:xfrm>
            <a:off x="4587530" y="1254450"/>
            <a:ext cx="169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br>
              <a:rPr lang="en-US" altLang="zh-CN" dirty="0"/>
            </a:b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0F17C-0DC3-3942-9092-6163A2B67644}"/>
              </a:ext>
            </a:extLst>
          </p:cNvPr>
          <p:cNvSpPr txBox="1"/>
          <p:nvPr/>
        </p:nvSpPr>
        <p:spPr>
          <a:xfrm>
            <a:off x="6810426" y="1256681"/>
            <a:ext cx="1785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slow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29E469-24F3-D4AB-344C-4040F5BB96A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006042" y="2660764"/>
            <a:ext cx="301459" cy="1342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1DDCE9-D24C-5650-86A7-3883002D221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598079" y="2634766"/>
            <a:ext cx="253959" cy="2896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9BAD1A8-1502-5454-194C-DBCD35C7901D}"/>
              </a:ext>
            </a:extLst>
          </p:cNvPr>
          <p:cNvSpPr txBox="1"/>
          <p:nvPr/>
        </p:nvSpPr>
        <p:spPr>
          <a:xfrm>
            <a:off x="203457" y="128587"/>
            <a:ext cx="250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comprehensive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ACC775-5988-30C0-96F8-392AEE8549CF}"/>
              </a:ext>
            </a:extLst>
          </p:cNvPr>
          <p:cNvSpPr txBox="1"/>
          <p:nvPr/>
        </p:nvSpPr>
        <p:spPr>
          <a:xfrm>
            <a:off x="1849521" y="1254450"/>
            <a:ext cx="2461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br>
              <a:rPr lang="en-US" altLang="zh-CN" dirty="0"/>
            </a:br>
            <a:r>
              <a:rPr lang="en-US" altLang="zh-CN" dirty="0"/>
              <a:t>Pre-attentive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3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3BA987-C755-D03B-1C5C-F12FE4F8A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082918"/>
              </p:ext>
            </p:extLst>
          </p:nvPr>
        </p:nvGraphicFramePr>
        <p:xfrm>
          <a:off x="499703" y="699433"/>
          <a:ext cx="11471564" cy="5383575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360593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212984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sz="1600" b="1" dirty="0">
                          <a:effectLst/>
                        </a:rPr>
                        <a:t>reduces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Public goods theory; crowding-out effect; perceived marginal value reduction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participation decision precedes content influence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perceived comprehensiveness heuristic; source credibility cues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negatively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Perceived completeness constrains imagined solution space; anchoring narrows divergent thinking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Source credibility theory; discouragement from high-quality AI output; perceived expertise gap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Knowledge complementarity; cognitive stimulation; elaborative processing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99DC2D-2B71-F8A9-CBE6-66D1EBF4D991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33BD-EE76-8A93-9C67-4307C46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8C07ED-647B-21EC-30A6-486FE37A6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3432"/>
              </p:ext>
            </p:extLst>
          </p:nvPr>
        </p:nvGraphicFramePr>
        <p:xfrm>
          <a:off x="499703" y="561204"/>
          <a:ext cx="11471564" cy="5856151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417378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156199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altLang="zh-CN" sz="1600" b="1" dirty="0">
                          <a:effectLst/>
                        </a:rPr>
                        <a:t>increases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Competitive arousal; identity-based motivation; perceived AI inadequacy for contextual knowledge; question salience signal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competitive arousal affects entry decision but not cognitive resources applied to the answer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attenuated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length as comprehensiveness heuristic; stage-specific authority construction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 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en-US" sz="1600" b="1" dirty="0">
                          <a:effectLst/>
                        </a:rPr>
                        <a:t>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Peripheral cues do not reach content-level processing; no substantive cognitive influence on answer composition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zh-CN" altLang="en-US" sz="1600" b="1" dirty="0"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effectLst/>
                        </a:rPr>
                        <a:t>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Commitment to contribute already formed at Stages 1–2; offsetting discouragement and challenge effects cancel out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Baseline liberation; constructive divergence; associative activation; strategic differentiation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15256D-B146-29E0-6015-C9846E1DF3C3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8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6447</TotalTime>
  <Words>617</Words>
  <Application>Microsoft Macintosh PowerPoint</Application>
  <PresentationFormat>Widescreen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Dylan CHEN</cp:lastModifiedBy>
  <cp:revision>70</cp:revision>
  <dcterms:created xsi:type="dcterms:W3CDTF">2026-03-16T05:50:08Z</dcterms:created>
  <dcterms:modified xsi:type="dcterms:W3CDTF">2026-06-07T10:57:11Z</dcterms:modified>
</cp:coreProperties>
</file>