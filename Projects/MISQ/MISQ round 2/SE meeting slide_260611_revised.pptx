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3">
  <p:sldMasterIdLst>
    <p:sldMasterId id="2147483754" r:id="rId1"/>
  </p:sldMasterIdLst>
  <p:notesMasterIdLst>
    <p:notesMasterId r:id="rId23"/>
  </p:notesMasterIdLst>
  <p:sldIdLst>
    <p:sldId id="260" r:id="rId2"/>
    <p:sldId id="351" r:id="rId3"/>
    <p:sldId id="349" r:id="rId4"/>
    <p:sldId id="350" r:id="rId5"/>
    <p:sldId id="348" r:id="rId6"/>
    <p:sldId id="352" r:id="rId7"/>
    <p:sldId id="353" r:id="rId8"/>
    <p:sldId id="322" r:id="rId9"/>
    <p:sldId id="333" r:id="rId10"/>
    <p:sldId id="354" r:id="rId11"/>
    <p:sldId id="355" r:id="rId12"/>
    <p:sldId id="356" r:id="rId13"/>
    <p:sldId id="347" r:id="rId14"/>
    <p:sldId id="343" r:id="rId15"/>
    <p:sldId id="335" r:id="rId16"/>
    <p:sldId id="357" r:id="rId17"/>
    <p:sldId id="344" r:id="rId18"/>
    <p:sldId id="346" r:id="rId19"/>
    <p:sldId id="336" r:id="rId20"/>
    <p:sldId id="342" r:id="rId21"/>
    <p:sldId id="341" r:id="rId22"/>
  </p:sldIdLst>
  <p:sldSz cx="12192000" cy="6858000"/>
  <p:notesSz cx="6858000" cy="9144000"/>
  <p:embeddedFontLst>
    <p:embeddedFont>
      <p:font typeface="等线" panose="02010600030101010101" pitchFamily="2" charset="-122"/>
      <p:regular r:id="rId24"/>
      <p:bold r:id="rId25"/>
    </p:embeddedFont>
    <p:embeddedFont>
      <p:font typeface="微软雅黑" panose="020B0503020204020204" pitchFamily="34" charset="-122"/>
      <p:regular r:id="rId26"/>
      <p:bold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Lato Black" panose="020F0502020204030203" pitchFamily="34" charset="0"/>
      <p:bold r:id="rId36"/>
      <p:italic r:id="rId37"/>
      <p:boldItalic r:id="rId38"/>
    </p:embeddedFont>
    <p:embeddedFont>
      <p:font typeface="Lato Light" panose="020F0502020204030203" pitchFamily="34" charset="0"/>
      <p:regular r:id="rId39"/>
      <p:italic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mal" id="{BB674D8F-EA6E-4E7A-BB36-51CE4AEB7194}">
          <p14:sldIdLst>
            <p14:sldId id="260"/>
            <p14:sldId id="351"/>
            <p14:sldId id="349"/>
            <p14:sldId id="350"/>
            <p14:sldId id="348"/>
            <p14:sldId id="352"/>
            <p14:sldId id="353"/>
            <p14:sldId id="322"/>
            <p14:sldId id="333"/>
            <p14:sldId id="354"/>
            <p14:sldId id="355"/>
            <p14:sldId id="356"/>
            <p14:sldId id="347"/>
            <p14:sldId id="343"/>
            <p14:sldId id="335"/>
            <p14:sldId id="357"/>
            <p14:sldId id="344"/>
            <p14:sldId id="346"/>
            <p14:sldId id="336"/>
            <p14:sldId id="342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7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7F7F7F"/>
    <a:srgbClr val="BFBFBF"/>
    <a:srgbClr val="FB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1" autoAdjust="0"/>
    <p:restoredTop sz="96051" autoAdjust="0"/>
  </p:normalViewPr>
  <p:slideViewPr>
    <p:cSldViewPr snapToGrid="0" showGuides="1">
      <p:cViewPr varScale="1">
        <p:scale>
          <a:sx n="118" d="100"/>
          <a:sy n="118" d="100"/>
        </p:scale>
        <p:origin x="680" y="200"/>
      </p:cViewPr>
      <p:guideLst>
        <p:guide pos="415"/>
        <p:guide pos="7265"/>
        <p:guide orient="horz" pos="648"/>
        <p:guide orient="horz" pos="712"/>
        <p:guide orient="horz" pos="3928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68B4A-600B-4E47-A44F-5C9458F0BBBB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172E2-DACC-4E2B-A3E0-ED1661E9ED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4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1A055-A58D-5F8D-D3CF-6BEB52727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E5A1B-E8F5-24CF-1EA6-2A6F1B669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9E921-E5BA-6486-7664-F83CD48B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577CD-DD7A-DA0E-4055-FE9617C7A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103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339A1-8FA5-3E65-0194-DEEADA50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66E87-BCF5-9438-D672-384B981D7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9FF06-D95F-2767-19EF-16ED0E9BE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53D60-1E03-CA52-A433-A3888DA45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244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1A5D-7D74-6117-A74F-A5F3BA5B5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42610-040B-E2AB-CFFE-E8809A403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AFC2B-0255-2E78-888D-DC340A2B7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2ACC1-208C-F242-BA20-D7012F5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896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B6C38-FB0F-1113-6F97-CCF9C3AA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DFC73-A33C-0E77-20CE-70E917C78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7ADF8-6533-0892-6DD8-ABF6003DA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40CC0-89A3-12DF-0E5D-4D64465CA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244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6E893-D81F-C2BD-AC1F-542A95620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41C28-A7A3-E669-97A1-0A41F9731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5BD45-1C78-6473-9522-D52D0E8E9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2F8F1-A926-97AE-C118-FA5F0CC5D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507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125C-D125-E866-E508-F57A2DC5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59DF87-1D81-621D-4620-4FF852040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1CAF8-3967-8CB8-9EE5-8602CC4A3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10B4E-1CD2-066D-3FE3-A13D2DBEB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25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8921-1D34-3A56-4A1F-0B1A14602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6EC9A-ECAA-9C76-0926-F31AAF6B1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3D0C9-AD3B-BBB4-6204-0D54D507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911D5-817E-CAF7-A273-7675C3272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272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0B81-4BDE-7857-928A-B68A3660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CB540-9438-2469-99EE-74123D688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8A777-E3EF-69DB-3236-4C38128F9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2E87-C2B5-4377-42B3-41F736F2E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642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8F8EF-B1DD-7569-ADB7-895347C0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F5FBC-C76A-0008-3E51-7121DC3A9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B6986-1E04-78BA-06AB-010231DCE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2D801-F997-3751-693D-15628964E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525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A92B-6603-BA43-6AF0-5A411A39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28320-993B-063C-6B8E-14CD2539C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79F36-1682-B2B1-2419-ED2D78875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319FC-0EA2-F707-E2C7-5AF84769B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787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7062-6DFA-30DB-AEDD-3E378A984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9F7A6-A728-4CF6-A7B6-9E816BF90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610E1-D95C-0159-BEC7-C9F123ADB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8AD88-DE2D-1037-AF99-25EA6959E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486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6B9C-2966-DE80-4EDA-E1BF5633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D2D25-3E49-BFBA-83C1-830337FB7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94652-A131-9D70-958D-04BF77BD6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4FE27-FF58-02C8-4961-461AE9E84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483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8163-8F49-4C5E-CC1B-473CEC17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D25D3-F20D-CDE0-BDF5-020790CDC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D1672-E6E2-7FE8-5753-2D4D4E5A1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A076C-4908-5A6D-EA54-867640A8C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909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400ED-9507-AB3E-C349-8ACF8FD4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54E089-436F-F14F-6009-1FC53DBAE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72B6D-972E-C5F6-E7D1-10F86AE30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03B62-7197-F0BD-1BF5-4B0060FD8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2732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5331-03F2-CA05-AD39-2CED268C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6B6FC-23F1-E713-3E3F-893C440CE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1C88B-480A-35E9-B1E1-36EAADA53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BA301-D2E7-3DA8-BE1F-C83002E32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220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2B7C-AD8A-6A2F-F2BB-B03289A9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A9B27-7924-A438-B2C7-42651235B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B4D90-1038-248B-9308-0F93708A0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3851E-9A30-E95A-E392-3B38960A7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948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7CB9-3EAF-D267-4421-A4A9B0B4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E4118-5BF3-78C5-A971-4F31AE722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96B6E-B4C7-E98E-ACD3-BE3961231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3CA94-4357-FC76-5C98-9DDEAEB17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060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322A-06F1-DA0B-5328-107214506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5C169-DA06-06C3-348E-C001ABDAE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63956-FAFA-EA7E-5B68-01A7C6CE9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68171-7EC9-CE5C-9B30-7065FF5A9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39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035A-1884-BF11-F3BA-E24DF34F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B838D-CDBF-0729-B8B3-FE6F2EBDF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82BA9-5350-3554-065D-009A83BFA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F5457-63B1-DC50-EF2B-F9220EF56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699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9097-6136-B88F-91D4-292C1FB4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98004-9A21-E610-1EDD-F98E74987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FFC0A-0EAC-F6E7-0CDE-D84704C53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19E2B-5F26-75A6-D5BF-EB0A92208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6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00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90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95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3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72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710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25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192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15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45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716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542" y="0"/>
            <a:ext cx="12191458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21920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70"/>
            <a:ext cx="9163319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278895" y="6196307"/>
            <a:ext cx="2949746" cy="442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0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0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8233" y="2597072"/>
            <a:ext cx="10374075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8233" y="2023986"/>
            <a:ext cx="10374075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8234" y="4274122"/>
            <a:ext cx="5104733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333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8234" y="4584551"/>
            <a:ext cx="5104733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333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333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zh-CN" altLang="en-US" sz="15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9597" y="211658"/>
            <a:ext cx="1940621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82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6165410" y="-6"/>
            <a:ext cx="6026590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7065" y="6284866"/>
            <a:ext cx="605866" cy="213048"/>
          </a:xfrm>
          <a:prstGeom prst="rect">
            <a:avLst/>
          </a:prstGeom>
        </p:spPr>
        <p:txBody>
          <a:bodyPr/>
          <a:lstStyle>
            <a:lvl1pPr algn="ctr">
              <a:defRPr sz="917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00" y="309880"/>
            <a:ext cx="11508742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2667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7503" y="1158181"/>
            <a:ext cx="11508741" cy="54464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-301415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20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448071" indent="-238097" algn="just" defTabSz="761909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599928" indent="-190477" algn="just" defTabSz="761909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8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80990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2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761909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5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809903" lvl="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809903" lvl="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2009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3F388A-1083-486D-81AD-98BC6BAC20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221"/>
          <a:stretch/>
        </p:blipFill>
        <p:spPr>
          <a:xfrm flipH="1">
            <a:off x="-5" y="0"/>
            <a:ext cx="7589669" cy="6858000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60CB1F5-964F-4E93-97FC-19BC7C5C29FA}"/>
              </a:ext>
            </a:extLst>
          </p:cNvPr>
          <p:cNvSpPr/>
          <p:nvPr userDrawn="1"/>
        </p:nvSpPr>
        <p:spPr>
          <a:xfrm rot="5400000" flipV="1">
            <a:off x="2916680" y="-2420614"/>
            <a:ext cx="6358649" cy="12192001"/>
          </a:xfrm>
          <a:custGeom>
            <a:avLst/>
            <a:gdLst>
              <a:gd name="connsiteX0" fmla="*/ 0 w 6358649"/>
              <a:gd name="connsiteY0" fmla="*/ 12192001 h 12192001"/>
              <a:gd name="connsiteX1" fmla="*/ 6358649 w 6358649"/>
              <a:gd name="connsiteY1" fmla="*/ 12192001 h 12192001"/>
              <a:gd name="connsiteX2" fmla="*/ 6358649 w 6358649"/>
              <a:gd name="connsiteY2" fmla="*/ 0 h 12192001"/>
              <a:gd name="connsiteX3" fmla="*/ 505886 w 6358649"/>
              <a:gd name="connsiteY3" fmla="*/ 0 h 12192001"/>
              <a:gd name="connsiteX4" fmla="*/ 0 w 6358649"/>
              <a:gd name="connsiteY4" fmla="*/ 12192001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8649" h="12192001">
                <a:moveTo>
                  <a:pt x="0" y="12192001"/>
                </a:moveTo>
                <a:lnTo>
                  <a:pt x="6358649" y="12192001"/>
                </a:lnTo>
                <a:lnTo>
                  <a:pt x="6358649" y="0"/>
                </a:lnTo>
                <a:lnTo>
                  <a:pt x="505886" y="0"/>
                </a:lnTo>
                <a:lnTo>
                  <a:pt x="0" y="12192001"/>
                </a:lnTo>
                <a:close/>
              </a:path>
            </a:pathLst>
          </a:custGeom>
          <a:solidFill>
            <a:srgbClr val="F2F2F2">
              <a:alpha val="9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26D3E323-03AE-41CF-8E4E-552146726118}"/>
              </a:ext>
            </a:extLst>
          </p:cNvPr>
          <p:cNvSpPr/>
          <p:nvPr userDrawn="1"/>
        </p:nvSpPr>
        <p:spPr>
          <a:xfrm rot="5400000" flipV="1">
            <a:off x="5593378" y="-5593379"/>
            <a:ext cx="1005238" cy="12192001"/>
          </a:xfrm>
          <a:custGeom>
            <a:avLst/>
            <a:gdLst>
              <a:gd name="connsiteX0" fmla="*/ 0 w 1005238"/>
              <a:gd name="connsiteY0" fmla="*/ 0 h 12192001"/>
              <a:gd name="connsiteX1" fmla="*/ 1 w 1005238"/>
              <a:gd name="connsiteY1" fmla="*/ 12192001 h 12192001"/>
              <a:gd name="connsiteX2" fmla="*/ 499352 w 1005238"/>
              <a:gd name="connsiteY2" fmla="*/ 12192001 h 12192001"/>
              <a:gd name="connsiteX3" fmla="*/ 1005238 w 1005238"/>
              <a:gd name="connsiteY3" fmla="*/ 0 h 12192001"/>
              <a:gd name="connsiteX4" fmla="*/ 0 w 1005238"/>
              <a:gd name="connsiteY4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238" h="12192001">
                <a:moveTo>
                  <a:pt x="0" y="0"/>
                </a:moveTo>
                <a:lnTo>
                  <a:pt x="1" y="12192001"/>
                </a:lnTo>
                <a:lnTo>
                  <a:pt x="499352" y="12192001"/>
                </a:lnTo>
                <a:lnTo>
                  <a:pt x="100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951FE-7E53-4D35-80A5-C656F63E94C5}"/>
              </a:ext>
            </a:extLst>
          </p:cNvPr>
          <p:cNvSpPr/>
          <p:nvPr userDrawn="1"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</p:spTree>
    <p:extLst>
      <p:ext uri="{BB962C8B-B14F-4D97-AF65-F5344CB8AC3E}">
        <p14:creationId xmlns:p14="http://schemas.microsoft.com/office/powerpoint/2010/main" val="4085254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4D7010A-9787-452D-93B8-307D03BA8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0"/>
          <a:stretch/>
        </p:blipFill>
        <p:spPr>
          <a:xfrm>
            <a:off x="0" y="-3"/>
            <a:ext cx="12192000" cy="685800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1A0E067-C0F2-4FB2-908C-E379BF0E6CB2}"/>
              </a:ext>
            </a:extLst>
          </p:cNvPr>
          <p:cNvSpPr/>
          <p:nvPr userDrawn="1"/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rgbClr val="A92D61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E53E5883-9C79-47DD-ABF5-FEA2DFAF60A1}"/>
              </a:ext>
            </a:extLst>
          </p:cNvPr>
          <p:cNvSpPr/>
          <p:nvPr userDrawn="1"/>
        </p:nvSpPr>
        <p:spPr>
          <a:xfrm flipV="1">
            <a:off x="0" y="0"/>
            <a:ext cx="10828873" cy="1411674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302A78D4-A77B-4826-81E5-F5A2B3869AE8}"/>
              </a:ext>
            </a:extLst>
          </p:cNvPr>
          <p:cNvSpPr/>
          <p:nvPr userDrawn="1"/>
        </p:nvSpPr>
        <p:spPr>
          <a:xfrm rot="5400000" flipH="1" flipV="1">
            <a:off x="8426453" y="3092454"/>
            <a:ext cx="6858001" cy="67309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 sz="150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504D8CB-E90B-4355-9C72-06A7348C4AA6}"/>
              </a:ext>
            </a:extLst>
          </p:cNvPr>
          <p:cNvGrpSpPr/>
          <p:nvPr userDrawn="1"/>
        </p:nvGrpSpPr>
        <p:grpSpPr>
          <a:xfrm>
            <a:off x="10076250" y="6312409"/>
            <a:ext cx="1330786" cy="233551"/>
            <a:chOff x="10076250" y="6312401"/>
            <a:chExt cx="1330786" cy="233551"/>
          </a:xfrm>
        </p:grpSpPr>
        <p:sp>
          <p:nvSpPr>
            <p:cNvPr id="31" name="facebook-logo-in-circular-shape_44646">
              <a:extLst>
                <a:ext uri="{FF2B5EF4-FFF2-40B4-BE49-F238E27FC236}">
                  <a16:creationId xmlns:a16="http://schemas.microsoft.com/office/drawing/2014/main" id="{CEEC6234-E82C-47A3-A940-B8B86D86E9C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076250" y="6314598"/>
              <a:ext cx="231353" cy="229434"/>
            </a:xfrm>
            <a:custGeom>
              <a:avLst/>
              <a:gdLst>
                <a:gd name="T0" fmla="*/ 561 w 561"/>
                <a:gd name="T1" fmla="*/ 280 h 557"/>
                <a:gd name="T2" fmla="*/ 343 w 561"/>
                <a:gd name="T3" fmla="*/ 553 h 557"/>
                <a:gd name="T4" fmla="*/ 343 w 561"/>
                <a:gd name="T5" fmla="*/ 320 h 557"/>
                <a:gd name="T6" fmla="*/ 410 w 561"/>
                <a:gd name="T7" fmla="*/ 320 h 557"/>
                <a:gd name="T8" fmla="*/ 410 w 561"/>
                <a:gd name="T9" fmla="*/ 243 h 557"/>
                <a:gd name="T10" fmla="*/ 342 w 561"/>
                <a:gd name="T11" fmla="*/ 243 h 557"/>
                <a:gd name="T12" fmla="*/ 342 w 561"/>
                <a:gd name="T13" fmla="*/ 225 h 557"/>
                <a:gd name="T14" fmla="*/ 391 w 561"/>
                <a:gd name="T15" fmla="*/ 165 h 557"/>
                <a:gd name="T16" fmla="*/ 425 w 561"/>
                <a:gd name="T17" fmla="*/ 170 h 557"/>
                <a:gd name="T18" fmla="*/ 430 w 561"/>
                <a:gd name="T19" fmla="*/ 89 h 557"/>
                <a:gd name="T20" fmla="*/ 373 w 561"/>
                <a:gd name="T21" fmla="*/ 82 h 557"/>
                <a:gd name="T22" fmla="*/ 280 w 561"/>
                <a:gd name="T23" fmla="*/ 116 h 557"/>
                <a:gd name="T24" fmla="*/ 237 w 561"/>
                <a:gd name="T25" fmla="*/ 229 h 557"/>
                <a:gd name="T26" fmla="*/ 237 w 561"/>
                <a:gd name="T27" fmla="*/ 243 h 557"/>
                <a:gd name="T28" fmla="*/ 192 w 561"/>
                <a:gd name="T29" fmla="*/ 243 h 557"/>
                <a:gd name="T30" fmla="*/ 192 w 561"/>
                <a:gd name="T31" fmla="*/ 320 h 557"/>
                <a:gd name="T32" fmla="*/ 237 w 561"/>
                <a:gd name="T33" fmla="*/ 320 h 557"/>
                <a:gd name="T34" fmla="*/ 237 w 561"/>
                <a:gd name="T35" fmla="*/ 557 h 557"/>
                <a:gd name="T36" fmla="*/ 0 w 561"/>
                <a:gd name="T37" fmla="*/ 280 h 557"/>
                <a:gd name="T38" fmla="*/ 280 w 561"/>
                <a:gd name="T39" fmla="*/ 0 h 557"/>
                <a:gd name="T40" fmla="*/ 561 w 561"/>
                <a:gd name="T41" fmla="*/ 28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1" h="557">
                  <a:moveTo>
                    <a:pt x="561" y="280"/>
                  </a:moveTo>
                  <a:cubicBezTo>
                    <a:pt x="561" y="414"/>
                    <a:pt x="468" y="525"/>
                    <a:pt x="343" y="553"/>
                  </a:cubicBezTo>
                  <a:lnTo>
                    <a:pt x="343" y="320"/>
                  </a:lnTo>
                  <a:lnTo>
                    <a:pt x="410" y="320"/>
                  </a:lnTo>
                  <a:lnTo>
                    <a:pt x="410" y="243"/>
                  </a:lnTo>
                  <a:lnTo>
                    <a:pt x="342" y="243"/>
                  </a:lnTo>
                  <a:lnTo>
                    <a:pt x="342" y="225"/>
                  </a:lnTo>
                  <a:cubicBezTo>
                    <a:pt x="342" y="192"/>
                    <a:pt x="357" y="165"/>
                    <a:pt x="391" y="165"/>
                  </a:cubicBezTo>
                  <a:cubicBezTo>
                    <a:pt x="405" y="165"/>
                    <a:pt x="416" y="167"/>
                    <a:pt x="425" y="170"/>
                  </a:cubicBezTo>
                  <a:lnTo>
                    <a:pt x="430" y="89"/>
                  </a:lnTo>
                  <a:cubicBezTo>
                    <a:pt x="415" y="84"/>
                    <a:pt x="397" y="82"/>
                    <a:pt x="373" y="82"/>
                  </a:cubicBezTo>
                  <a:cubicBezTo>
                    <a:pt x="343" y="82"/>
                    <a:pt x="306" y="91"/>
                    <a:pt x="280" y="116"/>
                  </a:cubicBezTo>
                  <a:cubicBezTo>
                    <a:pt x="249" y="143"/>
                    <a:pt x="237" y="189"/>
                    <a:pt x="237" y="229"/>
                  </a:cubicBezTo>
                  <a:lnTo>
                    <a:pt x="237" y="243"/>
                  </a:lnTo>
                  <a:lnTo>
                    <a:pt x="192" y="243"/>
                  </a:lnTo>
                  <a:lnTo>
                    <a:pt x="192" y="320"/>
                  </a:lnTo>
                  <a:lnTo>
                    <a:pt x="237" y="320"/>
                  </a:lnTo>
                  <a:lnTo>
                    <a:pt x="237" y="557"/>
                  </a:lnTo>
                  <a:cubicBezTo>
                    <a:pt x="103" y="536"/>
                    <a:pt x="0" y="420"/>
                    <a:pt x="0" y="280"/>
                  </a:cubicBezTo>
                  <a:cubicBezTo>
                    <a:pt x="0" y="125"/>
                    <a:pt x="126" y="0"/>
                    <a:pt x="280" y="0"/>
                  </a:cubicBezTo>
                  <a:cubicBezTo>
                    <a:pt x="435" y="0"/>
                    <a:pt x="561" y="125"/>
                    <a:pt x="561" y="2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2" name="iconfont-1177-866400">
              <a:extLst>
                <a:ext uri="{FF2B5EF4-FFF2-40B4-BE49-F238E27FC236}">
                  <a16:creationId xmlns:a16="http://schemas.microsoft.com/office/drawing/2014/main" id="{9F1768BB-D4A5-4C3D-98F9-FB981F6D4EF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442728" y="6314598"/>
              <a:ext cx="231353" cy="231354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2954 w 12800"/>
                <a:gd name="T11" fmla="*/ 8674 h 12800"/>
                <a:gd name="T12" fmla="*/ 3291 w 12800"/>
                <a:gd name="T13" fmla="*/ 8696 h 12800"/>
                <a:gd name="T14" fmla="*/ 5047 w 12800"/>
                <a:gd name="T15" fmla="*/ 8056 h 12800"/>
                <a:gd name="T16" fmla="*/ 3727 w 12800"/>
                <a:gd name="T17" fmla="*/ 7004 h 12800"/>
                <a:gd name="T18" fmla="*/ 3992 w 12800"/>
                <a:gd name="T19" fmla="*/ 7033 h 12800"/>
                <a:gd name="T20" fmla="*/ 4365 w 12800"/>
                <a:gd name="T21" fmla="*/ 6982 h 12800"/>
                <a:gd name="T22" fmla="*/ 3230 w 12800"/>
                <a:gd name="T23" fmla="*/ 5494 h 12800"/>
                <a:gd name="T24" fmla="*/ 3230 w 12800"/>
                <a:gd name="T25" fmla="*/ 5475 h 12800"/>
                <a:gd name="T26" fmla="*/ 3871 w 12800"/>
                <a:gd name="T27" fmla="*/ 5670 h 12800"/>
                <a:gd name="T28" fmla="*/ 3242 w 12800"/>
                <a:gd name="T29" fmla="*/ 4407 h 12800"/>
                <a:gd name="T30" fmla="*/ 3434 w 12800"/>
                <a:gd name="T31" fmla="*/ 3651 h 12800"/>
                <a:gd name="T32" fmla="*/ 6348 w 12800"/>
                <a:gd name="T33" fmla="*/ 5261 h 12800"/>
                <a:gd name="T34" fmla="*/ 6312 w 12800"/>
                <a:gd name="T35" fmla="*/ 4920 h 12800"/>
                <a:gd name="T36" fmla="*/ 7725 w 12800"/>
                <a:gd name="T37" fmla="*/ 3446 h 12800"/>
                <a:gd name="T38" fmla="*/ 8758 w 12800"/>
                <a:gd name="T39" fmla="*/ 3933 h 12800"/>
                <a:gd name="T40" fmla="*/ 9655 w 12800"/>
                <a:gd name="T41" fmla="*/ 3587 h 12800"/>
                <a:gd name="T42" fmla="*/ 9033 w 12800"/>
                <a:gd name="T43" fmla="*/ 4399 h 12800"/>
                <a:gd name="T44" fmla="*/ 9846 w 12800"/>
                <a:gd name="T45" fmla="*/ 4177 h 12800"/>
                <a:gd name="T46" fmla="*/ 9140 w 12800"/>
                <a:gd name="T47" fmla="*/ 4936 h 12800"/>
                <a:gd name="T48" fmla="*/ 9144 w 12800"/>
                <a:gd name="T49" fmla="*/ 5128 h 12800"/>
                <a:gd name="T50" fmla="*/ 5121 w 12800"/>
                <a:gd name="T51" fmla="*/ 9353 h 12800"/>
                <a:gd name="T52" fmla="*/ 2954 w 12800"/>
                <a:gd name="T53" fmla="*/ 8674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2954" y="8674"/>
                  </a:moveTo>
                  <a:cubicBezTo>
                    <a:pt x="3064" y="8688"/>
                    <a:pt x="3177" y="8696"/>
                    <a:pt x="3291" y="8696"/>
                  </a:cubicBezTo>
                  <a:cubicBezTo>
                    <a:pt x="3954" y="8697"/>
                    <a:pt x="4564" y="8458"/>
                    <a:pt x="5047" y="8056"/>
                  </a:cubicBezTo>
                  <a:cubicBezTo>
                    <a:pt x="4428" y="8042"/>
                    <a:pt x="3906" y="7604"/>
                    <a:pt x="3727" y="7004"/>
                  </a:cubicBezTo>
                  <a:cubicBezTo>
                    <a:pt x="3813" y="7022"/>
                    <a:pt x="3902" y="7032"/>
                    <a:pt x="3992" y="7033"/>
                  </a:cubicBezTo>
                  <a:cubicBezTo>
                    <a:pt x="4122" y="7034"/>
                    <a:pt x="4246" y="7016"/>
                    <a:pt x="4365" y="6982"/>
                  </a:cubicBezTo>
                  <a:cubicBezTo>
                    <a:pt x="3718" y="6839"/>
                    <a:pt x="3230" y="6225"/>
                    <a:pt x="3230" y="5494"/>
                  </a:cubicBezTo>
                  <a:lnTo>
                    <a:pt x="3230" y="5475"/>
                  </a:lnTo>
                  <a:cubicBezTo>
                    <a:pt x="3421" y="5590"/>
                    <a:pt x="3639" y="5660"/>
                    <a:pt x="3871" y="5670"/>
                  </a:cubicBezTo>
                  <a:cubicBezTo>
                    <a:pt x="3492" y="5396"/>
                    <a:pt x="3242" y="4931"/>
                    <a:pt x="3242" y="4407"/>
                  </a:cubicBezTo>
                  <a:cubicBezTo>
                    <a:pt x="3242" y="4130"/>
                    <a:pt x="3312" y="3872"/>
                    <a:pt x="3434" y="3651"/>
                  </a:cubicBezTo>
                  <a:cubicBezTo>
                    <a:pt x="4131" y="4573"/>
                    <a:pt x="5174" y="5185"/>
                    <a:pt x="6348" y="5261"/>
                  </a:cubicBezTo>
                  <a:cubicBezTo>
                    <a:pt x="6324" y="5151"/>
                    <a:pt x="6312" y="5037"/>
                    <a:pt x="6312" y="4920"/>
                  </a:cubicBezTo>
                  <a:cubicBezTo>
                    <a:pt x="6312" y="4093"/>
                    <a:pt x="6945" y="3433"/>
                    <a:pt x="7725" y="3446"/>
                  </a:cubicBezTo>
                  <a:cubicBezTo>
                    <a:pt x="8132" y="3453"/>
                    <a:pt x="8500" y="3640"/>
                    <a:pt x="8758" y="3933"/>
                  </a:cubicBezTo>
                  <a:cubicBezTo>
                    <a:pt x="9080" y="3871"/>
                    <a:pt x="9382" y="3753"/>
                    <a:pt x="9655" y="3587"/>
                  </a:cubicBezTo>
                  <a:cubicBezTo>
                    <a:pt x="9550" y="3932"/>
                    <a:pt x="9325" y="4219"/>
                    <a:pt x="9033" y="4399"/>
                  </a:cubicBezTo>
                  <a:cubicBezTo>
                    <a:pt x="9320" y="4367"/>
                    <a:pt x="9592" y="4291"/>
                    <a:pt x="9846" y="4177"/>
                  </a:cubicBezTo>
                  <a:cubicBezTo>
                    <a:pt x="9656" y="4472"/>
                    <a:pt x="9416" y="4730"/>
                    <a:pt x="9140" y="4936"/>
                  </a:cubicBezTo>
                  <a:cubicBezTo>
                    <a:pt x="9143" y="5000"/>
                    <a:pt x="9144" y="5064"/>
                    <a:pt x="9144" y="5128"/>
                  </a:cubicBezTo>
                  <a:cubicBezTo>
                    <a:pt x="9144" y="7091"/>
                    <a:pt x="7721" y="9354"/>
                    <a:pt x="5121" y="9353"/>
                  </a:cubicBezTo>
                  <a:cubicBezTo>
                    <a:pt x="4323" y="9354"/>
                    <a:pt x="3579" y="9104"/>
                    <a:pt x="2954" y="86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3" name="weibo-social-logo_49269">
              <a:extLst>
                <a:ext uri="{FF2B5EF4-FFF2-40B4-BE49-F238E27FC236}">
                  <a16:creationId xmlns:a16="http://schemas.microsoft.com/office/drawing/2014/main" id="{737B7D30-FF6A-4351-BAC7-348BB50420CD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0809206" y="6312997"/>
              <a:ext cx="231353" cy="231040"/>
            </a:xfrm>
            <a:custGeom>
              <a:avLst/>
              <a:gdLst>
                <a:gd name="connsiteX0" fmla="*/ 223001 w 600727"/>
                <a:gd name="connsiteY0" fmla="*/ 363277 h 599913"/>
                <a:gd name="connsiteX1" fmla="*/ 240229 w 600727"/>
                <a:gd name="connsiteY1" fmla="*/ 363680 h 599913"/>
                <a:gd name="connsiteX2" fmla="*/ 248066 w 600727"/>
                <a:gd name="connsiteY2" fmla="*/ 391776 h 599913"/>
                <a:gd name="connsiteX3" fmla="*/ 215799 w 600727"/>
                <a:gd name="connsiteY3" fmla="*/ 402369 h 599913"/>
                <a:gd name="connsiteX4" fmla="*/ 208884 w 600727"/>
                <a:gd name="connsiteY4" fmla="*/ 374274 h 599913"/>
                <a:gd name="connsiteX5" fmla="*/ 223001 w 600727"/>
                <a:gd name="connsiteY5" fmla="*/ 363277 h 599913"/>
                <a:gd name="connsiteX6" fmla="*/ 266976 w 600727"/>
                <a:gd name="connsiteY6" fmla="*/ 352625 h 599913"/>
                <a:gd name="connsiteX7" fmla="*/ 270665 w 600727"/>
                <a:gd name="connsiteY7" fmla="*/ 362765 h 599913"/>
                <a:gd name="connsiteX8" fmla="*/ 258217 w 600727"/>
                <a:gd name="connsiteY8" fmla="*/ 367374 h 599913"/>
                <a:gd name="connsiteX9" fmla="*/ 255450 w 600727"/>
                <a:gd name="connsiteY9" fmla="*/ 356773 h 599913"/>
                <a:gd name="connsiteX10" fmla="*/ 266976 w 600727"/>
                <a:gd name="connsiteY10" fmla="*/ 352625 h 599913"/>
                <a:gd name="connsiteX11" fmla="*/ 248086 w 600727"/>
                <a:gd name="connsiteY11" fmla="*/ 313386 h 599913"/>
                <a:gd name="connsiteX12" fmla="*/ 188128 w 600727"/>
                <a:gd name="connsiteY12" fmla="*/ 352677 h 599913"/>
                <a:gd name="connsiteX13" fmla="*/ 221316 w 600727"/>
                <a:gd name="connsiteY13" fmla="*/ 426327 h 599913"/>
                <a:gd name="connsiteX14" fmla="*/ 311660 w 600727"/>
                <a:gd name="connsiteY14" fmla="*/ 388122 h 599913"/>
                <a:gd name="connsiteX15" fmla="*/ 273402 w 600727"/>
                <a:gd name="connsiteY15" fmla="*/ 315392 h 599913"/>
                <a:gd name="connsiteX16" fmla="*/ 248086 w 600727"/>
                <a:gd name="connsiteY16" fmla="*/ 313386 h 599913"/>
                <a:gd name="connsiteX17" fmla="*/ 250355 w 600727"/>
                <a:gd name="connsiteY17" fmla="*/ 279948 h 599913"/>
                <a:gd name="connsiteX18" fmla="*/ 385411 w 600727"/>
                <a:gd name="connsiteY18" fmla="*/ 350376 h 599913"/>
                <a:gd name="connsiteX19" fmla="*/ 266488 w 600727"/>
                <a:gd name="connsiteY19" fmla="*/ 446121 h 599913"/>
                <a:gd name="connsiteX20" fmla="*/ 131432 w 600727"/>
                <a:gd name="connsiteY20" fmla="*/ 375693 h 599913"/>
                <a:gd name="connsiteX21" fmla="*/ 250355 w 600727"/>
                <a:gd name="connsiteY21" fmla="*/ 279948 h 599913"/>
                <a:gd name="connsiteX22" fmla="*/ 388651 w 600727"/>
                <a:gd name="connsiteY22" fmla="*/ 187386 h 599913"/>
                <a:gd name="connsiteX23" fmla="*/ 378048 w 600727"/>
                <a:gd name="connsiteY23" fmla="*/ 203961 h 599913"/>
                <a:gd name="connsiteX24" fmla="*/ 394645 w 600727"/>
                <a:gd name="connsiteY24" fmla="*/ 214550 h 599913"/>
                <a:gd name="connsiteX25" fmla="*/ 420002 w 600727"/>
                <a:gd name="connsiteY25" fmla="*/ 222838 h 599913"/>
                <a:gd name="connsiteX26" fmla="*/ 425534 w 600727"/>
                <a:gd name="connsiteY26" fmla="*/ 249081 h 599913"/>
                <a:gd name="connsiteX27" fmla="*/ 434294 w 600727"/>
                <a:gd name="connsiteY27" fmla="*/ 266577 h 599913"/>
                <a:gd name="connsiteX28" fmla="*/ 451813 w 600727"/>
                <a:gd name="connsiteY28" fmla="*/ 257368 h 599913"/>
                <a:gd name="connsiteX29" fmla="*/ 440748 w 600727"/>
                <a:gd name="connsiteY29" fmla="*/ 203961 h 599913"/>
                <a:gd name="connsiteX30" fmla="*/ 388651 w 600727"/>
                <a:gd name="connsiteY30" fmla="*/ 187386 h 599913"/>
                <a:gd name="connsiteX31" fmla="*/ 266759 w 600727"/>
                <a:gd name="connsiteY31" fmla="*/ 177078 h 599913"/>
                <a:gd name="connsiteX32" fmla="*/ 151680 w 600727"/>
                <a:gd name="connsiteY32" fmla="*/ 240333 h 599913"/>
                <a:gd name="connsiteX33" fmla="*/ 88518 w 600727"/>
                <a:gd name="connsiteY33" fmla="*/ 358658 h 599913"/>
                <a:gd name="connsiteX34" fmla="*/ 266478 w 600727"/>
                <a:gd name="connsiteY34" fmla="*/ 471459 h 599913"/>
                <a:gd name="connsiteX35" fmla="*/ 458268 w 600727"/>
                <a:gd name="connsiteY35" fmla="*/ 351292 h 599913"/>
                <a:gd name="connsiteX36" fmla="*/ 406632 w 600727"/>
                <a:gd name="connsiteY36" fmla="*/ 293741 h 599913"/>
                <a:gd name="connsiteX37" fmla="*/ 399716 w 600727"/>
                <a:gd name="connsiteY37" fmla="*/ 282691 h 599913"/>
                <a:gd name="connsiteX38" fmla="*/ 400177 w 600727"/>
                <a:gd name="connsiteY38" fmla="*/ 240794 h 599913"/>
                <a:gd name="connsiteX39" fmla="*/ 305665 w 600727"/>
                <a:gd name="connsiteY39" fmla="*/ 240333 h 599913"/>
                <a:gd name="connsiteX40" fmla="*/ 295523 w 600727"/>
                <a:gd name="connsiteY40" fmla="*/ 235269 h 599913"/>
                <a:gd name="connsiteX41" fmla="*/ 290912 w 600727"/>
                <a:gd name="connsiteY41" fmla="*/ 186005 h 599913"/>
                <a:gd name="connsiteX42" fmla="*/ 266759 w 600727"/>
                <a:gd name="connsiteY42" fmla="*/ 177078 h 599913"/>
                <a:gd name="connsiteX43" fmla="*/ 405364 w 600727"/>
                <a:gd name="connsiteY43" fmla="*/ 128778 h 599913"/>
                <a:gd name="connsiteX44" fmla="*/ 376665 w 600727"/>
                <a:gd name="connsiteY44" fmla="*/ 131216 h 599913"/>
                <a:gd name="connsiteX45" fmla="*/ 364217 w 600727"/>
                <a:gd name="connsiteY45" fmla="*/ 150554 h 599913"/>
                <a:gd name="connsiteX46" fmla="*/ 383580 w 600727"/>
                <a:gd name="connsiteY46" fmla="*/ 162985 h 599913"/>
                <a:gd name="connsiteX47" fmla="*/ 459190 w 600727"/>
                <a:gd name="connsiteY47" fmla="*/ 187386 h 599913"/>
                <a:gd name="connsiteX48" fmla="*/ 475787 w 600727"/>
                <a:gd name="connsiteY48" fmla="*/ 265195 h 599913"/>
                <a:gd name="connsiteX49" fmla="*/ 486391 w 600727"/>
                <a:gd name="connsiteY49" fmla="*/ 285453 h 599913"/>
                <a:gd name="connsiteX50" fmla="*/ 506676 w 600727"/>
                <a:gd name="connsiteY50" fmla="*/ 275324 h 599913"/>
                <a:gd name="connsiteX51" fmla="*/ 483163 w 600727"/>
                <a:gd name="connsiteY51" fmla="*/ 165747 h 599913"/>
                <a:gd name="connsiteX52" fmla="*/ 405364 w 600727"/>
                <a:gd name="connsiteY52" fmla="*/ 128778 h 599913"/>
                <a:gd name="connsiteX53" fmla="*/ 300594 w 600727"/>
                <a:gd name="connsiteY53" fmla="*/ 0 h 599913"/>
                <a:gd name="connsiteX54" fmla="*/ 600727 w 600727"/>
                <a:gd name="connsiteY54" fmla="*/ 300186 h 599913"/>
                <a:gd name="connsiteX55" fmla="*/ 300594 w 600727"/>
                <a:gd name="connsiteY55" fmla="*/ 599913 h 599913"/>
                <a:gd name="connsiteX56" fmla="*/ 0 w 600727"/>
                <a:gd name="connsiteY56" fmla="*/ 300186 h 599913"/>
                <a:gd name="connsiteX57" fmla="*/ 300594 w 600727"/>
                <a:gd name="connsiteY57" fmla="*/ 0 h 59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0727" h="599913">
                  <a:moveTo>
                    <a:pt x="223001" y="363277"/>
                  </a:moveTo>
                  <a:cubicBezTo>
                    <a:pt x="228705" y="361377"/>
                    <a:pt x="234928" y="361377"/>
                    <a:pt x="240229" y="363680"/>
                  </a:cubicBezTo>
                  <a:cubicBezTo>
                    <a:pt x="251292" y="368286"/>
                    <a:pt x="254980" y="380722"/>
                    <a:pt x="248066" y="391776"/>
                  </a:cubicBezTo>
                  <a:cubicBezTo>
                    <a:pt x="241151" y="402369"/>
                    <a:pt x="226862" y="406975"/>
                    <a:pt x="215799" y="402369"/>
                  </a:cubicBezTo>
                  <a:cubicBezTo>
                    <a:pt x="205197" y="397303"/>
                    <a:pt x="201970" y="384867"/>
                    <a:pt x="208884" y="374274"/>
                  </a:cubicBezTo>
                  <a:cubicBezTo>
                    <a:pt x="212111" y="368977"/>
                    <a:pt x="217297" y="365177"/>
                    <a:pt x="223001" y="363277"/>
                  </a:cubicBezTo>
                  <a:close/>
                  <a:moveTo>
                    <a:pt x="266976" y="352625"/>
                  </a:moveTo>
                  <a:cubicBezTo>
                    <a:pt x="271126" y="354008"/>
                    <a:pt x="272970" y="358617"/>
                    <a:pt x="270665" y="362765"/>
                  </a:cubicBezTo>
                  <a:cubicBezTo>
                    <a:pt x="267898" y="367374"/>
                    <a:pt x="262827" y="369217"/>
                    <a:pt x="258217" y="367374"/>
                  </a:cubicBezTo>
                  <a:cubicBezTo>
                    <a:pt x="254067" y="365530"/>
                    <a:pt x="252684" y="360921"/>
                    <a:pt x="255450" y="356773"/>
                  </a:cubicBezTo>
                  <a:cubicBezTo>
                    <a:pt x="257756" y="352625"/>
                    <a:pt x="262827" y="350782"/>
                    <a:pt x="266976" y="352625"/>
                  </a:cubicBezTo>
                  <a:close/>
                  <a:moveTo>
                    <a:pt x="248086" y="313386"/>
                  </a:moveTo>
                  <a:cubicBezTo>
                    <a:pt x="222785" y="315737"/>
                    <a:pt x="198845" y="330582"/>
                    <a:pt x="188128" y="352677"/>
                  </a:cubicBezTo>
                  <a:cubicBezTo>
                    <a:pt x="173378" y="382598"/>
                    <a:pt x="187667" y="415740"/>
                    <a:pt x="221316" y="426327"/>
                  </a:cubicBezTo>
                  <a:cubicBezTo>
                    <a:pt x="256347" y="437835"/>
                    <a:pt x="297371" y="420343"/>
                    <a:pt x="311660" y="388122"/>
                  </a:cubicBezTo>
                  <a:cubicBezTo>
                    <a:pt x="325949" y="356820"/>
                    <a:pt x="307973" y="324138"/>
                    <a:pt x="273402" y="315392"/>
                  </a:cubicBezTo>
                  <a:cubicBezTo>
                    <a:pt x="265105" y="313206"/>
                    <a:pt x="256520" y="312602"/>
                    <a:pt x="248086" y="313386"/>
                  </a:cubicBezTo>
                  <a:close/>
                  <a:moveTo>
                    <a:pt x="250355" y="279948"/>
                  </a:moveTo>
                  <a:cubicBezTo>
                    <a:pt x="320418" y="273044"/>
                    <a:pt x="380801" y="304345"/>
                    <a:pt x="385411" y="350376"/>
                  </a:cubicBezTo>
                  <a:cubicBezTo>
                    <a:pt x="390020" y="396407"/>
                    <a:pt x="336551" y="439216"/>
                    <a:pt x="266488" y="446121"/>
                  </a:cubicBezTo>
                  <a:cubicBezTo>
                    <a:pt x="196425" y="453025"/>
                    <a:pt x="136042" y="421724"/>
                    <a:pt x="131432" y="375693"/>
                  </a:cubicBezTo>
                  <a:cubicBezTo>
                    <a:pt x="126823" y="329662"/>
                    <a:pt x="179831" y="286853"/>
                    <a:pt x="250355" y="279948"/>
                  </a:cubicBezTo>
                  <a:close/>
                  <a:moveTo>
                    <a:pt x="388651" y="187386"/>
                  </a:moveTo>
                  <a:cubicBezTo>
                    <a:pt x="381275" y="189228"/>
                    <a:pt x="376204" y="196594"/>
                    <a:pt x="378048" y="203961"/>
                  </a:cubicBezTo>
                  <a:cubicBezTo>
                    <a:pt x="379431" y="211328"/>
                    <a:pt x="386807" y="216392"/>
                    <a:pt x="394645" y="214550"/>
                  </a:cubicBezTo>
                  <a:cubicBezTo>
                    <a:pt x="403405" y="212709"/>
                    <a:pt x="413086" y="215471"/>
                    <a:pt x="420002" y="222838"/>
                  </a:cubicBezTo>
                  <a:cubicBezTo>
                    <a:pt x="426456" y="230204"/>
                    <a:pt x="428300" y="240333"/>
                    <a:pt x="425534" y="249081"/>
                  </a:cubicBezTo>
                  <a:cubicBezTo>
                    <a:pt x="423229" y="256448"/>
                    <a:pt x="426917" y="264275"/>
                    <a:pt x="434294" y="266577"/>
                  </a:cubicBezTo>
                  <a:cubicBezTo>
                    <a:pt x="441670" y="268879"/>
                    <a:pt x="449508" y="264735"/>
                    <a:pt x="451813" y="257368"/>
                  </a:cubicBezTo>
                  <a:cubicBezTo>
                    <a:pt x="457807" y="239412"/>
                    <a:pt x="454118" y="219154"/>
                    <a:pt x="440748" y="203961"/>
                  </a:cubicBezTo>
                  <a:cubicBezTo>
                    <a:pt x="426917" y="189228"/>
                    <a:pt x="407093" y="183703"/>
                    <a:pt x="388651" y="187386"/>
                  </a:cubicBezTo>
                  <a:close/>
                  <a:moveTo>
                    <a:pt x="266759" y="177078"/>
                  </a:moveTo>
                  <a:cubicBezTo>
                    <a:pt x="236828" y="176538"/>
                    <a:pt x="191790" y="200278"/>
                    <a:pt x="151680" y="240333"/>
                  </a:cubicBezTo>
                  <a:cubicBezTo>
                    <a:pt x="112031" y="279928"/>
                    <a:pt x="88518" y="322286"/>
                    <a:pt x="88518" y="358658"/>
                  </a:cubicBezTo>
                  <a:cubicBezTo>
                    <a:pt x="88518" y="428641"/>
                    <a:pt x="178420" y="471459"/>
                    <a:pt x="266478" y="471459"/>
                  </a:cubicBezTo>
                  <a:cubicBezTo>
                    <a:pt x="381736" y="471459"/>
                    <a:pt x="458268" y="404700"/>
                    <a:pt x="458268" y="351292"/>
                  </a:cubicBezTo>
                  <a:cubicBezTo>
                    <a:pt x="458268" y="319524"/>
                    <a:pt x="431067" y="301107"/>
                    <a:pt x="406632" y="293741"/>
                  </a:cubicBezTo>
                  <a:cubicBezTo>
                    <a:pt x="400638" y="291899"/>
                    <a:pt x="396950" y="290518"/>
                    <a:pt x="399716" y="282691"/>
                  </a:cubicBezTo>
                  <a:cubicBezTo>
                    <a:pt x="406632" y="265656"/>
                    <a:pt x="407554" y="251383"/>
                    <a:pt x="400177" y="240794"/>
                  </a:cubicBezTo>
                  <a:cubicBezTo>
                    <a:pt x="386346" y="220996"/>
                    <a:pt x="348542" y="222377"/>
                    <a:pt x="305665" y="240333"/>
                  </a:cubicBezTo>
                  <a:cubicBezTo>
                    <a:pt x="305665" y="240333"/>
                    <a:pt x="291834" y="246319"/>
                    <a:pt x="295523" y="235269"/>
                  </a:cubicBezTo>
                  <a:cubicBezTo>
                    <a:pt x="301977" y="214090"/>
                    <a:pt x="301055" y="196134"/>
                    <a:pt x="290912" y="186005"/>
                  </a:cubicBezTo>
                  <a:cubicBezTo>
                    <a:pt x="285034" y="180135"/>
                    <a:pt x="276736" y="177257"/>
                    <a:pt x="266759" y="177078"/>
                  </a:cubicBezTo>
                  <a:close/>
                  <a:moveTo>
                    <a:pt x="405364" y="128778"/>
                  </a:moveTo>
                  <a:cubicBezTo>
                    <a:pt x="395769" y="128339"/>
                    <a:pt x="386116" y="129144"/>
                    <a:pt x="376665" y="131216"/>
                  </a:cubicBezTo>
                  <a:cubicBezTo>
                    <a:pt x="367905" y="133058"/>
                    <a:pt x="362373" y="141806"/>
                    <a:pt x="364217" y="150554"/>
                  </a:cubicBezTo>
                  <a:cubicBezTo>
                    <a:pt x="366061" y="159301"/>
                    <a:pt x="374820" y="164826"/>
                    <a:pt x="383580" y="162985"/>
                  </a:cubicBezTo>
                  <a:cubicBezTo>
                    <a:pt x="410320" y="156999"/>
                    <a:pt x="439365" y="165287"/>
                    <a:pt x="459190" y="187386"/>
                  </a:cubicBezTo>
                  <a:cubicBezTo>
                    <a:pt x="479014" y="209486"/>
                    <a:pt x="484546" y="238952"/>
                    <a:pt x="475787" y="265195"/>
                  </a:cubicBezTo>
                  <a:cubicBezTo>
                    <a:pt x="473021" y="273943"/>
                    <a:pt x="477631" y="282691"/>
                    <a:pt x="486391" y="285453"/>
                  </a:cubicBezTo>
                  <a:cubicBezTo>
                    <a:pt x="494689" y="288216"/>
                    <a:pt x="503910" y="283612"/>
                    <a:pt x="506676" y="275324"/>
                  </a:cubicBezTo>
                  <a:cubicBezTo>
                    <a:pt x="518663" y="238492"/>
                    <a:pt x="511286" y="196594"/>
                    <a:pt x="483163" y="165747"/>
                  </a:cubicBezTo>
                  <a:cubicBezTo>
                    <a:pt x="462416" y="142612"/>
                    <a:pt x="434149" y="130094"/>
                    <a:pt x="405364" y="128778"/>
                  </a:cubicBezTo>
                  <a:close/>
                  <a:moveTo>
                    <a:pt x="300594" y="0"/>
                  </a:moveTo>
                  <a:cubicBezTo>
                    <a:pt x="466566" y="0"/>
                    <a:pt x="600727" y="134439"/>
                    <a:pt x="600727" y="300186"/>
                  </a:cubicBezTo>
                  <a:cubicBezTo>
                    <a:pt x="600727" y="465934"/>
                    <a:pt x="466566" y="599913"/>
                    <a:pt x="300594" y="599913"/>
                  </a:cubicBezTo>
                  <a:cubicBezTo>
                    <a:pt x="134622" y="599913"/>
                    <a:pt x="0" y="465934"/>
                    <a:pt x="0" y="300186"/>
                  </a:cubicBezTo>
                  <a:cubicBezTo>
                    <a:pt x="0" y="134439"/>
                    <a:pt x="134622" y="0"/>
                    <a:pt x="3005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34" name="iconfont-1142-850723">
              <a:extLst>
                <a:ext uri="{FF2B5EF4-FFF2-40B4-BE49-F238E27FC236}">
                  <a16:creationId xmlns:a16="http://schemas.microsoft.com/office/drawing/2014/main" id="{461A95A2-A550-4240-A817-B9C9BC80FFA4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11175683" y="6312401"/>
              <a:ext cx="231353" cy="231354"/>
            </a:xfrm>
            <a:custGeom>
              <a:avLst/>
              <a:gdLst>
                <a:gd name="T0" fmla="*/ 7268 w 10474"/>
                <a:gd name="T1" fmla="*/ 5233 h 10474"/>
                <a:gd name="T2" fmla="*/ 7029 w 10474"/>
                <a:gd name="T3" fmla="*/ 5480 h 10474"/>
                <a:gd name="T4" fmla="*/ 7268 w 10474"/>
                <a:gd name="T5" fmla="*/ 5702 h 10474"/>
                <a:gd name="T6" fmla="*/ 7566 w 10474"/>
                <a:gd name="T7" fmla="*/ 5480 h 10474"/>
                <a:gd name="T8" fmla="*/ 7268 w 10474"/>
                <a:gd name="T9" fmla="*/ 5233 h 10474"/>
                <a:gd name="T10" fmla="*/ 3454 w 10474"/>
                <a:gd name="T11" fmla="*/ 3484 h 10474"/>
                <a:gd name="T12" fmla="*/ 3087 w 10474"/>
                <a:gd name="T13" fmla="*/ 3782 h 10474"/>
                <a:gd name="T14" fmla="*/ 3454 w 10474"/>
                <a:gd name="T15" fmla="*/ 4081 h 10474"/>
                <a:gd name="T16" fmla="*/ 3761 w 10474"/>
                <a:gd name="T17" fmla="*/ 3782 h 10474"/>
                <a:gd name="T18" fmla="*/ 3454 w 10474"/>
                <a:gd name="T19" fmla="*/ 3484 h 10474"/>
                <a:gd name="T20" fmla="*/ 7805 w 10474"/>
                <a:gd name="T21" fmla="*/ 7400 h 10474"/>
                <a:gd name="T22" fmla="*/ 7976 w 10474"/>
                <a:gd name="T23" fmla="*/ 8014 h 10474"/>
                <a:gd name="T24" fmla="*/ 7328 w 10474"/>
                <a:gd name="T25" fmla="*/ 7648 h 10474"/>
                <a:gd name="T26" fmla="*/ 6594 w 10474"/>
                <a:gd name="T27" fmla="*/ 7775 h 10474"/>
                <a:gd name="T28" fmla="*/ 4546 w 10474"/>
                <a:gd name="T29" fmla="*/ 6018 h 10474"/>
                <a:gd name="T30" fmla="*/ 6594 w 10474"/>
                <a:gd name="T31" fmla="*/ 4260 h 10474"/>
                <a:gd name="T32" fmla="*/ 8650 w 10474"/>
                <a:gd name="T33" fmla="*/ 6018 h 10474"/>
                <a:gd name="T34" fmla="*/ 7805 w 10474"/>
                <a:gd name="T35" fmla="*/ 7400 h 10474"/>
                <a:gd name="T36" fmla="*/ 4247 w 10474"/>
                <a:gd name="T37" fmla="*/ 6564 h 10474"/>
                <a:gd name="T38" fmla="*/ 3402 w 10474"/>
                <a:gd name="T39" fmla="*/ 6427 h 10474"/>
                <a:gd name="T40" fmla="*/ 2541 w 10474"/>
                <a:gd name="T41" fmla="*/ 6863 h 10474"/>
                <a:gd name="T42" fmla="*/ 2788 w 10474"/>
                <a:gd name="T43" fmla="*/ 6129 h 10474"/>
                <a:gd name="T44" fmla="*/ 1824 w 10474"/>
                <a:gd name="T45" fmla="*/ 4507 h 10474"/>
                <a:gd name="T46" fmla="*/ 4247 w 10474"/>
                <a:gd name="T47" fmla="*/ 2460 h 10474"/>
                <a:gd name="T48" fmla="*/ 6679 w 10474"/>
                <a:gd name="T49" fmla="*/ 4149 h 10474"/>
                <a:gd name="T50" fmla="*/ 6449 w 10474"/>
                <a:gd name="T51" fmla="*/ 4124 h 10474"/>
                <a:gd name="T52" fmla="*/ 4392 w 10474"/>
                <a:gd name="T53" fmla="*/ 6043 h 10474"/>
                <a:gd name="T54" fmla="*/ 4461 w 10474"/>
                <a:gd name="T55" fmla="*/ 6555 h 10474"/>
                <a:gd name="T56" fmla="*/ 4247 w 10474"/>
                <a:gd name="T57" fmla="*/ 6564 h 10474"/>
                <a:gd name="T58" fmla="*/ 5237 w 10474"/>
                <a:gd name="T59" fmla="*/ 0 h 10474"/>
                <a:gd name="T60" fmla="*/ 0 w 10474"/>
                <a:gd name="T61" fmla="*/ 5237 h 10474"/>
                <a:gd name="T62" fmla="*/ 5237 w 10474"/>
                <a:gd name="T63" fmla="*/ 10474 h 10474"/>
                <a:gd name="T64" fmla="*/ 10474 w 10474"/>
                <a:gd name="T65" fmla="*/ 5237 h 10474"/>
                <a:gd name="T66" fmla="*/ 5237 w 10474"/>
                <a:gd name="T67" fmla="*/ 0 h 10474"/>
                <a:gd name="T68" fmla="*/ 5143 w 10474"/>
                <a:gd name="T69" fmla="*/ 4081 h 10474"/>
                <a:gd name="T70" fmla="*/ 5450 w 10474"/>
                <a:gd name="T71" fmla="*/ 3782 h 10474"/>
                <a:gd name="T72" fmla="*/ 5143 w 10474"/>
                <a:gd name="T73" fmla="*/ 3484 h 10474"/>
                <a:gd name="T74" fmla="*/ 4793 w 10474"/>
                <a:gd name="T75" fmla="*/ 3782 h 10474"/>
                <a:gd name="T76" fmla="*/ 5143 w 10474"/>
                <a:gd name="T77" fmla="*/ 4081 h 10474"/>
                <a:gd name="T78" fmla="*/ 5928 w 10474"/>
                <a:gd name="T79" fmla="*/ 5233 h 10474"/>
                <a:gd name="T80" fmla="*/ 5689 w 10474"/>
                <a:gd name="T81" fmla="*/ 5480 h 10474"/>
                <a:gd name="T82" fmla="*/ 5928 w 10474"/>
                <a:gd name="T83" fmla="*/ 5702 h 10474"/>
                <a:gd name="T84" fmla="*/ 6235 w 10474"/>
                <a:gd name="T85" fmla="*/ 5480 h 10474"/>
                <a:gd name="T86" fmla="*/ 5928 w 10474"/>
                <a:gd name="T87" fmla="*/ 5233 h 10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74" h="10474">
                  <a:moveTo>
                    <a:pt x="7268" y="5233"/>
                  </a:moveTo>
                  <a:cubicBezTo>
                    <a:pt x="7140" y="5233"/>
                    <a:pt x="7029" y="5344"/>
                    <a:pt x="7029" y="5480"/>
                  </a:cubicBezTo>
                  <a:cubicBezTo>
                    <a:pt x="7029" y="5591"/>
                    <a:pt x="7140" y="5702"/>
                    <a:pt x="7268" y="5702"/>
                  </a:cubicBezTo>
                  <a:cubicBezTo>
                    <a:pt x="7438" y="5702"/>
                    <a:pt x="7566" y="5591"/>
                    <a:pt x="7566" y="5480"/>
                  </a:cubicBezTo>
                  <a:cubicBezTo>
                    <a:pt x="7566" y="5344"/>
                    <a:pt x="7438" y="5233"/>
                    <a:pt x="7268" y="5233"/>
                  </a:cubicBezTo>
                  <a:close/>
                  <a:moveTo>
                    <a:pt x="3454" y="3484"/>
                  </a:moveTo>
                  <a:cubicBezTo>
                    <a:pt x="3274" y="3484"/>
                    <a:pt x="3087" y="3594"/>
                    <a:pt x="3087" y="3782"/>
                  </a:cubicBezTo>
                  <a:cubicBezTo>
                    <a:pt x="3087" y="3961"/>
                    <a:pt x="3274" y="4081"/>
                    <a:pt x="3454" y="4081"/>
                  </a:cubicBezTo>
                  <a:cubicBezTo>
                    <a:pt x="3624" y="4081"/>
                    <a:pt x="3761" y="3961"/>
                    <a:pt x="3761" y="3782"/>
                  </a:cubicBezTo>
                  <a:cubicBezTo>
                    <a:pt x="3761" y="3594"/>
                    <a:pt x="3624" y="3484"/>
                    <a:pt x="3454" y="3484"/>
                  </a:cubicBezTo>
                  <a:close/>
                  <a:moveTo>
                    <a:pt x="7805" y="7400"/>
                  </a:moveTo>
                  <a:lnTo>
                    <a:pt x="7976" y="8014"/>
                  </a:lnTo>
                  <a:lnTo>
                    <a:pt x="7328" y="7648"/>
                  </a:lnTo>
                  <a:cubicBezTo>
                    <a:pt x="7080" y="7699"/>
                    <a:pt x="6841" y="7775"/>
                    <a:pt x="6594" y="7775"/>
                  </a:cubicBezTo>
                  <a:cubicBezTo>
                    <a:pt x="5450" y="7775"/>
                    <a:pt x="4546" y="6990"/>
                    <a:pt x="4546" y="6018"/>
                  </a:cubicBezTo>
                  <a:cubicBezTo>
                    <a:pt x="4546" y="5045"/>
                    <a:pt x="5450" y="4260"/>
                    <a:pt x="6594" y="4260"/>
                  </a:cubicBezTo>
                  <a:cubicBezTo>
                    <a:pt x="7677" y="4260"/>
                    <a:pt x="8650" y="5045"/>
                    <a:pt x="8650" y="6018"/>
                  </a:cubicBezTo>
                  <a:cubicBezTo>
                    <a:pt x="8650" y="6564"/>
                    <a:pt x="8283" y="7050"/>
                    <a:pt x="7805" y="7400"/>
                  </a:cubicBezTo>
                  <a:close/>
                  <a:moveTo>
                    <a:pt x="4247" y="6564"/>
                  </a:moveTo>
                  <a:cubicBezTo>
                    <a:pt x="3931" y="6564"/>
                    <a:pt x="3701" y="6513"/>
                    <a:pt x="3402" y="6427"/>
                  </a:cubicBezTo>
                  <a:lnTo>
                    <a:pt x="2541" y="6863"/>
                  </a:lnTo>
                  <a:lnTo>
                    <a:pt x="2788" y="6129"/>
                  </a:lnTo>
                  <a:cubicBezTo>
                    <a:pt x="2182" y="5702"/>
                    <a:pt x="1824" y="5165"/>
                    <a:pt x="1824" y="4507"/>
                  </a:cubicBezTo>
                  <a:cubicBezTo>
                    <a:pt x="1824" y="3347"/>
                    <a:pt x="2916" y="2460"/>
                    <a:pt x="4247" y="2460"/>
                  </a:cubicBezTo>
                  <a:cubicBezTo>
                    <a:pt x="5425" y="2460"/>
                    <a:pt x="6474" y="3159"/>
                    <a:pt x="6679" y="4149"/>
                  </a:cubicBezTo>
                  <a:cubicBezTo>
                    <a:pt x="6594" y="4132"/>
                    <a:pt x="6517" y="4124"/>
                    <a:pt x="6449" y="4124"/>
                  </a:cubicBezTo>
                  <a:cubicBezTo>
                    <a:pt x="5288" y="4124"/>
                    <a:pt x="4392" y="4994"/>
                    <a:pt x="4392" y="6043"/>
                  </a:cubicBezTo>
                  <a:cubicBezTo>
                    <a:pt x="4392" y="6223"/>
                    <a:pt x="4418" y="6385"/>
                    <a:pt x="4461" y="6555"/>
                  </a:cubicBezTo>
                  <a:cubicBezTo>
                    <a:pt x="4392" y="6564"/>
                    <a:pt x="4315" y="6564"/>
                    <a:pt x="4247" y="6564"/>
                  </a:cubicBezTo>
                  <a:close/>
                  <a:moveTo>
                    <a:pt x="5237" y="0"/>
                  </a:moveTo>
                  <a:cubicBezTo>
                    <a:pt x="2345" y="0"/>
                    <a:pt x="0" y="2345"/>
                    <a:pt x="0" y="5237"/>
                  </a:cubicBezTo>
                  <a:cubicBezTo>
                    <a:pt x="0" y="8129"/>
                    <a:pt x="2345" y="10474"/>
                    <a:pt x="5237" y="10474"/>
                  </a:cubicBezTo>
                  <a:cubicBezTo>
                    <a:pt x="8129" y="10474"/>
                    <a:pt x="10474" y="8129"/>
                    <a:pt x="10474" y="5237"/>
                  </a:cubicBezTo>
                  <a:cubicBezTo>
                    <a:pt x="10474" y="2345"/>
                    <a:pt x="8129" y="0"/>
                    <a:pt x="5237" y="0"/>
                  </a:cubicBezTo>
                  <a:close/>
                  <a:moveTo>
                    <a:pt x="5143" y="4081"/>
                  </a:moveTo>
                  <a:cubicBezTo>
                    <a:pt x="5331" y="4081"/>
                    <a:pt x="5450" y="3961"/>
                    <a:pt x="5450" y="3782"/>
                  </a:cubicBezTo>
                  <a:cubicBezTo>
                    <a:pt x="5450" y="3594"/>
                    <a:pt x="5331" y="3484"/>
                    <a:pt x="5143" y="3484"/>
                  </a:cubicBezTo>
                  <a:cubicBezTo>
                    <a:pt x="4964" y="3484"/>
                    <a:pt x="4793" y="3594"/>
                    <a:pt x="4793" y="3782"/>
                  </a:cubicBezTo>
                  <a:cubicBezTo>
                    <a:pt x="4793" y="3961"/>
                    <a:pt x="4964" y="4081"/>
                    <a:pt x="5143" y="4081"/>
                  </a:cubicBezTo>
                  <a:close/>
                  <a:moveTo>
                    <a:pt x="5928" y="5233"/>
                  </a:moveTo>
                  <a:cubicBezTo>
                    <a:pt x="5809" y="5233"/>
                    <a:pt x="5689" y="5344"/>
                    <a:pt x="5689" y="5480"/>
                  </a:cubicBezTo>
                  <a:cubicBezTo>
                    <a:pt x="5689" y="5591"/>
                    <a:pt x="5809" y="5702"/>
                    <a:pt x="5928" y="5702"/>
                  </a:cubicBezTo>
                  <a:cubicBezTo>
                    <a:pt x="6107" y="5702"/>
                    <a:pt x="6235" y="5591"/>
                    <a:pt x="6235" y="5480"/>
                  </a:cubicBezTo>
                  <a:cubicBezTo>
                    <a:pt x="6235" y="5344"/>
                    <a:pt x="6107" y="5233"/>
                    <a:pt x="5928" y="523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910F46C-BD48-4F31-B697-C42CF1ABDF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94242" y="4005891"/>
            <a:ext cx="6023665" cy="808696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3333" b="1" kern="1200" dirty="0" smtClean="0">
                <a:solidFill>
                  <a:schemeClr val="bg1"/>
                </a:solidFill>
                <a:effectLst>
                  <a:outerShdw blurRad="127000" dist="63500" dir="2700000" algn="tl" rotWithShape="0">
                    <a:schemeClr val="tx1">
                      <a:alpha val="10000"/>
                    </a:schemeClr>
                  </a:outerShdw>
                </a:effectLst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</a:t>
            </a:r>
            <a:endParaRPr lang="zh-CN" altLang="en-US" dirty="0"/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D3331EF5-BE4E-46AC-B330-C3E3A32A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4242" y="4771380"/>
            <a:ext cx="6023665" cy="343760"/>
          </a:xfrm>
        </p:spPr>
        <p:txBody>
          <a:bodyPr anchor="ctr" anchorCtr="0">
            <a:noAutofit/>
          </a:bodyPr>
          <a:lstStyle>
            <a:lvl1pPr marL="0" indent="0">
              <a:buNone/>
              <a:defRPr lang="zh-CN" altLang="en-US" sz="1500" b="0" kern="1200" dirty="0" smtClean="0">
                <a:solidFill>
                  <a:schemeClr val="bg1"/>
                </a:solidFill>
                <a:effectLst/>
                <a:latin typeface="Lato Light" panose="020F04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68A375-2067-45CA-BA47-6E052AB51E86}"/>
              </a:ext>
            </a:extLst>
          </p:cNvPr>
          <p:cNvSpPr/>
          <p:nvPr userDrawn="1"/>
        </p:nvSpPr>
        <p:spPr>
          <a:xfrm>
            <a:off x="704850" y="6253507"/>
            <a:ext cx="3949700" cy="244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6190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17" b="1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+mn-ea"/>
                <a:cs typeface="Lato Light" panose="020F0402020204030203" pitchFamily="34" charset="0"/>
              </a:rPr>
              <a:t>City University of Hong Kong </a:t>
            </a:r>
            <a:r>
              <a:rPr lang="en-US" altLang="zh-CN" sz="917" b="0" i="0" baseline="0" dirty="0">
                <a:solidFill>
                  <a:schemeClr val="bg1"/>
                </a:solidFill>
                <a:latin typeface="Lato Light" panose="020F0402020204030203" pitchFamily="34" charset="0"/>
                <a:ea typeface="Lato Light" charset="0"/>
                <a:cs typeface="Lato Light" panose="020F0402020204030203" pitchFamily="34" charset="0"/>
              </a:rPr>
              <a:t>|  </a:t>
            </a:r>
            <a:r>
              <a:rPr lang="en-US" altLang="zh-CN" sz="917" b="0" i="0" kern="1200" baseline="0" dirty="0">
                <a:solidFill>
                  <a:schemeClr val="bg1"/>
                </a:solidFill>
                <a:latin typeface="Lato Light" panose="020F0402020204030203" pitchFamily="34" charset="0"/>
                <a:ea typeface="+mn-ea"/>
                <a:cs typeface="Lato Light" panose="020F0402020204030203" pitchFamily="34" charset="0"/>
              </a:rPr>
              <a:t>www.cityu.edu.hk</a:t>
            </a:r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FC3E3A74-F351-CFCE-3F7D-62BDD11377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9597" y="211658"/>
            <a:ext cx="1940621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4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F8318-8799-4D0F-B91E-E303FA5569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542" y="-2977"/>
            <a:ext cx="12191457" cy="6858001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2192000" cy="6858001"/>
          </a:xfrm>
          <a:prstGeom prst="rect">
            <a:avLst/>
          </a:prstGeom>
          <a:solidFill>
            <a:srgbClr val="A92D6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70"/>
            <a:ext cx="9163319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13A082D5-6CF6-4905-9BE3-622716D49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8232" y="2523291"/>
            <a:ext cx="8776487" cy="93331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3333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 Thanks for your attention.</a:t>
            </a:r>
            <a:endParaRPr lang="zh-CN" altLang="en-US" dirty="0"/>
          </a:p>
        </p:txBody>
      </p:sp>
      <p:sp>
        <p:nvSpPr>
          <p:cNvPr id="12" name="文本占位符 8">
            <a:extLst>
              <a:ext uri="{FF2B5EF4-FFF2-40B4-BE49-F238E27FC236}">
                <a16:creationId xmlns:a16="http://schemas.microsoft.com/office/drawing/2014/main" id="{4783FE10-2CAC-4096-B7BB-C45D748CA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8236" y="3699996"/>
            <a:ext cx="5178151" cy="31122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333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333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Signature</a:t>
            </a:r>
          </a:p>
        </p:txBody>
      </p:sp>
      <p:sp>
        <p:nvSpPr>
          <p:cNvPr id="14" name="文本占位符 8">
            <a:extLst>
              <a:ext uri="{FF2B5EF4-FFF2-40B4-BE49-F238E27FC236}">
                <a16:creationId xmlns:a16="http://schemas.microsoft.com/office/drawing/2014/main" id="{A3B75950-C6FA-431A-A533-17D6A051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8236" y="4053213"/>
            <a:ext cx="5178151" cy="313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lang="zh-CN" altLang="en-US" sz="1333" b="0" kern="120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 altLang="zh-CN" sz="1333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Date</a:t>
            </a:r>
            <a:endParaRPr lang="zh-CN" altLang="en-US" sz="1333" b="0" dirty="0">
              <a:solidFill>
                <a:schemeClr val="bg1"/>
              </a:solidFill>
              <a:latin typeface="Lato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4B7980C-64B9-4684-823C-10D4A312E0EF}"/>
              </a:ext>
            </a:extLst>
          </p:cNvPr>
          <p:cNvSpPr/>
          <p:nvPr userDrawn="1"/>
        </p:nvSpPr>
        <p:spPr>
          <a:xfrm>
            <a:off x="278895" y="6196307"/>
            <a:ext cx="2949746" cy="442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0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0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EE97FFC-2028-1E16-6D6D-F8BF4EB954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9597" y="211658"/>
            <a:ext cx="1940621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6E9015-E6DE-45E4-8091-B8909CC699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A6C3BF-8923-4A17-9091-23133505852B}"/>
              </a:ext>
            </a:extLst>
          </p:cNvPr>
          <p:cNvSpPr/>
          <p:nvPr userDrawn="1"/>
        </p:nvSpPr>
        <p:spPr>
          <a:xfrm>
            <a:off x="104695" y="91159"/>
            <a:ext cx="11982614" cy="6675683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77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0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79A64A6B-5FFA-FDB5-9FE1-7285A189C2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6199" y="325087"/>
            <a:ext cx="1629573" cy="914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F5E4A-5DD0-8C82-1E31-7801790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5869" y="6284866"/>
            <a:ext cx="560269" cy="213048"/>
          </a:xfrm>
          <a:prstGeom prst="rect">
            <a:avLst/>
          </a:prstGeom>
        </p:spPr>
        <p:txBody>
          <a:bodyPr/>
          <a:lstStyle>
            <a:lvl1pPr algn="ctr">
              <a:defRPr sz="917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506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81897-A220-4663-9F0C-5A621E680842}" type="datetimeFigureOut">
              <a:rPr lang="zh-CN" altLang="en-US" smtClean="0"/>
              <a:t>2026/6/11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9C1D4-69BA-4B09-8A24-1CCDDD1AB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19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668" r:id="rId14"/>
    <p:sldLayoutId id="2147483662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4532" y="2324165"/>
            <a:ext cx="8645063" cy="1232960"/>
          </a:xfrm>
        </p:spPr>
        <p:txBody>
          <a:bodyPr>
            <a:normAutofit/>
          </a:bodyPr>
          <a:lstStyle/>
          <a:p>
            <a:pPr lvl="0"/>
            <a:r>
              <a:rPr lang="en-US" altLang="zh-CN" sz="5000" b="1" dirty="0"/>
              <a:t>MISQ</a:t>
            </a:r>
            <a:r>
              <a:rPr lang="zh-CN" altLang="en-US" sz="5000" b="1" dirty="0"/>
              <a:t> </a:t>
            </a:r>
            <a:r>
              <a:rPr lang="en-US" altLang="zh-CN" sz="5000" b="1" dirty="0"/>
              <a:t>paper</a:t>
            </a:r>
            <a:r>
              <a:rPr lang="zh-CN" altLang="en-US" sz="5000" b="1" dirty="0"/>
              <a:t> </a:t>
            </a:r>
            <a:r>
              <a:rPr lang="en-US" altLang="zh-CN" sz="5000" b="1" dirty="0"/>
              <a:t>revision</a:t>
            </a:r>
            <a:r>
              <a:rPr lang="zh-CN" altLang="en-US" sz="5000" b="1" dirty="0"/>
              <a:t> </a:t>
            </a:r>
            <a:r>
              <a:rPr lang="en-US" altLang="zh-CN" sz="5000" b="1" dirty="0"/>
              <a:t>plan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4530" y="3721707"/>
            <a:ext cx="4253944" cy="247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4530" y="3980398"/>
            <a:ext cx="4253944" cy="247558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A892-57D8-856E-B756-D6C8CB8B2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92D621-7F0D-75A2-C18A-40F3F51B22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</a:t>
            </a:r>
            <a:endParaRPr lang="en-US" altLang="zh-CN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4601CEF-180A-2B3D-C349-1B1FF9212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Summary of </a:t>
            </a:r>
            <a:r>
              <a:rPr lang="en-US" altLang="zh-CN" sz="2000" dirty="0"/>
              <a:t>our</a:t>
            </a:r>
            <a:r>
              <a:rPr lang="zh-CN" altLang="en-US" sz="2000" dirty="0"/>
              <a:t> </a:t>
            </a:r>
            <a:r>
              <a:rPr lang="en-US" sz="2000" dirty="0"/>
              <a:t>paper (page </a:t>
            </a:r>
            <a:r>
              <a:rPr lang="en-US" altLang="zh-CN" sz="2000" dirty="0"/>
              <a:t>2</a:t>
            </a:r>
            <a:r>
              <a:rPr lang="en-US" sz="2000" dirty="0"/>
              <a:t>~5)</a:t>
            </a:r>
          </a:p>
          <a:p>
            <a:r>
              <a:rPr lang="en-US" sz="2000" dirty="0"/>
              <a:t>Review panel’s major concern (page 6)</a:t>
            </a:r>
          </a:p>
          <a:p>
            <a:r>
              <a:rPr lang="en-US" sz="2000" dirty="0"/>
              <a:t>SE’s suggestion</a:t>
            </a:r>
            <a:r>
              <a:rPr lang="zh-CN" altLang="en-US" sz="2000" dirty="0"/>
              <a:t> </a:t>
            </a:r>
            <a:r>
              <a:rPr lang="en-US" altLang="zh-CN" sz="2000" dirty="0"/>
              <a:t>(page</a:t>
            </a:r>
            <a:r>
              <a:rPr lang="zh-CN" altLang="en-US" sz="2000" dirty="0"/>
              <a:t> </a:t>
            </a:r>
            <a:r>
              <a:rPr lang="en-US" altLang="zh-CN" sz="2000" dirty="0"/>
              <a:t>7)</a:t>
            </a:r>
            <a:endParaRPr lang="en-US" sz="2000" dirty="0"/>
          </a:p>
          <a:p>
            <a:r>
              <a:rPr lang="en-US" sz="2000" dirty="0"/>
              <a:t>Our plan</a:t>
            </a:r>
          </a:p>
        </p:txBody>
      </p:sp>
    </p:spTree>
    <p:extLst>
      <p:ext uri="{BB962C8B-B14F-4D97-AF65-F5344CB8AC3E}">
        <p14:creationId xmlns:p14="http://schemas.microsoft.com/office/powerpoint/2010/main" val="309190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5E35E-5395-2501-5F04-73398142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CDEFB9-CCC3-3C09-3145-E25F49C7B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Background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B6B8DF1D-BB46-5837-33B8-0D943071F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3907" y="4427098"/>
            <a:ext cx="6898993" cy="1319831"/>
          </a:xfrm>
        </p:spPr>
        <p:txBody>
          <a:bodyPr>
            <a:normAutofit/>
          </a:bodyPr>
          <a:lstStyle/>
          <a:p>
            <a:pPr marL="47623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33" dirty="0"/>
              <a:t>Our Research Question:</a:t>
            </a:r>
          </a:p>
          <a:p>
            <a:pPr marL="428608" lvl="1" fontAlgn="base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How does internal GenAI affect </a:t>
            </a:r>
            <a:r>
              <a:rPr lang="en-US" altLang="en-US" sz="1500" i="1" dirty="0"/>
              <a:t>human answerers </a:t>
            </a:r>
            <a:r>
              <a:rPr lang="en-US" altLang="zh-CN" sz="1500" i="1" dirty="0"/>
              <a:t>(supply)</a:t>
            </a:r>
            <a:r>
              <a:rPr lang="zh-CN" altLang="en-US" sz="1500" i="1" dirty="0"/>
              <a:t> </a:t>
            </a:r>
            <a:r>
              <a:rPr lang="en-US" altLang="en-US" sz="1500" dirty="0"/>
              <a:t>and </a:t>
            </a:r>
            <a:r>
              <a:rPr lang="en-US" altLang="en-US" sz="1500" i="1" dirty="0"/>
              <a:t>viewers</a:t>
            </a:r>
            <a:r>
              <a:rPr lang="en-US" altLang="en-US" sz="1500" dirty="0"/>
              <a:t> </a:t>
            </a:r>
            <a:r>
              <a:rPr lang="en-US" altLang="zh-CN" sz="1500" i="1" dirty="0"/>
              <a:t>(recognition)</a:t>
            </a:r>
            <a:r>
              <a:rPr lang="zh-CN" altLang="en-US" sz="1500" dirty="0"/>
              <a:t> </a:t>
            </a:r>
            <a:r>
              <a:rPr lang="en-US" altLang="en-US" sz="1500" dirty="0"/>
              <a:t>in online Q&amp;A communities?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D0B7F09-8F76-A986-5562-6BAF24D2B095}"/>
              </a:ext>
            </a:extLst>
          </p:cNvPr>
          <p:cNvSpPr/>
          <p:nvPr/>
        </p:nvSpPr>
        <p:spPr>
          <a:xfrm>
            <a:off x="3627788" y="1649802"/>
            <a:ext cx="4537911" cy="242411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sp>
        <p:nvSpPr>
          <p:cNvPr id="4" name="箭头: 右 7">
            <a:extLst>
              <a:ext uri="{FF2B5EF4-FFF2-40B4-BE49-F238E27FC236}">
                <a16:creationId xmlns:a16="http://schemas.microsoft.com/office/drawing/2014/main" id="{E897DE51-C7CE-5F05-45E4-D5EE1259F64F}"/>
              </a:ext>
            </a:extLst>
          </p:cNvPr>
          <p:cNvSpPr/>
          <p:nvPr/>
        </p:nvSpPr>
        <p:spPr>
          <a:xfrm>
            <a:off x="2697199" y="3054625"/>
            <a:ext cx="1833166" cy="572708"/>
          </a:xfrm>
          <a:prstGeom prst="rightArrow">
            <a:avLst/>
          </a:prstGeom>
          <a:solidFill>
            <a:srgbClr val="0070C0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pic>
        <p:nvPicPr>
          <p:cNvPr id="5" name="Picture 2" descr="ChatGPT Logo - SVG, PNG, AI, EPS Vectors">
            <a:extLst>
              <a:ext uri="{FF2B5EF4-FFF2-40B4-BE49-F238E27FC236}">
                <a16:creationId xmlns:a16="http://schemas.microsoft.com/office/drawing/2014/main" id="{44259F3E-723E-E5F5-6F7B-AA27B4704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712" y="4701213"/>
            <a:ext cx="724788" cy="72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43">
            <a:extLst>
              <a:ext uri="{FF2B5EF4-FFF2-40B4-BE49-F238E27FC236}">
                <a16:creationId xmlns:a16="http://schemas.microsoft.com/office/drawing/2014/main" id="{992F29AA-918E-E0D2-8A50-58C68A829094}"/>
              </a:ext>
            </a:extLst>
          </p:cNvPr>
          <p:cNvSpPr txBox="1"/>
          <p:nvPr/>
        </p:nvSpPr>
        <p:spPr>
          <a:xfrm flipH="1">
            <a:off x="1025921" y="5395040"/>
            <a:ext cx="2442370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b="1" dirty="0"/>
              <a:t>External </a:t>
            </a:r>
            <a:r>
              <a:rPr lang="en-US" altLang="zh-CN" sz="1333" b="1" dirty="0" err="1"/>
              <a:t>Gen</a:t>
            </a:r>
            <a:r>
              <a:rPr lang="en-US" sz="1333" b="1" dirty="0" err="1"/>
              <a:t>AI</a:t>
            </a:r>
            <a:r>
              <a:rPr lang="en-US" sz="1333" b="1" dirty="0"/>
              <a:t> </a:t>
            </a:r>
          </a:p>
          <a:p>
            <a:pPr algn="ctr"/>
            <a:r>
              <a:rPr lang="en-US" sz="1333" dirty="0"/>
              <a:t>(e.g., ChatGPT)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3BB0874-3055-D29E-DA0A-6372D55B269C}"/>
              </a:ext>
            </a:extLst>
          </p:cNvPr>
          <p:cNvSpPr/>
          <p:nvPr/>
        </p:nvSpPr>
        <p:spPr>
          <a:xfrm rot="5400000">
            <a:off x="1932086" y="4184984"/>
            <a:ext cx="655323" cy="266700"/>
          </a:xfrm>
          <a:prstGeom prst="rightArrow">
            <a:avLst/>
          </a:prstGeom>
          <a:solidFill>
            <a:srgbClr val="0070C0">
              <a:alpha val="2427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3C063-8E31-2741-4DB2-D6E4A9B27E7B}"/>
              </a:ext>
            </a:extLst>
          </p:cNvPr>
          <p:cNvSpPr txBox="1"/>
          <p:nvPr/>
        </p:nvSpPr>
        <p:spPr>
          <a:xfrm>
            <a:off x="8404143" y="2831804"/>
            <a:ext cx="691235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Supply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1B859BB5-3DD2-22A1-CE10-3A6F0C321A9E}"/>
              </a:ext>
            </a:extLst>
          </p:cNvPr>
          <p:cNvSpPr txBox="1"/>
          <p:nvPr/>
        </p:nvSpPr>
        <p:spPr>
          <a:xfrm>
            <a:off x="4742900" y="3469904"/>
            <a:ext cx="947936" cy="2051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 defTabSz="761970">
              <a:defRPr/>
            </a:pPr>
            <a:r>
              <a:rPr lang="en-US" sz="1333" b="1" dirty="0">
                <a:solidFill>
                  <a:prstClr val="black"/>
                </a:solidFill>
                <a:latin typeface="Calibri" panose="020F0502020204030204"/>
              </a:rPr>
              <a:t>Questions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76DE060A-D376-1058-04B0-FB6596B27267}"/>
              </a:ext>
            </a:extLst>
          </p:cNvPr>
          <p:cNvSpPr txBox="1"/>
          <p:nvPr/>
        </p:nvSpPr>
        <p:spPr>
          <a:xfrm>
            <a:off x="6031476" y="3469904"/>
            <a:ext cx="947936" cy="2051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 defTabSz="761970">
              <a:defRPr/>
            </a:pPr>
            <a:r>
              <a:rPr lang="en-US" sz="1333" b="1" dirty="0">
                <a:solidFill>
                  <a:prstClr val="black"/>
                </a:solidFill>
                <a:latin typeface="Calibri" panose="020F0502020204030204"/>
              </a:rPr>
              <a:t>Answers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6B0E528E-1131-B42A-E28D-80176FAD18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85" t="252" r="685" b="53500"/>
          <a:stretch/>
        </p:blipFill>
        <p:spPr>
          <a:xfrm>
            <a:off x="4683125" y="3010092"/>
            <a:ext cx="1051651" cy="484017"/>
          </a:xfrm>
          <a:prstGeom prst="rect">
            <a:avLst/>
          </a:prstGeom>
        </p:spPr>
      </p:pic>
      <p:pic>
        <p:nvPicPr>
          <p:cNvPr id="13" name="Picture 30">
            <a:extLst>
              <a:ext uri="{FF2B5EF4-FFF2-40B4-BE49-F238E27FC236}">
                <a16:creationId xmlns:a16="http://schemas.microsoft.com/office/drawing/2014/main" id="{14C74625-3B8D-2DBB-8CAE-AB5CB71A75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752" b="1"/>
          <a:stretch/>
        </p:blipFill>
        <p:spPr>
          <a:xfrm>
            <a:off x="5919597" y="3019507"/>
            <a:ext cx="1051651" cy="484017"/>
          </a:xfrm>
          <a:prstGeom prst="rect">
            <a:avLst/>
          </a:prstGeom>
        </p:spPr>
      </p:pic>
      <p:sp>
        <p:nvSpPr>
          <p:cNvPr id="14" name="TextBox 27">
            <a:extLst>
              <a:ext uri="{FF2B5EF4-FFF2-40B4-BE49-F238E27FC236}">
                <a16:creationId xmlns:a16="http://schemas.microsoft.com/office/drawing/2014/main" id="{D5659E09-B63D-93D6-AA5C-DB2C20F5CF0D}"/>
              </a:ext>
            </a:extLst>
          </p:cNvPr>
          <p:cNvSpPr txBox="1"/>
          <p:nvPr/>
        </p:nvSpPr>
        <p:spPr>
          <a:xfrm>
            <a:off x="2705218" y="2831804"/>
            <a:ext cx="698689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Supply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62A258-8A19-A8A3-BF72-295AF500F06D}"/>
              </a:ext>
            </a:extLst>
          </p:cNvPr>
          <p:cNvSpPr txBox="1"/>
          <p:nvPr/>
        </p:nvSpPr>
        <p:spPr>
          <a:xfrm flipH="1">
            <a:off x="9095379" y="3654272"/>
            <a:ext cx="1044288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b="1" dirty="0"/>
              <a:t>Answerers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B667B38-4DFA-A13D-6A1F-875DF65BC9CE}"/>
              </a:ext>
            </a:extLst>
          </p:cNvPr>
          <p:cNvSpPr txBox="1"/>
          <p:nvPr/>
        </p:nvSpPr>
        <p:spPr>
          <a:xfrm flipH="1">
            <a:off x="1693841" y="3627334"/>
            <a:ext cx="116378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b="1" dirty="0"/>
              <a:t>Questioners</a:t>
            </a:r>
          </a:p>
        </p:txBody>
      </p:sp>
      <p:sp>
        <p:nvSpPr>
          <p:cNvPr id="17" name="man-silhouette_43368">
            <a:extLst>
              <a:ext uri="{FF2B5EF4-FFF2-40B4-BE49-F238E27FC236}">
                <a16:creationId xmlns:a16="http://schemas.microsoft.com/office/drawing/2014/main" id="{626C59FD-ADE4-D1AF-E57C-4911211DB0CF}"/>
              </a:ext>
            </a:extLst>
          </p:cNvPr>
          <p:cNvSpPr/>
          <p:nvPr/>
        </p:nvSpPr>
        <p:spPr>
          <a:xfrm>
            <a:off x="9431066" y="2792225"/>
            <a:ext cx="372912" cy="932443"/>
          </a:xfrm>
          <a:custGeom>
            <a:avLst/>
            <a:gdLst>
              <a:gd name="connsiteX0" fmla="*/ 54978 w 241969"/>
              <a:gd name="connsiteY0" fmla="*/ 102390 h 605028"/>
              <a:gd name="connsiteX1" fmla="*/ 116083 w 241969"/>
              <a:gd name="connsiteY1" fmla="*/ 102390 h 605028"/>
              <a:gd name="connsiteX2" fmla="*/ 125886 w 241969"/>
              <a:gd name="connsiteY2" fmla="*/ 102390 h 605028"/>
              <a:gd name="connsiteX3" fmla="*/ 186991 w 241969"/>
              <a:gd name="connsiteY3" fmla="*/ 102390 h 605028"/>
              <a:gd name="connsiteX4" fmla="*/ 241969 w 241969"/>
              <a:gd name="connsiteY4" fmla="*/ 158501 h 605028"/>
              <a:gd name="connsiteX5" fmla="*/ 241969 w 241969"/>
              <a:gd name="connsiteY5" fmla="*/ 319577 h 605028"/>
              <a:gd name="connsiteX6" fmla="*/ 218769 w 241969"/>
              <a:gd name="connsiteY6" fmla="*/ 342740 h 605028"/>
              <a:gd name="connsiteX7" fmla="*/ 195568 w 241969"/>
              <a:gd name="connsiteY7" fmla="*/ 319577 h 605028"/>
              <a:gd name="connsiteX8" fmla="*/ 195487 w 241969"/>
              <a:gd name="connsiteY8" fmla="*/ 177994 h 605028"/>
              <a:gd name="connsiteX9" fmla="*/ 193118 w 241969"/>
              <a:gd name="connsiteY9" fmla="*/ 175629 h 605028"/>
              <a:gd name="connsiteX10" fmla="*/ 188216 w 241969"/>
              <a:gd name="connsiteY10" fmla="*/ 175629 h 605028"/>
              <a:gd name="connsiteX11" fmla="*/ 185766 w 241969"/>
              <a:gd name="connsiteY11" fmla="*/ 177994 h 605028"/>
              <a:gd name="connsiteX12" fmla="*/ 185766 w 241969"/>
              <a:gd name="connsiteY12" fmla="*/ 575178 h 605028"/>
              <a:gd name="connsiteX13" fmla="*/ 155867 w 241969"/>
              <a:gd name="connsiteY13" fmla="*/ 605028 h 605028"/>
              <a:gd name="connsiteX14" fmla="*/ 125886 w 241969"/>
              <a:gd name="connsiteY14" fmla="*/ 575178 h 605028"/>
              <a:gd name="connsiteX15" fmla="*/ 125886 w 241969"/>
              <a:gd name="connsiteY15" fmla="*/ 341516 h 605028"/>
              <a:gd name="connsiteX16" fmla="*/ 123435 w 241969"/>
              <a:gd name="connsiteY16" fmla="*/ 339069 h 605028"/>
              <a:gd name="connsiteX17" fmla="*/ 118615 w 241969"/>
              <a:gd name="connsiteY17" fmla="*/ 339069 h 605028"/>
              <a:gd name="connsiteX18" fmla="*/ 116083 w 241969"/>
              <a:gd name="connsiteY18" fmla="*/ 341516 h 605028"/>
              <a:gd name="connsiteX19" fmla="*/ 116083 w 241969"/>
              <a:gd name="connsiteY19" fmla="*/ 575178 h 605028"/>
              <a:gd name="connsiteX20" fmla="*/ 86184 w 241969"/>
              <a:gd name="connsiteY20" fmla="*/ 605028 h 605028"/>
              <a:gd name="connsiteX21" fmla="*/ 56203 w 241969"/>
              <a:gd name="connsiteY21" fmla="*/ 575178 h 605028"/>
              <a:gd name="connsiteX22" fmla="*/ 56203 w 241969"/>
              <a:gd name="connsiteY22" fmla="*/ 177994 h 605028"/>
              <a:gd name="connsiteX23" fmla="*/ 53834 w 241969"/>
              <a:gd name="connsiteY23" fmla="*/ 175629 h 605028"/>
              <a:gd name="connsiteX24" fmla="*/ 48933 w 241969"/>
              <a:gd name="connsiteY24" fmla="*/ 175629 h 605028"/>
              <a:gd name="connsiteX25" fmla="*/ 46482 w 241969"/>
              <a:gd name="connsiteY25" fmla="*/ 177994 h 605028"/>
              <a:gd name="connsiteX26" fmla="*/ 46482 w 241969"/>
              <a:gd name="connsiteY26" fmla="*/ 319577 h 605028"/>
              <a:gd name="connsiteX27" fmla="*/ 23200 w 241969"/>
              <a:gd name="connsiteY27" fmla="*/ 342740 h 605028"/>
              <a:gd name="connsiteX28" fmla="*/ 0 w 241969"/>
              <a:gd name="connsiteY28" fmla="*/ 319577 h 605028"/>
              <a:gd name="connsiteX29" fmla="*/ 0 w 241969"/>
              <a:gd name="connsiteY29" fmla="*/ 158501 h 605028"/>
              <a:gd name="connsiteX30" fmla="*/ 54978 w 241969"/>
              <a:gd name="connsiteY30" fmla="*/ 102390 h 605028"/>
              <a:gd name="connsiteX31" fmla="*/ 120984 w 241969"/>
              <a:gd name="connsiteY31" fmla="*/ 0 h 605028"/>
              <a:gd name="connsiteX32" fmla="*/ 165546 w 241969"/>
              <a:gd name="connsiteY32" fmla="*/ 44492 h 605028"/>
              <a:gd name="connsiteX33" fmla="*/ 120984 w 241969"/>
              <a:gd name="connsiteY33" fmla="*/ 88984 h 605028"/>
              <a:gd name="connsiteX34" fmla="*/ 76422 w 241969"/>
              <a:gd name="connsiteY34" fmla="*/ 44492 h 605028"/>
              <a:gd name="connsiteX35" fmla="*/ 120984 w 241969"/>
              <a:gd name="connsiteY35" fmla="*/ 0 h 60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1969" h="605028">
                <a:moveTo>
                  <a:pt x="54978" y="102390"/>
                </a:moveTo>
                <a:lnTo>
                  <a:pt x="116083" y="102390"/>
                </a:lnTo>
                <a:lnTo>
                  <a:pt x="125886" y="102390"/>
                </a:lnTo>
                <a:lnTo>
                  <a:pt x="186991" y="102390"/>
                </a:lnTo>
                <a:cubicBezTo>
                  <a:pt x="217543" y="102390"/>
                  <a:pt x="241969" y="126776"/>
                  <a:pt x="241969" y="158501"/>
                </a:cubicBezTo>
                <a:lnTo>
                  <a:pt x="241969" y="319577"/>
                </a:lnTo>
                <a:cubicBezTo>
                  <a:pt x="241969" y="332382"/>
                  <a:pt x="231594" y="342740"/>
                  <a:pt x="218769" y="342740"/>
                </a:cubicBezTo>
                <a:cubicBezTo>
                  <a:pt x="205943" y="342740"/>
                  <a:pt x="195568" y="332382"/>
                  <a:pt x="195568" y="319577"/>
                </a:cubicBezTo>
                <a:cubicBezTo>
                  <a:pt x="195568" y="319577"/>
                  <a:pt x="195487" y="177994"/>
                  <a:pt x="195487" y="177994"/>
                </a:cubicBezTo>
                <a:cubicBezTo>
                  <a:pt x="195487" y="176689"/>
                  <a:pt x="194425" y="175629"/>
                  <a:pt x="193118" y="175629"/>
                </a:cubicBezTo>
                <a:lnTo>
                  <a:pt x="188216" y="175629"/>
                </a:lnTo>
                <a:cubicBezTo>
                  <a:pt x="186828" y="175629"/>
                  <a:pt x="185766" y="176689"/>
                  <a:pt x="185766" y="177994"/>
                </a:cubicBezTo>
                <a:lnTo>
                  <a:pt x="185766" y="575178"/>
                </a:lnTo>
                <a:cubicBezTo>
                  <a:pt x="185766" y="591653"/>
                  <a:pt x="172368" y="605028"/>
                  <a:pt x="155867" y="605028"/>
                </a:cubicBezTo>
                <a:cubicBezTo>
                  <a:pt x="139283" y="605028"/>
                  <a:pt x="125886" y="591653"/>
                  <a:pt x="125886" y="575178"/>
                </a:cubicBezTo>
                <a:lnTo>
                  <a:pt x="125886" y="341516"/>
                </a:lnTo>
                <a:cubicBezTo>
                  <a:pt x="125886" y="339803"/>
                  <a:pt x="125069" y="339069"/>
                  <a:pt x="123435" y="339069"/>
                </a:cubicBezTo>
                <a:lnTo>
                  <a:pt x="118615" y="339069"/>
                </a:lnTo>
                <a:cubicBezTo>
                  <a:pt x="116900" y="339069"/>
                  <a:pt x="116083" y="339803"/>
                  <a:pt x="116083" y="341516"/>
                </a:cubicBezTo>
                <a:lnTo>
                  <a:pt x="116083" y="575178"/>
                </a:lnTo>
                <a:cubicBezTo>
                  <a:pt x="116083" y="591653"/>
                  <a:pt x="102686" y="605028"/>
                  <a:pt x="86184" y="605028"/>
                </a:cubicBezTo>
                <a:cubicBezTo>
                  <a:pt x="69601" y="605028"/>
                  <a:pt x="56203" y="591653"/>
                  <a:pt x="56203" y="575178"/>
                </a:cubicBezTo>
                <a:lnTo>
                  <a:pt x="56203" y="177994"/>
                </a:lnTo>
                <a:cubicBezTo>
                  <a:pt x="56203" y="176689"/>
                  <a:pt x="55141" y="175629"/>
                  <a:pt x="53834" y="175629"/>
                </a:cubicBezTo>
                <a:lnTo>
                  <a:pt x="48933" y="175629"/>
                </a:lnTo>
                <a:cubicBezTo>
                  <a:pt x="47544" y="175629"/>
                  <a:pt x="46482" y="176689"/>
                  <a:pt x="46482" y="177994"/>
                </a:cubicBezTo>
                <a:cubicBezTo>
                  <a:pt x="46482" y="177994"/>
                  <a:pt x="46482" y="319577"/>
                  <a:pt x="46482" y="319577"/>
                </a:cubicBezTo>
                <a:cubicBezTo>
                  <a:pt x="46482" y="332382"/>
                  <a:pt x="36026" y="342740"/>
                  <a:pt x="23200" y="342740"/>
                </a:cubicBezTo>
                <a:cubicBezTo>
                  <a:pt x="10375" y="342740"/>
                  <a:pt x="0" y="332382"/>
                  <a:pt x="0" y="319577"/>
                </a:cubicBezTo>
                <a:lnTo>
                  <a:pt x="0" y="158501"/>
                </a:lnTo>
                <a:cubicBezTo>
                  <a:pt x="0" y="126776"/>
                  <a:pt x="24426" y="102390"/>
                  <a:pt x="54978" y="102390"/>
                </a:cubicBezTo>
                <a:close/>
                <a:moveTo>
                  <a:pt x="120984" y="0"/>
                </a:moveTo>
                <a:cubicBezTo>
                  <a:pt x="145595" y="0"/>
                  <a:pt x="165546" y="19920"/>
                  <a:pt x="165546" y="44492"/>
                </a:cubicBezTo>
                <a:cubicBezTo>
                  <a:pt x="165546" y="69064"/>
                  <a:pt x="145595" y="88984"/>
                  <a:pt x="120984" y="88984"/>
                </a:cubicBezTo>
                <a:cubicBezTo>
                  <a:pt x="96373" y="88984"/>
                  <a:pt x="76422" y="69064"/>
                  <a:pt x="76422" y="44492"/>
                </a:cubicBezTo>
                <a:cubicBezTo>
                  <a:pt x="76422" y="19920"/>
                  <a:pt x="96373" y="0"/>
                  <a:pt x="120984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18" name="answer_268107">
            <a:extLst>
              <a:ext uri="{FF2B5EF4-FFF2-40B4-BE49-F238E27FC236}">
                <a16:creationId xmlns:a16="http://schemas.microsoft.com/office/drawing/2014/main" id="{A36F752B-93E9-A6D6-1AA8-CD7C4CDB2625}"/>
              </a:ext>
            </a:extLst>
          </p:cNvPr>
          <p:cNvSpPr/>
          <p:nvPr/>
        </p:nvSpPr>
        <p:spPr>
          <a:xfrm>
            <a:off x="1926388" y="2785751"/>
            <a:ext cx="698689" cy="886126"/>
          </a:xfrm>
          <a:custGeom>
            <a:avLst/>
            <a:gdLst>
              <a:gd name="connsiteX0" fmla="*/ 322413 w 478363"/>
              <a:gd name="connsiteY0" fmla="*/ 385963 h 606692"/>
              <a:gd name="connsiteX1" fmla="*/ 351133 w 478363"/>
              <a:gd name="connsiteY1" fmla="*/ 385963 h 606692"/>
              <a:gd name="connsiteX2" fmla="*/ 351133 w 478363"/>
              <a:gd name="connsiteY2" fmla="*/ 537275 h 606692"/>
              <a:gd name="connsiteX3" fmla="*/ 336773 w 478363"/>
              <a:gd name="connsiteY3" fmla="*/ 551580 h 606692"/>
              <a:gd name="connsiteX4" fmla="*/ 322413 w 478363"/>
              <a:gd name="connsiteY4" fmla="*/ 537275 h 606692"/>
              <a:gd name="connsiteX5" fmla="*/ 245920 w 478363"/>
              <a:gd name="connsiteY5" fmla="*/ 385963 h 606692"/>
              <a:gd name="connsiteX6" fmla="*/ 300467 w 478363"/>
              <a:gd name="connsiteY6" fmla="*/ 385963 h 606692"/>
              <a:gd name="connsiteX7" fmla="*/ 300467 w 478363"/>
              <a:gd name="connsiteY7" fmla="*/ 558452 h 606692"/>
              <a:gd name="connsiteX8" fmla="*/ 273149 w 478363"/>
              <a:gd name="connsiteY8" fmla="*/ 585734 h 606692"/>
              <a:gd name="connsiteX9" fmla="*/ 245920 w 478363"/>
              <a:gd name="connsiteY9" fmla="*/ 558452 h 606692"/>
              <a:gd name="connsiteX10" fmla="*/ 179518 w 478363"/>
              <a:gd name="connsiteY10" fmla="*/ 385963 h 606692"/>
              <a:gd name="connsiteX11" fmla="*/ 234065 w 478363"/>
              <a:gd name="connsiteY11" fmla="*/ 385963 h 606692"/>
              <a:gd name="connsiteX12" fmla="*/ 234065 w 478363"/>
              <a:gd name="connsiteY12" fmla="*/ 558452 h 606692"/>
              <a:gd name="connsiteX13" fmla="*/ 206747 w 478363"/>
              <a:gd name="connsiteY13" fmla="*/ 585734 h 606692"/>
              <a:gd name="connsiteX14" fmla="*/ 179518 w 478363"/>
              <a:gd name="connsiteY14" fmla="*/ 558452 h 606692"/>
              <a:gd name="connsiteX15" fmla="*/ 126806 w 478363"/>
              <a:gd name="connsiteY15" fmla="*/ 385963 h 606692"/>
              <a:gd name="connsiteX16" fmla="*/ 155456 w 478363"/>
              <a:gd name="connsiteY16" fmla="*/ 385963 h 606692"/>
              <a:gd name="connsiteX17" fmla="*/ 155456 w 478363"/>
              <a:gd name="connsiteY17" fmla="*/ 537275 h 606692"/>
              <a:gd name="connsiteX18" fmla="*/ 141131 w 478363"/>
              <a:gd name="connsiteY18" fmla="*/ 551580 h 606692"/>
              <a:gd name="connsiteX19" fmla="*/ 126806 w 478363"/>
              <a:gd name="connsiteY19" fmla="*/ 537275 h 606692"/>
              <a:gd name="connsiteX20" fmla="*/ 13795 w 478363"/>
              <a:gd name="connsiteY20" fmla="*/ 337626 h 606692"/>
              <a:gd name="connsiteX21" fmla="*/ 464569 w 478363"/>
              <a:gd name="connsiteY21" fmla="*/ 337626 h 606692"/>
              <a:gd name="connsiteX22" fmla="*/ 478363 w 478363"/>
              <a:gd name="connsiteY22" fmla="*/ 351399 h 606692"/>
              <a:gd name="connsiteX23" fmla="*/ 464569 w 478363"/>
              <a:gd name="connsiteY23" fmla="*/ 365172 h 606692"/>
              <a:gd name="connsiteX24" fmla="*/ 450952 w 478363"/>
              <a:gd name="connsiteY24" fmla="*/ 365172 h 606692"/>
              <a:gd name="connsiteX25" fmla="*/ 450952 w 478363"/>
              <a:gd name="connsiteY25" fmla="*/ 585543 h 606692"/>
              <a:gd name="connsiteX26" fmla="*/ 429770 w 478363"/>
              <a:gd name="connsiteY26" fmla="*/ 606692 h 606692"/>
              <a:gd name="connsiteX27" fmla="*/ 408589 w 478363"/>
              <a:gd name="connsiteY27" fmla="*/ 585543 h 606692"/>
              <a:gd name="connsiteX28" fmla="*/ 408589 w 478363"/>
              <a:gd name="connsiteY28" fmla="*/ 365172 h 606692"/>
              <a:gd name="connsiteX29" fmla="*/ 71020 w 478363"/>
              <a:gd name="connsiteY29" fmla="*/ 365172 h 606692"/>
              <a:gd name="connsiteX30" fmla="*/ 71020 w 478363"/>
              <a:gd name="connsiteY30" fmla="*/ 585543 h 606692"/>
              <a:gd name="connsiteX31" fmla="*/ 49839 w 478363"/>
              <a:gd name="connsiteY31" fmla="*/ 606692 h 606692"/>
              <a:gd name="connsiteX32" fmla="*/ 28658 w 478363"/>
              <a:gd name="connsiteY32" fmla="*/ 585543 h 606692"/>
              <a:gd name="connsiteX33" fmla="*/ 28658 w 478363"/>
              <a:gd name="connsiteY33" fmla="*/ 365172 h 606692"/>
              <a:gd name="connsiteX34" fmla="*/ 13795 w 478363"/>
              <a:gd name="connsiteY34" fmla="*/ 365172 h 606692"/>
              <a:gd name="connsiteX35" fmla="*/ 0 w 478363"/>
              <a:gd name="connsiteY35" fmla="*/ 351399 h 606692"/>
              <a:gd name="connsiteX36" fmla="*/ 13795 w 478363"/>
              <a:gd name="connsiteY36" fmla="*/ 337626 h 606692"/>
              <a:gd name="connsiteX37" fmla="*/ 239958 w 478363"/>
              <a:gd name="connsiteY37" fmla="*/ 69548 h 606692"/>
              <a:gd name="connsiteX38" fmla="*/ 287131 w 478363"/>
              <a:gd name="connsiteY38" fmla="*/ 116651 h 606692"/>
              <a:gd name="connsiteX39" fmla="*/ 239958 w 478363"/>
              <a:gd name="connsiteY39" fmla="*/ 163754 h 606692"/>
              <a:gd name="connsiteX40" fmla="*/ 192785 w 478363"/>
              <a:gd name="connsiteY40" fmla="*/ 116651 h 606692"/>
              <a:gd name="connsiteX41" fmla="*/ 239958 w 478363"/>
              <a:gd name="connsiteY41" fmla="*/ 69548 h 606692"/>
              <a:gd name="connsiteX42" fmla="*/ 369130 w 478363"/>
              <a:gd name="connsiteY42" fmla="*/ 1049 h 606692"/>
              <a:gd name="connsiteX43" fmla="*/ 386453 w 478363"/>
              <a:gd name="connsiteY43" fmla="*/ 2571 h 606692"/>
              <a:gd name="connsiteX44" fmla="*/ 396155 w 478363"/>
              <a:gd name="connsiteY44" fmla="*/ 33229 h 606692"/>
              <a:gd name="connsiteX45" fmla="*/ 300026 w 478363"/>
              <a:gd name="connsiteY45" fmla="*/ 216109 h 606692"/>
              <a:gd name="connsiteX46" fmla="*/ 300026 w 478363"/>
              <a:gd name="connsiteY46" fmla="*/ 316880 h 606692"/>
              <a:gd name="connsiteX47" fmla="*/ 236741 w 478363"/>
              <a:gd name="connsiteY47" fmla="*/ 316880 h 606692"/>
              <a:gd name="connsiteX48" fmla="*/ 243328 w 478363"/>
              <a:gd name="connsiteY48" fmla="*/ 293776 h 606692"/>
              <a:gd name="connsiteX49" fmla="*/ 199714 w 478363"/>
              <a:gd name="connsiteY49" fmla="*/ 250410 h 606692"/>
              <a:gd name="connsiteX50" fmla="*/ 199625 w 478363"/>
              <a:gd name="connsiteY50" fmla="*/ 250410 h 606692"/>
              <a:gd name="connsiteX51" fmla="*/ 179420 w 478363"/>
              <a:gd name="connsiteY51" fmla="*/ 250410 h 606692"/>
              <a:gd name="connsiteX52" fmla="*/ 179420 w 478363"/>
              <a:gd name="connsiteY52" fmla="*/ 235570 h 606692"/>
              <a:gd name="connsiteX53" fmla="*/ 174257 w 478363"/>
              <a:gd name="connsiteY53" fmla="*/ 228905 h 606692"/>
              <a:gd name="connsiteX54" fmla="*/ 166603 w 478363"/>
              <a:gd name="connsiteY54" fmla="*/ 232460 h 606692"/>
              <a:gd name="connsiteX55" fmla="*/ 166425 w 478363"/>
              <a:gd name="connsiteY55" fmla="*/ 232815 h 606692"/>
              <a:gd name="connsiteX56" fmla="*/ 148178 w 478363"/>
              <a:gd name="connsiteY56" fmla="*/ 271293 h 606692"/>
              <a:gd name="connsiteX57" fmla="*/ 199625 w 478363"/>
              <a:gd name="connsiteY57" fmla="*/ 271204 h 606692"/>
              <a:gd name="connsiteX58" fmla="*/ 199714 w 478363"/>
              <a:gd name="connsiteY58" fmla="*/ 271204 h 606692"/>
              <a:gd name="connsiteX59" fmla="*/ 222500 w 478363"/>
              <a:gd name="connsiteY59" fmla="*/ 293864 h 606692"/>
              <a:gd name="connsiteX60" fmla="*/ 199803 w 478363"/>
              <a:gd name="connsiteY60" fmla="*/ 316613 h 606692"/>
              <a:gd name="connsiteX61" fmla="*/ 112219 w 478363"/>
              <a:gd name="connsiteY61" fmla="*/ 316880 h 606692"/>
              <a:gd name="connsiteX62" fmla="*/ 91569 w 478363"/>
              <a:gd name="connsiteY62" fmla="*/ 284445 h 606692"/>
              <a:gd name="connsiteX63" fmla="*/ 125214 w 478363"/>
              <a:gd name="connsiteY63" fmla="*/ 213443 h 606692"/>
              <a:gd name="connsiteX64" fmla="*/ 179954 w 478363"/>
              <a:gd name="connsiteY64" fmla="*/ 178787 h 606692"/>
              <a:gd name="connsiteX65" fmla="*/ 268784 w 478363"/>
              <a:gd name="connsiteY65" fmla="*/ 178787 h 606692"/>
              <a:gd name="connsiteX66" fmla="*/ 355745 w 478363"/>
              <a:gd name="connsiteY66" fmla="*/ 12257 h 606692"/>
              <a:gd name="connsiteX67" fmla="*/ 369130 w 478363"/>
              <a:gd name="connsiteY67" fmla="*/ 1049 h 60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478363" h="606692">
                <a:moveTo>
                  <a:pt x="322413" y="385963"/>
                </a:moveTo>
                <a:lnTo>
                  <a:pt x="351133" y="385963"/>
                </a:lnTo>
                <a:lnTo>
                  <a:pt x="351133" y="537275"/>
                </a:lnTo>
                <a:cubicBezTo>
                  <a:pt x="351133" y="545183"/>
                  <a:pt x="344711" y="551580"/>
                  <a:pt x="336773" y="551580"/>
                </a:cubicBezTo>
                <a:cubicBezTo>
                  <a:pt x="328835" y="551580"/>
                  <a:pt x="322413" y="545183"/>
                  <a:pt x="322413" y="537275"/>
                </a:cubicBezTo>
                <a:close/>
                <a:moveTo>
                  <a:pt x="245920" y="385963"/>
                </a:moveTo>
                <a:lnTo>
                  <a:pt x="300467" y="385963"/>
                </a:lnTo>
                <a:lnTo>
                  <a:pt x="300467" y="558452"/>
                </a:lnTo>
                <a:cubicBezTo>
                  <a:pt x="300467" y="573559"/>
                  <a:pt x="288276" y="585734"/>
                  <a:pt x="273149" y="585734"/>
                </a:cubicBezTo>
                <a:cubicBezTo>
                  <a:pt x="258111" y="585734"/>
                  <a:pt x="245920" y="573559"/>
                  <a:pt x="245920" y="558452"/>
                </a:cubicBezTo>
                <a:close/>
                <a:moveTo>
                  <a:pt x="179518" y="385963"/>
                </a:moveTo>
                <a:lnTo>
                  <a:pt x="234065" y="385963"/>
                </a:lnTo>
                <a:lnTo>
                  <a:pt x="234065" y="558452"/>
                </a:lnTo>
                <a:cubicBezTo>
                  <a:pt x="234065" y="573559"/>
                  <a:pt x="221874" y="585734"/>
                  <a:pt x="206747" y="585734"/>
                </a:cubicBezTo>
                <a:cubicBezTo>
                  <a:pt x="191709" y="585734"/>
                  <a:pt x="179518" y="573559"/>
                  <a:pt x="179518" y="558452"/>
                </a:cubicBezTo>
                <a:close/>
                <a:moveTo>
                  <a:pt x="126806" y="385963"/>
                </a:moveTo>
                <a:lnTo>
                  <a:pt x="155456" y="385963"/>
                </a:lnTo>
                <a:lnTo>
                  <a:pt x="155456" y="537275"/>
                </a:lnTo>
                <a:cubicBezTo>
                  <a:pt x="155456" y="545183"/>
                  <a:pt x="149050" y="551580"/>
                  <a:pt x="141131" y="551580"/>
                </a:cubicBezTo>
                <a:cubicBezTo>
                  <a:pt x="133212" y="551580"/>
                  <a:pt x="126806" y="545183"/>
                  <a:pt x="126806" y="537275"/>
                </a:cubicBezTo>
                <a:close/>
                <a:moveTo>
                  <a:pt x="13795" y="337626"/>
                </a:moveTo>
                <a:lnTo>
                  <a:pt x="464569" y="337626"/>
                </a:lnTo>
                <a:cubicBezTo>
                  <a:pt x="472133" y="337626"/>
                  <a:pt x="478363" y="343846"/>
                  <a:pt x="478363" y="351399"/>
                </a:cubicBezTo>
                <a:cubicBezTo>
                  <a:pt x="478363" y="359041"/>
                  <a:pt x="472133" y="365172"/>
                  <a:pt x="464569" y="365172"/>
                </a:cubicBezTo>
                <a:lnTo>
                  <a:pt x="450952" y="365172"/>
                </a:lnTo>
                <a:lnTo>
                  <a:pt x="450952" y="585543"/>
                </a:lnTo>
                <a:cubicBezTo>
                  <a:pt x="450952" y="597184"/>
                  <a:pt x="441429" y="606692"/>
                  <a:pt x="429770" y="606692"/>
                </a:cubicBezTo>
                <a:cubicBezTo>
                  <a:pt x="418023" y="606692"/>
                  <a:pt x="408589" y="597184"/>
                  <a:pt x="408589" y="585543"/>
                </a:cubicBezTo>
                <a:lnTo>
                  <a:pt x="408589" y="365172"/>
                </a:lnTo>
                <a:lnTo>
                  <a:pt x="71020" y="365172"/>
                </a:lnTo>
                <a:lnTo>
                  <a:pt x="71020" y="585543"/>
                </a:lnTo>
                <a:cubicBezTo>
                  <a:pt x="71020" y="597184"/>
                  <a:pt x="61498" y="606692"/>
                  <a:pt x="49839" y="606692"/>
                </a:cubicBezTo>
                <a:cubicBezTo>
                  <a:pt x="38091" y="606692"/>
                  <a:pt x="28658" y="597184"/>
                  <a:pt x="28658" y="585543"/>
                </a:cubicBezTo>
                <a:lnTo>
                  <a:pt x="28658" y="365172"/>
                </a:lnTo>
                <a:lnTo>
                  <a:pt x="13795" y="365172"/>
                </a:lnTo>
                <a:cubicBezTo>
                  <a:pt x="6141" y="365172"/>
                  <a:pt x="0" y="359041"/>
                  <a:pt x="0" y="351399"/>
                </a:cubicBezTo>
                <a:cubicBezTo>
                  <a:pt x="0" y="343846"/>
                  <a:pt x="6141" y="337626"/>
                  <a:pt x="13795" y="337626"/>
                </a:cubicBezTo>
                <a:close/>
                <a:moveTo>
                  <a:pt x="239958" y="69548"/>
                </a:moveTo>
                <a:cubicBezTo>
                  <a:pt x="266011" y="69548"/>
                  <a:pt x="287131" y="90637"/>
                  <a:pt x="287131" y="116651"/>
                </a:cubicBezTo>
                <a:cubicBezTo>
                  <a:pt x="287131" y="142665"/>
                  <a:pt x="266011" y="163754"/>
                  <a:pt x="239958" y="163754"/>
                </a:cubicBezTo>
                <a:cubicBezTo>
                  <a:pt x="213905" y="163754"/>
                  <a:pt x="192785" y="142665"/>
                  <a:pt x="192785" y="116651"/>
                </a:cubicBezTo>
                <a:cubicBezTo>
                  <a:pt x="192785" y="90637"/>
                  <a:pt x="213905" y="69548"/>
                  <a:pt x="239958" y="69548"/>
                </a:cubicBezTo>
                <a:close/>
                <a:moveTo>
                  <a:pt x="369130" y="1049"/>
                </a:moveTo>
                <a:cubicBezTo>
                  <a:pt x="374682" y="-695"/>
                  <a:pt x="380890" y="-317"/>
                  <a:pt x="386453" y="2571"/>
                </a:cubicBezTo>
                <a:cubicBezTo>
                  <a:pt x="397579" y="8347"/>
                  <a:pt x="401940" y="22121"/>
                  <a:pt x="396155" y="33229"/>
                </a:cubicBezTo>
                <a:cubicBezTo>
                  <a:pt x="295130" y="226595"/>
                  <a:pt x="302340" y="213354"/>
                  <a:pt x="300026" y="216109"/>
                </a:cubicBezTo>
                <a:lnTo>
                  <a:pt x="300026" y="316880"/>
                </a:lnTo>
                <a:lnTo>
                  <a:pt x="236741" y="316880"/>
                </a:lnTo>
                <a:cubicBezTo>
                  <a:pt x="240925" y="310126"/>
                  <a:pt x="243328" y="302306"/>
                  <a:pt x="243328" y="293776"/>
                </a:cubicBezTo>
                <a:cubicBezTo>
                  <a:pt x="243239" y="269783"/>
                  <a:pt x="223746" y="250410"/>
                  <a:pt x="199714" y="250410"/>
                </a:cubicBezTo>
                <a:lnTo>
                  <a:pt x="199625" y="250410"/>
                </a:lnTo>
                <a:lnTo>
                  <a:pt x="179420" y="250410"/>
                </a:lnTo>
                <a:lnTo>
                  <a:pt x="179420" y="235570"/>
                </a:lnTo>
                <a:cubicBezTo>
                  <a:pt x="179420" y="232371"/>
                  <a:pt x="177284" y="229616"/>
                  <a:pt x="174257" y="228905"/>
                </a:cubicBezTo>
                <a:cubicBezTo>
                  <a:pt x="171142" y="228195"/>
                  <a:pt x="168027" y="229616"/>
                  <a:pt x="166603" y="232460"/>
                </a:cubicBezTo>
                <a:cubicBezTo>
                  <a:pt x="166514" y="232549"/>
                  <a:pt x="166425" y="232727"/>
                  <a:pt x="166425" y="232815"/>
                </a:cubicBezTo>
                <a:cubicBezTo>
                  <a:pt x="156278" y="254231"/>
                  <a:pt x="158414" y="249611"/>
                  <a:pt x="148178" y="271293"/>
                </a:cubicBezTo>
                <a:lnTo>
                  <a:pt x="199625" y="271204"/>
                </a:lnTo>
                <a:lnTo>
                  <a:pt x="199714" y="271204"/>
                </a:lnTo>
                <a:cubicBezTo>
                  <a:pt x="212264" y="271204"/>
                  <a:pt x="222411" y="281335"/>
                  <a:pt x="222500" y="293864"/>
                </a:cubicBezTo>
                <a:cubicBezTo>
                  <a:pt x="222500" y="306394"/>
                  <a:pt x="212353" y="316613"/>
                  <a:pt x="199803" y="316613"/>
                </a:cubicBezTo>
                <a:lnTo>
                  <a:pt x="112219" y="316880"/>
                </a:lnTo>
                <a:cubicBezTo>
                  <a:pt x="95485" y="316880"/>
                  <a:pt x="84537" y="299463"/>
                  <a:pt x="91569" y="284445"/>
                </a:cubicBezTo>
                <a:cubicBezTo>
                  <a:pt x="95218" y="276803"/>
                  <a:pt x="120942" y="222507"/>
                  <a:pt x="125214" y="213443"/>
                </a:cubicBezTo>
                <a:cubicBezTo>
                  <a:pt x="135183" y="192383"/>
                  <a:pt x="156723" y="178787"/>
                  <a:pt x="179954" y="178787"/>
                </a:cubicBezTo>
                <a:lnTo>
                  <a:pt x="268784" y="178787"/>
                </a:lnTo>
                <a:lnTo>
                  <a:pt x="355745" y="12257"/>
                </a:lnTo>
                <a:cubicBezTo>
                  <a:pt x="358682" y="6659"/>
                  <a:pt x="363578" y="2793"/>
                  <a:pt x="369130" y="1049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970">
              <a:defRPr/>
            </a:pPr>
            <a:endParaRPr lang="en-US" sz="13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speech-bubble-with-question-mark_65814">
            <a:extLst>
              <a:ext uri="{FF2B5EF4-FFF2-40B4-BE49-F238E27FC236}">
                <a16:creationId xmlns:a16="http://schemas.microsoft.com/office/drawing/2014/main" id="{647139B0-0458-97FD-AE78-B3A389B6E86A}"/>
              </a:ext>
            </a:extLst>
          </p:cNvPr>
          <p:cNvSpPr/>
          <p:nvPr/>
        </p:nvSpPr>
        <p:spPr>
          <a:xfrm>
            <a:off x="1750484" y="2342457"/>
            <a:ext cx="508071" cy="443294"/>
          </a:xfrm>
          <a:custGeom>
            <a:avLst/>
            <a:gdLst>
              <a:gd name="T0" fmla="*/ 554 w 619"/>
              <a:gd name="T1" fmla="*/ 0 h 541"/>
              <a:gd name="T2" fmla="*/ 65 w 619"/>
              <a:gd name="T3" fmla="*/ 0 h 541"/>
              <a:gd name="T4" fmla="*/ 0 w 619"/>
              <a:gd name="T5" fmla="*/ 64 h 541"/>
              <a:gd name="T6" fmla="*/ 0 w 619"/>
              <a:gd name="T7" fmla="*/ 385 h 541"/>
              <a:gd name="T8" fmla="*/ 65 w 619"/>
              <a:gd name="T9" fmla="*/ 450 h 541"/>
              <a:gd name="T10" fmla="*/ 437 w 619"/>
              <a:gd name="T11" fmla="*/ 450 h 541"/>
              <a:gd name="T12" fmla="*/ 508 w 619"/>
              <a:gd name="T13" fmla="*/ 522 h 541"/>
              <a:gd name="T14" fmla="*/ 554 w 619"/>
              <a:gd name="T15" fmla="*/ 541 h 541"/>
              <a:gd name="T16" fmla="*/ 579 w 619"/>
              <a:gd name="T17" fmla="*/ 536 h 541"/>
              <a:gd name="T18" fmla="*/ 619 w 619"/>
              <a:gd name="T19" fmla="*/ 476 h 541"/>
              <a:gd name="T20" fmla="*/ 619 w 619"/>
              <a:gd name="T21" fmla="*/ 64 h 541"/>
              <a:gd name="T22" fmla="*/ 554 w 619"/>
              <a:gd name="T23" fmla="*/ 0 h 541"/>
              <a:gd name="T24" fmla="*/ 339 w 619"/>
              <a:gd name="T25" fmla="*/ 356 h 541"/>
              <a:gd name="T26" fmla="*/ 298 w 619"/>
              <a:gd name="T27" fmla="*/ 395 h 541"/>
              <a:gd name="T28" fmla="*/ 258 w 619"/>
              <a:gd name="T29" fmla="*/ 356 h 541"/>
              <a:gd name="T30" fmla="*/ 258 w 619"/>
              <a:gd name="T31" fmla="*/ 355 h 541"/>
              <a:gd name="T32" fmla="*/ 298 w 619"/>
              <a:gd name="T33" fmla="*/ 315 h 541"/>
              <a:gd name="T34" fmla="*/ 339 w 619"/>
              <a:gd name="T35" fmla="*/ 355 h 541"/>
              <a:gd name="T36" fmla="*/ 339 w 619"/>
              <a:gd name="T37" fmla="*/ 356 h 541"/>
              <a:gd name="T38" fmla="*/ 420 w 619"/>
              <a:gd name="T39" fmla="*/ 161 h 541"/>
              <a:gd name="T40" fmla="*/ 328 w 619"/>
              <a:gd name="T41" fmla="*/ 254 h 541"/>
              <a:gd name="T42" fmla="*/ 327 w 619"/>
              <a:gd name="T43" fmla="*/ 262 h 541"/>
              <a:gd name="T44" fmla="*/ 302 w 619"/>
              <a:gd name="T45" fmla="*/ 285 h 541"/>
              <a:gd name="T46" fmla="*/ 298 w 619"/>
              <a:gd name="T47" fmla="*/ 285 h 541"/>
              <a:gd name="T48" fmla="*/ 273 w 619"/>
              <a:gd name="T49" fmla="*/ 262 h 541"/>
              <a:gd name="T50" fmla="*/ 269 w 619"/>
              <a:gd name="T51" fmla="*/ 231 h 541"/>
              <a:gd name="T52" fmla="*/ 290 w 619"/>
              <a:gd name="T53" fmla="*/ 203 h 541"/>
              <a:gd name="T54" fmla="*/ 349 w 619"/>
              <a:gd name="T55" fmla="*/ 162 h 541"/>
              <a:gd name="T56" fmla="*/ 349 w 619"/>
              <a:gd name="T57" fmla="*/ 161 h 541"/>
              <a:gd name="T58" fmla="*/ 306 w 619"/>
              <a:gd name="T59" fmla="*/ 128 h 541"/>
              <a:gd name="T60" fmla="*/ 252 w 619"/>
              <a:gd name="T61" fmla="*/ 147 h 541"/>
              <a:gd name="T62" fmla="*/ 232 w 619"/>
              <a:gd name="T63" fmla="*/ 154 h 541"/>
              <a:gd name="T64" fmla="*/ 199 w 619"/>
              <a:gd name="T65" fmla="*/ 122 h 541"/>
              <a:gd name="T66" fmla="*/ 211 w 619"/>
              <a:gd name="T67" fmla="*/ 97 h 541"/>
              <a:gd name="T68" fmla="*/ 308 w 619"/>
              <a:gd name="T69" fmla="*/ 64 h 541"/>
              <a:gd name="T70" fmla="*/ 420 w 619"/>
              <a:gd name="T71" fmla="*/ 160 h 541"/>
              <a:gd name="T72" fmla="*/ 420 w 619"/>
              <a:gd name="T73" fmla="*/ 161 h 541"/>
              <a:gd name="T74" fmla="*/ 420 w 619"/>
              <a:gd name="T75" fmla="*/ 161 h 5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19" h="541">
                <a:moveTo>
                  <a:pt x="554" y="0"/>
                </a:moveTo>
                <a:lnTo>
                  <a:pt x="65" y="0"/>
                </a:lnTo>
                <a:cubicBezTo>
                  <a:pt x="29" y="0"/>
                  <a:pt x="0" y="29"/>
                  <a:pt x="0" y="64"/>
                </a:cubicBezTo>
                <a:lnTo>
                  <a:pt x="0" y="385"/>
                </a:lnTo>
                <a:cubicBezTo>
                  <a:pt x="0" y="421"/>
                  <a:pt x="29" y="450"/>
                  <a:pt x="65" y="450"/>
                </a:cubicBezTo>
                <a:lnTo>
                  <a:pt x="437" y="450"/>
                </a:lnTo>
                <a:lnTo>
                  <a:pt x="508" y="522"/>
                </a:lnTo>
                <a:cubicBezTo>
                  <a:pt x="520" y="535"/>
                  <a:pt x="537" y="541"/>
                  <a:pt x="554" y="541"/>
                </a:cubicBezTo>
                <a:cubicBezTo>
                  <a:pt x="562" y="541"/>
                  <a:pt x="571" y="540"/>
                  <a:pt x="579" y="536"/>
                </a:cubicBezTo>
                <a:cubicBezTo>
                  <a:pt x="603" y="526"/>
                  <a:pt x="619" y="503"/>
                  <a:pt x="619" y="476"/>
                </a:cubicBezTo>
                <a:lnTo>
                  <a:pt x="619" y="64"/>
                </a:lnTo>
                <a:cubicBezTo>
                  <a:pt x="619" y="29"/>
                  <a:pt x="590" y="0"/>
                  <a:pt x="554" y="0"/>
                </a:cubicBezTo>
                <a:close/>
                <a:moveTo>
                  <a:pt x="339" y="356"/>
                </a:moveTo>
                <a:cubicBezTo>
                  <a:pt x="339" y="378"/>
                  <a:pt x="322" y="395"/>
                  <a:pt x="298" y="395"/>
                </a:cubicBezTo>
                <a:cubicBezTo>
                  <a:pt x="275" y="395"/>
                  <a:pt x="258" y="378"/>
                  <a:pt x="258" y="356"/>
                </a:cubicBezTo>
                <a:lnTo>
                  <a:pt x="258" y="355"/>
                </a:lnTo>
                <a:cubicBezTo>
                  <a:pt x="258" y="333"/>
                  <a:pt x="275" y="315"/>
                  <a:pt x="298" y="315"/>
                </a:cubicBezTo>
                <a:cubicBezTo>
                  <a:pt x="322" y="315"/>
                  <a:pt x="339" y="333"/>
                  <a:pt x="339" y="355"/>
                </a:cubicBezTo>
                <a:lnTo>
                  <a:pt x="339" y="356"/>
                </a:lnTo>
                <a:close/>
                <a:moveTo>
                  <a:pt x="420" y="161"/>
                </a:moveTo>
                <a:cubicBezTo>
                  <a:pt x="420" y="219"/>
                  <a:pt x="379" y="244"/>
                  <a:pt x="328" y="254"/>
                </a:cubicBezTo>
                <a:lnTo>
                  <a:pt x="327" y="262"/>
                </a:lnTo>
                <a:cubicBezTo>
                  <a:pt x="325" y="274"/>
                  <a:pt x="315" y="285"/>
                  <a:pt x="302" y="285"/>
                </a:cubicBezTo>
                <a:lnTo>
                  <a:pt x="298" y="285"/>
                </a:lnTo>
                <a:cubicBezTo>
                  <a:pt x="285" y="285"/>
                  <a:pt x="275" y="275"/>
                  <a:pt x="273" y="262"/>
                </a:cubicBezTo>
                <a:lnTo>
                  <a:pt x="269" y="231"/>
                </a:lnTo>
                <a:cubicBezTo>
                  <a:pt x="266" y="215"/>
                  <a:pt x="275" y="205"/>
                  <a:pt x="290" y="203"/>
                </a:cubicBezTo>
                <a:cubicBezTo>
                  <a:pt x="330" y="198"/>
                  <a:pt x="349" y="185"/>
                  <a:pt x="349" y="162"/>
                </a:cubicBezTo>
                <a:lnTo>
                  <a:pt x="349" y="161"/>
                </a:lnTo>
                <a:cubicBezTo>
                  <a:pt x="349" y="141"/>
                  <a:pt x="333" y="128"/>
                  <a:pt x="306" y="128"/>
                </a:cubicBezTo>
                <a:cubicBezTo>
                  <a:pt x="286" y="128"/>
                  <a:pt x="269" y="135"/>
                  <a:pt x="252" y="147"/>
                </a:cubicBezTo>
                <a:cubicBezTo>
                  <a:pt x="247" y="151"/>
                  <a:pt x="239" y="154"/>
                  <a:pt x="232" y="154"/>
                </a:cubicBezTo>
                <a:cubicBezTo>
                  <a:pt x="214" y="154"/>
                  <a:pt x="199" y="140"/>
                  <a:pt x="199" y="122"/>
                </a:cubicBezTo>
                <a:cubicBezTo>
                  <a:pt x="199" y="113"/>
                  <a:pt x="203" y="104"/>
                  <a:pt x="211" y="97"/>
                </a:cubicBezTo>
                <a:cubicBezTo>
                  <a:pt x="236" y="77"/>
                  <a:pt x="267" y="64"/>
                  <a:pt x="308" y="64"/>
                </a:cubicBezTo>
                <a:cubicBezTo>
                  <a:pt x="374" y="64"/>
                  <a:pt x="420" y="98"/>
                  <a:pt x="420" y="160"/>
                </a:cubicBezTo>
                <a:lnTo>
                  <a:pt x="420" y="161"/>
                </a:lnTo>
                <a:lnTo>
                  <a:pt x="420" y="161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970">
              <a:defRPr/>
            </a:pPr>
            <a:endParaRPr lang="en-US" sz="133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箭头: 右 9">
            <a:extLst>
              <a:ext uri="{FF2B5EF4-FFF2-40B4-BE49-F238E27FC236}">
                <a16:creationId xmlns:a16="http://schemas.microsoft.com/office/drawing/2014/main" id="{24EE3E3D-0632-5D2F-6A6F-584CF8636226}"/>
              </a:ext>
            </a:extLst>
          </p:cNvPr>
          <p:cNvSpPr/>
          <p:nvPr/>
        </p:nvSpPr>
        <p:spPr>
          <a:xfrm rot="10800000">
            <a:off x="7091290" y="3054624"/>
            <a:ext cx="1996979" cy="572708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sp>
        <p:nvSpPr>
          <p:cNvPr id="21" name="文本框 33">
            <a:extLst>
              <a:ext uri="{FF2B5EF4-FFF2-40B4-BE49-F238E27FC236}">
                <a16:creationId xmlns:a16="http://schemas.microsoft.com/office/drawing/2014/main" id="{8FAB543A-FC46-9941-79EE-45325D473FC0}"/>
              </a:ext>
            </a:extLst>
          </p:cNvPr>
          <p:cNvSpPr txBox="1"/>
          <p:nvPr/>
        </p:nvSpPr>
        <p:spPr>
          <a:xfrm>
            <a:off x="3818152" y="1654640"/>
            <a:ext cx="4078288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333" b="1" dirty="0"/>
              <a:t>Online Q&amp;A Communities</a:t>
            </a:r>
          </a:p>
        </p:txBody>
      </p:sp>
      <p:sp>
        <p:nvSpPr>
          <p:cNvPr id="22" name="technological_376048">
            <a:extLst>
              <a:ext uri="{FF2B5EF4-FFF2-40B4-BE49-F238E27FC236}">
                <a16:creationId xmlns:a16="http://schemas.microsoft.com/office/drawing/2014/main" id="{E67976D2-F0F9-CE72-1B0C-6561037E1DD4}"/>
              </a:ext>
            </a:extLst>
          </p:cNvPr>
          <p:cNvSpPr/>
          <p:nvPr/>
        </p:nvSpPr>
        <p:spPr>
          <a:xfrm>
            <a:off x="7164994" y="1825764"/>
            <a:ext cx="609488" cy="573815"/>
          </a:xfrm>
          <a:custGeom>
            <a:avLst/>
            <a:gdLst>
              <a:gd name="connsiteX0" fmla="*/ 234365 w 607639"/>
              <a:gd name="connsiteY0" fmla="*/ 415983 h 572074"/>
              <a:gd name="connsiteX1" fmla="*/ 373276 w 607639"/>
              <a:gd name="connsiteY1" fmla="*/ 415983 h 572074"/>
              <a:gd name="connsiteX2" fmla="*/ 399260 w 607639"/>
              <a:gd name="connsiteY2" fmla="*/ 442031 h 572074"/>
              <a:gd name="connsiteX3" fmla="*/ 373276 w 607639"/>
              <a:gd name="connsiteY3" fmla="*/ 467990 h 572074"/>
              <a:gd name="connsiteX4" fmla="*/ 234365 w 607639"/>
              <a:gd name="connsiteY4" fmla="*/ 467990 h 572074"/>
              <a:gd name="connsiteX5" fmla="*/ 208380 w 607639"/>
              <a:gd name="connsiteY5" fmla="*/ 442031 h 572074"/>
              <a:gd name="connsiteX6" fmla="*/ 234365 w 607639"/>
              <a:gd name="connsiteY6" fmla="*/ 415983 h 572074"/>
              <a:gd name="connsiteX7" fmla="*/ 503414 w 607639"/>
              <a:gd name="connsiteY7" fmla="*/ 364023 h 572074"/>
              <a:gd name="connsiteX8" fmla="*/ 503414 w 607639"/>
              <a:gd name="connsiteY8" fmla="*/ 416013 h 572074"/>
              <a:gd name="connsiteX9" fmla="*/ 555571 w 607639"/>
              <a:gd name="connsiteY9" fmla="*/ 416013 h 572074"/>
              <a:gd name="connsiteX10" fmla="*/ 555571 w 607639"/>
              <a:gd name="connsiteY10" fmla="*/ 364023 h 572074"/>
              <a:gd name="connsiteX11" fmla="*/ 52068 w 607639"/>
              <a:gd name="connsiteY11" fmla="*/ 364023 h 572074"/>
              <a:gd name="connsiteX12" fmla="*/ 52068 w 607639"/>
              <a:gd name="connsiteY12" fmla="*/ 416013 h 572074"/>
              <a:gd name="connsiteX13" fmla="*/ 104136 w 607639"/>
              <a:gd name="connsiteY13" fmla="*/ 416013 h 572074"/>
              <a:gd name="connsiteX14" fmla="*/ 104136 w 607639"/>
              <a:gd name="connsiteY14" fmla="*/ 364023 h 572074"/>
              <a:gd name="connsiteX15" fmla="*/ 364541 w 607639"/>
              <a:gd name="connsiteY15" fmla="*/ 311970 h 572074"/>
              <a:gd name="connsiteX16" fmla="*/ 399259 w 607639"/>
              <a:gd name="connsiteY16" fmla="*/ 346653 h 572074"/>
              <a:gd name="connsiteX17" fmla="*/ 364541 w 607639"/>
              <a:gd name="connsiteY17" fmla="*/ 381336 h 572074"/>
              <a:gd name="connsiteX18" fmla="*/ 329823 w 607639"/>
              <a:gd name="connsiteY18" fmla="*/ 346653 h 572074"/>
              <a:gd name="connsiteX19" fmla="*/ 364541 w 607639"/>
              <a:gd name="connsiteY19" fmla="*/ 311970 h 572074"/>
              <a:gd name="connsiteX20" fmla="*/ 243063 w 607639"/>
              <a:gd name="connsiteY20" fmla="*/ 311970 h 572074"/>
              <a:gd name="connsiteX21" fmla="*/ 277746 w 607639"/>
              <a:gd name="connsiteY21" fmla="*/ 346653 h 572074"/>
              <a:gd name="connsiteX22" fmla="*/ 243063 w 607639"/>
              <a:gd name="connsiteY22" fmla="*/ 381336 h 572074"/>
              <a:gd name="connsiteX23" fmla="*/ 208380 w 607639"/>
              <a:gd name="connsiteY23" fmla="*/ 346653 h 572074"/>
              <a:gd name="connsiteX24" fmla="*/ 243063 w 607639"/>
              <a:gd name="connsiteY24" fmla="*/ 311970 h 572074"/>
              <a:gd name="connsiteX25" fmla="*/ 156204 w 607639"/>
              <a:gd name="connsiteY25" fmla="*/ 260042 h 572074"/>
              <a:gd name="connsiteX26" fmla="*/ 156204 w 607639"/>
              <a:gd name="connsiteY26" fmla="*/ 337983 h 572074"/>
              <a:gd name="connsiteX27" fmla="*/ 156204 w 607639"/>
              <a:gd name="connsiteY27" fmla="*/ 442053 h 572074"/>
              <a:gd name="connsiteX28" fmla="*/ 156204 w 607639"/>
              <a:gd name="connsiteY28" fmla="*/ 519995 h 572074"/>
              <a:gd name="connsiteX29" fmla="*/ 451346 w 607639"/>
              <a:gd name="connsiteY29" fmla="*/ 519995 h 572074"/>
              <a:gd name="connsiteX30" fmla="*/ 451346 w 607639"/>
              <a:gd name="connsiteY30" fmla="*/ 442053 h 572074"/>
              <a:gd name="connsiteX31" fmla="*/ 451346 w 607639"/>
              <a:gd name="connsiteY31" fmla="*/ 337983 h 572074"/>
              <a:gd name="connsiteX32" fmla="*/ 451346 w 607639"/>
              <a:gd name="connsiteY32" fmla="*/ 260042 h 572074"/>
              <a:gd name="connsiteX33" fmla="*/ 303775 w 607639"/>
              <a:gd name="connsiteY33" fmla="*/ 51991 h 572074"/>
              <a:gd name="connsiteX34" fmla="*/ 277786 w 607639"/>
              <a:gd name="connsiteY34" fmla="*/ 78030 h 572074"/>
              <a:gd name="connsiteX35" fmla="*/ 303775 w 607639"/>
              <a:gd name="connsiteY35" fmla="*/ 103981 h 572074"/>
              <a:gd name="connsiteX36" fmla="*/ 329854 w 607639"/>
              <a:gd name="connsiteY36" fmla="*/ 78030 h 572074"/>
              <a:gd name="connsiteX37" fmla="*/ 303775 w 607639"/>
              <a:gd name="connsiteY37" fmla="*/ 51991 h 572074"/>
              <a:gd name="connsiteX38" fmla="*/ 303775 w 607639"/>
              <a:gd name="connsiteY38" fmla="*/ 0 h 572074"/>
              <a:gd name="connsiteX39" fmla="*/ 381922 w 607639"/>
              <a:gd name="connsiteY39" fmla="*/ 78030 h 572074"/>
              <a:gd name="connsiteX40" fmla="*/ 329854 w 607639"/>
              <a:gd name="connsiteY40" fmla="*/ 151528 h 572074"/>
              <a:gd name="connsiteX41" fmla="*/ 329854 w 607639"/>
              <a:gd name="connsiteY41" fmla="*/ 208051 h 572074"/>
              <a:gd name="connsiteX42" fmla="*/ 477425 w 607639"/>
              <a:gd name="connsiteY42" fmla="*/ 208051 h 572074"/>
              <a:gd name="connsiteX43" fmla="*/ 503414 w 607639"/>
              <a:gd name="connsiteY43" fmla="*/ 234002 h 572074"/>
              <a:gd name="connsiteX44" fmla="*/ 503414 w 607639"/>
              <a:gd name="connsiteY44" fmla="*/ 312032 h 572074"/>
              <a:gd name="connsiteX45" fmla="*/ 581561 w 607639"/>
              <a:gd name="connsiteY45" fmla="*/ 312032 h 572074"/>
              <a:gd name="connsiteX46" fmla="*/ 607639 w 607639"/>
              <a:gd name="connsiteY46" fmla="*/ 337983 h 572074"/>
              <a:gd name="connsiteX47" fmla="*/ 607639 w 607639"/>
              <a:gd name="connsiteY47" fmla="*/ 442053 h 572074"/>
              <a:gd name="connsiteX48" fmla="*/ 581561 w 607639"/>
              <a:gd name="connsiteY48" fmla="*/ 468004 h 572074"/>
              <a:gd name="connsiteX49" fmla="*/ 503414 w 607639"/>
              <a:gd name="connsiteY49" fmla="*/ 468004 h 572074"/>
              <a:gd name="connsiteX50" fmla="*/ 503414 w 607639"/>
              <a:gd name="connsiteY50" fmla="*/ 546034 h 572074"/>
              <a:gd name="connsiteX51" fmla="*/ 477425 w 607639"/>
              <a:gd name="connsiteY51" fmla="*/ 572074 h 572074"/>
              <a:gd name="connsiteX52" fmla="*/ 130214 w 607639"/>
              <a:gd name="connsiteY52" fmla="*/ 572074 h 572074"/>
              <a:gd name="connsiteX53" fmla="*/ 104136 w 607639"/>
              <a:gd name="connsiteY53" fmla="*/ 546034 h 572074"/>
              <a:gd name="connsiteX54" fmla="*/ 104136 w 607639"/>
              <a:gd name="connsiteY54" fmla="*/ 468004 h 572074"/>
              <a:gd name="connsiteX55" fmla="*/ 26078 w 607639"/>
              <a:gd name="connsiteY55" fmla="*/ 468004 h 572074"/>
              <a:gd name="connsiteX56" fmla="*/ 0 w 607639"/>
              <a:gd name="connsiteY56" fmla="*/ 442053 h 572074"/>
              <a:gd name="connsiteX57" fmla="*/ 0 w 607639"/>
              <a:gd name="connsiteY57" fmla="*/ 337983 h 572074"/>
              <a:gd name="connsiteX58" fmla="*/ 26078 w 607639"/>
              <a:gd name="connsiteY58" fmla="*/ 312032 h 572074"/>
              <a:gd name="connsiteX59" fmla="*/ 104136 w 607639"/>
              <a:gd name="connsiteY59" fmla="*/ 312032 h 572074"/>
              <a:gd name="connsiteX60" fmla="*/ 104136 w 607639"/>
              <a:gd name="connsiteY60" fmla="*/ 234002 h 572074"/>
              <a:gd name="connsiteX61" fmla="*/ 130214 w 607639"/>
              <a:gd name="connsiteY61" fmla="*/ 208051 h 572074"/>
              <a:gd name="connsiteX62" fmla="*/ 277786 w 607639"/>
              <a:gd name="connsiteY62" fmla="*/ 208051 h 572074"/>
              <a:gd name="connsiteX63" fmla="*/ 277786 w 607639"/>
              <a:gd name="connsiteY63" fmla="*/ 151528 h 572074"/>
              <a:gd name="connsiteX64" fmla="*/ 225718 w 607639"/>
              <a:gd name="connsiteY64" fmla="*/ 78030 h 572074"/>
              <a:gd name="connsiteX65" fmla="*/ 303775 w 607639"/>
              <a:gd name="connsiteY65" fmla="*/ 0 h 57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572074">
                <a:moveTo>
                  <a:pt x="234365" y="415983"/>
                </a:moveTo>
                <a:lnTo>
                  <a:pt x="373276" y="415983"/>
                </a:lnTo>
                <a:cubicBezTo>
                  <a:pt x="387603" y="415983"/>
                  <a:pt x="399260" y="427629"/>
                  <a:pt x="399260" y="442031"/>
                </a:cubicBezTo>
                <a:cubicBezTo>
                  <a:pt x="399260" y="456344"/>
                  <a:pt x="387603" y="467990"/>
                  <a:pt x="373276" y="467990"/>
                </a:cubicBezTo>
                <a:lnTo>
                  <a:pt x="234365" y="467990"/>
                </a:lnTo>
                <a:cubicBezTo>
                  <a:pt x="220038" y="467990"/>
                  <a:pt x="208380" y="456344"/>
                  <a:pt x="208380" y="442031"/>
                </a:cubicBezTo>
                <a:cubicBezTo>
                  <a:pt x="208380" y="427629"/>
                  <a:pt x="220038" y="415983"/>
                  <a:pt x="234365" y="415983"/>
                </a:cubicBezTo>
                <a:close/>
                <a:moveTo>
                  <a:pt x="503414" y="364023"/>
                </a:moveTo>
                <a:lnTo>
                  <a:pt x="503414" y="416013"/>
                </a:lnTo>
                <a:lnTo>
                  <a:pt x="555571" y="416013"/>
                </a:lnTo>
                <a:lnTo>
                  <a:pt x="555571" y="364023"/>
                </a:lnTo>
                <a:close/>
                <a:moveTo>
                  <a:pt x="52068" y="364023"/>
                </a:moveTo>
                <a:lnTo>
                  <a:pt x="52068" y="416013"/>
                </a:lnTo>
                <a:lnTo>
                  <a:pt x="104136" y="416013"/>
                </a:lnTo>
                <a:lnTo>
                  <a:pt x="104136" y="364023"/>
                </a:lnTo>
                <a:close/>
                <a:moveTo>
                  <a:pt x="364541" y="311970"/>
                </a:moveTo>
                <a:cubicBezTo>
                  <a:pt x="383715" y="311970"/>
                  <a:pt x="399259" y="327498"/>
                  <a:pt x="399259" y="346653"/>
                </a:cubicBezTo>
                <a:cubicBezTo>
                  <a:pt x="399259" y="365808"/>
                  <a:pt x="383715" y="381336"/>
                  <a:pt x="364541" y="381336"/>
                </a:cubicBezTo>
                <a:cubicBezTo>
                  <a:pt x="345367" y="381336"/>
                  <a:pt x="329823" y="365808"/>
                  <a:pt x="329823" y="346653"/>
                </a:cubicBezTo>
                <a:cubicBezTo>
                  <a:pt x="329823" y="327498"/>
                  <a:pt x="345367" y="311970"/>
                  <a:pt x="364541" y="311970"/>
                </a:cubicBezTo>
                <a:close/>
                <a:moveTo>
                  <a:pt x="243063" y="311970"/>
                </a:moveTo>
                <a:cubicBezTo>
                  <a:pt x="262218" y="311970"/>
                  <a:pt x="277746" y="327498"/>
                  <a:pt x="277746" y="346653"/>
                </a:cubicBezTo>
                <a:cubicBezTo>
                  <a:pt x="277746" y="365808"/>
                  <a:pt x="262218" y="381336"/>
                  <a:pt x="243063" y="381336"/>
                </a:cubicBezTo>
                <a:cubicBezTo>
                  <a:pt x="223908" y="381336"/>
                  <a:pt x="208380" y="365808"/>
                  <a:pt x="208380" y="346653"/>
                </a:cubicBezTo>
                <a:cubicBezTo>
                  <a:pt x="208380" y="327498"/>
                  <a:pt x="223908" y="311970"/>
                  <a:pt x="243063" y="311970"/>
                </a:cubicBezTo>
                <a:close/>
                <a:moveTo>
                  <a:pt x="156204" y="260042"/>
                </a:moveTo>
                <a:lnTo>
                  <a:pt x="156204" y="337983"/>
                </a:lnTo>
                <a:lnTo>
                  <a:pt x="156204" y="442053"/>
                </a:lnTo>
                <a:lnTo>
                  <a:pt x="156204" y="519995"/>
                </a:lnTo>
                <a:lnTo>
                  <a:pt x="451346" y="519995"/>
                </a:lnTo>
                <a:lnTo>
                  <a:pt x="451346" y="442053"/>
                </a:lnTo>
                <a:lnTo>
                  <a:pt x="451346" y="337983"/>
                </a:lnTo>
                <a:lnTo>
                  <a:pt x="451346" y="260042"/>
                </a:lnTo>
                <a:close/>
                <a:moveTo>
                  <a:pt x="303775" y="51991"/>
                </a:moveTo>
                <a:cubicBezTo>
                  <a:pt x="289445" y="51991"/>
                  <a:pt x="277786" y="63633"/>
                  <a:pt x="277786" y="78030"/>
                </a:cubicBezTo>
                <a:cubicBezTo>
                  <a:pt x="277786" y="92339"/>
                  <a:pt x="289445" y="103981"/>
                  <a:pt x="303775" y="103981"/>
                </a:cubicBezTo>
                <a:cubicBezTo>
                  <a:pt x="318194" y="103981"/>
                  <a:pt x="329854" y="92339"/>
                  <a:pt x="329854" y="78030"/>
                </a:cubicBezTo>
                <a:cubicBezTo>
                  <a:pt x="329854" y="63633"/>
                  <a:pt x="318194" y="51991"/>
                  <a:pt x="303775" y="51991"/>
                </a:cubicBezTo>
                <a:close/>
                <a:moveTo>
                  <a:pt x="303775" y="0"/>
                </a:moveTo>
                <a:cubicBezTo>
                  <a:pt x="346854" y="0"/>
                  <a:pt x="381922" y="35016"/>
                  <a:pt x="381922" y="78030"/>
                </a:cubicBezTo>
                <a:cubicBezTo>
                  <a:pt x="381922" y="111891"/>
                  <a:pt x="360116" y="140774"/>
                  <a:pt x="329854" y="151528"/>
                </a:cubicBezTo>
                <a:lnTo>
                  <a:pt x="329854" y="208051"/>
                </a:lnTo>
                <a:lnTo>
                  <a:pt x="477425" y="208051"/>
                </a:lnTo>
                <a:cubicBezTo>
                  <a:pt x="491754" y="208051"/>
                  <a:pt x="503414" y="219693"/>
                  <a:pt x="503414" y="234002"/>
                </a:cubicBezTo>
                <a:lnTo>
                  <a:pt x="503414" y="312032"/>
                </a:lnTo>
                <a:lnTo>
                  <a:pt x="581561" y="312032"/>
                </a:lnTo>
                <a:cubicBezTo>
                  <a:pt x="595980" y="312032"/>
                  <a:pt x="607639" y="323675"/>
                  <a:pt x="607639" y="337983"/>
                </a:cubicBezTo>
                <a:lnTo>
                  <a:pt x="607639" y="442053"/>
                </a:lnTo>
                <a:cubicBezTo>
                  <a:pt x="607639" y="456362"/>
                  <a:pt x="595980" y="468004"/>
                  <a:pt x="581561" y="468004"/>
                </a:cubicBezTo>
                <a:lnTo>
                  <a:pt x="503414" y="468004"/>
                </a:lnTo>
                <a:lnTo>
                  <a:pt x="503414" y="546034"/>
                </a:lnTo>
                <a:cubicBezTo>
                  <a:pt x="503414" y="560432"/>
                  <a:pt x="491754" y="572074"/>
                  <a:pt x="477425" y="572074"/>
                </a:cubicBezTo>
                <a:lnTo>
                  <a:pt x="130214" y="572074"/>
                </a:lnTo>
                <a:cubicBezTo>
                  <a:pt x="115796" y="572074"/>
                  <a:pt x="104136" y="560432"/>
                  <a:pt x="104136" y="546034"/>
                </a:cubicBezTo>
                <a:lnTo>
                  <a:pt x="104136" y="468004"/>
                </a:lnTo>
                <a:lnTo>
                  <a:pt x="26078" y="468004"/>
                </a:lnTo>
                <a:cubicBezTo>
                  <a:pt x="11659" y="468004"/>
                  <a:pt x="0" y="456362"/>
                  <a:pt x="0" y="442053"/>
                </a:cubicBezTo>
                <a:lnTo>
                  <a:pt x="0" y="337983"/>
                </a:lnTo>
                <a:cubicBezTo>
                  <a:pt x="0" y="323675"/>
                  <a:pt x="11659" y="312032"/>
                  <a:pt x="26078" y="312032"/>
                </a:cubicBezTo>
                <a:lnTo>
                  <a:pt x="104136" y="312032"/>
                </a:lnTo>
                <a:lnTo>
                  <a:pt x="104136" y="234002"/>
                </a:lnTo>
                <a:cubicBezTo>
                  <a:pt x="104136" y="219693"/>
                  <a:pt x="115796" y="208051"/>
                  <a:pt x="130214" y="208051"/>
                </a:cubicBezTo>
                <a:lnTo>
                  <a:pt x="277786" y="208051"/>
                </a:lnTo>
                <a:lnTo>
                  <a:pt x="277786" y="151528"/>
                </a:lnTo>
                <a:cubicBezTo>
                  <a:pt x="247435" y="140774"/>
                  <a:pt x="225718" y="111891"/>
                  <a:pt x="225718" y="78030"/>
                </a:cubicBezTo>
                <a:cubicBezTo>
                  <a:pt x="225718" y="35016"/>
                  <a:pt x="260697" y="0"/>
                  <a:pt x="303775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sp>
        <p:nvSpPr>
          <p:cNvPr id="23" name="文本框 29">
            <a:extLst>
              <a:ext uri="{FF2B5EF4-FFF2-40B4-BE49-F238E27FC236}">
                <a16:creationId xmlns:a16="http://schemas.microsoft.com/office/drawing/2014/main" id="{D1895257-2898-CA9A-1478-5119798A48E3}"/>
              </a:ext>
            </a:extLst>
          </p:cNvPr>
          <p:cNvSpPr txBox="1"/>
          <p:nvPr/>
        </p:nvSpPr>
        <p:spPr>
          <a:xfrm>
            <a:off x="6782537" y="2351616"/>
            <a:ext cx="138316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500" b="1" dirty="0">
                <a:solidFill>
                  <a:srgbClr val="FF0000"/>
                </a:solidFill>
              </a:rPr>
              <a:t>Internal</a:t>
            </a:r>
            <a:r>
              <a:rPr lang="en-US" altLang="zh-CN" sz="1333" b="1" dirty="0">
                <a:solidFill>
                  <a:srgbClr val="FF0000"/>
                </a:solidFill>
              </a:rPr>
              <a:t> </a:t>
            </a:r>
            <a:r>
              <a:rPr lang="en-US" altLang="zh-CN" sz="1333" dirty="0">
                <a:solidFill>
                  <a:srgbClr val="FF0000"/>
                </a:solidFill>
              </a:rPr>
              <a:t>GenAI</a:t>
            </a:r>
          </a:p>
        </p:txBody>
      </p:sp>
      <p:sp>
        <p:nvSpPr>
          <p:cNvPr id="24" name="箭头: 右 37">
            <a:extLst>
              <a:ext uri="{FF2B5EF4-FFF2-40B4-BE49-F238E27FC236}">
                <a16:creationId xmlns:a16="http://schemas.microsoft.com/office/drawing/2014/main" id="{91AB549A-AF48-CD96-976C-A2E79FE078A9}"/>
              </a:ext>
            </a:extLst>
          </p:cNvPr>
          <p:cNvSpPr/>
          <p:nvPr/>
        </p:nvSpPr>
        <p:spPr>
          <a:xfrm rot="8293985">
            <a:off x="6321978" y="2437098"/>
            <a:ext cx="730985" cy="227137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33" dirty="0"/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128C50B3-0519-7E6B-0EFE-C5826A74D8CE}"/>
              </a:ext>
            </a:extLst>
          </p:cNvPr>
          <p:cNvSpPr txBox="1"/>
          <p:nvPr/>
        </p:nvSpPr>
        <p:spPr>
          <a:xfrm>
            <a:off x="6069957" y="2159264"/>
            <a:ext cx="939256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/>
              <a:t>Supply</a:t>
            </a:r>
          </a:p>
        </p:txBody>
      </p:sp>
    </p:spTree>
    <p:extLst>
      <p:ext uri="{BB962C8B-B14F-4D97-AF65-F5344CB8AC3E}">
        <p14:creationId xmlns:p14="http://schemas.microsoft.com/office/powerpoint/2010/main" val="326471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B808E-B209-FE4F-A2B9-8CBF3CD4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578D2B-A0EA-0BEE-B2BB-7D7FE2923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 Randomized Field Experiment on </a:t>
            </a:r>
            <a:r>
              <a:rPr lang="en-US" i="1" dirty="0"/>
              <a:t>SegmentFault</a:t>
            </a:r>
            <a:endParaRPr lang="en-US" altLang="zh-CN" dirty="0"/>
          </a:p>
        </p:txBody>
      </p:sp>
      <p:pic>
        <p:nvPicPr>
          <p:cNvPr id="26" name="图片 4">
            <a:extLst>
              <a:ext uri="{FF2B5EF4-FFF2-40B4-BE49-F238E27FC236}">
                <a16:creationId xmlns:a16="http://schemas.microsoft.com/office/drawing/2014/main" id="{FE94AB31-32EC-CCBB-D2E7-BE569A82D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30" y="2228624"/>
            <a:ext cx="2446993" cy="3699835"/>
          </a:xfrm>
          <a:prstGeom prst="rect">
            <a:avLst/>
          </a:prstGeom>
        </p:spPr>
      </p:pic>
      <p:pic>
        <p:nvPicPr>
          <p:cNvPr id="27" name="图片 8">
            <a:extLst>
              <a:ext uri="{FF2B5EF4-FFF2-40B4-BE49-F238E27FC236}">
                <a16:creationId xmlns:a16="http://schemas.microsoft.com/office/drawing/2014/main" id="{310F81E8-3981-905C-2DF0-79F5AC93D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557" y="2228624"/>
            <a:ext cx="2377678" cy="3699835"/>
          </a:xfrm>
          <a:prstGeom prst="rect">
            <a:avLst/>
          </a:prstGeom>
        </p:spPr>
      </p:pic>
      <p:sp>
        <p:nvSpPr>
          <p:cNvPr id="28" name="矩形 9">
            <a:extLst>
              <a:ext uri="{FF2B5EF4-FFF2-40B4-BE49-F238E27FC236}">
                <a16:creationId xmlns:a16="http://schemas.microsoft.com/office/drawing/2014/main" id="{8A53A0D5-78EE-D287-BB35-B47A3B0ED336}"/>
              </a:ext>
            </a:extLst>
          </p:cNvPr>
          <p:cNvSpPr/>
          <p:nvPr/>
        </p:nvSpPr>
        <p:spPr>
          <a:xfrm>
            <a:off x="3054237" y="2343391"/>
            <a:ext cx="2269287" cy="983486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0" name="矩形 10">
            <a:extLst>
              <a:ext uri="{FF2B5EF4-FFF2-40B4-BE49-F238E27FC236}">
                <a16:creationId xmlns:a16="http://schemas.microsoft.com/office/drawing/2014/main" id="{059EDCC6-C9F4-1629-16F3-487360D1068D}"/>
              </a:ext>
            </a:extLst>
          </p:cNvPr>
          <p:cNvSpPr/>
          <p:nvPr/>
        </p:nvSpPr>
        <p:spPr>
          <a:xfrm>
            <a:off x="7193888" y="2343391"/>
            <a:ext cx="2203348" cy="1206048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1" name="矩形 11">
            <a:extLst>
              <a:ext uri="{FF2B5EF4-FFF2-40B4-BE49-F238E27FC236}">
                <a16:creationId xmlns:a16="http://schemas.microsoft.com/office/drawing/2014/main" id="{719DFC14-7B0E-D0CD-C17A-1375B5738512}"/>
              </a:ext>
            </a:extLst>
          </p:cNvPr>
          <p:cNvSpPr/>
          <p:nvPr/>
        </p:nvSpPr>
        <p:spPr>
          <a:xfrm>
            <a:off x="3054236" y="3381514"/>
            <a:ext cx="2269287" cy="441617"/>
          </a:xfrm>
          <a:prstGeom prst="rect">
            <a:avLst/>
          </a:prstGeom>
          <a:solidFill>
            <a:schemeClr val="bg1">
              <a:alpha val="5000"/>
            </a:schemeClr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2" name="矩形 12">
            <a:extLst>
              <a:ext uri="{FF2B5EF4-FFF2-40B4-BE49-F238E27FC236}">
                <a16:creationId xmlns:a16="http://schemas.microsoft.com/office/drawing/2014/main" id="{8EBF75DD-5490-BF69-D071-C5D9B44A1D99}"/>
              </a:ext>
            </a:extLst>
          </p:cNvPr>
          <p:cNvSpPr/>
          <p:nvPr/>
        </p:nvSpPr>
        <p:spPr>
          <a:xfrm>
            <a:off x="3054236" y="4019290"/>
            <a:ext cx="2269287" cy="1127838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3" name="矩形 13">
            <a:extLst>
              <a:ext uri="{FF2B5EF4-FFF2-40B4-BE49-F238E27FC236}">
                <a16:creationId xmlns:a16="http://schemas.microsoft.com/office/drawing/2014/main" id="{67BE22BD-F6EF-421B-8F60-29F286B2DAEE}"/>
              </a:ext>
            </a:extLst>
          </p:cNvPr>
          <p:cNvSpPr/>
          <p:nvPr/>
        </p:nvSpPr>
        <p:spPr>
          <a:xfrm>
            <a:off x="7193888" y="5335515"/>
            <a:ext cx="2203348" cy="592944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4" name="矩形 48">
            <a:extLst>
              <a:ext uri="{FF2B5EF4-FFF2-40B4-BE49-F238E27FC236}">
                <a16:creationId xmlns:a16="http://schemas.microsoft.com/office/drawing/2014/main" id="{97251A3A-0E4A-6661-943C-68F34E6701F7}"/>
              </a:ext>
            </a:extLst>
          </p:cNvPr>
          <p:cNvSpPr/>
          <p:nvPr/>
        </p:nvSpPr>
        <p:spPr>
          <a:xfrm>
            <a:off x="3054236" y="5147471"/>
            <a:ext cx="2269287" cy="744227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5" name="矩形 50">
            <a:extLst>
              <a:ext uri="{FF2B5EF4-FFF2-40B4-BE49-F238E27FC236}">
                <a16:creationId xmlns:a16="http://schemas.microsoft.com/office/drawing/2014/main" id="{8005F2CB-4358-52C0-735B-8F1B98607754}"/>
              </a:ext>
            </a:extLst>
          </p:cNvPr>
          <p:cNvSpPr/>
          <p:nvPr/>
        </p:nvSpPr>
        <p:spPr>
          <a:xfrm>
            <a:off x="7193887" y="4635694"/>
            <a:ext cx="2203348" cy="699817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36" name="矩形 51">
            <a:extLst>
              <a:ext uri="{FF2B5EF4-FFF2-40B4-BE49-F238E27FC236}">
                <a16:creationId xmlns:a16="http://schemas.microsoft.com/office/drawing/2014/main" id="{5B026C1F-2A66-01E0-68B4-F60CC10AA965}"/>
              </a:ext>
            </a:extLst>
          </p:cNvPr>
          <p:cNvSpPr/>
          <p:nvPr/>
        </p:nvSpPr>
        <p:spPr>
          <a:xfrm flipV="1">
            <a:off x="7193887" y="3745599"/>
            <a:ext cx="2203348" cy="890096"/>
          </a:xfrm>
          <a:prstGeom prst="rect">
            <a:avLst/>
          </a:prstGeom>
          <a:solidFill>
            <a:schemeClr val="bg2">
              <a:alpha val="5000"/>
            </a:schemeClr>
          </a:solidFill>
          <a:ln w="412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cxnSp>
        <p:nvCxnSpPr>
          <p:cNvPr id="37" name="直接连接符 54">
            <a:extLst>
              <a:ext uri="{FF2B5EF4-FFF2-40B4-BE49-F238E27FC236}">
                <a16:creationId xmlns:a16="http://schemas.microsoft.com/office/drawing/2014/main" id="{F948CCAB-F022-B89C-D42E-6642086E39B0}"/>
              </a:ext>
            </a:extLst>
          </p:cNvPr>
          <p:cNvCxnSpPr>
            <a:cxnSpLocks/>
          </p:cNvCxnSpPr>
          <p:nvPr/>
        </p:nvCxnSpPr>
        <p:spPr>
          <a:xfrm>
            <a:off x="6191615" y="1808806"/>
            <a:ext cx="0" cy="41196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: 圆角 55">
            <a:extLst>
              <a:ext uri="{FF2B5EF4-FFF2-40B4-BE49-F238E27FC236}">
                <a16:creationId xmlns:a16="http://schemas.microsoft.com/office/drawing/2014/main" id="{645566C4-0017-AF21-EAFC-1AE8AAE03FE2}"/>
              </a:ext>
            </a:extLst>
          </p:cNvPr>
          <p:cNvSpPr/>
          <p:nvPr/>
        </p:nvSpPr>
        <p:spPr>
          <a:xfrm>
            <a:off x="2876530" y="1759917"/>
            <a:ext cx="2446974" cy="305970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</a:rPr>
              <a:t>AI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group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(treatment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group)</a:t>
            </a:r>
            <a:endParaRPr lang="zh-CN" altLang="en-US" sz="1500" b="1" dirty="0">
              <a:solidFill>
                <a:schemeClr val="tx1"/>
              </a:solidFill>
            </a:endParaRPr>
          </a:p>
        </p:txBody>
      </p:sp>
      <p:sp>
        <p:nvSpPr>
          <p:cNvPr id="39" name="矩形: 圆角 57">
            <a:extLst>
              <a:ext uri="{FF2B5EF4-FFF2-40B4-BE49-F238E27FC236}">
                <a16:creationId xmlns:a16="http://schemas.microsoft.com/office/drawing/2014/main" id="{5C0B6943-2CCC-EF05-3389-18A1773DD833}"/>
              </a:ext>
            </a:extLst>
          </p:cNvPr>
          <p:cNvSpPr/>
          <p:nvPr/>
        </p:nvSpPr>
        <p:spPr>
          <a:xfrm>
            <a:off x="7019557" y="1756828"/>
            <a:ext cx="2377669" cy="305970"/>
          </a:xfrm>
          <a:prstGeom prst="round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</a:rPr>
              <a:t>no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AI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group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(control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  <a:r>
              <a:rPr lang="en-US" altLang="zh-CN" sz="1500" b="1" dirty="0">
                <a:solidFill>
                  <a:schemeClr val="tx1"/>
                </a:solidFill>
              </a:rPr>
              <a:t>group)</a:t>
            </a:r>
            <a:r>
              <a:rPr lang="zh-CN" altLang="en-US" sz="1500" b="1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789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771D8-BF54-5128-C271-FF5B4960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FE6CAB-8D3B-40E8-AF48-66062A82ED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r>
              <a:rPr lang="zh-CN" altLang="en-US" dirty="0"/>
              <a:t> </a:t>
            </a:r>
            <a:r>
              <a:rPr lang="en-US" dirty="0"/>
              <a:t>(not drawn in the paper)</a:t>
            </a:r>
            <a:endParaRPr lang="en-US" altLang="zh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E032D7-EE8C-4B64-AD91-286D8B12AA23}"/>
              </a:ext>
            </a:extLst>
          </p:cNvPr>
          <p:cNvSpPr/>
          <p:nvPr/>
        </p:nvSpPr>
        <p:spPr>
          <a:xfrm>
            <a:off x="5938372" y="4912532"/>
            <a:ext cx="1682896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Viewer Recognition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0DBD6F-139D-677B-2EBF-7DE6D852FCF0}"/>
              </a:ext>
            </a:extLst>
          </p:cNvPr>
          <p:cNvSpPr/>
          <p:nvPr/>
        </p:nvSpPr>
        <p:spPr>
          <a:xfrm>
            <a:off x="1751877" y="3685240"/>
            <a:ext cx="1787664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Has AI Answer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66F85F-66DA-CC0C-6F80-0D21E67FA28D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539541" y="4039619"/>
            <a:ext cx="2398831" cy="1227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D98B24D-BABD-ECFA-F233-BB1FBA33A066}"/>
              </a:ext>
            </a:extLst>
          </p:cNvPr>
          <p:cNvSpPr/>
          <p:nvPr/>
        </p:nvSpPr>
        <p:spPr>
          <a:xfrm>
            <a:off x="8703409" y="5839362"/>
            <a:ext cx="1682896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E</a:t>
            </a:r>
            <a:r>
              <a:rPr lang="en-US" sz="2000" dirty="0"/>
              <a:t>levated </a:t>
            </a:r>
            <a:r>
              <a:rPr lang="en-US" altLang="zh-CN" sz="2000" dirty="0"/>
              <a:t>E</a:t>
            </a:r>
            <a:r>
              <a:rPr lang="en-US" sz="2000" dirty="0"/>
              <a:t>xpectations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3AF18F-147A-0D0C-1DF6-47B7E8A8B135}"/>
              </a:ext>
            </a:extLst>
          </p:cNvPr>
          <p:cNvSpPr/>
          <p:nvPr/>
        </p:nvSpPr>
        <p:spPr>
          <a:xfrm>
            <a:off x="5982140" y="2114441"/>
            <a:ext cx="1682896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Answer</a:t>
            </a:r>
            <a:r>
              <a:rPr lang="en-US" altLang="zh-CN" sz="2000" dirty="0"/>
              <a:t>er</a:t>
            </a:r>
            <a:r>
              <a:rPr lang="en-US" sz="2000" dirty="0"/>
              <a:t> Participation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E8B7A3-AC35-FD50-0B6B-83E1229F0407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539541" y="2468820"/>
            <a:ext cx="2442599" cy="1570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9C2EE2A-F8D5-9940-FA48-D682DB845E66}"/>
              </a:ext>
            </a:extLst>
          </p:cNvPr>
          <p:cNvSpPr/>
          <p:nvPr/>
        </p:nvSpPr>
        <p:spPr>
          <a:xfrm>
            <a:off x="8703407" y="4913719"/>
            <a:ext cx="1682898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Attention</a:t>
            </a:r>
            <a:r>
              <a:rPr lang="zh-CN" altLang="en-US" sz="2000" dirty="0"/>
              <a:t> </a:t>
            </a:r>
            <a:r>
              <a:rPr lang="en-US" altLang="zh-CN" sz="2000" dirty="0"/>
              <a:t>Diversion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25A0A1-8C16-24B2-192A-748781687CFE}"/>
              </a:ext>
            </a:extLst>
          </p:cNvPr>
          <p:cNvSpPr/>
          <p:nvPr/>
        </p:nvSpPr>
        <p:spPr>
          <a:xfrm>
            <a:off x="8703407" y="3988075"/>
            <a:ext cx="1682898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Quality</a:t>
            </a:r>
            <a:r>
              <a:rPr lang="zh-CN" altLang="en-US" sz="2000" dirty="0"/>
              <a:t> </a:t>
            </a:r>
            <a:r>
              <a:rPr lang="en-US" altLang="zh-CN" sz="2000" dirty="0"/>
              <a:t>Degradation</a:t>
            </a:r>
            <a:endParaRPr lang="en-US" sz="2000" dirty="0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731D006C-3955-2EC1-D27A-0E1741D4940D}"/>
              </a:ext>
            </a:extLst>
          </p:cNvPr>
          <p:cNvSpPr/>
          <p:nvPr/>
        </p:nvSpPr>
        <p:spPr>
          <a:xfrm rot="10800000">
            <a:off x="7894572" y="3988075"/>
            <a:ext cx="589496" cy="2560045"/>
          </a:xfrm>
          <a:prstGeom prst="rightBrace">
            <a:avLst>
              <a:gd name="adj1" fmla="val 39413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4EB06-D82F-792E-8EC4-F4B8C2ECB3D0}"/>
              </a:ext>
            </a:extLst>
          </p:cNvPr>
          <p:cNvSpPr/>
          <p:nvPr/>
        </p:nvSpPr>
        <p:spPr>
          <a:xfrm>
            <a:off x="8708965" y="1160476"/>
            <a:ext cx="1682898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Source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86405D-B3B6-CDF9-AB2C-CD2A9CD3655B}"/>
              </a:ext>
            </a:extLst>
          </p:cNvPr>
          <p:cNvSpPr/>
          <p:nvPr/>
        </p:nvSpPr>
        <p:spPr>
          <a:xfrm>
            <a:off x="8708966" y="2114441"/>
            <a:ext cx="1682898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Content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81F0BC-EE43-9699-DC8F-CB66DA38BCB6}"/>
              </a:ext>
            </a:extLst>
          </p:cNvPr>
          <p:cNvSpPr/>
          <p:nvPr/>
        </p:nvSpPr>
        <p:spPr>
          <a:xfrm>
            <a:off x="8714519" y="2946147"/>
            <a:ext cx="1671786" cy="708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Position</a:t>
            </a:r>
            <a:r>
              <a:rPr lang="zh-CN" altLang="en-US" sz="2000" dirty="0"/>
              <a:t> </a:t>
            </a:r>
            <a:r>
              <a:rPr lang="en-US" altLang="zh-CN" sz="2000" dirty="0"/>
              <a:t>Effect</a:t>
            </a:r>
            <a:endParaRPr lang="en-US" sz="2000" dirty="0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A1D6745-B328-6FA5-8346-05D67156ECAE}"/>
              </a:ext>
            </a:extLst>
          </p:cNvPr>
          <p:cNvSpPr/>
          <p:nvPr/>
        </p:nvSpPr>
        <p:spPr>
          <a:xfrm rot="10800000" flipV="1">
            <a:off x="7894572" y="1131837"/>
            <a:ext cx="590411" cy="2541472"/>
          </a:xfrm>
          <a:prstGeom prst="rightBrace">
            <a:avLst>
              <a:gd name="adj1" fmla="val 8673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4996A7-B6E2-124F-BD27-D3E6CF2CF2A1}"/>
              </a:ext>
            </a:extLst>
          </p:cNvPr>
          <p:cNvSpPr txBox="1"/>
          <p:nvPr/>
        </p:nvSpPr>
        <p:spPr>
          <a:xfrm>
            <a:off x="5318095" y="2884623"/>
            <a:ext cx="475955" cy="453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(-)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361A48-655C-C90B-DD88-5D6AC792AABF}"/>
              </a:ext>
            </a:extLst>
          </p:cNvPr>
          <p:cNvSpPr txBox="1"/>
          <p:nvPr/>
        </p:nvSpPr>
        <p:spPr>
          <a:xfrm>
            <a:off x="5318095" y="4520231"/>
            <a:ext cx="475955" cy="4530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(-)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B59D0-88A0-DC5D-03EC-AE80F510413C}"/>
              </a:ext>
            </a:extLst>
          </p:cNvPr>
          <p:cNvSpPr txBox="1"/>
          <p:nvPr/>
        </p:nvSpPr>
        <p:spPr>
          <a:xfrm>
            <a:off x="8683384" y="436276"/>
            <a:ext cx="1741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mechanisms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4581D8-39EA-B472-29A7-3563B84F8286}"/>
              </a:ext>
            </a:extLst>
          </p:cNvPr>
          <p:cNvSpPr/>
          <p:nvPr/>
        </p:nvSpPr>
        <p:spPr>
          <a:xfrm>
            <a:off x="8569760" y="1001078"/>
            <a:ext cx="1968431" cy="5686161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20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14A14-9888-86AB-E7AB-C9725771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C36C77-332F-7885-A601-D03A5A5EB1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Review panel’s major concern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A3C9C-EE06-24C5-AAA1-390B649F3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3" y="1158181"/>
            <a:ext cx="11508741" cy="5446415"/>
          </a:xfrm>
        </p:spPr>
        <p:txBody>
          <a:bodyPr>
            <a:normAutofit/>
          </a:bodyPr>
          <a:lstStyle/>
          <a:p>
            <a:r>
              <a:rPr lang="en-US" altLang="zh-CN" dirty="0"/>
              <a:t>Lacks</a:t>
            </a:r>
            <a:r>
              <a:rPr lang="zh-CN" altLang="en-US" dirty="0"/>
              <a:t> </a:t>
            </a:r>
            <a:r>
              <a:rPr lang="en-US" altLang="en-US" dirty="0"/>
              <a:t>a sufficiently convincing theoretical explanation </a:t>
            </a:r>
          </a:p>
          <a:p>
            <a:pPr lvl="1"/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en-US" dirty="0"/>
              <a:t>lacks an overarching theoretical framework explaining</a:t>
            </a:r>
          </a:p>
          <a:p>
            <a:pPr lvl="1"/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mechanism</a:t>
            </a:r>
            <a:r>
              <a:rPr lang="zh-CN" altLang="en-US" dirty="0"/>
              <a:t> </a:t>
            </a:r>
            <a:r>
              <a:rPr lang="en-US" altLang="zh-CN" dirty="0"/>
              <a:t>(source,</a:t>
            </a:r>
            <a:r>
              <a:rPr lang="zh-CN" altLang="en-US" dirty="0"/>
              <a:t> </a:t>
            </a:r>
            <a:r>
              <a:rPr lang="en-US" altLang="zh-CN" dirty="0"/>
              <a:t>content,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position)</a:t>
            </a:r>
            <a:endParaRPr lang="en-US" altLang="zh-CN" b="0" dirty="0"/>
          </a:p>
          <a:p>
            <a:pPr lvl="2"/>
            <a:r>
              <a:rPr lang="en-US" altLang="zh-CN" b="0" dirty="0"/>
              <a:t>R2:</a:t>
            </a:r>
            <a:r>
              <a:rPr lang="zh-CN" altLang="en-US" b="0" dirty="0"/>
              <a:t> </a:t>
            </a:r>
            <a:r>
              <a:rPr lang="en-US" altLang="en-US" b="0" dirty="0"/>
              <a:t>theoretically justified</a:t>
            </a:r>
            <a:r>
              <a:rPr lang="en-US" altLang="zh-CN" b="0" dirty="0"/>
              <a:t>?</a:t>
            </a:r>
          </a:p>
          <a:p>
            <a:pPr lvl="2"/>
            <a:r>
              <a:rPr lang="en-US" altLang="zh-CN" b="0" dirty="0"/>
              <a:t>R3:</a:t>
            </a:r>
            <a:r>
              <a:rPr lang="zh-CN" altLang="en-US" b="0" dirty="0"/>
              <a:t> </a:t>
            </a:r>
            <a:r>
              <a:rPr lang="en-US" altLang="zh-CN" b="0" dirty="0"/>
              <a:t>they</a:t>
            </a:r>
            <a:r>
              <a:rPr lang="zh-CN" altLang="en-US" b="0" dirty="0"/>
              <a:t> </a:t>
            </a:r>
            <a:r>
              <a:rPr lang="en-US" altLang="zh-CN" b="0" dirty="0"/>
              <a:t>are</a:t>
            </a:r>
            <a:r>
              <a:rPr lang="en-US" altLang="en-US" b="0" dirty="0"/>
              <a:t> introduced largely in isolation </a:t>
            </a:r>
          </a:p>
          <a:p>
            <a:pPr lvl="1"/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dirty="0"/>
              <a:t>relationship</a:t>
            </a:r>
            <a:r>
              <a:rPr lang="en-US" altLang="en-US" dirty="0"/>
              <a:t> between theory and empirical findings </a:t>
            </a:r>
          </a:p>
          <a:p>
            <a:endParaRPr lang="en-US" altLang="en-US" dirty="0"/>
          </a:p>
          <a:p>
            <a:r>
              <a:rPr lang="en-US" altLang="en-US" dirty="0"/>
              <a:t>Difference from Su 2023</a:t>
            </a:r>
          </a:p>
          <a:p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62690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4D0F-8367-222F-59EB-231C1F19E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28766C-648F-680F-2527-B1B02C55AE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SE’s sugge</a:t>
            </a:r>
            <a:r>
              <a:rPr lang="en-US" altLang="zh-CN" dirty="0"/>
              <a:t>s</a:t>
            </a:r>
            <a:r>
              <a:rPr lang="en-US" dirty="0"/>
              <a:t>tion</a:t>
            </a:r>
            <a:endParaRPr lang="en-US" altLang="zh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C1F3A-5ACE-E2F8-23FB-82B15F5D9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4" y="1158181"/>
            <a:ext cx="7976264" cy="5446415"/>
          </a:xfrm>
        </p:spPr>
        <p:txBody>
          <a:bodyPr>
            <a:normAutofit/>
          </a:bodyPr>
          <a:lstStyle/>
          <a:p>
            <a:r>
              <a:rPr lang="en-US" altLang="en-US" dirty="0"/>
              <a:t>participation incentives </a:t>
            </a:r>
            <a:r>
              <a:rPr lang="en-US" altLang="en-US" b="0" dirty="0"/>
              <a:t>in online knowledge communities. </a:t>
            </a:r>
          </a:p>
          <a:p>
            <a:r>
              <a:rPr lang="en-US" altLang="en-US" dirty="0"/>
              <a:t>authority and credibility </a:t>
            </a:r>
            <a:r>
              <a:rPr lang="en-US" altLang="en-US" b="0" dirty="0"/>
              <a:t>signals in human–AI interaction </a:t>
            </a:r>
          </a:p>
          <a:p>
            <a:pPr lvl="1"/>
            <a:endParaRPr lang="en-US" altLang="en-US" b="0" dirty="0"/>
          </a:p>
          <a:p>
            <a:r>
              <a:rPr lang="en-US" altLang="en-US" dirty="0"/>
              <a:t>examining competition and complementarity between AI-generated and human-generated knowledge in digital communities </a:t>
            </a:r>
          </a:p>
          <a:p>
            <a:pPr lvl="1"/>
            <a:r>
              <a:rPr lang="en-US" altLang="en-US" b="0" dirty="0"/>
              <a:t>Such a framing could help explain when AI discourages human participation and when it might instead stimulate additional contributions.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643902-408C-4297-2382-4374A6A3900E}"/>
              </a:ext>
            </a:extLst>
          </p:cNvPr>
          <p:cNvSpPr txBox="1">
            <a:spLocks/>
          </p:cNvSpPr>
          <p:nvPr/>
        </p:nvSpPr>
        <p:spPr>
          <a:xfrm>
            <a:off x="8733124" y="2710180"/>
            <a:ext cx="2977613" cy="7188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-301415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20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448071" indent="-238097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599928" indent="-190477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8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80990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2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761909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5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3600" dirty="0">
                <a:solidFill>
                  <a:srgbClr val="FF0000"/>
                </a:solidFill>
              </a:rPr>
              <a:t>Our pick √</a:t>
            </a:r>
          </a:p>
        </p:txBody>
      </p:sp>
    </p:spTree>
    <p:extLst>
      <p:ext uri="{BB962C8B-B14F-4D97-AF65-F5344CB8AC3E}">
        <p14:creationId xmlns:p14="http://schemas.microsoft.com/office/powerpoint/2010/main" val="3757984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5491-7B52-55BB-89F5-D611CADA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D73A91C8-ED3E-78B5-4E00-E0795000CB6D}"/>
              </a:ext>
            </a:extLst>
          </p:cNvPr>
          <p:cNvSpPr/>
          <p:nvPr/>
        </p:nvSpPr>
        <p:spPr>
          <a:xfrm>
            <a:off x="3168911" y="4079891"/>
            <a:ext cx="4000284" cy="208372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331037-5933-1A79-9662-91675D6949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Revise of the Focus of the Paper</a:t>
            </a:r>
            <a:endParaRPr lang="en-US" altLang="zh-CN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07D1305-8A1A-1403-E2E4-4772AFEC0AE8}"/>
              </a:ext>
            </a:extLst>
          </p:cNvPr>
          <p:cNvGrpSpPr/>
          <p:nvPr/>
        </p:nvGrpSpPr>
        <p:grpSpPr>
          <a:xfrm>
            <a:off x="516459" y="1999259"/>
            <a:ext cx="6524263" cy="4089966"/>
            <a:chOff x="1751877" y="1131837"/>
            <a:chExt cx="8639987" cy="541628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813202C-F017-5C49-6FEE-0569C0EC1304}"/>
                </a:ext>
              </a:extLst>
            </p:cNvPr>
            <p:cNvSpPr/>
            <p:nvPr/>
          </p:nvSpPr>
          <p:spPr>
            <a:xfrm>
              <a:off x="5938372" y="4912532"/>
              <a:ext cx="168289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Viewer Recognition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0367812-9A51-5003-723A-E45380750922}"/>
                </a:ext>
              </a:extLst>
            </p:cNvPr>
            <p:cNvSpPr/>
            <p:nvPr/>
          </p:nvSpPr>
          <p:spPr>
            <a:xfrm>
              <a:off x="1751877" y="3685240"/>
              <a:ext cx="1787664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Has AI Answer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7A53FBE-8D65-E9A1-EA7A-10D060DFE8A9}"/>
                </a:ext>
              </a:extLst>
            </p:cNvPr>
            <p:cNvCxnSpPr>
              <a:cxnSpLocks/>
              <a:stCxn id="20" idx="3"/>
              <a:endCxn id="19" idx="1"/>
            </p:cNvCxnSpPr>
            <p:nvPr/>
          </p:nvCxnSpPr>
          <p:spPr>
            <a:xfrm>
              <a:off x="3539541" y="4039619"/>
              <a:ext cx="2398831" cy="12272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2F0E327-8F5A-E7CA-B2A9-F6886DAA89DC}"/>
                </a:ext>
              </a:extLst>
            </p:cNvPr>
            <p:cNvSpPr/>
            <p:nvPr/>
          </p:nvSpPr>
          <p:spPr>
            <a:xfrm>
              <a:off x="8703409" y="5839362"/>
              <a:ext cx="168289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E</a:t>
              </a:r>
              <a:r>
                <a:rPr lang="en-US" sz="1400" dirty="0"/>
                <a:t>levated </a:t>
              </a:r>
              <a:r>
                <a:rPr lang="en-US" altLang="zh-CN" sz="1400" dirty="0"/>
                <a:t>E</a:t>
              </a:r>
              <a:r>
                <a:rPr lang="en-US" sz="1400" dirty="0"/>
                <a:t>xpectations 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25D3A8-D09B-BBD0-15DC-86D03E173442}"/>
                </a:ext>
              </a:extLst>
            </p:cNvPr>
            <p:cNvSpPr/>
            <p:nvPr/>
          </p:nvSpPr>
          <p:spPr>
            <a:xfrm>
              <a:off x="5982140" y="2114441"/>
              <a:ext cx="168289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Answer</a:t>
              </a:r>
              <a:r>
                <a:rPr lang="en-US" altLang="zh-CN" sz="1400" dirty="0"/>
                <a:t>er</a:t>
              </a:r>
              <a:r>
                <a:rPr lang="en-US" sz="1400" dirty="0"/>
                <a:t> Participation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4F2815E-709B-BC1B-52F5-C9952777515A}"/>
                </a:ext>
              </a:extLst>
            </p:cNvPr>
            <p:cNvCxnSpPr>
              <a:cxnSpLocks/>
              <a:stCxn id="20" idx="3"/>
              <a:endCxn id="23" idx="1"/>
            </p:cNvCxnSpPr>
            <p:nvPr/>
          </p:nvCxnSpPr>
          <p:spPr>
            <a:xfrm flipV="1">
              <a:off x="3539541" y="2468820"/>
              <a:ext cx="2442599" cy="15707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72BC922-34D8-8C5E-B28F-44504DB8477B}"/>
                </a:ext>
              </a:extLst>
            </p:cNvPr>
            <p:cNvSpPr/>
            <p:nvPr/>
          </p:nvSpPr>
          <p:spPr>
            <a:xfrm>
              <a:off x="8703407" y="4913719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Attention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Diversion</a:t>
              </a:r>
              <a:endParaRPr lang="en-US" sz="14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8EE8F8A-C9EB-723D-FE4E-3E04AE6F5452}"/>
                </a:ext>
              </a:extLst>
            </p:cNvPr>
            <p:cNvSpPr/>
            <p:nvPr/>
          </p:nvSpPr>
          <p:spPr>
            <a:xfrm>
              <a:off x="8703407" y="3988075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Quality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Degradation</a:t>
              </a:r>
              <a:endParaRPr lang="en-US" sz="1400" dirty="0"/>
            </a:p>
          </p:txBody>
        </p:sp>
        <p:sp>
          <p:nvSpPr>
            <p:cNvPr id="40" name="Right Brace 39">
              <a:extLst>
                <a:ext uri="{FF2B5EF4-FFF2-40B4-BE49-F238E27FC236}">
                  <a16:creationId xmlns:a16="http://schemas.microsoft.com/office/drawing/2014/main" id="{14DF7743-9595-BCB4-A4BB-004C7A33A002}"/>
                </a:ext>
              </a:extLst>
            </p:cNvPr>
            <p:cNvSpPr/>
            <p:nvPr/>
          </p:nvSpPr>
          <p:spPr>
            <a:xfrm rot="10800000">
              <a:off x="8035349" y="3988075"/>
              <a:ext cx="589496" cy="2560045"/>
            </a:xfrm>
            <a:prstGeom prst="rightBrace">
              <a:avLst>
                <a:gd name="adj1" fmla="val 39413"/>
                <a:gd name="adj2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4AAEE61-9265-6A01-F3B4-C1E7584AF0B9}"/>
                </a:ext>
              </a:extLst>
            </p:cNvPr>
            <p:cNvSpPr/>
            <p:nvPr/>
          </p:nvSpPr>
          <p:spPr>
            <a:xfrm>
              <a:off x="8708965" y="1160476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Source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Effect</a:t>
              </a:r>
              <a:endParaRPr lang="en-US" sz="14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A508803-9ECD-506C-99A2-BF8DB223CD0C}"/>
                </a:ext>
              </a:extLst>
            </p:cNvPr>
            <p:cNvSpPr/>
            <p:nvPr/>
          </p:nvSpPr>
          <p:spPr>
            <a:xfrm>
              <a:off x="8708966" y="2114441"/>
              <a:ext cx="1682898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Content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Effect</a:t>
              </a:r>
              <a:endParaRPr lang="en-US" sz="14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9D703FF-F31F-A9FD-1763-0424483F5551}"/>
                </a:ext>
              </a:extLst>
            </p:cNvPr>
            <p:cNvSpPr/>
            <p:nvPr/>
          </p:nvSpPr>
          <p:spPr>
            <a:xfrm>
              <a:off x="8714519" y="2946147"/>
              <a:ext cx="1671786" cy="7087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Position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Effect</a:t>
              </a:r>
              <a:endParaRPr lang="en-US" sz="1400" dirty="0"/>
            </a:p>
          </p:txBody>
        </p:sp>
        <p:sp>
          <p:nvSpPr>
            <p:cNvPr id="44" name="Right Brace 43">
              <a:extLst>
                <a:ext uri="{FF2B5EF4-FFF2-40B4-BE49-F238E27FC236}">
                  <a16:creationId xmlns:a16="http://schemas.microsoft.com/office/drawing/2014/main" id="{13A62FEA-A02B-03DF-6E0F-119147A4D0FF}"/>
                </a:ext>
              </a:extLst>
            </p:cNvPr>
            <p:cNvSpPr/>
            <p:nvPr/>
          </p:nvSpPr>
          <p:spPr>
            <a:xfrm rot="10800000" flipV="1">
              <a:off x="7894572" y="1131837"/>
              <a:ext cx="590411" cy="2541472"/>
            </a:xfrm>
            <a:prstGeom prst="rightBrace">
              <a:avLst>
                <a:gd name="adj1" fmla="val 86730"/>
                <a:gd name="adj2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BBBD25A-C5A4-2B60-C6C5-856CDB2F71F3}"/>
                </a:ext>
              </a:extLst>
            </p:cNvPr>
            <p:cNvSpPr txBox="1"/>
            <p:nvPr/>
          </p:nvSpPr>
          <p:spPr>
            <a:xfrm>
              <a:off x="5318095" y="2884623"/>
              <a:ext cx="3481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</a:rPr>
                <a:t>(-)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9E9E27E-31C2-DB57-1D47-39FA5343C4EE}"/>
                </a:ext>
              </a:extLst>
            </p:cNvPr>
            <p:cNvSpPr txBox="1"/>
            <p:nvPr/>
          </p:nvSpPr>
          <p:spPr>
            <a:xfrm>
              <a:off x="5318095" y="4520231"/>
              <a:ext cx="3481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</a:rPr>
                <a:t>(-)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7" name="Multiply 46">
            <a:extLst>
              <a:ext uri="{FF2B5EF4-FFF2-40B4-BE49-F238E27FC236}">
                <a16:creationId xmlns:a16="http://schemas.microsoft.com/office/drawing/2014/main" id="{2A3978F9-C393-9BB9-22EE-D13BCBB9A141}"/>
              </a:ext>
            </a:extLst>
          </p:cNvPr>
          <p:cNvSpPr/>
          <p:nvPr/>
        </p:nvSpPr>
        <p:spPr>
          <a:xfrm>
            <a:off x="6608070" y="3044277"/>
            <a:ext cx="1181574" cy="116523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F296C19E-F651-7C9F-9C94-F1A089A62D3C}"/>
              </a:ext>
            </a:extLst>
          </p:cNvPr>
          <p:cNvSpPr/>
          <p:nvPr/>
        </p:nvSpPr>
        <p:spPr>
          <a:xfrm>
            <a:off x="6623263" y="5428610"/>
            <a:ext cx="1181574" cy="116523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5AFED1-EB00-F517-BD5C-0269AE8596C3}"/>
              </a:ext>
            </a:extLst>
          </p:cNvPr>
          <p:cNvSpPr txBox="1"/>
          <p:nvPr/>
        </p:nvSpPr>
        <p:spPr>
          <a:xfrm>
            <a:off x="7601840" y="2464784"/>
            <a:ext cx="46638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Reason</a:t>
            </a:r>
            <a:r>
              <a:rPr lang="en-US" altLang="zh-CN" dirty="0"/>
              <a:t>s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 to identify</a:t>
            </a:r>
            <a:r>
              <a:rPr lang="zh-CN" altLang="en-US" dirty="0"/>
              <a:t> </a:t>
            </a:r>
            <a:r>
              <a:rPr lang="en-US" altLang="zh-CN" dirty="0"/>
              <a:t>(R1,</a:t>
            </a:r>
            <a:r>
              <a:rPr lang="zh-CN" altLang="en-US" dirty="0"/>
              <a:t> </a:t>
            </a:r>
            <a:r>
              <a:rPr lang="en-US" altLang="zh-CN" dirty="0"/>
              <a:t>R2,</a:t>
            </a:r>
            <a:r>
              <a:rPr lang="zh-CN" altLang="en-US" dirty="0"/>
              <a:t> </a:t>
            </a:r>
            <a:r>
              <a:rPr lang="en-US" altLang="zh-CN" dirty="0"/>
              <a:t>R3)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difficult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dirty="0"/>
              <a:t>reviewers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(R2)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E44D54-E5D0-29FC-21D3-0AC5EBA39D1D}"/>
              </a:ext>
            </a:extLst>
          </p:cNvPr>
          <p:cNvSpPr txBox="1"/>
          <p:nvPr/>
        </p:nvSpPr>
        <p:spPr>
          <a:xfrm>
            <a:off x="7601840" y="4413610"/>
            <a:ext cx="4224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Reason: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move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dirty="0"/>
              <a:t>empirical regularities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dirty="0"/>
              <a:t>explaining the behavioral processes</a:t>
            </a:r>
            <a:r>
              <a:rPr lang="zh-CN" altLang="en-US" dirty="0"/>
              <a:t> </a:t>
            </a:r>
            <a:r>
              <a:rPr lang="en-US" altLang="zh-CN" dirty="0"/>
              <a:t>(SE),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switch</a:t>
            </a:r>
            <a:r>
              <a:rPr lang="zh-CN" altLang="en-US" dirty="0"/>
              <a:t> </a:t>
            </a:r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focus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157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F50A6-05BC-4705-AA12-F5FF07C0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0BC67E-7E45-92EE-71D1-D027A6118B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8219A-1F68-02F3-106D-D01392A3A245}"/>
              </a:ext>
            </a:extLst>
          </p:cNvPr>
          <p:cNvSpPr/>
          <p:nvPr/>
        </p:nvSpPr>
        <p:spPr>
          <a:xfrm>
            <a:off x="8899344" y="3294784"/>
            <a:ext cx="1925357" cy="85985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Answer </a:t>
            </a:r>
            <a:r>
              <a:rPr lang="en-US" altLang="zh-CN" sz="2000" dirty="0"/>
              <a:t>Quality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58FABD-BC4F-A30D-CB63-C5B249451983}"/>
              </a:ext>
            </a:extLst>
          </p:cNvPr>
          <p:cNvSpPr/>
          <p:nvPr/>
        </p:nvSpPr>
        <p:spPr>
          <a:xfrm>
            <a:off x="6590925" y="1585391"/>
            <a:ext cx="1925357" cy="8209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Answer</a:t>
            </a:r>
            <a:r>
              <a:rPr lang="en-US" altLang="zh-CN" sz="2000" dirty="0"/>
              <a:t>er</a:t>
            </a:r>
            <a:r>
              <a:rPr lang="en-US" sz="2000" dirty="0"/>
              <a:t> Participation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730C98-D2F6-43CA-CA3C-45499F87CE75}"/>
              </a:ext>
            </a:extLst>
          </p:cNvPr>
          <p:cNvSpPr/>
          <p:nvPr/>
        </p:nvSpPr>
        <p:spPr>
          <a:xfrm>
            <a:off x="1658679" y="2554168"/>
            <a:ext cx="1786456" cy="79211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Has AI Answer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08F1E2-05F6-8984-6953-5DA2545C8536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3445135" y="1995888"/>
            <a:ext cx="3145790" cy="95434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789C43-8403-0536-C4A4-A09DC8517A77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4427055" y="2710016"/>
            <a:ext cx="622702" cy="17416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8D8E757-5A47-C904-6F84-3208355B9E9D}"/>
              </a:ext>
            </a:extLst>
          </p:cNvPr>
          <p:cNvSpPr/>
          <p:nvPr/>
        </p:nvSpPr>
        <p:spPr>
          <a:xfrm>
            <a:off x="4358409" y="4451616"/>
            <a:ext cx="1382696" cy="7744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AI Answer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E33-B8D0-DA37-91A6-66AD3DB970F9}"/>
              </a:ext>
            </a:extLst>
          </p:cNvPr>
          <p:cNvSpPr/>
          <p:nvPr/>
        </p:nvSpPr>
        <p:spPr>
          <a:xfrm>
            <a:off x="6548315" y="4451616"/>
            <a:ext cx="1382696" cy="7744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AI Answer Quality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7BC622-D8B3-0FDE-0FD5-7BF19004D32F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7239663" y="3556812"/>
            <a:ext cx="146271" cy="89480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AFE688-D0E8-7EED-EFEE-94CE57E049BA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3445135" y="2950228"/>
            <a:ext cx="5454209" cy="77448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F35ABF-110B-C62C-CD91-6BBECBCB12AD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049757" y="3294784"/>
            <a:ext cx="192094" cy="11568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6C7FC8-D158-E395-19C3-2CA822380D64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304622" y="2113534"/>
            <a:ext cx="935040" cy="233808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E1F1769-332D-7AC6-961A-2CB29457BAE0}"/>
              </a:ext>
            </a:extLst>
          </p:cNvPr>
          <p:cNvSpPr/>
          <p:nvPr/>
        </p:nvSpPr>
        <p:spPr>
          <a:xfrm rot="5400000">
            <a:off x="6031744" y="1748538"/>
            <a:ext cx="280310" cy="7953390"/>
          </a:xfrm>
          <a:prstGeom prst="rightBrace">
            <a:avLst>
              <a:gd name="adj1" fmla="val 41330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6F676-307C-A987-4D52-2B81EC34D196}"/>
              </a:ext>
            </a:extLst>
          </p:cNvPr>
          <p:cNvSpPr txBox="1"/>
          <p:nvPr/>
        </p:nvSpPr>
        <p:spPr>
          <a:xfrm>
            <a:off x="2195884" y="5928041"/>
            <a:ext cx="1769009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Fast</a:t>
            </a:r>
            <a:r>
              <a:rPr lang="en-US" sz="2000" dirty="0"/>
              <a:t> 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62A09D-AE44-CEA8-8397-5B9B76FBCCFC}"/>
              </a:ext>
            </a:extLst>
          </p:cNvPr>
          <p:cNvSpPr txBox="1"/>
          <p:nvPr/>
        </p:nvSpPr>
        <p:spPr>
          <a:xfrm>
            <a:off x="8167194" y="5886801"/>
            <a:ext cx="184345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Slow</a:t>
            </a:r>
            <a:r>
              <a:rPr lang="en-US" sz="2000" dirty="0"/>
              <a:t> Processing</a:t>
            </a:r>
          </a:p>
        </p:txBody>
      </p:sp>
    </p:spTree>
    <p:extLst>
      <p:ext uri="{BB962C8B-B14F-4D97-AF65-F5344CB8AC3E}">
        <p14:creationId xmlns:p14="http://schemas.microsoft.com/office/powerpoint/2010/main" val="1159731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6B07-04F5-77C3-1EFD-276DF937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076FD97-E37D-45BA-E58E-A8180CF8E18F}"/>
              </a:ext>
            </a:extLst>
          </p:cNvPr>
          <p:cNvGrpSpPr/>
          <p:nvPr/>
        </p:nvGrpSpPr>
        <p:grpSpPr>
          <a:xfrm>
            <a:off x="1706937" y="1857748"/>
            <a:ext cx="9166022" cy="4742760"/>
            <a:chOff x="1706937" y="1857748"/>
            <a:chExt cx="9166022" cy="47427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A393A0D-9F45-BB88-6B36-E5DBA5A252F9}"/>
                </a:ext>
              </a:extLst>
            </p:cNvPr>
            <p:cNvSpPr/>
            <p:nvPr/>
          </p:nvSpPr>
          <p:spPr>
            <a:xfrm>
              <a:off x="8947602" y="3567141"/>
              <a:ext cx="1925357" cy="8598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Answer </a:t>
              </a:r>
              <a:r>
                <a:rPr lang="en-US" altLang="zh-CN" sz="2000" dirty="0"/>
                <a:t>Quality</a:t>
              </a:r>
              <a:endParaRPr lang="en-US" sz="20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79C6252-273F-45E1-E4A4-22612483AC6E}"/>
                </a:ext>
              </a:extLst>
            </p:cNvPr>
            <p:cNvSpPr/>
            <p:nvPr/>
          </p:nvSpPr>
          <p:spPr>
            <a:xfrm>
              <a:off x="6639183" y="1857748"/>
              <a:ext cx="1925357" cy="8209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Answer</a:t>
              </a:r>
              <a:r>
                <a:rPr lang="en-US" altLang="zh-CN" sz="2000" dirty="0"/>
                <a:t>er</a:t>
              </a:r>
              <a:r>
                <a:rPr lang="en-US" sz="2000" dirty="0"/>
                <a:t> Participation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823D12-4CF4-809B-EF40-105C41E8397E}"/>
                </a:ext>
              </a:extLst>
            </p:cNvPr>
            <p:cNvSpPr/>
            <p:nvPr/>
          </p:nvSpPr>
          <p:spPr>
            <a:xfrm>
              <a:off x="1706937" y="2826525"/>
              <a:ext cx="1786456" cy="7921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Has AI Answer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8C9F2A4-03EE-B3F8-120F-61C4023B7DB3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 flipV="1">
              <a:off x="3493393" y="2268245"/>
              <a:ext cx="3145790" cy="95434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B3FF373-110B-AF9E-3A83-84AC12D98C13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4475313" y="2982373"/>
              <a:ext cx="622702" cy="1741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DB84B0E-07A9-3EBB-8527-F8472890DE75}"/>
                </a:ext>
              </a:extLst>
            </p:cNvPr>
            <p:cNvSpPr/>
            <p:nvPr/>
          </p:nvSpPr>
          <p:spPr>
            <a:xfrm>
              <a:off x="4406667" y="4723973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AI Answer Length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6425B5D-68CC-1136-FFF2-E99370F53CF4}"/>
                </a:ext>
              </a:extLst>
            </p:cNvPr>
            <p:cNvSpPr/>
            <p:nvPr/>
          </p:nvSpPr>
          <p:spPr>
            <a:xfrm>
              <a:off x="6596573" y="4723973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AI Answer Quality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6F8B48C-B85A-5B1C-4F97-09A94DCFECE3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7287921" y="3829169"/>
              <a:ext cx="146271" cy="8948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6FDB7F1-1D87-919B-9685-8F666A9BD54E}"/>
                </a:ext>
              </a:extLst>
            </p:cNvPr>
            <p:cNvCxnSpPr>
              <a:cxnSpLocks/>
              <a:stCxn id="6" idx="3"/>
              <a:endCxn id="4" idx="1"/>
            </p:cNvCxnSpPr>
            <p:nvPr/>
          </p:nvCxnSpPr>
          <p:spPr>
            <a:xfrm>
              <a:off x="3493393" y="3222585"/>
              <a:ext cx="5454209" cy="7744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D382216-C3EA-1652-AE14-B4A1DCF7EDFC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5098015" y="3567141"/>
              <a:ext cx="192094" cy="115683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98D3F17-F89E-7980-4B35-313BAB9B9E2C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6352880" y="2385891"/>
              <a:ext cx="935040" cy="23380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26E8C716-E67B-62DD-2793-FF2E21B2D603}"/>
                </a:ext>
              </a:extLst>
            </p:cNvPr>
            <p:cNvSpPr/>
            <p:nvPr/>
          </p:nvSpPr>
          <p:spPr>
            <a:xfrm rot="5400000">
              <a:off x="6080002" y="2020895"/>
              <a:ext cx="280310" cy="7953390"/>
            </a:xfrm>
            <a:prstGeom prst="rightBrace">
              <a:avLst>
                <a:gd name="adj1" fmla="val 4133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659354-346C-336E-8D62-C56FDD430727}"/>
                </a:ext>
              </a:extLst>
            </p:cNvPr>
            <p:cNvSpPr txBox="1"/>
            <p:nvPr/>
          </p:nvSpPr>
          <p:spPr>
            <a:xfrm>
              <a:off x="2244142" y="6200398"/>
              <a:ext cx="176900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Fast</a:t>
              </a:r>
              <a:r>
                <a:rPr lang="en-US" sz="2000" dirty="0"/>
                <a:t> Processing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DAAB24-BDBB-C0CD-C12D-74EBFCC37239}"/>
                </a:ext>
              </a:extLst>
            </p:cNvPr>
            <p:cNvSpPr txBox="1"/>
            <p:nvPr/>
          </p:nvSpPr>
          <p:spPr>
            <a:xfrm>
              <a:off x="8215452" y="6159158"/>
              <a:ext cx="184345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000" dirty="0"/>
                <a:t>Slow</a:t>
              </a:r>
              <a:r>
                <a:rPr lang="en-US" sz="2000" dirty="0"/>
                <a:t> Processing</a:t>
              </a: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E31D58-D680-4D44-191B-7136714F05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framework:</a:t>
            </a:r>
            <a:r>
              <a:rPr lang="zh-CN" altLang="en-US" dirty="0"/>
              <a:t> </a:t>
            </a:r>
            <a:r>
              <a:rPr lang="en-US" altLang="zh-CN" dirty="0"/>
              <a:t>What’s</a:t>
            </a:r>
            <a:r>
              <a:rPr lang="zh-CN" altLang="en-US" dirty="0"/>
              <a:t> </a:t>
            </a:r>
            <a:r>
              <a:rPr lang="en-US" altLang="zh-CN" dirty="0"/>
              <a:t>difference?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1A4F323-B836-E71A-0668-568A0B5689B5}"/>
              </a:ext>
            </a:extLst>
          </p:cNvPr>
          <p:cNvSpPr/>
          <p:nvPr/>
        </p:nvSpPr>
        <p:spPr>
          <a:xfrm>
            <a:off x="619016" y="3413308"/>
            <a:ext cx="1382232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 Source Effect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7358562-BE1A-7075-6B7C-F07AF38E6E93}"/>
              </a:ext>
            </a:extLst>
          </p:cNvPr>
          <p:cNvSpPr/>
          <p:nvPr/>
        </p:nvSpPr>
        <p:spPr>
          <a:xfrm>
            <a:off x="5487111" y="4369440"/>
            <a:ext cx="1382232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 </a:t>
            </a:r>
            <a:r>
              <a:rPr lang="en-US" altLang="zh-CN" sz="1400" dirty="0"/>
              <a:t>Content</a:t>
            </a:r>
            <a:r>
              <a:rPr lang="en-US" sz="1400" dirty="0"/>
              <a:t> Effect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E770CF-3FA7-D52B-E6E5-831188EB9ABE}"/>
              </a:ext>
            </a:extLst>
          </p:cNvPr>
          <p:cNvSpPr/>
          <p:nvPr/>
        </p:nvSpPr>
        <p:spPr>
          <a:xfrm>
            <a:off x="7988561" y="1452037"/>
            <a:ext cx="1382232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 </a:t>
            </a:r>
          </a:p>
          <a:p>
            <a:pPr algn="ctr"/>
            <a:r>
              <a:rPr lang="en-US" altLang="zh-CN" sz="1400" dirty="0"/>
              <a:t>Core</a:t>
            </a:r>
            <a:r>
              <a:rPr lang="zh-CN" altLang="en-US" sz="1400" dirty="0"/>
              <a:t> </a:t>
            </a:r>
            <a:r>
              <a:rPr lang="en-US" altLang="zh-CN" sz="1400" dirty="0"/>
              <a:t>DV</a:t>
            </a:r>
            <a:endParaRPr lang="en-US" sz="1400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7E25D04-A35A-C4BB-77F6-3549288512C7}"/>
              </a:ext>
            </a:extLst>
          </p:cNvPr>
          <p:cNvSpPr/>
          <p:nvPr/>
        </p:nvSpPr>
        <p:spPr>
          <a:xfrm>
            <a:off x="317500" y="1100061"/>
            <a:ext cx="1534489" cy="364978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Previous</a:t>
            </a:r>
            <a:r>
              <a:rPr lang="zh-CN" altLang="en-US" sz="1400" dirty="0"/>
              <a:t> </a:t>
            </a:r>
            <a:r>
              <a:rPr lang="en-US" altLang="zh-CN" sz="1400" dirty="0"/>
              <a:t>Version</a:t>
            </a:r>
            <a:endParaRPr lang="en-US" sz="1400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14E911-9E61-9777-A830-56FDFE3DBBBC}"/>
              </a:ext>
            </a:extLst>
          </p:cNvPr>
          <p:cNvSpPr/>
          <p:nvPr/>
        </p:nvSpPr>
        <p:spPr>
          <a:xfrm>
            <a:off x="317500" y="1537923"/>
            <a:ext cx="1534489" cy="364978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New</a:t>
            </a:r>
            <a:r>
              <a:rPr lang="zh-CN" altLang="en-US" sz="1400" dirty="0"/>
              <a:t> </a:t>
            </a:r>
            <a:r>
              <a:rPr lang="en-US" altLang="zh-CN" sz="1400" dirty="0"/>
              <a:t>Revision</a:t>
            </a:r>
            <a:endParaRPr lang="en-US" sz="1400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CBF3B8D-A19E-AE3E-2B39-8C9FB2661DEC}"/>
              </a:ext>
            </a:extLst>
          </p:cNvPr>
          <p:cNvSpPr/>
          <p:nvPr/>
        </p:nvSpPr>
        <p:spPr>
          <a:xfrm>
            <a:off x="10492267" y="3317946"/>
            <a:ext cx="1382233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New</a:t>
            </a:r>
            <a:r>
              <a:rPr lang="zh-CN" altLang="en-US" sz="1400" dirty="0"/>
              <a:t> </a:t>
            </a:r>
            <a:r>
              <a:rPr lang="en-US" altLang="zh-CN" sz="1400" dirty="0"/>
              <a:t>DV</a:t>
            </a:r>
            <a:endParaRPr lang="en-US" sz="1400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2BA6B25-96F2-4646-5C45-7BEF51F5629B}"/>
              </a:ext>
            </a:extLst>
          </p:cNvPr>
          <p:cNvSpPr/>
          <p:nvPr/>
        </p:nvSpPr>
        <p:spPr>
          <a:xfrm>
            <a:off x="7754946" y="5094184"/>
            <a:ext cx="1382233" cy="583762"/>
          </a:xfrm>
          <a:prstGeom prst="roundRect">
            <a:avLst>
              <a:gd name="adj" fmla="val 45809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Questioned</a:t>
            </a:r>
            <a:r>
              <a:rPr lang="zh-CN" altLang="en-US" sz="1400" dirty="0"/>
              <a:t> </a:t>
            </a:r>
            <a:r>
              <a:rPr lang="en-US" altLang="zh-CN" sz="1400" dirty="0"/>
              <a:t>By</a:t>
            </a:r>
            <a:r>
              <a:rPr lang="zh-CN" altLang="en-US" sz="1400" dirty="0"/>
              <a:t> </a:t>
            </a:r>
            <a:r>
              <a:rPr lang="en-US" altLang="zh-CN" sz="1400" dirty="0"/>
              <a:t>Reviewer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2325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B59F9-4F5F-EB3B-E1D2-CA92CF3DD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40C7CF-070D-2616-2CE1-4011646D17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AI’s Two Roles in Competition with Human</a:t>
            </a:r>
            <a:endParaRPr lang="en-US" altLang="zh-C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075D6C-95C4-602A-7E0D-84881AA3D785}"/>
              </a:ext>
            </a:extLst>
          </p:cNvPr>
          <p:cNvGrpSpPr/>
          <p:nvPr/>
        </p:nvGrpSpPr>
        <p:grpSpPr>
          <a:xfrm>
            <a:off x="4016783" y="1712981"/>
            <a:ext cx="7853480" cy="4090130"/>
            <a:chOff x="2660220" y="1649186"/>
            <a:chExt cx="9166022" cy="47737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200ABF-A553-2F02-AFD9-FBD790F4C086}"/>
                </a:ext>
              </a:extLst>
            </p:cNvPr>
            <p:cNvSpPr/>
            <p:nvPr/>
          </p:nvSpPr>
          <p:spPr>
            <a:xfrm>
              <a:off x="9900885" y="3358579"/>
              <a:ext cx="1925357" cy="8598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 </a:t>
              </a:r>
              <a:r>
                <a:rPr lang="en-US" altLang="zh-CN" dirty="0"/>
                <a:t>Quality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26A909-005D-4931-C70C-4D6177BDF05F}"/>
                </a:ext>
              </a:extLst>
            </p:cNvPr>
            <p:cNvSpPr/>
            <p:nvPr/>
          </p:nvSpPr>
          <p:spPr>
            <a:xfrm>
              <a:off x="7592466" y="1649186"/>
              <a:ext cx="1925357" cy="8209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</a:t>
              </a:r>
              <a:r>
                <a:rPr lang="en-US" altLang="zh-CN" dirty="0"/>
                <a:t>er</a:t>
              </a:r>
              <a:r>
                <a:rPr lang="en-US" dirty="0"/>
                <a:t> Participation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30AED5-A6FB-2FFF-91A9-7D60432248D1}"/>
                </a:ext>
              </a:extLst>
            </p:cNvPr>
            <p:cNvSpPr/>
            <p:nvPr/>
          </p:nvSpPr>
          <p:spPr>
            <a:xfrm>
              <a:off x="2660220" y="2617963"/>
              <a:ext cx="1786456" cy="7921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 AI Answer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2063F01-79B0-4D8A-10A4-191C7B25D548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 flipV="1">
              <a:off x="4446676" y="2059683"/>
              <a:ext cx="3145790" cy="95434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0D29BDC-7D49-F617-5144-143D899D4A14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5428596" y="2773811"/>
              <a:ext cx="622702" cy="1741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80D435-0BB3-2F9D-6065-536B2AE00CDC}"/>
                </a:ext>
              </a:extLst>
            </p:cNvPr>
            <p:cNvSpPr/>
            <p:nvPr/>
          </p:nvSpPr>
          <p:spPr>
            <a:xfrm>
              <a:off x="5359950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Length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EEA2C2F-AB53-C5E2-B580-59D535E67F1C}"/>
                </a:ext>
              </a:extLst>
            </p:cNvPr>
            <p:cNvSpPr/>
            <p:nvPr/>
          </p:nvSpPr>
          <p:spPr>
            <a:xfrm>
              <a:off x="7549856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Quality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0D7EF59-514A-23D7-D235-5C7CAE201D14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8241204" y="3620607"/>
              <a:ext cx="146271" cy="8948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741C8E9-A26C-B6AA-0505-B386B145866A}"/>
                </a:ext>
              </a:extLst>
            </p:cNvPr>
            <p:cNvCxnSpPr>
              <a:cxnSpLocks/>
              <a:stCxn id="6" idx="3"/>
              <a:endCxn id="4" idx="1"/>
            </p:cNvCxnSpPr>
            <p:nvPr/>
          </p:nvCxnSpPr>
          <p:spPr>
            <a:xfrm>
              <a:off x="4446676" y="3014023"/>
              <a:ext cx="5454209" cy="7744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CD9F654-B153-3210-6CA8-0D3838366D83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6051298" y="3358579"/>
              <a:ext cx="192094" cy="115683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D994A81-505D-2427-7B65-99F445A3014B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7306163" y="2177329"/>
              <a:ext cx="935040" cy="23380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5B7A8EF7-8940-2D2E-7DC6-D7F45C281D89}"/>
                </a:ext>
              </a:extLst>
            </p:cNvPr>
            <p:cNvSpPr/>
            <p:nvPr/>
          </p:nvSpPr>
          <p:spPr>
            <a:xfrm rot="5400000">
              <a:off x="7033285" y="1812333"/>
              <a:ext cx="280310" cy="7953390"/>
            </a:xfrm>
            <a:prstGeom prst="rightBrace">
              <a:avLst>
                <a:gd name="adj1" fmla="val 4133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2D7A30-E431-A887-8BB7-9DC08DF2F122}"/>
                </a:ext>
              </a:extLst>
            </p:cNvPr>
            <p:cNvSpPr txBox="1"/>
            <p:nvPr/>
          </p:nvSpPr>
          <p:spPr>
            <a:xfrm>
              <a:off x="3197425" y="5991836"/>
              <a:ext cx="1873531" cy="43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Fast</a:t>
              </a:r>
              <a:r>
                <a:rPr lang="en-US" dirty="0"/>
                <a:t> Processing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E1E780-A5AA-325A-6BB8-DC822D305B5A}"/>
                </a:ext>
              </a:extLst>
            </p:cNvPr>
            <p:cNvSpPr txBox="1"/>
            <p:nvPr/>
          </p:nvSpPr>
          <p:spPr>
            <a:xfrm>
              <a:off x="9168735" y="5950596"/>
              <a:ext cx="1955702" cy="43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Slow</a:t>
              </a:r>
              <a:r>
                <a:rPr lang="en-US" dirty="0"/>
                <a:t> Processing</a:t>
              </a:r>
            </a:p>
          </p:txBody>
        </p:sp>
      </p:grpSp>
      <p:sp>
        <p:nvSpPr>
          <p:cNvPr id="3" name="Right Arrow 2">
            <a:extLst>
              <a:ext uri="{FF2B5EF4-FFF2-40B4-BE49-F238E27FC236}">
                <a16:creationId xmlns:a16="http://schemas.microsoft.com/office/drawing/2014/main" id="{02DDBE7D-86AC-3FAD-81BE-D3E58EBCBAD3}"/>
              </a:ext>
            </a:extLst>
          </p:cNvPr>
          <p:cNvSpPr/>
          <p:nvPr/>
        </p:nvSpPr>
        <p:spPr>
          <a:xfrm>
            <a:off x="2919124" y="2684348"/>
            <a:ext cx="871869" cy="39606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945BC1-180B-D20B-3265-C94475246A6C}"/>
              </a:ext>
            </a:extLst>
          </p:cNvPr>
          <p:cNvSpPr txBox="1"/>
          <p:nvPr/>
        </p:nvSpPr>
        <p:spPr>
          <a:xfrm>
            <a:off x="479651" y="2559212"/>
            <a:ext cx="2338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800" dirty="0"/>
              <a:t>Humans view AI as a weaker competitor</a:t>
            </a:r>
            <a:endParaRPr lang="en-US" sz="1800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3F0232B-4243-5769-4DFE-5DDC3A906575}"/>
              </a:ext>
            </a:extLst>
          </p:cNvPr>
          <p:cNvSpPr/>
          <p:nvPr/>
        </p:nvSpPr>
        <p:spPr>
          <a:xfrm>
            <a:off x="2919124" y="4238738"/>
            <a:ext cx="871869" cy="39606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E461CA-0524-42FD-15FB-E00A1C794361}"/>
              </a:ext>
            </a:extLst>
          </p:cNvPr>
          <p:cNvSpPr txBox="1"/>
          <p:nvPr/>
        </p:nvSpPr>
        <p:spPr>
          <a:xfrm>
            <a:off x="479651" y="4113602"/>
            <a:ext cx="2338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dirty="0"/>
              <a:t>AI </a:t>
            </a:r>
            <a:r>
              <a:rPr lang="en-US" altLang="zh-CN" dirty="0"/>
              <a:t>content</a:t>
            </a:r>
            <a:r>
              <a:rPr lang="en-US" altLang="en-US" dirty="0"/>
              <a:t> generate concrete competition 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48E5E1-A2B5-9494-BAF6-9ADA2C0FD148}"/>
              </a:ext>
            </a:extLst>
          </p:cNvPr>
          <p:cNvSpPr/>
          <p:nvPr/>
        </p:nvSpPr>
        <p:spPr>
          <a:xfrm>
            <a:off x="4016783" y="4010498"/>
            <a:ext cx="5576519" cy="971155"/>
          </a:xfrm>
          <a:prstGeom prst="rect">
            <a:avLst/>
          </a:prstGeom>
          <a:noFill/>
          <a:ln w="25400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7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7DDFE-E29C-C3B2-58ED-CBB182B0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571D86-4566-CE45-B8C4-1F6B9C3940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Two Different Content Signals for Two Decisions</a:t>
            </a:r>
            <a:endParaRPr lang="en-US" altLang="zh-CN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ABB218-B209-2782-3010-CB5B7750969D}"/>
              </a:ext>
            </a:extLst>
          </p:cNvPr>
          <p:cNvGrpSpPr/>
          <p:nvPr/>
        </p:nvGrpSpPr>
        <p:grpSpPr>
          <a:xfrm>
            <a:off x="317500" y="1712981"/>
            <a:ext cx="7853480" cy="4090130"/>
            <a:chOff x="2660220" y="1649186"/>
            <a:chExt cx="9166022" cy="477370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60B9397-637F-DFD4-2EAA-9D4E4659AD97}"/>
                </a:ext>
              </a:extLst>
            </p:cNvPr>
            <p:cNvSpPr/>
            <p:nvPr/>
          </p:nvSpPr>
          <p:spPr>
            <a:xfrm>
              <a:off x="9900885" y="3358579"/>
              <a:ext cx="1925357" cy="8598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 </a:t>
              </a:r>
              <a:r>
                <a:rPr lang="en-US" altLang="zh-CN" dirty="0"/>
                <a:t>Quality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42B8E57-479F-1126-E7FC-589FD26A1DEA}"/>
                </a:ext>
              </a:extLst>
            </p:cNvPr>
            <p:cNvSpPr/>
            <p:nvPr/>
          </p:nvSpPr>
          <p:spPr>
            <a:xfrm>
              <a:off x="7592466" y="1649186"/>
              <a:ext cx="1925357" cy="8209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</a:t>
              </a:r>
              <a:r>
                <a:rPr lang="en-US" altLang="zh-CN" dirty="0"/>
                <a:t>er</a:t>
              </a:r>
              <a:r>
                <a:rPr lang="en-US" dirty="0"/>
                <a:t> Participation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3FA58A-7B77-9F8E-0635-1A008854C21F}"/>
                </a:ext>
              </a:extLst>
            </p:cNvPr>
            <p:cNvSpPr/>
            <p:nvPr/>
          </p:nvSpPr>
          <p:spPr>
            <a:xfrm>
              <a:off x="2660220" y="2617963"/>
              <a:ext cx="1786456" cy="7921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Has AI Answer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D3E8CBB-9A67-4021-F0E8-1B12EB401EE5}"/>
                </a:ext>
              </a:extLst>
            </p:cNvPr>
            <p:cNvCxnSpPr>
              <a:cxnSpLocks/>
              <a:stCxn id="6" idx="3"/>
              <a:endCxn id="5" idx="1"/>
            </p:cNvCxnSpPr>
            <p:nvPr/>
          </p:nvCxnSpPr>
          <p:spPr>
            <a:xfrm flipV="1">
              <a:off x="4446676" y="2059683"/>
              <a:ext cx="3145790" cy="95434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4B7F626-9AFD-4352-5581-2E92AACEBA4D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5428596" y="2773811"/>
              <a:ext cx="622702" cy="174160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B7C9CE-7C52-8A13-E82A-7F1719E7E831}"/>
                </a:ext>
              </a:extLst>
            </p:cNvPr>
            <p:cNvSpPr/>
            <p:nvPr/>
          </p:nvSpPr>
          <p:spPr>
            <a:xfrm>
              <a:off x="5359950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Length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AF4A18-5877-1052-F6CD-BFACC64D77A9}"/>
                </a:ext>
              </a:extLst>
            </p:cNvPr>
            <p:cNvSpPr/>
            <p:nvPr/>
          </p:nvSpPr>
          <p:spPr>
            <a:xfrm>
              <a:off x="7549856" y="4515411"/>
              <a:ext cx="1382696" cy="7744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 Answer Quality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DAAAB00-D44B-D5CB-27FA-8EAC25E3A7DC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V="1">
              <a:off x="8241204" y="3620607"/>
              <a:ext cx="146271" cy="894804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D52B80A-3B48-1805-8663-972DD3175013}"/>
                </a:ext>
              </a:extLst>
            </p:cNvPr>
            <p:cNvCxnSpPr>
              <a:cxnSpLocks/>
              <a:stCxn id="6" idx="3"/>
              <a:endCxn id="4" idx="1"/>
            </p:cNvCxnSpPr>
            <p:nvPr/>
          </p:nvCxnSpPr>
          <p:spPr>
            <a:xfrm>
              <a:off x="4446676" y="3014023"/>
              <a:ext cx="5454209" cy="774485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4EBA8EC-5920-46B7-84AD-DAF74C479318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V="1">
              <a:off x="6051298" y="3358579"/>
              <a:ext cx="192094" cy="115683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718E954-2BF9-E51E-97D8-80C22F44077E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7306163" y="2177329"/>
              <a:ext cx="935040" cy="23380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1D863504-03CB-7A86-6ACB-080651AC17FB}"/>
                </a:ext>
              </a:extLst>
            </p:cNvPr>
            <p:cNvSpPr/>
            <p:nvPr/>
          </p:nvSpPr>
          <p:spPr>
            <a:xfrm rot="5400000">
              <a:off x="7033285" y="1812333"/>
              <a:ext cx="280310" cy="7953390"/>
            </a:xfrm>
            <a:prstGeom prst="rightBrace">
              <a:avLst>
                <a:gd name="adj1" fmla="val 41330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0627A6-44CF-359F-5C72-6EA565A5CBD5}"/>
                </a:ext>
              </a:extLst>
            </p:cNvPr>
            <p:cNvSpPr txBox="1"/>
            <p:nvPr/>
          </p:nvSpPr>
          <p:spPr>
            <a:xfrm>
              <a:off x="3197425" y="5991836"/>
              <a:ext cx="1873531" cy="43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Fast</a:t>
              </a:r>
              <a:r>
                <a:rPr lang="en-US" dirty="0"/>
                <a:t> Processing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BA23E0-F361-17DD-44F3-AA667BC2473E}"/>
                </a:ext>
              </a:extLst>
            </p:cNvPr>
            <p:cNvSpPr txBox="1"/>
            <p:nvPr/>
          </p:nvSpPr>
          <p:spPr>
            <a:xfrm>
              <a:off x="9168735" y="5950596"/>
              <a:ext cx="1955702" cy="431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Slow</a:t>
              </a:r>
              <a:r>
                <a:rPr lang="en-US" dirty="0"/>
                <a:t> Processing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E0658F2-F284-5CD7-304A-4F535C030BBE}"/>
              </a:ext>
            </a:extLst>
          </p:cNvPr>
          <p:cNvSpPr txBox="1"/>
          <p:nvPr/>
        </p:nvSpPr>
        <p:spPr>
          <a:xfrm>
            <a:off x="8502275" y="1501070"/>
            <a:ext cx="3542933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Based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Kahneman</a:t>
            </a:r>
            <a:r>
              <a:rPr lang="zh-CN" altLang="en-US" sz="2000" dirty="0"/>
              <a:t> </a:t>
            </a:r>
            <a:r>
              <a:rPr lang="en-US" altLang="zh-CN" sz="2000" dirty="0"/>
              <a:t>(2011)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Answers make two decisions </a:t>
            </a:r>
          </a:p>
          <a:p>
            <a:r>
              <a:rPr lang="en-US" sz="2000" dirty="0"/>
              <a:t>1) whether to participate </a:t>
            </a:r>
          </a:p>
          <a:p>
            <a:r>
              <a:rPr lang="en-US" sz="2000" dirty="0"/>
              <a:t>2) how to contribute</a:t>
            </a:r>
          </a:p>
          <a:p>
            <a:endParaRPr lang="en-US" sz="2000" dirty="0"/>
          </a:p>
          <a:p>
            <a:r>
              <a:rPr lang="en-US" sz="2000" dirty="0"/>
              <a:t>Participation is a fast decision which relies on fast signals, such as length</a:t>
            </a:r>
          </a:p>
          <a:p>
            <a:endParaRPr lang="en-US" sz="2000" dirty="0"/>
          </a:p>
          <a:p>
            <a:r>
              <a:rPr lang="en-US" sz="2000" dirty="0"/>
              <a:t>Contribution is a slow decision  which relies on slow signals, such as quality</a:t>
            </a:r>
          </a:p>
          <a:p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368F9A-3238-2FBC-6D03-BD1F0BEAF4A5}"/>
              </a:ext>
            </a:extLst>
          </p:cNvPr>
          <p:cNvSpPr txBox="1"/>
          <p:nvPr/>
        </p:nvSpPr>
        <p:spPr>
          <a:xfrm>
            <a:off x="0" y="6521719"/>
            <a:ext cx="79211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Kahneman, D. (2011). Thinking, fast and slow.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Farrar, Straus and Giroux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68476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369E-7899-96C6-0242-CCA912B8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78E4AA-15EE-FBE9-483E-83AF296B48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Theor</a:t>
            </a:r>
            <a:r>
              <a:rPr lang="en-US" altLang="zh-CN" dirty="0"/>
              <a:t>etical</a:t>
            </a:r>
            <a:r>
              <a:rPr lang="zh-CN" altLang="en-US" dirty="0"/>
              <a:t> </a:t>
            </a:r>
            <a:r>
              <a:rPr lang="en-US" altLang="zh-CN" dirty="0"/>
              <a:t>Development</a:t>
            </a:r>
            <a:r>
              <a:rPr lang="en-US" dirty="0"/>
              <a:t>: </a:t>
            </a:r>
            <a:r>
              <a:rPr lang="en-US" altLang="en-US" dirty="0"/>
              <a:t>Competition with a "Weaker" Competitor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562B5C-D9E6-02FA-9A08-EB105CCC11BB}"/>
              </a:ext>
            </a:extLst>
          </p:cNvPr>
          <p:cNvSpPr txBox="1">
            <a:spLocks/>
          </p:cNvSpPr>
          <p:nvPr/>
        </p:nvSpPr>
        <p:spPr>
          <a:xfrm>
            <a:off x="317500" y="1489588"/>
            <a:ext cx="11607408" cy="4538679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1909">
              <a:lnSpc>
                <a:spcPct val="120000"/>
              </a:lnSpc>
            </a:pPr>
            <a:r>
              <a:rPr lang="en-US" altLang="en-US" sz="1667" dirty="0"/>
              <a:t>Core Logic: </a:t>
            </a:r>
          </a:p>
          <a:p>
            <a:pPr lvl="1" defTabSz="761909">
              <a:lnSpc>
                <a:spcPct val="120000"/>
              </a:lnSpc>
            </a:pPr>
            <a:r>
              <a:rPr lang="en-US" altLang="en-US" sz="1500" dirty="0"/>
              <a:t>Humans view AI as a weaker competitor</a:t>
            </a:r>
            <a:r>
              <a:rPr lang="zh-CN" altLang="en-US" sz="1500" dirty="0"/>
              <a:t> </a:t>
            </a:r>
            <a:r>
              <a:rPr lang="en-US" altLang="zh-CN" sz="1500" dirty="0"/>
              <a:t>(without</a:t>
            </a:r>
            <a:r>
              <a:rPr lang="zh-CN" altLang="en-US" sz="1500" dirty="0"/>
              <a:t> </a:t>
            </a:r>
            <a:r>
              <a:rPr lang="en-US" altLang="zh-CN" sz="1500" dirty="0"/>
              <a:t>seeing</a:t>
            </a:r>
            <a:r>
              <a:rPr lang="zh-CN" altLang="en-US" sz="1500" dirty="0"/>
              <a:t> </a:t>
            </a:r>
            <a:r>
              <a:rPr lang="en-US" altLang="zh-CN" sz="1500" dirty="0"/>
              <a:t>content)</a:t>
            </a:r>
            <a:r>
              <a:rPr lang="en-US" altLang="en-US" sz="1500" dirty="0"/>
              <a:t>, </a:t>
            </a:r>
          </a:p>
          <a:p>
            <a:pPr lvl="1" defTabSz="761909">
              <a:lnSpc>
                <a:spcPct val="120000"/>
              </a:lnSpc>
            </a:pPr>
            <a:r>
              <a:rPr lang="en-US" altLang="en-US" sz="1500" dirty="0"/>
              <a:t>yet AI </a:t>
            </a:r>
            <a:r>
              <a:rPr lang="en-US" altLang="zh-CN" sz="1500" dirty="0"/>
              <a:t>content</a:t>
            </a:r>
            <a:r>
              <a:rPr lang="en-US" altLang="en-US" sz="1500" dirty="0"/>
              <a:t> triggers strong competitive dynamics that </a:t>
            </a:r>
            <a:r>
              <a:rPr lang="en-US" altLang="zh-CN" sz="1500" dirty="0">
                <a:solidFill>
                  <a:srgbClr val="FF0000"/>
                </a:solidFill>
              </a:rPr>
              <a:t>deter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human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contributions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/>
              <a:t>and</a:t>
            </a:r>
            <a:r>
              <a:rPr lang="zh-CN" altLang="en-US" sz="1500" dirty="0"/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elevate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human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answer</a:t>
            </a:r>
            <a:r>
              <a:rPr lang="zh-CN" altLang="en-US" sz="1500" dirty="0">
                <a:solidFill>
                  <a:srgbClr val="FF0000"/>
                </a:solidFill>
              </a:rPr>
              <a:t> </a:t>
            </a:r>
            <a:r>
              <a:rPr lang="en-US" altLang="zh-CN" sz="1500" dirty="0">
                <a:solidFill>
                  <a:srgbClr val="FF0000"/>
                </a:solidFill>
              </a:rPr>
              <a:t>quality</a:t>
            </a:r>
            <a:r>
              <a:rPr lang="en-US" altLang="en-US" sz="1500" dirty="0"/>
              <a:t>.</a:t>
            </a:r>
          </a:p>
          <a:p>
            <a:pPr defTabSz="761909">
              <a:lnSpc>
                <a:spcPct val="120000"/>
              </a:lnSpc>
            </a:pPr>
            <a:endParaRPr lang="en-US" altLang="en-US" sz="15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86F0B5-67DD-702A-41A7-EDC33DC1E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155850"/>
              </p:ext>
            </p:extLst>
          </p:nvPr>
        </p:nvGraphicFramePr>
        <p:xfrm>
          <a:off x="838729" y="3067711"/>
          <a:ext cx="10514544" cy="2665354"/>
        </p:xfrm>
        <a:graphic>
          <a:graphicData uri="http://schemas.openxmlformats.org/drawingml/2006/table">
            <a:tbl>
              <a:tblPr/>
              <a:tblGrid>
                <a:gridCol w="3504848">
                  <a:extLst>
                    <a:ext uri="{9D8B030D-6E8A-4147-A177-3AD203B41FA5}">
                      <a16:colId xmlns:a16="http://schemas.microsoft.com/office/drawing/2014/main" val="467291939"/>
                    </a:ext>
                  </a:extLst>
                </a:gridCol>
                <a:gridCol w="3504848">
                  <a:extLst>
                    <a:ext uri="{9D8B030D-6E8A-4147-A177-3AD203B41FA5}">
                      <a16:colId xmlns:a16="http://schemas.microsoft.com/office/drawing/2014/main" val="3768826293"/>
                    </a:ext>
                  </a:extLst>
                </a:gridCol>
                <a:gridCol w="3504848">
                  <a:extLst>
                    <a:ext uri="{9D8B030D-6E8A-4147-A177-3AD203B41FA5}">
                      <a16:colId xmlns:a16="http://schemas.microsoft.com/office/drawing/2014/main" val="2119890597"/>
                    </a:ext>
                  </a:extLst>
                </a:gridCol>
              </a:tblGrid>
              <a:tr h="45344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CN" sz="1800" dirty="0"/>
                        <a:t>DV:</a:t>
                      </a:r>
                      <a:r>
                        <a:rPr lang="zh-CN" altLang="en-US" sz="1800" dirty="0"/>
                        <a:t> 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Contribution (Fast)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Answer Quality (Slow)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209051"/>
                  </a:ext>
                </a:extLst>
              </a:tr>
              <a:tr h="45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AI Presence </a:t>
                      </a:r>
                      <a:br>
                        <a:rPr lang="en-US" sz="1800" b="1" dirty="0"/>
                      </a:br>
                      <a:r>
                        <a:rPr lang="en-US" sz="1800" b="1" dirty="0"/>
                        <a:t>(as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a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weaker</a:t>
                      </a:r>
                      <a:r>
                        <a:rPr lang="zh-CN" altLang="en-US" sz="1800" b="1" dirty="0"/>
                        <a:t> </a:t>
                      </a:r>
                      <a:r>
                        <a:rPr lang="en-US" altLang="zh-CN" sz="1800" b="1" dirty="0"/>
                        <a:t>competitor</a:t>
                      </a:r>
                      <a:r>
                        <a:rPr lang="en-US" sz="1800" b="1" dirty="0"/>
                        <a:t>)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H1: </a:t>
                      </a:r>
                      <a:r>
                        <a:rPr lang="en-US" sz="1800" b="1" dirty="0"/>
                        <a:t>↑</a:t>
                      </a:r>
                      <a:r>
                        <a:rPr lang="en-US" sz="1800" dirty="0"/>
                        <a:t> (easy win → motivates entry)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H3: </a:t>
                      </a:r>
                      <a:r>
                        <a:rPr lang="en-US" sz="1800" b="1"/>
                        <a:t>↓</a:t>
                      </a:r>
                      <a:r>
                        <a:rPr lang="en-US" sz="1800"/>
                        <a:t> (weak rival → complacency)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073917"/>
                  </a:ext>
                </a:extLst>
              </a:tr>
              <a:tr h="793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Moderated by Length</a:t>
                      </a:r>
                      <a:endParaRPr lang="en-US" sz="180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H2: </a:t>
                      </a:r>
                      <a:r>
                        <a:rPr lang="en-US" sz="1800" b="1" dirty="0"/>
                        <a:t>attenuates H1</a:t>
                      </a:r>
                      <a:r>
                        <a:rPr lang="en-US" sz="1800" dirty="0"/>
                        <a:t>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(occupied space → deters entry)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—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03508"/>
                  </a:ext>
                </a:extLst>
              </a:tr>
              <a:tr h="7935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Moderated by Quality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—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H4: </a:t>
                      </a:r>
                      <a:r>
                        <a:rPr lang="en-US" sz="1800" b="1" dirty="0"/>
                        <a:t>reverses H3</a:t>
                      </a:r>
                      <a:r>
                        <a:rPr lang="en-US" sz="1800" dirty="0"/>
                        <a:t> 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(credible rival → raises the bar)</a:t>
                      </a: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834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878B1B1-9203-7CE3-C4B5-B1B6961FD6F9}"/>
              </a:ext>
            </a:extLst>
          </p:cNvPr>
          <p:cNvSpPr txBox="1"/>
          <p:nvPr/>
        </p:nvSpPr>
        <p:spPr>
          <a:xfrm>
            <a:off x="8231749" y="6489155"/>
            <a:ext cx="392248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/>
              <a:t>Detailed</a:t>
            </a:r>
            <a:r>
              <a:rPr lang="zh-CN" altLang="en-US" sz="1500" dirty="0"/>
              <a:t> </a:t>
            </a:r>
            <a:r>
              <a:rPr lang="en-US" altLang="zh-CN" sz="1500" dirty="0"/>
              <a:t>theoretical</a:t>
            </a:r>
            <a:r>
              <a:rPr lang="zh-CN" altLang="en-US" sz="1500" dirty="0"/>
              <a:t> </a:t>
            </a:r>
            <a:r>
              <a:rPr lang="en-US" altLang="zh-CN" sz="1500" dirty="0"/>
              <a:t>development,</a:t>
            </a:r>
            <a:r>
              <a:rPr lang="zh-CN" altLang="en-US" sz="1500" dirty="0"/>
              <a:t> </a:t>
            </a:r>
            <a:r>
              <a:rPr lang="en-US" altLang="zh-CN" sz="1500" dirty="0"/>
              <a:t>see</a:t>
            </a:r>
            <a:r>
              <a:rPr lang="zh-CN" altLang="en-US" sz="1500" dirty="0"/>
              <a:t> </a:t>
            </a:r>
            <a:r>
              <a:rPr lang="en-US" altLang="zh-CN" sz="1500" dirty="0"/>
              <a:t>p17</a:t>
            </a:r>
            <a:r>
              <a:rPr lang="zh-CN" altLang="en-US" sz="1500" dirty="0"/>
              <a:t> </a:t>
            </a:r>
            <a:r>
              <a:rPr lang="en-US" altLang="zh-CN" sz="1500" dirty="0"/>
              <a:t>&amp;</a:t>
            </a:r>
            <a:r>
              <a:rPr lang="zh-CN" altLang="en-US" sz="1500" dirty="0"/>
              <a:t> </a:t>
            </a:r>
            <a:r>
              <a:rPr lang="en-US" altLang="zh-CN" sz="1500" dirty="0"/>
              <a:t>18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8645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E24CE-5D4D-DB67-6941-EAF656C7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EAB280-A0D5-DBDF-DB88-4E4D9CC156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B35D6E-4969-9CF3-D045-3425CB11A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832372"/>
              </p:ext>
            </p:extLst>
          </p:nvPr>
        </p:nvGraphicFramePr>
        <p:xfrm>
          <a:off x="1634090" y="1657294"/>
          <a:ext cx="8923820" cy="4069733"/>
        </p:xfrm>
        <a:graphic>
          <a:graphicData uri="http://schemas.openxmlformats.org/drawingml/2006/table">
            <a:tbl>
              <a:tblPr/>
              <a:tblGrid>
                <a:gridCol w="3355026">
                  <a:extLst>
                    <a:ext uri="{9D8B030D-6E8A-4147-A177-3AD203B41FA5}">
                      <a16:colId xmlns:a16="http://schemas.microsoft.com/office/drawing/2014/main" val="2194831079"/>
                    </a:ext>
                  </a:extLst>
                </a:gridCol>
                <a:gridCol w="1540011">
                  <a:extLst>
                    <a:ext uri="{9D8B030D-6E8A-4147-A177-3AD203B41FA5}">
                      <a16:colId xmlns:a16="http://schemas.microsoft.com/office/drawing/2014/main" val="3377069532"/>
                    </a:ext>
                  </a:extLst>
                </a:gridCol>
                <a:gridCol w="1636263">
                  <a:extLst>
                    <a:ext uri="{9D8B030D-6E8A-4147-A177-3AD203B41FA5}">
                      <a16:colId xmlns:a16="http://schemas.microsoft.com/office/drawing/2014/main" val="204925023"/>
                    </a:ext>
                  </a:extLst>
                </a:gridCol>
                <a:gridCol w="1196260">
                  <a:extLst>
                    <a:ext uri="{9D8B030D-6E8A-4147-A177-3AD203B41FA5}">
                      <a16:colId xmlns:a16="http://schemas.microsoft.com/office/drawing/2014/main" val="3863096390"/>
                    </a:ext>
                  </a:extLst>
                </a:gridCol>
                <a:gridCol w="1196260">
                  <a:extLst>
                    <a:ext uri="{9D8B030D-6E8A-4147-A177-3AD203B41FA5}">
                      <a16:colId xmlns:a16="http://schemas.microsoft.com/office/drawing/2014/main" val="67674783"/>
                    </a:ext>
                  </a:extLst>
                </a:gridCol>
              </a:tblGrid>
              <a:tr h="29124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 </a:t>
                      </a:r>
                    </a:p>
                  </a:txBody>
                  <a:tcPr marL="7088" marR="7088" marT="7088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(2)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(3)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(4)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002163"/>
                  </a:ext>
                </a:extLst>
              </a:tr>
              <a:tr h="86607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</a:rPr>
                        <a:t>DV: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 of the number of human answers provided within 7 days (answerNumi)</a:t>
                      </a: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first human answer quality (human1SimWithLLMi)</a:t>
                      </a: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944480"/>
                  </a:ext>
                </a:extLst>
              </a:tr>
              <a:tr h="29124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-0.046 ***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0.226 **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0.000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-0.120 .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373219"/>
                  </a:ext>
                </a:extLst>
              </a:tr>
              <a:tr h="291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(0.085)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(0.007)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(0.067)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601719"/>
                  </a:ext>
                </a:extLst>
              </a:tr>
              <a:tr h="29124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AILength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-0.045 **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-0.013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67539"/>
                  </a:ext>
                </a:extLst>
              </a:tr>
              <a:tr h="291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(0.014)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(0.011)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395254"/>
                  </a:ext>
                </a:extLst>
              </a:tr>
              <a:tr h="29124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sz="16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* AISimWithLLM</a:t>
                      </a:r>
                      <a:r>
                        <a:rPr lang="en-US" sz="1600" b="0" i="1" u="none" strike="noStrike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</a:t>
                      </a:r>
                      <a:endParaRPr lang="en-US" sz="1600" b="0" i="1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8003" marR="88003" marT="44002" marB="44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-0.038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0.350 ***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025830"/>
                  </a:ext>
                </a:extLst>
              </a:tr>
              <a:tr h="2912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(0.051)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(0.034)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975476"/>
                  </a:ext>
                </a:extLst>
              </a:tr>
              <a:tr h="291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controls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207335"/>
                  </a:ext>
                </a:extLst>
              </a:tr>
              <a:tr h="291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questioner controls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989340"/>
                  </a:ext>
                </a:extLst>
              </a:tr>
              <a:tr h="291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question timing FE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√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32091"/>
                  </a:ext>
                </a:extLst>
              </a:tr>
              <a:tr h="2912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3,613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3,603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2,685</a:t>
                      </a:r>
                    </a:p>
                  </a:txBody>
                  <a:tcPr marL="7088" marR="7088" marT="708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171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396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BC95-99B1-297A-F40F-BD052853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D3FFAF-FBF8-42D3-CCC4-181CEACD12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Our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results</a:t>
            </a:r>
            <a:r>
              <a:rPr lang="zh-CN" altLang="en-US" dirty="0"/>
              <a:t> </a:t>
            </a:r>
            <a:r>
              <a:rPr lang="en-US" altLang="zh-CN" dirty="0"/>
              <a:t>(interaction</a:t>
            </a:r>
            <a:r>
              <a:rPr lang="zh-CN" altLang="en-US" dirty="0"/>
              <a:t> </a:t>
            </a:r>
            <a:r>
              <a:rPr lang="en-US" altLang="zh-CN" dirty="0"/>
              <a:t>plot)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3363D-F9CC-F17B-9979-35933FC9DB11}"/>
              </a:ext>
            </a:extLst>
          </p:cNvPr>
          <p:cNvSpPr txBox="1"/>
          <p:nvPr/>
        </p:nvSpPr>
        <p:spPr>
          <a:xfrm>
            <a:off x="1045641" y="1418149"/>
            <a:ext cx="4681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AI</a:t>
            </a:r>
            <a:r>
              <a:rPr lang="zh-CN" altLang="en-US" sz="2000" dirty="0"/>
              <a:t> </a:t>
            </a:r>
            <a:r>
              <a:rPr lang="en-US" altLang="zh-CN" sz="2000" dirty="0"/>
              <a:t>deter</a:t>
            </a:r>
            <a:r>
              <a:rPr lang="zh-CN" altLang="en-US" sz="2000" dirty="0"/>
              <a:t> </a:t>
            </a:r>
            <a:r>
              <a:rPr lang="en-US" altLang="zh-CN" sz="2000" dirty="0"/>
              <a:t>human</a:t>
            </a:r>
            <a:r>
              <a:rPr lang="zh-CN" altLang="en-US" sz="2000" dirty="0"/>
              <a:t> </a:t>
            </a:r>
            <a:r>
              <a:rPr lang="en-US" altLang="zh-CN" sz="2000" dirty="0"/>
              <a:t>contribution</a:t>
            </a:r>
            <a:r>
              <a:rPr lang="zh-CN" altLang="en-US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when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lengthy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B6078-0B56-E84A-CA45-6E05A7DEA7BE}"/>
              </a:ext>
            </a:extLst>
          </p:cNvPr>
          <p:cNvSpPr txBox="1"/>
          <p:nvPr/>
        </p:nvSpPr>
        <p:spPr>
          <a:xfrm>
            <a:off x="6586963" y="1418149"/>
            <a:ext cx="4610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AI</a:t>
            </a:r>
            <a:r>
              <a:rPr lang="zh-CN" altLang="en-US" sz="2000" dirty="0"/>
              <a:t> </a:t>
            </a:r>
            <a:r>
              <a:rPr lang="en-US" altLang="zh-CN" sz="2000" dirty="0"/>
              <a:t>elevate</a:t>
            </a:r>
            <a:r>
              <a:rPr lang="zh-CN" altLang="en-US" sz="2000" dirty="0"/>
              <a:t> </a:t>
            </a:r>
            <a:r>
              <a:rPr lang="en-US" altLang="zh-CN" sz="2000" dirty="0"/>
              <a:t>human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quality</a:t>
            </a:r>
            <a:r>
              <a:rPr lang="zh-CN" altLang="en-US" sz="2000" dirty="0"/>
              <a:t> </a:t>
            </a:r>
            <a:br>
              <a:rPr lang="en-US" altLang="zh-CN" sz="2000" dirty="0"/>
            </a:br>
            <a:r>
              <a:rPr lang="en-US" altLang="zh-CN" sz="2000" dirty="0"/>
              <a:t>when</a:t>
            </a:r>
            <a:r>
              <a:rPr lang="zh-CN" altLang="en-US" sz="2000" dirty="0"/>
              <a:t> </a:t>
            </a:r>
            <a:r>
              <a:rPr lang="en-US" altLang="zh-CN" sz="2000" dirty="0"/>
              <a:t>answer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high-quality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1FF87F-667C-AAF9-0289-BDFE2017D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41" y="2253356"/>
            <a:ext cx="4838700" cy="383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3C82A7-5D70-875B-CD2C-7D6FCE531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962" y="2253356"/>
            <a:ext cx="46101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77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33CF-C32C-9577-E09F-F89B93343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565EB3-EA27-DA05-8941-D759BD0BF2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Inclusion of Prior Findings (Su et</a:t>
            </a:r>
            <a:r>
              <a:rPr lang="en-US" altLang="zh-CN" dirty="0"/>
              <a:t>.</a:t>
            </a:r>
            <a:r>
              <a:rPr lang="en-US" dirty="0"/>
              <a:t> al)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BB5B9F-2F9F-859C-425C-BCD3E2B15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1304232"/>
            <a:ext cx="4838700" cy="3835400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6AAC6826-524A-56EE-FF1E-A1B98A91A5E8}"/>
              </a:ext>
            </a:extLst>
          </p:cNvPr>
          <p:cNvSpPr/>
          <p:nvPr/>
        </p:nvSpPr>
        <p:spPr>
          <a:xfrm>
            <a:off x="2957218" y="2334775"/>
            <a:ext cx="1591633" cy="39606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5D639-8210-D23B-76EE-22EB97E66DA8}"/>
              </a:ext>
            </a:extLst>
          </p:cNvPr>
          <p:cNvSpPr txBox="1"/>
          <p:nvPr/>
        </p:nvSpPr>
        <p:spPr>
          <a:xfrm>
            <a:off x="312703" y="2209639"/>
            <a:ext cx="2644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Su et al.  2023</a:t>
            </a:r>
          </a:p>
          <a:p>
            <a:pPr algn="ctr"/>
            <a:r>
              <a:rPr lang="en-US" dirty="0"/>
              <a:t>AI encourage contribution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1968F0-310E-1180-37DE-B35B5B40CC21}"/>
              </a:ext>
            </a:extLst>
          </p:cNvPr>
          <p:cNvSpPr txBox="1"/>
          <p:nvPr/>
        </p:nvSpPr>
        <p:spPr>
          <a:xfrm>
            <a:off x="9123853" y="2998422"/>
            <a:ext cx="26445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Our finding</a:t>
            </a:r>
            <a:r>
              <a:rPr lang="en-US" altLang="zh-CN" dirty="0"/>
              <a:t>s</a:t>
            </a:r>
            <a:r>
              <a:rPr lang="en-US" dirty="0"/>
              <a:t> in las</a:t>
            </a:r>
            <a:r>
              <a:rPr lang="en-US" altLang="zh-CN" dirty="0"/>
              <a:t>t</a:t>
            </a:r>
            <a:r>
              <a:rPr lang="en-US" dirty="0"/>
              <a:t> round</a:t>
            </a:r>
            <a:r>
              <a:rPr lang="en-US" altLang="zh-CN" dirty="0"/>
              <a:t>:</a:t>
            </a:r>
            <a:endParaRPr lang="en-US" dirty="0"/>
          </a:p>
          <a:p>
            <a:pPr algn="ctr"/>
            <a:r>
              <a:rPr lang="en-US" dirty="0"/>
              <a:t>AI deter contribution 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83384F80-5AB1-7B85-0862-09653E070FCD}"/>
              </a:ext>
            </a:extLst>
          </p:cNvPr>
          <p:cNvSpPr/>
          <p:nvPr/>
        </p:nvSpPr>
        <p:spPr>
          <a:xfrm rot="9529928">
            <a:off x="7625337" y="3511020"/>
            <a:ext cx="1591633" cy="396060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0A9B4-EFBF-8921-6694-A548215B0916}"/>
              </a:ext>
            </a:extLst>
          </p:cNvPr>
          <p:cNvSpPr txBox="1"/>
          <p:nvPr/>
        </p:nvSpPr>
        <p:spPr>
          <a:xfrm>
            <a:off x="2215641" y="5698369"/>
            <a:ext cx="7760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True reason:</a:t>
            </a:r>
          </a:p>
          <a:p>
            <a:pPr algn="ctr"/>
            <a:r>
              <a:rPr lang="en-US" sz="2400" b="1" dirty="0"/>
              <a:t>Content deter contribution; Label encourage contribution </a:t>
            </a:r>
          </a:p>
        </p:txBody>
      </p:sp>
    </p:spTree>
    <p:extLst>
      <p:ext uri="{BB962C8B-B14F-4D97-AF65-F5344CB8AC3E}">
        <p14:creationId xmlns:p14="http://schemas.microsoft.com/office/powerpoint/2010/main" val="386219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 animBg="1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F63D3-175B-A25F-3591-D11CD4CA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A83E5F-D8E2-4F96-E463-BF81724D06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Competition Effect on Contribution </a:t>
            </a:r>
            <a:r>
              <a:rPr lang="en-US" altLang="en-US" sz="1667" dirty="0"/>
              <a:t>(Fast Processing — Length as Signal)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AD0882-D713-5CDC-AD76-E8E9E9A51548}"/>
              </a:ext>
            </a:extLst>
          </p:cNvPr>
          <p:cNvSpPr txBox="1">
            <a:spLocks/>
          </p:cNvSpPr>
          <p:nvPr/>
        </p:nvSpPr>
        <p:spPr>
          <a:xfrm>
            <a:off x="317500" y="3700497"/>
            <a:ext cx="11607408" cy="2474587"/>
          </a:xfrm>
          <a:prstGeom prst="rect">
            <a:avLst/>
          </a:prstGeom>
        </p:spPr>
        <p:txBody>
          <a:bodyPr vert="horz" lIns="76200" tIns="38100" rIns="76200" bIns="38100" rtlCol="0">
            <a:no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400" dirty="0"/>
              <a:t>H1: AI presence increases human contribution.</a:t>
            </a:r>
          </a:p>
          <a:p>
            <a:pPr lvl="1"/>
            <a:r>
              <a:rPr lang="en-US" altLang="en-US" sz="1200" b="0" dirty="0"/>
              <a:t>Humans perceive AI as a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“weak”</a:t>
            </a:r>
            <a:r>
              <a:rPr lang="zh-CN" altLang="en-US" sz="1200" b="0" dirty="0"/>
              <a:t> </a:t>
            </a:r>
            <a:r>
              <a:rPr lang="en-US" altLang="en-US" sz="1200" b="0" dirty="0"/>
              <a:t>competitor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(because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of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competitive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arousal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–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experts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believe</a:t>
            </a:r>
            <a:r>
              <a:rPr lang="zh-CN" altLang="en-US" sz="1200" b="0" dirty="0"/>
              <a:t> </a:t>
            </a:r>
            <a:r>
              <a:rPr lang="en-US" altLang="zh-CN" sz="1200" b="0" dirty="0" err="1"/>
              <a:t>SegementFault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is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their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expert-specific</a:t>
            </a:r>
            <a:r>
              <a:rPr lang="zh-CN" altLang="en-US" sz="1200" b="0" dirty="0"/>
              <a:t> </a:t>
            </a:r>
            <a:r>
              <a:rPr lang="en-US" altLang="zh-CN" sz="1200" b="0" dirty="0"/>
              <a:t>area)</a:t>
            </a:r>
            <a:endParaRPr lang="en-US" altLang="en-US" sz="1200" b="0" dirty="0"/>
          </a:p>
          <a:p>
            <a:pPr lvl="1"/>
            <a:r>
              <a:rPr lang="en-US" altLang="en-US" sz="1200" i="1" dirty="0"/>
              <a:t>Regardless of AI answer length or quality, the competitive trigger stimulates a baseline impulse to respond.</a:t>
            </a:r>
          </a:p>
          <a:p>
            <a:pPr lvl="1"/>
            <a:endParaRPr lang="en-US" altLang="en-US" sz="1200" dirty="0"/>
          </a:p>
          <a:p>
            <a:r>
              <a:rPr lang="en-US" altLang="en-US" sz="1400" dirty="0"/>
              <a:t>H2: The competitive crowding-out is stronger when the AI answer is longer.</a:t>
            </a:r>
          </a:p>
          <a:p>
            <a:pPr lvl="1"/>
            <a:r>
              <a:rPr lang="en-US" altLang="en-US" sz="1200" b="0" dirty="0"/>
              <a:t>Length is a fast-processed heuristic for how </a:t>
            </a:r>
            <a:r>
              <a:rPr lang="en-US" altLang="zh-CN" sz="1200" b="0" dirty="0"/>
              <a:t>“comprehensive</a:t>
            </a:r>
            <a:r>
              <a:rPr lang="en-US" altLang="en-US" sz="1200" b="0" dirty="0"/>
              <a:t>" the competitive space is.</a:t>
            </a:r>
          </a:p>
          <a:p>
            <a:pPr lvl="1"/>
            <a:r>
              <a:rPr lang="en-US" altLang="en-US" sz="1200" dirty="0"/>
              <a:t>A longer AI answer signals a more formidable competitive barrier → the "easy win" perception erodes → the baseline positive contribution effect is attenuated or reversed.</a:t>
            </a:r>
          </a:p>
          <a:p>
            <a:pPr indent="0" defTabSz="761909">
              <a:lnSpc>
                <a:spcPct val="120000"/>
              </a:lnSpc>
              <a:buNone/>
            </a:pPr>
            <a:endParaRPr lang="en-US" altLang="zh-CN" dirty="0"/>
          </a:p>
          <a:p>
            <a:pPr defTabSz="761909">
              <a:lnSpc>
                <a:spcPct val="120000"/>
              </a:lnSpc>
            </a:pPr>
            <a:endParaRPr lang="en-US" alt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5AE4A9-CDFC-7257-D58D-3BC7BD50AAF5}"/>
              </a:ext>
            </a:extLst>
          </p:cNvPr>
          <p:cNvGrpSpPr/>
          <p:nvPr/>
        </p:nvGrpSpPr>
        <p:grpSpPr>
          <a:xfrm>
            <a:off x="3482753" y="1546799"/>
            <a:ext cx="5226494" cy="2161959"/>
            <a:chOff x="4622948" y="1114461"/>
            <a:chExt cx="5931088" cy="40562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7D3E8E5-7CA3-48AA-9D2B-CB2BB71A0944}"/>
                </a:ext>
              </a:extLst>
            </p:cNvPr>
            <p:cNvSpPr/>
            <p:nvPr/>
          </p:nvSpPr>
          <p:spPr>
            <a:xfrm>
              <a:off x="9034212" y="1411884"/>
              <a:ext cx="1519824" cy="957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Answer</a:t>
              </a:r>
              <a:r>
                <a:rPr lang="en-US" altLang="zh-CN" sz="1500" dirty="0"/>
                <a:t>er</a:t>
              </a:r>
              <a:r>
                <a:rPr lang="en-US" sz="1500" dirty="0"/>
                <a:t> Participation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07924E-8BBF-5B76-A3FD-FF7A7E5CD305}"/>
                </a:ext>
              </a:extLst>
            </p:cNvPr>
            <p:cNvSpPr/>
            <p:nvPr/>
          </p:nvSpPr>
          <p:spPr>
            <a:xfrm>
              <a:off x="4622949" y="1114461"/>
              <a:ext cx="1328146" cy="10843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Has AI Answer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D6E2B76-04A2-B8A9-B0AB-F776E357EFED}"/>
                </a:ext>
              </a:extLst>
            </p:cNvPr>
            <p:cNvCxnSpPr>
              <a:cxnSpLocks/>
            </p:cNvCxnSpPr>
            <p:nvPr/>
          </p:nvCxnSpPr>
          <p:spPr>
            <a:xfrm>
              <a:off x="5951095" y="2032701"/>
              <a:ext cx="30831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CD2B1A1-C004-29E9-F87E-AC27B91D6F45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100101" y="2012985"/>
              <a:ext cx="0" cy="132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8B48F2A-E462-0F4B-0331-61553C7FD962}"/>
                </a:ext>
              </a:extLst>
            </p:cNvPr>
            <p:cNvSpPr/>
            <p:nvPr/>
          </p:nvSpPr>
          <p:spPr>
            <a:xfrm>
              <a:off x="6134889" y="3340191"/>
              <a:ext cx="1930423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AI Answer Length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4C791110-CBA9-C127-0C14-FA289E7301EF}"/>
                </a:ext>
              </a:extLst>
            </p:cNvPr>
            <p:cNvSpPr/>
            <p:nvPr/>
          </p:nvSpPr>
          <p:spPr>
            <a:xfrm rot="5400000">
              <a:off x="7439486" y="1455402"/>
              <a:ext cx="298012" cy="5931087"/>
            </a:xfrm>
            <a:prstGeom prst="rightBrace">
              <a:avLst>
                <a:gd name="adj1" fmla="val 4133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A12F70-59FC-6F31-7D6E-0AF635CD4AB4}"/>
                </a:ext>
              </a:extLst>
            </p:cNvPr>
            <p:cNvSpPr txBox="1"/>
            <p:nvPr/>
          </p:nvSpPr>
          <p:spPr>
            <a:xfrm>
              <a:off x="6712258" y="4564349"/>
              <a:ext cx="1552936" cy="6063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500" dirty="0"/>
                <a:t>Fast</a:t>
              </a:r>
              <a:r>
                <a:rPr lang="en-US" sz="1500" dirty="0"/>
                <a:t>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460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E7C2-861B-74EC-7200-27CFF3FC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2E2521-DC5E-518F-C516-C987079C56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Competition Effect on Answer Quality </a:t>
            </a:r>
            <a:r>
              <a:rPr lang="en-US" altLang="en-US" sz="2000" dirty="0"/>
              <a:t>(Slow Processing — Quality as Benchmark)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16406A-3C10-69BA-A13C-6C054BE8ECE2}"/>
              </a:ext>
            </a:extLst>
          </p:cNvPr>
          <p:cNvSpPr txBox="1">
            <a:spLocks/>
          </p:cNvSpPr>
          <p:nvPr/>
        </p:nvSpPr>
        <p:spPr>
          <a:xfrm>
            <a:off x="292296" y="3762044"/>
            <a:ext cx="11607408" cy="2474587"/>
          </a:xfrm>
          <a:prstGeom prst="rect">
            <a:avLst/>
          </a:prstGeom>
        </p:spPr>
        <p:txBody>
          <a:bodyPr vert="horz" lIns="76200" tIns="38100" rIns="76200" bIns="38100" rtlCol="0">
            <a:no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400" dirty="0"/>
              <a:t>H3: AI presence decreases human answer quality.</a:t>
            </a:r>
          </a:p>
          <a:p>
            <a:pPr lvl="1"/>
            <a:r>
              <a:rPr lang="en-US" altLang="en-US" sz="1200" b="0" dirty="0"/>
              <a:t>Facing a perceived weaker competitor, humans become complacent → reduced effort investment → "I don't need to try hard to beat this" → lower quality.</a:t>
            </a:r>
          </a:p>
          <a:p>
            <a:pPr lvl="1"/>
            <a:r>
              <a:rPr lang="en-US" altLang="en-US" sz="1200" b="0" i="1" dirty="0"/>
              <a:t>Regardless of AI answer length or quality, </a:t>
            </a:r>
            <a:r>
              <a:rPr lang="en-US" altLang="en-US" sz="1200" i="1" dirty="0"/>
              <a:t>the baseline competitive posture toward a "weak" rival lowers the quality bar humans set for themselves.</a:t>
            </a:r>
          </a:p>
          <a:p>
            <a:pPr lvl="1"/>
            <a:endParaRPr lang="en-US" altLang="en-US" sz="1200" dirty="0"/>
          </a:p>
          <a:p>
            <a:r>
              <a:rPr lang="en-US" altLang="en-US" sz="1400" dirty="0"/>
              <a:t>H4: The negative quality effect reverses when AI answer quality is high.</a:t>
            </a:r>
          </a:p>
          <a:p>
            <a:pPr lvl="1"/>
            <a:r>
              <a:rPr lang="en-US" altLang="en-US" sz="1200" b="0" dirty="0"/>
              <a:t>High AI quality can only be assessed through slow, deliberate processing → once recognized, it shatters the "weak competitor" assumption.</a:t>
            </a:r>
          </a:p>
          <a:p>
            <a:pPr lvl="1"/>
            <a:r>
              <a:rPr lang="en-US" altLang="en-US" sz="1200" b="0" dirty="0"/>
              <a:t>A high-quality AI answer serves as a visible benchmark to surpass → triggers genuine competitive effort → humans invest more to demonstrate superiority → quality rises</a:t>
            </a:r>
            <a:r>
              <a:rPr lang="en-US" altLang="en-US" sz="1200" dirty="0"/>
              <a:t>.</a:t>
            </a:r>
          </a:p>
          <a:p>
            <a:pPr lvl="1"/>
            <a:r>
              <a:rPr lang="en-US" altLang="en-US" sz="1200" i="1" dirty="0"/>
              <a:t>"The AI is actually good — I must prove I'm better."</a:t>
            </a:r>
            <a:endParaRPr lang="en-US" altLang="en-US" sz="1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D0AD598-334E-2F95-EC07-A95E39B65786}"/>
              </a:ext>
            </a:extLst>
          </p:cNvPr>
          <p:cNvGrpSpPr/>
          <p:nvPr/>
        </p:nvGrpSpPr>
        <p:grpSpPr>
          <a:xfrm>
            <a:off x="3592261" y="1522112"/>
            <a:ext cx="5226494" cy="2161959"/>
            <a:chOff x="4622948" y="1114461"/>
            <a:chExt cx="5931088" cy="40562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BD89BA4-CB65-CB0C-1C8D-47352DCC76C0}"/>
                </a:ext>
              </a:extLst>
            </p:cNvPr>
            <p:cNvSpPr/>
            <p:nvPr/>
          </p:nvSpPr>
          <p:spPr>
            <a:xfrm>
              <a:off x="9034212" y="1411884"/>
              <a:ext cx="1519824" cy="9576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Answer </a:t>
              </a:r>
              <a:r>
                <a:rPr lang="en-US" altLang="zh-CN" sz="1500" dirty="0"/>
                <a:t>Quality</a:t>
              </a:r>
              <a:endParaRPr lang="en-US" sz="15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9B48FB-0E12-1864-A22D-89D010638B9E}"/>
                </a:ext>
              </a:extLst>
            </p:cNvPr>
            <p:cNvSpPr/>
            <p:nvPr/>
          </p:nvSpPr>
          <p:spPr>
            <a:xfrm>
              <a:off x="4622949" y="1114461"/>
              <a:ext cx="1328146" cy="108436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Has AI Answer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F42235F-90D5-385B-80D6-8A9B0645B0D4}"/>
                </a:ext>
              </a:extLst>
            </p:cNvPr>
            <p:cNvCxnSpPr>
              <a:cxnSpLocks/>
            </p:cNvCxnSpPr>
            <p:nvPr/>
          </p:nvCxnSpPr>
          <p:spPr>
            <a:xfrm>
              <a:off x="5951095" y="2032701"/>
              <a:ext cx="30831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E51A4F7-BD28-C7C2-22A1-829E39C131B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100101" y="2012985"/>
              <a:ext cx="0" cy="13272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4AE7A6-2041-8AFB-5219-A19E8C2C5A7B}"/>
                </a:ext>
              </a:extLst>
            </p:cNvPr>
            <p:cNvSpPr/>
            <p:nvPr/>
          </p:nvSpPr>
          <p:spPr>
            <a:xfrm>
              <a:off x="6134889" y="3340191"/>
              <a:ext cx="1930423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500" dirty="0"/>
                <a:t>AI Answer Quality</a:t>
              </a:r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8C97F723-5CD0-0A02-195A-8F07B0756D9B}"/>
                </a:ext>
              </a:extLst>
            </p:cNvPr>
            <p:cNvSpPr/>
            <p:nvPr/>
          </p:nvSpPr>
          <p:spPr>
            <a:xfrm rot="5400000">
              <a:off x="7439486" y="1455402"/>
              <a:ext cx="298012" cy="5931087"/>
            </a:xfrm>
            <a:prstGeom prst="rightBrace">
              <a:avLst>
                <a:gd name="adj1" fmla="val 4133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3DF411-7DE2-BD91-910F-F57C387A3FE6}"/>
                </a:ext>
              </a:extLst>
            </p:cNvPr>
            <p:cNvSpPr txBox="1"/>
            <p:nvPr/>
          </p:nvSpPr>
          <p:spPr>
            <a:xfrm>
              <a:off x="6712258" y="4564349"/>
              <a:ext cx="1620460" cy="6063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500" dirty="0"/>
                <a:t>Slow</a:t>
              </a:r>
              <a:r>
                <a:rPr lang="en-US" sz="1500" dirty="0"/>
                <a:t>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31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C57F3-7903-5ACC-F29F-57C7AAC5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E74C49-D94A-7DA6-B248-B4AC5DEF2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139064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97C83-6A9D-2BBF-CD27-CFDDA32D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7C2CD2-47CE-536A-6319-F44C52DC61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spcBef>
                <a:spcPts val="833"/>
              </a:spcBef>
              <a:buNone/>
            </a:pPr>
            <a:r>
              <a:rPr lang="en-US" altLang="zh-CN" sz="2333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Light" panose="020F0402020204030203" pitchFamily="34" charset="0"/>
              </a:rPr>
              <a:t>Robustness</a:t>
            </a:r>
            <a:endParaRPr lang="en-US" altLang="en-US" sz="2333" b="1" dirty="0">
              <a:solidFill>
                <a:schemeClr val="tx1">
                  <a:lumMod val="75000"/>
                  <a:lumOff val="25000"/>
                </a:schemeClr>
              </a:solidFill>
              <a:latin typeface="Lato Black" panose="020F0A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CC74D-4CEB-F67A-0FB0-B95EFAAA1B52}"/>
              </a:ext>
            </a:extLst>
          </p:cNvPr>
          <p:cNvSpPr txBox="1"/>
          <p:nvPr/>
        </p:nvSpPr>
        <p:spPr>
          <a:xfrm>
            <a:off x="5788407" y="3275112"/>
            <a:ext cx="5987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/>
              <a:t>To</a:t>
            </a:r>
            <a:r>
              <a:rPr lang="zh-CN" altLang="en-US" sz="1500" dirty="0"/>
              <a:t> </a:t>
            </a:r>
            <a:r>
              <a:rPr lang="en-US" altLang="zh-CN" sz="1500" dirty="0"/>
              <a:t>fill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53087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1F7D-515B-4469-7631-0D52DE10F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402991-FF92-3811-388F-98BD2B531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lvl="1" indent="0">
              <a:lnSpc>
                <a:spcPct val="100000"/>
              </a:lnSpc>
              <a:spcBef>
                <a:spcPts val="833"/>
              </a:spcBef>
              <a:buNone/>
            </a:pPr>
            <a:r>
              <a:rPr lang="en-US" altLang="en-US" sz="1667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 Black" panose="020F0A02020204030203" pitchFamily="34" charset="0"/>
                <a:cs typeface="Lato Light" panose="020F0402020204030203" pitchFamily="34" charset="0"/>
              </a:rPr>
              <a:t>Broader Platform Engagement: Effects of AI-Generated Answers on Questioner Activity and Question Visibility 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33D60B8-75CC-5700-F534-DF5986ADF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494237"/>
              </p:ext>
            </p:extLst>
          </p:nvPr>
        </p:nvGraphicFramePr>
        <p:xfrm>
          <a:off x="1714500" y="2202004"/>
          <a:ext cx="8763002" cy="3058582"/>
        </p:xfrm>
        <a:graphic>
          <a:graphicData uri="http://schemas.openxmlformats.org/drawingml/2006/table">
            <a:tbl>
              <a:tblPr firstRow="1" firstCol="1" bandRow="1"/>
              <a:tblGrid>
                <a:gridCol w="1448430">
                  <a:extLst>
                    <a:ext uri="{9D8B030D-6E8A-4147-A177-3AD203B41FA5}">
                      <a16:colId xmlns:a16="http://schemas.microsoft.com/office/drawing/2014/main" val="2922957661"/>
                    </a:ext>
                  </a:extLst>
                </a:gridCol>
                <a:gridCol w="796637">
                  <a:extLst>
                    <a:ext uri="{9D8B030D-6E8A-4147-A177-3AD203B41FA5}">
                      <a16:colId xmlns:a16="http://schemas.microsoft.com/office/drawing/2014/main" val="1580340738"/>
                    </a:ext>
                  </a:extLst>
                </a:gridCol>
                <a:gridCol w="796637">
                  <a:extLst>
                    <a:ext uri="{9D8B030D-6E8A-4147-A177-3AD203B41FA5}">
                      <a16:colId xmlns:a16="http://schemas.microsoft.com/office/drawing/2014/main" val="506339671"/>
                    </a:ext>
                  </a:extLst>
                </a:gridCol>
                <a:gridCol w="1810538">
                  <a:extLst>
                    <a:ext uri="{9D8B030D-6E8A-4147-A177-3AD203B41FA5}">
                      <a16:colId xmlns:a16="http://schemas.microsoft.com/office/drawing/2014/main" val="3092339590"/>
                    </a:ext>
                  </a:extLst>
                </a:gridCol>
                <a:gridCol w="1955380">
                  <a:extLst>
                    <a:ext uri="{9D8B030D-6E8A-4147-A177-3AD203B41FA5}">
                      <a16:colId xmlns:a16="http://schemas.microsoft.com/office/drawing/2014/main" val="3499156427"/>
                    </a:ext>
                  </a:extLst>
                </a:gridCol>
                <a:gridCol w="1955380">
                  <a:extLst>
                    <a:ext uri="{9D8B030D-6E8A-4147-A177-3AD203B41FA5}">
                      <a16:colId xmlns:a16="http://schemas.microsoft.com/office/drawing/2014/main" val="1965376008"/>
                    </a:ext>
                  </a:extLst>
                </a:gridCol>
              </a:tblGrid>
              <a:tr h="30268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(2)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(3)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(4)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(5)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406634"/>
                  </a:ext>
                </a:extLst>
              </a:tr>
              <a:tr h="838198">
                <a:tc rowSpan="2"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DV: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the logarithm of the number of questioner’s subsequent activities after receiving an answer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 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number of comments the questioner posted in response to answers received by question 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Comment</a:t>
                      </a:r>
                      <a:r>
                        <a:rPr lang="en-US" sz="13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cumulative viewership count for question 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View</a:t>
                      </a:r>
                      <a:r>
                        <a:rPr lang="en-US" sz="13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080915"/>
                  </a:ext>
                </a:extLst>
              </a:tr>
              <a:tr h="3810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month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 months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 months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436194"/>
                  </a:ext>
                </a:extLst>
              </a:tr>
              <a:tr h="325966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300" i="1" baseline="-25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-0.010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-0.039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94003"/>
                  </a:ext>
                </a:extLst>
              </a:tr>
              <a:tr h="3026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(0.027)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(0.020)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(0.016)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232426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timing FE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39402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other controls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041221"/>
                  </a:ext>
                </a:extLst>
              </a:tr>
              <a:tr h="302683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2,748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150" marR="5715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643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810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96814</TotalTime>
  <Words>1266</Words>
  <Application>Microsoft Macintosh PowerPoint</Application>
  <PresentationFormat>Widescreen</PresentationFormat>
  <Paragraphs>293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Lato</vt:lpstr>
      <vt:lpstr>Arial</vt:lpstr>
      <vt:lpstr>微软雅黑</vt:lpstr>
      <vt:lpstr>等线</vt:lpstr>
      <vt:lpstr>Calibri</vt:lpstr>
      <vt:lpstr>Lato Light</vt:lpstr>
      <vt:lpstr>Georgia</vt:lpstr>
      <vt:lpstr>Times New Roman</vt:lpstr>
      <vt:lpstr>Wingdings</vt:lpstr>
      <vt:lpstr>Lato Black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Zhang Siyu</dc:creator>
  <cp:keywords/>
  <dc:description/>
  <cp:lastModifiedBy>Dylan CHEN</cp:lastModifiedBy>
  <cp:revision>446</cp:revision>
  <dcterms:created xsi:type="dcterms:W3CDTF">2020-04-20T03:29:34Z</dcterms:created>
  <dcterms:modified xsi:type="dcterms:W3CDTF">2026-06-11T15:37:39Z</dcterms:modified>
  <cp:category/>
</cp:coreProperties>
</file>