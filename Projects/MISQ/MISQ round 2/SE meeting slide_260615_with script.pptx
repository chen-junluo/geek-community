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saveSubsetFonts="1" bookmarkIdSeed="3">
  <p:sldMasterIdLst>
    <p:sldMasterId id="2147483754" r:id="rId1"/>
  </p:sldMasterIdLst>
  <p:notesMasterIdLst>
    <p:notesMasterId r:id="rId21"/>
  </p:notesMasterIdLst>
  <p:sldIdLst>
    <p:sldId id="351" r:id="rId2"/>
    <p:sldId id="352" r:id="rId3"/>
    <p:sldId id="353" r:id="rId4"/>
    <p:sldId id="365" r:id="rId5"/>
    <p:sldId id="354" r:id="rId6"/>
    <p:sldId id="355" r:id="rId7"/>
    <p:sldId id="356" r:id="rId8"/>
    <p:sldId id="357" r:id="rId9"/>
    <p:sldId id="366" r:id="rId10"/>
    <p:sldId id="368" r:id="rId11"/>
    <p:sldId id="369" r:id="rId12"/>
    <p:sldId id="370" r:id="rId13"/>
    <p:sldId id="372" r:id="rId14"/>
    <p:sldId id="373" r:id="rId15"/>
    <p:sldId id="378" r:id="rId16"/>
    <p:sldId id="379" r:id="rId17"/>
    <p:sldId id="371" r:id="rId18"/>
    <p:sldId id="374" r:id="rId19"/>
    <p:sldId id="375" r:id="rId20"/>
  </p:sldIdLst>
  <p:sldSz cx="9144000" cy="5143500" type="screen16x9"/>
  <p:notesSz cx="6858000" cy="9144000"/>
  <p:embeddedFontLst>
    <p:embeddedFont>
      <p:font typeface="等线" panose="02010600030101010101" pitchFamily="2" charset="-122"/>
      <p:regular r:id="rId22"/>
      <p:bold r:id="rId23"/>
    </p:embeddedFont>
    <p:embeddedFont>
      <p:font typeface="Georgia" panose="02040502050405020303" pitchFamily="18" charset="0"/>
      <p:regular r:id="rId24"/>
      <p:bold r:id="rId25"/>
      <p:italic r:id="rId26"/>
      <p:boldItalic r:id="rId2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rmal" id="{BB674D8F-EA6E-4E7A-BB36-51CE4AEB7194}">
          <p14:sldIdLst>
            <p14:sldId id="351"/>
            <p14:sldId id="352"/>
            <p14:sldId id="353"/>
            <p14:sldId id="365"/>
            <p14:sldId id="354"/>
            <p14:sldId id="355"/>
            <p14:sldId id="356"/>
            <p14:sldId id="357"/>
            <p14:sldId id="366"/>
            <p14:sldId id="368"/>
            <p14:sldId id="369"/>
            <p14:sldId id="370"/>
            <p14:sldId id="372"/>
            <p14:sldId id="373"/>
            <p14:sldId id="378"/>
            <p14:sldId id="379"/>
            <p14:sldId id="371"/>
            <p14:sldId id="374"/>
            <p14:sldId id="375"/>
          </p14:sldIdLst>
        </p14:section>
      </p14:sectionLst>
    </p:ext>
    <p:ext uri="{EFAFB233-063F-42B5-8137-9DF3F51BA10A}">
      <p15:sldGuideLst xmlns:p15="http://schemas.microsoft.com/office/powerpoint/2012/main">
        <p15:guide id="1" pos="311" userDrawn="1">
          <p15:clr>
            <a:srgbClr val="A4A3A4"/>
          </p15:clr>
        </p15:guide>
        <p15:guide id="2" pos="5449" userDrawn="1">
          <p15:clr>
            <a:srgbClr val="A4A3A4"/>
          </p15:clr>
        </p15:guide>
        <p15:guide id="3" orient="horz" pos="486" userDrawn="1">
          <p15:clr>
            <a:srgbClr val="A4A3A4"/>
          </p15:clr>
        </p15:guide>
        <p15:guide id="4" orient="horz" pos="534" userDrawn="1">
          <p15:clr>
            <a:srgbClr val="A4A3A4"/>
          </p15:clr>
        </p15:guide>
        <p15:guide id="5" orient="horz" pos="2946" userDrawn="1">
          <p15:clr>
            <a:srgbClr val="A4A3A4"/>
          </p15:clr>
        </p15:guide>
        <p15:guide id="6" orient="horz" pos="5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7F7F7F"/>
    <a:srgbClr val="BFBFBF"/>
    <a:srgbClr val="FBE6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8E6201-549C-3341-B46E-126B5BECB262}" v="102" dt="2026-04-27T08:20:53.09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51" autoAdjust="0"/>
    <p:restoredTop sz="87294" autoAdjust="0"/>
  </p:normalViewPr>
  <p:slideViewPr>
    <p:cSldViewPr snapToGrid="0" showGuides="1">
      <p:cViewPr>
        <p:scale>
          <a:sx n="140" d="100"/>
          <a:sy n="140" d="100"/>
        </p:scale>
        <p:origin x="2688" y="496"/>
      </p:cViewPr>
      <p:guideLst>
        <p:guide pos="311"/>
        <p:guide pos="5449"/>
        <p:guide orient="horz" pos="486"/>
        <p:guide orient="horz" pos="534"/>
        <p:guide orient="horz" pos="2946"/>
        <p:guide orient="horz" pos="53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389"/>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768B4A-600B-4E47-A44F-5C9458F0BBBB}" type="datetimeFigureOut">
              <a:rPr lang="zh-CN" altLang="en-US" smtClean="0"/>
              <a:t>2026/6/15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5172E2-DACC-4E2B-A3E0-ED1661E9ED5A}" type="slidenum">
              <a:rPr lang="zh-CN" altLang="en-US" smtClean="0"/>
              <a:t>‹#›</a:t>
            </a:fld>
            <a:endParaRPr lang="zh-CN" altLang="en-US"/>
          </a:p>
        </p:txBody>
      </p:sp>
    </p:spTree>
    <p:extLst>
      <p:ext uri="{BB962C8B-B14F-4D97-AF65-F5344CB8AC3E}">
        <p14:creationId xmlns:p14="http://schemas.microsoft.com/office/powerpoint/2010/main" val="3310344369"/>
      </p:ext>
    </p:extLst>
  </p:cSld>
  <p:clrMap bg1="lt1" tx1="dk1" bg2="lt2" tx2="dk2" accent1="accent1" accent2="accent2" accent3="accent3" accent4="accent4" accent5="accent5" accent6="accent6" hlink="hlink" folHlink="folHlink"/>
  <p:notesStyle>
    <a:lvl1pPr marL="0" algn="l" defTabSz="607893" rtl="0" eaLnBrk="1" latinLnBrk="0" hangingPunct="1">
      <a:defRPr sz="798" kern="1200">
        <a:solidFill>
          <a:schemeClr val="tx1"/>
        </a:solidFill>
        <a:latin typeface="+mn-lt"/>
        <a:ea typeface="+mn-ea"/>
        <a:cs typeface="+mn-cs"/>
      </a:defRPr>
    </a:lvl1pPr>
    <a:lvl2pPr marL="303947" algn="l" defTabSz="607893" rtl="0" eaLnBrk="1" latinLnBrk="0" hangingPunct="1">
      <a:defRPr sz="798" kern="1200">
        <a:solidFill>
          <a:schemeClr val="tx1"/>
        </a:solidFill>
        <a:latin typeface="+mn-lt"/>
        <a:ea typeface="+mn-ea"/>
        <a:cs typeface="+mn-cs"/>
      </a:defRPr>
    </a:lvl2pPr>
    <a:lvl3pPr marL="607893" algn="l" defTabSz="607893" rtl="0" eaLnBrk="1" latinLnBrk="0" hangingPunct="1">
      <a:defRPr sz="798" kern="1200">
        <a:solidFill>
          <a:schemeClr val="tx1"/>
        </a:solidFill>
        <a:latin typeface="+mn-lt"/>
        <a:ea typeface="+mn-ea"/>
        <a:cs typeface="+mn-cs"/>
      </a:defRPr>
    </a:lvl3pPr>
    <a:lvl4pPr marL="911840" algn="l" defTabSz="607893" rtl="0" eaLnBrk="1" latinLnBrk="0" hangingPunct="1">
      <a:defRPr sz="798" kern="1200">
        <a:solidFill>
          <a:schemeClr val="tx1"/>
        </a:solidFill>
        <a:latin typeface="+mn-lt"/>
        <a:ea typeface="+mn-ea"/>
        <a:cs typeface="+mn-cs"/>
      </a:defRPr>
    </a:lvl4pPr>
    <a:lvl5pPr marL="1215786" algn="l" defTabSz="607893" rtl="0" eaLnBrk="1" latinLnBrk="0" hangingPunct="1">
      <a:defRPr sz="798" kern="1200">
        <a:solidFill>
          <a:schemeClr val="tx1"/>
        </a:solidFill>
        <a:latin typeface="+mn-lt"/>
        <a:ea typeface="+mn-ea"/>
        <a:cs typeface="+mn-cs"/>
      </a:defRPr>
    </a:lvl5pPr>
    <a:lvl6pPr marL="1519733" algn="l" defTabSz="607893" rtl="0" eaLnBrk="1" latinLnBrk="0" hangingPunct="1">
      <a:defRPr sz="798" kern="1200">
        <a:solidFill>
          <a:schemeClr val="tx1"/>
        </a:solidFill>
        <a:latin typeface="+mn-lt"/>
        <a:ea typeface="+mn-ea"/>
        <a:cs typeface="+mn-cs"/>
      </a:defRPr>
    </a:lvl6pPr>
    <a:lvl7pPr marL="1823679" algn="l" defTabSz="607893" rtl="0" eaLnBrk="1" latinLnBrk="0" hangingPunct="1">
      <a:defRPr sz="798" kern="1200">
        <a:solidFill>
          <a:schemeClr val="tx1"/>
        </a:solidFill>
        <a:latin typeface="+mn-lt"/>
        <a:ea typeface="+mn-ea"/>
        <a:cs typeface="+mn-cs"/>
      </a:defRPr>
    </a:lvl7pPr>
    <a:lvl8pPr marL="2127626" algn="l" defTabSz="607893" rtl="0" eaLnBrk="1" latinLnBrk="0" hangingPunct="1">
      <a:defRPr sz="798" kern="1200">
        <a:solidFill>
          <a:schemeClr val="tx1"/>
        </a:solidFill>
        <a:latin typeface="+mn-lt"/>
        <a:ea typeface="+mn-ea"/>
        <a:cs typeface="+mn-cs"/>
      </a:defRPr>
    </a:lvl8pPr>
    <a:lvl9pPr marL="2431572" algn="l" defTabSz="607893" rtl="0" eaLnBrk="1" latinLnBrk="0" hangingPunct="1">
      <a:defRPr sz="79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7893" rtl="0" eaLnBrk="1" fontAlgn="auto" latinLnBrk="0" hangingPunct="1">
              <a:lnSpc>
                <a:spcPct val="100000"/>
              </a:lnSpc>
              <a:spcBef>
                <a:spcPts val="0"/>
              </a:spcBef>
              <a:spcAft>
                <a:spcPts val="0"/>
              </a:spcAft>
              <a:buClrTx/>
              <a:buSzTx/>
              <a:buFontTx/>
              <a:buNone/>
              <a:tabLst/>
              <a:defRPr/>
            </a:pPr>
            <a:r>
              <a:rPr lang="en-US" sz="798" kern="1200" dirty="0">
                <a:solidFill>
                  <a:schemeClr val="tx1"/>
                </a:solidFill>
                <a:effectLst/>
                <a:latin typeface="+mn-lt"/>
                <a:ea typeface="+mn-ea"/>
                <a:cs typeface="+mn-cs"/>
              </a:rPr>
              <a:t>Thank you for your time today. We really appreciate the opportunity to discuss our revision plan with you. Today, we want to walk you through what we changed, why we changed it, and how our new theory connects to the </a:t>
            </a:r>
            <a:r>
              <a:rPr lang="en-US" altLang="zh-CN" sz="798" kern="1200" dirty="0">
                <a:solidFill>
                  <a:schemeClr val="tx1"/>
                </a:solidFill>
                <a:effectLst/>
                <a:latin typeface="+mn-lt"/>
                <a:ea typeface="+mn-ea"/>
                <a:cs typeface="+mn-cs"/>
              </a:rPr>
              <a:t>empirical</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results</a:t>
            </a:r>
            <a:r>
              <a:rPr lang="en-US" sz="798" kern="1200" dirty="0">
                <a:solidFill>
                  <a:schemeClr val="tx1"/>
                </a:solidFill>
                <a:effectLst/>
                <a:latin typeface="+mn-lt"/>
                <a:ea typeface="+mn-ea"/>
                <a:cs typeface="+mn-cs"/>
              </a:rPr>
              <a:t>. Let’s </a:t>
            </a:r>
            <a:r>
              <a:rPr lang="en-US" altLang="zh-CN" sz="798" kern="1200" dirty="0">
                <a:solidFill>
                  <a:schemeClr val="tx1"/>
                </a:solidFill>
                <a:effectLst/>
                <a:latin typeface="+mn-lt"/>
                <a:ea typeface="+mn-ea"/>
                <a:cs typeface="+mn-cs"/>
              </a:rPr>
              <a:t>go.</a:t>
            </a:r>
            <a:endParaRPr lang="en-US" sz="798"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0</a:t>
            </a:fld>
            <a:endParaRPr lang="zh-CN" altLang="en-US"/>
          </a:p>
        </p:txBody>
      </p:sp>
    </p:spTree>
    <p:extLst>
      <p:ext uri="{BB962C8B-B14F-4D97-AF65-F5344CB8AC3E}">
        <p14:creationId xmlns:p14="http://schemas.microsoft.com/office/powerpoint/2010/main" val="320370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7893" rtl="0" eaLnBrk="1" fontAlgn="auto" latinLnBrk="0" hangingPunct="1">
              <a:lnSpc>
                <a:spcPct val="100000"/>
              </a:lnSpc>
              <a:spcBef>
                <a:spcPts val="0"/>
              </a:spcBef>
              <a:spcAft>
                <a:spcPts val="0"/>
              </a:spcAft>
              <a:buClrTx/>
              <a:buSzTx/>
              <a:buFontTx/>
              <a:buNone/>
              <a:tabLst/>
              <a:defRPr/>
            </a:pPr>
            <a:r>
              <a:rPr lang="en-US" sz="798" kern="1200" dirty="0">
                <a:solidFill>
                  <a:schemeClr val="tx1"/>
                </a:solidFill>
                <a:effectLst/>
                <a:latin typeface="+mn-lt"/>
                <a:ea typeface="+mn-ea"/>
                <a:cs typeface="+mn-cs"/>
              </a:rPr>
              <a:t>We have four parts. First, a quick recap of our paper — just to make sure we're on the same page. Then, the review panel's main concern. After that, your suggestion — and which direction we picked. Finally, the core of today: our new theoretical framework and how it maps onto the results.</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1</a:t>
            </a:fld>
            <a:endParaRPr lang="zh-CN" altLang="en-US"/>
          </a:p>
        </p:txBody>
      </p:sp>
    </p:spTree>
    <p:extLst>
      <p:ext uri="{BB962C8B-B14F-4D97-AF65-F5344CB8AC3E}">
        <p14:creationId xmlns:p14="http://schemas.microsoft.com/office/powerpoint/2010/main" val="727833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7893" rtl="0" eaLnBrk="1" fontAlgn="auto" latinLnBrk="0" hangingPunct="1">
              <a:lnSpc>
                <a:spcPct val="100000"/>
              </a:lnSpc>
              <a:spcBef>
                <a:spcPts val="0"/>
              </a:spcBef>
              <a:spcAft>
                <a:spcPts val="0"/>
              </a:spcAft>
              <a:buClrTx/>
              <a:buSzTx/>
              <a:buFontTx/>
              <a:buNone/>
              <a:tabLst/>
              <a:defRPr/>
            </a:pPr>
            <a:r>
              <a:rPr lang="en-US" sz="798" kern="1200" dirty="0">
                <a:solidFill>
                  <a:schemeClr val="tx1"/>
                </a:solidFill>
                <a:effectLst/>
                <a:latin typeface="+mn-lt"/>
                <a:ea typeface="+mn-ea"/>
                <a:cs typeface="+mn-cs"/>
              </a:rPr>
              <a:t>So, a quick </a:t>
            </a:r>
            <a:r>
              <a:rPr lang="en-US" altLang="zh-CN" sz="798" kern="1200" dirty="0">
                <a:solidFill>
                  <a:schemeClr val="tx1"/>
                </a:solidFill>
                <a:effectLst/>
                <a:latin typeface="+mn-lt"/>
                <a:ea typeface="+mn-ea"/>
                <a:cs typeface="+mn-cs"/>
              </a:rPr>
              <a:t>recap</a:t>
            </a:r>
            <a:r>
              <a:rPr lang="en-US" sz="798" kern="1200" dirty="0">
                <a:solidFill>
                  <a:schemeClr val="tx1"/>
                </a:solidFill>
                <a:effectLst/>
                <a:latin typeface="+mn-lt"/>
                <a:ea typeface="+mn-ea"/>
                <a:cs typeface="+mn-cs"/>
              </a:rPr>
              <a:t>. </a:t>
            </a:r>
            <a:r>
              <a:rPr lang="en-US" dirty="0"/>
              <a:t>ChatGPT challenges online Q&amp;A communities. Questioners no longer post questions in communities, because they can directly ask ChatGPT. Many existing studies have already looked at the impact of ChatGPT on online Q&amp;A communities.</a:t>
            </a:r>
          </a:p>
          <a:p>
            <a:pPr marL="0" marR="0" lvl="0" indent="0" algn="l" defTabSz="607893" rtl="0" eaLnBrk="1" fontAlgn="auto" latinLnBrk="0" hangingPunct="1">
              <a:lnSpc>
                <a:spcPct val="100000"/>
              </a:lnSpc>
              <a:spcBef>
                <a:spcPts val="0"/>
              </a:spcBef>
              <a:spcAft>
                <a:spcPts val="0"/>
              </a:spcAft>
              <a:buClrTx/>
              <a:buSzTx/>
              <a:buFontTx/>
              <a:buNone/>
              <a:tabLst/>
              <a:defRPr/>
            </a:pPr>
            <a:br>
              <a:rPr lang="en-US" sz="798" kern="1200" dirty="0">
                <a:solidFill>
                  <a:schemeClr val="tx1"/>
                </a:solidFill>
                <a:effectLst/>
                <a:latin typeface="+mn-lt"/>
                <a:ea typeface="+mn-ea"/>
                <a:cs typeface="+mn-cs"/>
              </a:rPr>
            </a:br>
            <a:r>
              <a:rPr lang="en-US" dirty="0"/>
              <a:t>But here, we look at a totally different phenomenon - internal generative AI. Again, internal GenAI means AI bots developed by a platform and used only within this particular platform.</a:t>
            </a:r>
          </a:p>
          <a:p>
            <a:br>
              <a:rPr lang="en-US" sz="798" kern="1200" dirty="0">
                <a:solidFill>
                  <a:schemeClr val="tx1"/>
                </a:solidFill>
                <a:effectLst/>
                <a:latin typeface="+mn-lt"/>
                <a:ea typeface="+mn-ea"/>
                <a:cs typeface="+mn-cs"/>
              </a:rPr>
            </a:br>
            <a:r>
              <a:rPr lang="en-US" sz="798" kern="1200" dirty="0">
                <a:solidFill>
                  <a:schemeClr val="tx1"/>
                </a:solidFill>
                <a:effectLst/>
                <a:latin typeface="+mn-lt"/>
                <a:ea typeface="+mn-ea"/>
                <a:cs typeface="+mn-cs"/>
              </a:rPr>
              <a:t>Our research question is straightforward. </a:t>
            </a:r>
            <a:r>
              <a:rPr lang="en-US" dirty="0"/>
              <a:t>We want to look at the impact of the internal GenAI</a:t>
            </a:r>
            <a:r>
              <a:rPr lang="en-US" altLang="zh-CN" dirty="0"/>
              <a:t>.</a:t>
            </a:r>
            <a:r>
              <a:rPr lang="zh-CN" altLang="en-US" sz="798" kern="1200" dirty="0">
                <a:solidFill>
                  <a:schemeClr val="tx1"/>
                </a:solidFill>
                <a:effectLst/>
                <a:latin typeface="+mn-lt"/>
                <a:ea typeface="+mn-ea"/>
                <a:cs typeface="+mn-cs"/>
              </a:rPr>
              <a:t> </a:t>
            </a:r>
            <a:br>
              <a:rPr lang="en-US" altLang="zh-CN" sz="798" kern="1200" dirty="0">
                <a:solidFill>
                  <a:schemeClr val="tx1"/>
                </a:solidFill>
                <a:effectLst/>
                <a:latin typeface="+mn-lt"/>
                <a:ea typeface="+mn-ea"/>
                <a:cs typeface="+mn-cs"/>
              </a:rPr>
            </a:br>
            <a:br>
              <a:rPr lang="en-US" altLang="zh-CN" sz="798" kern="1200" dirty="0">
                <a:solidFill>
                  <a:schemeClr val="tx1"/>
                </a:solidFill>
                <a:effectLst/>
                <a:latin typeface="+mn-lt"/>
                <a:ea typeface="+mn-ea"/>
                <a:cs typeface="+mn-cs"/>
              </a:rPr>
            </a:br>
            <a:r>
              <a:rPr lang="en-US" altLang="zh-CN" sz="798" kern="1200" dirty="0">
                <a:solidFill>
                  <a:schemeClr val="tx1"/>
                </a:solidFill>
                <a:effectLst/>
                <a:latin typeface="+mn-lt"/>
                <a:ea typeface="+mn-ea"/>
                <a:cs typeface="+mn-cs"/>
              </a:rPr>
              <a:t>(</a:t>
            </a:r>
            <a:r>
              <a:rPr lang="en-US" sz="798" kern="1200" dirty="0">
                <a:solidFill>
                  <a:schemeClr val="tx1"/>
                </a:solidFill>
                <a:effectLst/>
                <a:latin typeface="+mn-lt"/>
                <a:ea typeface="+mn-ea"/>
                <a:cs typeface="+mn-cs"/>
              </a:rPr>
              <a:t>We care about two outcomes. One is supply — do fewer humans show up to answer? The other is recognition — do viewers appreciate human answers less?</a:t>
            </a:r>
            <a:r>
              <a:rPr lang="en-US" altLang="zh-CN" sz="798" kern="1200" dirty="0">
                <a:solidFill>
                  <a:schemeClr val="tx1"/>
                </a:solidFill>
                <a:effectLst/>
                <a:latin typeface="+mn-lt"/>
                <a:ea typeface="+mn-ea"/>
                <a:cs typeface="+mn-cs"/>
              </a:rPr>
              <a:t>)</a:t>
            </a:r>
            <a:endParaRPr lang="en-US" sz="798"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2</a:t>
            </a:fld>
            <a:endParaRPr lang="zh-CN" altLang="en-US"/>
          </a:p>
        </p:txBody>
      </p:sp>
    </p:spTree>
    <p:extLst>
      <p:ext uri="{BB962C8B-B14F-4D97-AF65-F5344CB8AC3E}">
        <p14:creationId xmlns:p14="http://schemas.microsoft.com/office/powerpoint/2010/main" val="3572601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7893" rtl="0" eaLnBrk="1" fontAlgn="auto" latinLnBrk="0" hangingPunct="1">
              <a:lnSpc>
                <a:spcPct val="100000"/>
              </a:lnSpc>
              <a:spcBef>
                <a:spcPts val="0"/>
              </a:spcBef>
              <a:spcAft>
                <a:spcPts val="0"/>
              </a:spcAft>
              <a:buClrTx/>
              <a:buSzTx/>
              <a:buFontTx/>
              <a:buNone/>
              <a:tabLst/>
              <a:defRPr/>
            </a:pPr>
            <a:r>
              <a:rPr lang="en-US" dirty="0"/>
              <a:t>we use a randomized experiment conducted by the SegmentFault. SegmentFault is a leading Chinese online Q&amp;A community. The platform randomly assign questions to treatment group or control group. Treated questions receive AI answers very quickly. Control questions receive no AI answers.</a:t>
            </a:r>
          </a:p>
          <a:p>
            <a:pPr marL="0" marR="0" lvl="0" indent="0" algn="l" defTabSz="607893" rtl="0" eaLnBrk="1" fontAlgn="auto" latinLnBrk="0" hangingPunct="1">
              <a:lnSpc>
                <a:spcPct val="100000"/>
              </a:lnSpc>
              <a:spcBef>
                <a:spcPts val="0"/>
              </a:spcBef>
              <a:spcAft>
                <a:spcPts val="0"/>
              </a:spcAft>
              <a:buClrTx/>
              <a:buSzTx/>
              <a:buFontTx/>
              <a:buNone/>
              <a:tabLst/>
              <a:defRPr/>
            </a:pPr>
            <a:br>
              <a:rPr lang="en-US" dirty="0"/>
            </a:br>
            <a:r>
              <a:rPr lang="en-US" dirty="0"/>
              <a:t>Here is an </a:t>
            </a:r>
            <a:r>
              <a:rPr lang="en-US" dirty="0" err="1"/>
              <a:t>illusration</a:t>
            </a:r>
            <a:r>
              <a:rPr lang="en-US" dirty="0"/>
              <a:t>. Blue box indicates the questions in both treatment and control. For treatment question, platform provides AI answer very quickly. In contrast, control group receive no AI answers. Green boxes are human </a:t>
            </a:r>
            <a:r>
              <a:rPr lang="en-US" dirty="0" err="1"/>
              <a:t>answes</a:t>
            </a:r>
            <a:r>
              <a:rPr lang="en-US" dirty="0"/>
              <a:t>. Both treatment group and control group receive human answers.</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3</a:t>
            </a:fld>
            <a:endParaRPr lang="zh-CN" altLang="en-US"/>
          </a:p>
        </p:txBody>
      </p:sp>
    </p:spTree>
    <p:extLst>
      <p:ext uri="{BB962C8B-B14F-4D97-AF65-F5344CB8AC3E}">
        <p14:creationId xmlns:p14="http://schemas.microsoft.com/office/powerpoint/2010/main" val="1587438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Now, let me show you our original framing. In the first submission, we had two main effects — AI reduces participation, AI reduces viewer recognition — and then we proposed mechanisms for each.</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For participation, we had three mechanisms: source effect, content effect, and position effect. For recognition, we tested quality degradation, attention diversion, and elevated expectations.</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The structure was: here's the effect, here are three possible explanations, let's test them one by one. This is what the reviewers pushed back on.</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4</a:t>
            </a:fld>
            <a:endParaRPr lang="zh-CN" altLang="en-US"/>
          </a:p>
        </p:txBody>
      </p:sp>
    </p:spTree>
    <p:extLst>
      <p:ext uri="{BB962C8B-B14F-4D97-AF65-F5344CB8AC3E}">
        <p14:creationId xmlns:p14="http://schemas.microsoft.com/office/powerpoint/2010/main" val="1498287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The core concern was theory. The panel said we lack an overarching framework. Let me be specific about what they meant.</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First — no unified logic tying everything together. We had pieces, but no spine.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Second — our three mechanisms for participation — source, content, position — felt ad hoc. Reviewer 2 asked: are these theoretically justified? Reviewer 3 said: they're introduced in isolation, not derived from one coherent logic.</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Third — the relationship between theory and results was unclear. The reviewers couldn't see how the hypotheses follow from a single set of assumptions.</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And finally, they asked: how is this different from Su et al. 2023? That paper also studies AI and human contribution. We need a clear theoretical boundary.</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5</a:t>
            </a:fld>
            <a:endParaRPr lang="zh-CN" altLang="en-US"/>
          </a:p>
        </p:txBody>
      </p:sp>
    </p:spTree>
    <p:extLst>
      <p:ext uri="{BB962C8B-B14F-4D97-AF65-F5344CB8AC3E}">
        <p14:creationId xmlns:p14="http://schemas.microsoft.com/office/powerpoint/2010/main" val="5251468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You gave us three possible directions. One was participation incentives. Two was authority and credibility signals. Three was competition and complementarity between AI and human knowledge.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You specifically noted that a competition-complementarity framing could explain both when AI discourages humans and when it stimulates them. That's the direction we picked.</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We chose it for a practical reason: our data actually shows both effects. AI deters contributions under some conditions and elevates quality under others. A competition lens captures that duality naturally.</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6</a:t>
            </a:fld>
            <a:endParaRPr lang="zh-CN" altLang="en-US"/>
          </a:p>
        </p:txBody>
      </p:sp>
    </p:spTree>
    <p:extLst>
      <p:ext uri="{BB962C8B-B14F-4D97-AF65-F5344CB8AC3E}">
        <p14:creationId xmlns:p14="http://schemas.microsoft.com/office/powerpoint/2010/main" val="791265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7893" rtl="0" eaLnBrk="1" fontAlgn="auto" latinLnBrk="0" hangingPunct="1">
              <a:lnSpc>
                <a:spcPct val="100000"/>
              </a:lnSpc>
              <a:spcBef>
                <a:spcPts val="0"/>
              </a:spcBef>
              <a:spcAft>
                <a:spcPts val="0"/>
              </a:spcAft>
              <a:buClrTx/>
              <a:buSzTx/>
              <a:buFontTx/>
              <a:buNone/>
              <a:tabLst/>
              <a:defRPr/>
            </a:pPr>
            <a:r>
              <a:rPr lang="en-US" sz="798" kern="1200" dirty="0">
                <a:solidFill>
                  <a:schemeClr val="tx1"/>
                </a:solidFill>
                <a:effectLst/>
                <a:latin typeface="+mn-lt"/>
                <a:ea typeface="+mn-ea"/>
                <a:cs typeface="+mn-cs"/>
              </a:rPr>
              <a:t>On the top right, you see a red cross on the </a:t>
            </a:r>
            <a:r>
              <a:rPr lang="en-US" altLang="zh-CN" sz="798" kern="1200" dirty="0">
                <a:solidFill>
                  <a:schemeClr val="tx1"/>
                </a:solidFill>
                <a:effectLst/>
                <a:latin typeface="+mn-lt"/>
                <a:ea typeface="+mn-ea"/>
                <a:cs typeface="+mn-cs"/>
              </a:rPr>
              <a:t>position</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effect</a:t>
            </a:r>
            <a:r>
              <a:rPr lang="en-US" sz="798" kern="1200" dirty="0">
                <a:solidFill>
                  <a:schemeClr val="tx1"/>
                </a:solidFill>
                <a:effectLst/>
                <a:latin typeface="+mn-lt"/>
                <a:ea typeface="+mn-ea"/>
                <a:cs typeface="+mn-cs"/>
              </a:rPr>
              <a:t> mechanisms for participatio</a:t>
            </a:r>
            <a:r>
              <a:rPr lang="en-US" altLang="zh-CN" sz="798" kern="1200" dirty="0">
                <a:solidFill>
                  <a:schemeClr val="tx1"/>
                </a:solidFill>
                <a:effectLst/>
                <a:latin typeface="+mn-lt"/>
                <a:ea typeface="+mn-ea"/>
                <a:cs typeface="+mn-cs"/>
              </a:rPr>
              <a:t>n</a:t>
            </a:r>
            <a:r>
              <a:rPr lang="en-US" sz="798" kern="1200" dirty="0">
                <a:solidFill>
                  <a:schemeClr val="tx1"/>
                </a:solidFill>
                <a:effectLst/>
                <a:latin typeface="+mn-lt"/>
                <a:ea typeface="+mn-ea"/>
                <a:cs typeface="+mn-cs"/>
              </a:rPr>
              <a:t>. All three reviewers said </a:t>
            </a:r>
            <a:r>
              <a:rPr lang="en-US" altLang="zh-CN" sz="798" kern="1200" dirty="0">
                <a:solidFill>
                  <a:schemeClr val="tx1"/>
                </a:solidFill>
                <a:effectLst/>
                <a:latin typeface="+mn-lt"/>
                <a:ea typeface="+mn-ea"/>
                <a:cs typeface="+mn-cs"/>
              </a:rPr>
              <a:t>this</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is</a:t>
            </a:r>
            <a:r>
              <a:rPr lang="en-US" sz="798" kern="1200" dirty="0">
                <a:solidFill>
                  <a:schemeClr val="tx1"/>
                </a:solidFill>
                <a:effectLst/>
                <a:latin typeface="+mn-lt"/>
                <a:ea typeface="+mn-ea"/>
                <a:cs typeface="+mn-cs"/>
              </a:rPr>
              <a:t> hard to identify cleanly. Reviewer 2 specifically said they couldn't follow the logic. So we don't keep them as separate, isolated mechanisms. Instead, we rebuild from scratch with one unified logic.</a:t>
            </a:r>
          </a:p>
          <a:p>
            <a:endParaRPr lang="en-US" dirty="0"/>
          </a:p>
          <a:p>
            <a:r>
              <a:rPr lang="en-US" sz="798" kern="1200" dirty="0">
                <a:solidFill>
                  <a:schemeClr val="tx1"/>
                </a:solidFill>
                <a:effectLst/>
                <a:latin typeface="+mn-lt"/>
                <a:ea typeface="+mn-ea"/>
                <a:cs typeface="+mn-cs"/>
              </a:rPr>
              <a:t>On the bottom, the entire viewer recognition part is crossed out. This is a bigger change. The SE's letter told us to move from documenting empirical regularities to explaining behavioral processes. Viewer recognition — measured by upvotes — is an outcome, but it doesn't tell us much about </a:t>
            </a:r>
            <a:r>
              <a:rPr lang="en-US" sz="798" i="1" kern="1200" dirty="0">
                <a:solidFill>
                  <a:schemeClr val="tx1"/>
                </a:solidFill>
                <a:effectLst/>
                <a:latin typeface="+mn-lt"/>
                <a:ea typeface="+mn-ea"/>
                <a:cs typeface="+mn-cs"/>
              </a:rPr>
              <a:t>why</a:t>
            </a:r>
            <a:r>
              <a:rPr lang="en-US" sz="798" kern="1200" dirty="0">
                <a:solidFill>
                  <a:schemeClr val="tx1"/>
                </a:solidFill>
                <a:effectLst/>
                <a:latin typeface="+mn-lt"/>
                <a:ea typeface="+mn-ea"/>
                <a:cs typeface="+mn-cs"/>
              </a:rPr>
              <a:t> humans behave differently. So we shift our focus entirely to the supply side: what answerers </a:t>
            </a:r>
            <a:r>
              <a:rPr lang="en-US" sz="798" i="1" kern="1200" dirty="0">
                <a:solidFill>
                  <a:schemeClr val="tx1"/>
                </a:solidFill>
                <a:effectLst/>
                <a:latin typeface="+mn-lt"/>
                <a:ea typeface="+mn-ea"/>
                <a:cs typeface="+mn-cs"/>
              </a:rPr>
              <a:t>do</a:t>
            </a:r>
            <a:r>
              <a:rPr lang="en-US" sz="798" kern="1200" dirty="0">
                <a:solidFill>
                  <a:schemeClr val="tx1"/>
                </a:solidFill>
                <a:effectLst/>
                <a:latin typeface="+mn-lt"/>
                <a:ea typeface="+mn-ea"/>
                <a:cs typeface="+mn-cs"/>
              </a:rPr>
              <a:t> and </a:t>
            </a:r>
            <a:r>
              <a:rPr lang="en-US" sz="798" i="1" kern="1200" dirty="0">
                <a:solidFill>
                  <a:schemeClr val="tx1"/>
                </a:solidFill>
                <a:effectLst/>
                <a:latin typeface="+mn-lt"/>
                <a:ea typeface="+mn-ea"/>
                <a:cs typeface="+mn-cs"/>
              </a:rPr>
              <a:t>how well</a:t>
            </a:r>
            <a:r>
              <a:rPr lang="en-US" sz="798" kern="1200" dirty="0">
                <a:solidFill>
                  <a:schemeClr val="tx1"/>
                </a:solidFill>
                <a:effectLst/>
                <a:latin typeface="+mn-lt"/>
                <a:ea typeface="+mn-ea"/>
                <a:cs typeface="+mn-cs"/>
              </a:rPr>
              <a:t> they do it.</a:t>
            </a:r>
          </a:p>
          <a:p>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This gives us a tighter paper. Two DVs — participation and answer quality — both on the answerer side, both explained by one theory.</a:t>
            </a:r>
          </a:p>
          <a:p>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Now let me show you what replaces all of this.</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7</a:t>
            </a:fld>
            <a:endParaRPr lang="zh-CN" altLang="en-US"/>
          </a:p>
        </p:txBody>
      </p:sp>
    </p:spTree>
    <p:extLst>
      <p:ext uri="{BB962C8B-B14F-4D97-AF65-F5344CB8AC3E}">
        <p14:creationId xmlns:p14="http://schemas.microsoft.com/office/powerpoint/2010/main" val="9879875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Here is our new framework. Let me walk you through it.</a:t>
            </a:r>
          </a:p>
          <a:p>
            <a:r>
              <a:rPr lang="en-US" sz="798" kern="1200" dirty="0">
                <a:solidFill>
                  <a:schemeClr val="tx1"/>
                </a:solidFill>
                <a:effectLst/>
                <a:latin typeface="+mn-lt"/>
                <a:ea typeface="+mn-ea"/>
                <a:cs typeface="+mn-cs"/>
              </a:rPr>
              <a:t>We now have two dependent variables. The first is answerer participation — the quantity of human answers. The second is answer quality — measured by how good the first human answer is.</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The treatment is still "Has AI Answer." But now, we explicitly model two properties of the AI answer: its length and its quality. These are not just control variables. They play different theoretical roles.</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The key insight is at the bottom of this diagram. Length is processed fast. Quality is processed slow. This distinction drives the entire theory.</a:t>
            </a:r>
          </a:p>
          <a:p>
            <a:endParaRPr lang="en-US" dirty="0"/>
          </a:p>
          <a:p>
            <a:endParaRPr lang="en-US" dirty="0"/>
          </a:p>
          <a:p>
            <a:r>
              <a:rPr lang="en-US" sz="798" kern="1200" dirty="0">
                <a:solidFill>
                  <a:schemeClr val="tx1"/>
                </a:solidFill>
                <a:effectLst/>
                <a:latin typeface="+mn-lt"/>
                <a:ea typeface="+mn-ea"/>
                <a:cs typeface="+mn-cs"/>
              </a:rPr>
              <a:t>Let me map old to new so you can see exactly what changed.</a:t>
            </a:r>
          </a:p>
          <a:p>
            <a:r>
              <a:rPr lang="en-US" sz="798" kern="1200" dirty="0">
                <a:solidFill>
                  <a:schemeClr val="tx1"/>
                </a:solidFill>
                <a:effectLst/>
                <a:latin typeface="+mn-lt"/>
                <a:ea typeface="+mn-ea"/>
                <a:cs typeface="+mn-cs"/>
              </a:rPr>
              <a:t>Our old "source effect" — AI as a label — maps onto the direct arrow from "Has AI Answer" to participation. That's still there.</a:t>
            </a:r>
          </a:p>
          <a:p>
            <a:r>
              <a:rPr lang="en-US" sz="798" kern="1200" dirty="0">
                <a:solidFill>
                  <a:schemeClr val="tx1"/>
                </a:solidFill>
                <a:effectLst/>
                <a:latin typeface="+mn-lt"/>
                <a:ea typeface="+mn-ea"/>
                <a:cs typeface="+mn-cs"/>
              </a:rPr>
              <a:t>Our old "content effect" — AI answer characteristics — now splits into two: length and quality, each with a distinct theoretical role.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What‘s new? Answer quality as a dependent variable. In the old version, this was buried in our mechanism section. Now it’s a core DV. The reviewers questioned our old </a:t>
            </a:r>
            <a:r>
              <a:rPr lang="en-US" altLang="zh-CN" sz="798" kern="1200" dirty="0">
                <a:solidFill>
                  <a:schemeClr val="tx1"/>
                </a:solidFill>
                <a:effectLst/>
                <a:latin typeface="+mn-lt"/>
                <a:ea typeface="+mn-ea"/>
                <a:cs typeface="+mn-cs"/>
              </a:rPr>
              <a:t>quality</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measure</a:t>
            </a:r>
            <a:r>
              <a:rPr lang="en-US" sz="798" kern="1200" dirty="0">
                <a:solidFill>
                  <a:schemeClr val="tx1"/>
                </a:solidFill>
                <a:effectLst/>
                <a:latin typeface="+mn-lt"/>
                <a:ea typeface="+mn-ea"/>
                <a:cs typeface="+mn-cs"/>
              </a:rPr>
              <a:t>, and </a:t>
            </a:r>
            <a:r>
              <a:rPr lang="en-US" altLang="zh-CN" sz="798" kern="1200" dirty="0">
                <a:solidFill>
                  <a:schemeClr val="tx1"/>
                </a:solidFill>
                <a:effectLst/>
                <a:latin typeface="+mn-lt"/>
                <a:ea typeface="+mn-ea"/>
                <a:cs typeface="+mn-cs"/>
              </a:rPr>
              <a:t>we</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use</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a</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new</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measure</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to</a:t>
            </a:r>
            <a:r>
              <a:rPr lang="en-US" sz="798" kern="1200" dirty="0">
                <a:solidFill>
                  <a:schemeClr val="tx1"/>
                </a:solidFill>
                <a:effectLst/>
                <a:latin typeface="+mn-lt"/>
                <a:ea typeface="+mn-ea"/>
                <a:cs typeface="+mn-cs"/>
              </a:rPr>
              <a:t> address that directly.</a:t>
            </a:r>
            <a:br>
              <a:rPr lang="en-US" sz="798" kern="1200" dirty="0">
                <a:solidFill>
                  <a:schemeClr val="tx1"/>
                </a:solidFill>
                <a:effectLst/>
                <a:latin typeface="+mn-lt"/>
                <a:ea typeface="+mn-ea"/>
                <a:cs typeface="+mn-cs"/>
              </a:rPr>
            </a:br>
            <a:endParaRPr lang="en-US" dirty="0"/>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8</a:t>
            </a:fld>
            <a:endParaRPr lang="zh-CN" altLang="en-US"/>
          </a:p>
        </p:txBody>
      </p:sp>
    </p:spTree>
    <p:extLst>
      <p:ext uri="{BB962C8B-B14F-4D97-AF65-F5344CB8AC3E}">
        <p14:creationId xmlns:p14="http://schemas.microsoft.com/office/powerpoint/2010/main" val="3537924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Here is the theoretical core. AI plays two roles simultaneously.</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Role one: AI is a competitor that humans perceive as weak. When answerers see the AI label, their first reaction is — "I can beat this." They don't need to read the content. The label alone triggers a competitive response. This is about identity. These are experts. SegmentFault is their territory.</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Role two: The AI's actual content creates real competitive pressure. Once answerers engage with what the AI wrote — its length, its quality — that's when the concrete competitive dynamics kick in. The content can either reinforce or override the initial "weak competitor" perception.</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These two roles operate on different timescales, which brings us to the next piece.</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9</a:t>
            </a:fld>
            <a:endParaRPr lang="zh-CN" altLang="en-US"/>
          </a:p>
        </p:txBody>
      </p:sp>
    </p:spTree>
    <p:extLst>
      <p:ext uri="{BB962C8B-B14F-4D97-AF65-F5344CB8AC3E}">
        <p14:creationId xmlns:p14="http://schemas.microsoft.com/office/powerpoint/2010/main" val="4221797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We ground this in dual-process theory — Kahneman's System 1 and System 2.</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Answerers face two decisions. First: should I participate? This is a fast decision. You glance at the page, you see an AI answer, you decide in seconds whether to invest your time. What drives this? Fast signals. Length is a fast signal. You don't need to read carefully — you can see at a glance how much space the answer occupies.</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Second: how much effort do I put in? This is a slow decision. You've already committed to answering. Now you need to figure out how good the AI answer actually is. That requires reading, evaluating, comparing. Quality is a slow signal.</a:t>
            </a:r>
          </a:p>
          <a:p>
            <a:r>
              <a:rPr lang="en-US" sz="798" kern="1200" dirty="0">
                <a:solidFill>
                  <a:schemeClr val="tx1"/>
                </a:solidFill>
                <a:effectLst/>
                <a:latin typeface="+mn-lt"/>
                <a:ea typeface="+mn-ea"/>
                <a:cs typeface="+mn-cs"/>
              </a:rPr>
              <a:t>This is why length affects participation but not quality. And quality affects quality but not participation. They operate through different cognitive channels.</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10</a:t>
            </a:fld>
            <a:endParaRPr lang="zh-CN" altLang="en-US"/>
          </a:p>
        </p:txBody>
      </p:sp>
    </p:spTree>
    <p:extLst>
      <p:ext uri="{BB962C8B-B14F-4D97-AF65-F5344CB8AC3E}">
        <p14:creationId xmlns:p14="http://schemas.microsoft.com/office/powerpoint/2010/main" val="35727698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Let me walk through the four hypotheses. They follow directly from this logic.</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H1: AI presence increases human contribution. This sounds counterintuitive given our old findings. But here's the logic. When you only see the AI label — before engaging with content — you perceive a weak competitor. Easy win. That motivates entry. "I'll show them a real answer." So the pure label effect is positive.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H2: Longer AI answers attenuate H1. Length is a fast heuristic. A long answer signals: this space is already occupied. The "easy win" feeling disappears. The barrier looks higher. So longer AI answers flip the contribution effect from positive to negative.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Now — and this is crucial — our overall effect in the last round was negative because AI answers on SegmentFault tend to be long. The average AI answer is much longer than the average human answer. So in the aggregate, the length effect dominates, and we see a net negative. But if you decompose it, the label alone would have been positive.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H3: AI presence decreases human answer quality. Same "weak competitor" logic, but for effort. If I think my rival is weak, why try hard? Complacency sets in. I put in less effort. My answer quality drops.</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H4: High AI quality reverses H3. Quality is a slow signal. Once you actually read the AI answer and realize it's good, the "weak competitor" assumption shatters. Now you face a credible rival. That triggers real competitive effort. You raise your game. "The AI is actually good — I must prove I'm better."</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11</a:t>
            </a:fld>
            <a:endParaRPr lang="zh-CN" altLang="en-US"/>
          </a:p>
        </p:txBody>
      </p:sp>
    </p:spTree>
    <p:extLst>
      <p:ext uri="{BB962C8B-B14F-4D97-AF65-F5344CB8AC3E}">
        <p14:creationId xmlns:p14="http://schemas.microsoft.com/office/powerpoint/2010/main" val="3343899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These two plots make the story visual.</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Left panel: as AI answer length increases, human contribution drops. The blue line slopes downward. The orange line — control group — is flat. The crossover is around length equals 2 or 3.</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Right panel: as AI answer quality increases, human answer quality rises. The blue line slopes upward. Again, the control is flat. When AI quality is low, humans actually do worse. When AI quality is high, humans respond by raising their game.</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12</a:t>
            </a:fld>
            <a:endParaRPr lang="zh-CN" altLang="en-US"/>
          </a:p>
        </p:txBody>
      </p:sp>
    </p:spTree>
    <p:extLst>
      <p:ext uri="{BB962C8B-B14F-4D97-AF65-F5344CB8AC3E}">
        <p14:creationId xmlns:p14="http://schemas.microsoft.com/office/powerpoint/2010/main" val="9413146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Now, the reviewers asked: how do you differ from Su et al.? Su et al. found that AI encourages contribution. We found the opposite. This looks like a contradiction.</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Our new framework resolves this. Look at the left plot again. The y-intercept of the blue line is above the control line. That's the label effect — positive. Su et al.'s setting likely captures this zone. Their AI answers may be shorter, or their design captures the label effect more cleanly.</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Our aggregate effect is negative because our AI answers are long. The content dominates the label.</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So the true</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reason</a:t>
            </a:r>
            <a:r>
              <a:rPr lang="en-US" sz="798" kern="1200" dirty="0">
                <a:solidFill>
                  <a:schemeClr val="tx1"/>
                </a:solidFill>
                <a:effectLst/>
                <a:latin typeface="+mn-lt"/>
                <a:ea typeface="+mn-ea"/>
                <a:cs typeface="+mn-cs"/>
              </a:rPr>
              <a:t> is simple. The label encourages contribution. The content deters it. Both effects are real. Which one dominates depends on how long the AI answer is. Our framework unifies both findings under one logic.</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13</a:t>
            </a:fld>
            <a:endParaRPr lang="zh-CN" altLang="en-US"/>
          </a:p>
        </p:txBody>
      </p:sp>
    </p:spTree>
    <p:extLst>
      <p:ext uri="{BB962C8B-B14F-4D97-AF65-F5344CB8AC3E}">
        <p14:creationId xmlns:p14="http://schemas.microsoft.com/office/powerpoint/2010/main" val="4259084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54193-0CA9-020B-87EC-514F2536C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1E013E-86C5-3F10-8423-9D5EDF8249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652462-DCDA-AB86-17DD-0B6B5C973FF3}"/>
              </a:ext>
            </a:extLst>
          </p:cNvPr>
          <p:cNvSpPr>
            <a:spLocks noGrp="1"/>
          </p:cNvSpPr>
          <p:nvPr>
            <p:ph type="body" idx="1"/>
          </p:nvPr>
        </p:nvSpPr>
        <p:spPr/>
        <p:txBody>
          <a:bodyPr/>
          <a:lstStyle/>
          <a:p>
            <a:r>
              <a:rPr lang="en-US" sz="798" kern="1200" dirty="0">
                <a:solidFill>
                  <a:schemeClr val="tx1"/>
                </a:solidFill>
                <a:effectLst/>
                <a:latin typeface="+mn-lt"/>
                <a:ea typeface="+mn-ea"/>
                <a:cs typeface="+mn-cs"/>
              </a:rPr>
              <a:t>So to summarize: we replaced a list of isolated mechanisms with one unified framework. Competition with a perceived-weak rival, moderated by dual-process signals. This gives us four clean hypotheses, all supported by the data, and it reconciles our findings with Su et al.</a:t>
            </a:r>
          </a:p>
          <a:p>
            <a:r>
              <a:rPr lang="en-US" sz="798" kern="1200" dirty="0">
                <a:solidFill>
                  <a:schemeClr val="tx1"/>
                </a:solidFill>
                <a:effectLst/>
                <a:latin typeface="+mn-lt"/>
                <a:ea typeface="+mn-ea"/>
                <a:cs typeface="+mn-cs"/>
              </a:rPr>
              <a:t>We'd love to hear your thoughts — especially on whether this framing is convincing enough, and whether there are gaps we should address before writing it up.</a:t>
            </a:r>
          </a:p>
          <a:p>
            <a:endParaRPr lang="en-US" dirty="0"/>
          </a:p>
        </p:txBody>
      </p:sp>
      <p:sp>
        <p:nvSpPr>
          <p:cNvPr id="4" name="Slide Number Placeholder 3">
            <a:extLst>
              <a:ext uri="{FF2B5EF4-FFF2-40B4-BE49-F238E27FC236}">
                <a16:creationId xmlns:a16="http://schemas.microsoft.com/office/drawing/2014/main" id="{EEBF83E8-78E0-4BD4-E052-79E53E255586}"/>
              </a:ext>
            </a:extLst>
          </p:cNvPr>
          <p:cNvSpPr>
            <a:spLocks noGrp="1"/>
          </p:cNvSpPr>
          <p:nvPr>
            <p:ph type="sldNum" sz="quarter" idx="5"/>
          </p:nvPr>
        </p:nvSpPr>
        <p:spPr/>
        <p:txBody>
          <a:bodyPr/>
          <a:lstStyle/>
          <a:p>
            <a:fld id="{A55172E2-DACC-4E2B-A3E0-ED1661E9ED5A}" type="slidenum">
              <a:rPr lang="zh-CN" altLang="en-US" smtClean="0"/>
              <a:t>14</a:t>
            </a:fld>
            <a:endParaRPr lang="zh-CN" altLang="en-US"/>
          </a:p>
        </p:txBody>
      </p:sp>
    </p:spTree>
    <p:extLst>
      <p:ext uri="{BB962C8B-B14F-4D97-AF65-F5344CB8AC3E}">
        <p14:creationId xmlns:p14="http://schemas.microsoft.com/office/powerpoint/2010/main" val="28972994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F7F5D-3ACB-15DE-013D-4EE740C06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A77689-3D1A-8B85-9624-25642A8B21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A7CA6-4F07-C2B6-7FF1-7EAF5FAD65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35C1F1-356F-AB1C-167D-C12664792490}"/>
              </a:ext>
            </a:extLst>
          </p:cNvPr>
          <p:cNvSpPr>
            <a:spLocks noGrp="1"/>
          </p:cNvSpPr>
          <p:nvPr>
            <p:ph type="sldNum" sz="quarter" idx="5"/>
          </p:nvPr>
        </p:nvSpPr>
        <p:spPr/>
        <p:txBody>
          <a:bodyPr/>
          <a:lstStyle/>
          <a:p>
            <a:fld id="{A55172E2-DACC-4E2B-A3E0-ED1661E9ED5A}" type="slidenum">
              <a:rPr lang="zh-CN" altLang="en-US" smtClean="0"/>
              <a:t>15</a:t>
            </a:fld>
            <a:endParaRPr lang="zh-CN" altLang="en-US"/>
          </a:p>
        </p:txBody>
      </p:sp>
    </p:spTree>
    <p:extLst>
      <p:ext uri="{BB962C8B-B14F-4D97-AF65-F5344CB8AC3E}">
        <p14:creationId xmlns:p14="http://schemas.microsoft.com/office/powerpoint/2010/main" val="7279625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Now let‘s look at the </a:t>
            </a:r>
            <a:r>
              <a:rPr lang="en-US" altLang="zh-CN" sz="798" kern="1200" dirty="0">
                <a:solidFill>
                  <a:schemeClr val="tx1"/>
                </a:solidFill>
                <a:effectLst/>
                <a:latin typeface="+mn-lt"/>
                <a:ea typeface="+mn-ea"/>
                <a:cs typeface="+mn-cs"/>
              </a:rPr>
              <a:t>main</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results</a:t>
            </a:r>
            <a:r>
              <a:rPr lang="en-US" sz="798" kern="1200" dirty="0">
                <a:solidFill>
                  <a:schemeClr val="tx1"/>
                </a:solidFill>
                <a:effectLst/>
                <a:latin typeface="+mn-lt"/>
                <a:ea typeface="+mn-ea"/>
                <a:cs typeface="+mn-cs"/>
              </a:rPr>
              <a:t>. Four columns here.</a:t>
            </a:r>
          </a:p>
          <a:p>
            <a:r>
              <a:rPr lang="en-US" sz="798" kern="1200" dirty="0">
                <a:solidFill>
                  <a:schemeClr val="tx1"/>
                </a:solidFill>
                <a:effectLst/>
                <a:latin typeface="+mn-lt"/>
                <a:ea typeface="+mn-ea"/>
                <a:cs typeface="+mn-cs"/>
              </a:rPr>
              <a:t>Column 1 is our original finding. AI reduces the number of human answers. Negative 0.046, highly significant. This is the same as before — no change.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Column 2 adds the interactions. Look at the AI main effect — it's now positive. 0.226, significant. This means: when AI length is zero — purely hypothetical — the label alone encourages entry. But the interaction with length is negative 0.045, also significant. So as length grows, participation drops. The crossover happens early. At the mean AI length, the net effect is already negative. This is exactly what our theory predicts.</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Column 3 is our new DV — first human answer quality. The main effect of AI is zero. No effect on average.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Column 4 adds the quality interaction. The AI main effect is now negative 0.12 — marginally significant. This is the complacency effect from H3. But the interaction with AI quality is positive 0.35 — highly significant. When AI quality is high, human answer quality goes up. H4 is strongly supported.</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16</a:t>
            </a:fld>
            <a:endParaRPr lang="zh-CN" altLang="en-US"/>
          </a:p>
        </p:txBody>
      </p:sp>
    </p:spTree>
    <p:extLst>
      <p:ext uri="{BB962C8B-B14F-4D97-AF65-F5344CB8AC3E}">
        <p14:creationId xmlns:p14="http://schemas.microsoft.com/office/powerpoint/2010/main" val="35874106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7893" rtl="0" eaLnBrk="1" fontAlgn="auto" latinLnBrk="0" hangingPunct="1">
              <a:lnSpc>
                <a:spcPct val="100000"/>
              </a:lnSpc>
              <a:spcBef>
                <a:spcPts val="0"/>
              </a:spcBef>
              <a:spcAft>
                <a:spcPts val="0"/>
              </a:spcAft>
              <a:buClrTx/>
              <a:buSzTx/>
              <a:buFontTx/>
              <a:buNone/>
              <a:tabLst/>
              <a:defRPr/>
            </a:pPr>
            <a:r>
              <a:rPr lang="en-US" sz="798" kern="1200" dirty="0">
                <a:solidFill>
                  <a:schemeClr val="tx1"/>
                </a:solidFill>
                <a:effectLst/>
                <a:latin typeface="+mn-lt"/>
                <a:ea typeface="+mn-ea"/>
                <a:cs typeface="+mn-cs"/>
              </a:rPr>
              <a:t>Slides 16 and 17 have the full theoretical arguments for each hypothesis. I won't read through them now — they're there for reference. But the key logic is what I just walked you through: fast processing drives participation, slow processing drives quality, and the "weak competitor" assumption is the baseline that content signals either reinforce or override.</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17</a:t>
            </a:fld>
            <a:endParaRPr lang="zh-CN" altLang="en-US"/>
          </a:p>
        </p:txBody>
      </p:sp>
    </p:spTree>
    <p:extLst>
      <p:ext uri="{BB962C8B-B14F-4D97-AF65-F5344CB8AC3E}">
        <p14:creationId xmlns:p14="http://schemas.microsoft.com/office/powerpoint/2010/main" val="300212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394FBED-F89D-E64E-839F-277148744889}" type="datetime1">
              <a:rPr lang="en-US" altLang="zh-CN" smtClean="0"/>
              <a:t>6/15/26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1607578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942975"/>
            <a:ext cx="7886700" cy="3689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485E37-E16F-804C-8A4A-A4CBD622B30D}" type="datetime1">
              <a:rPr lang="en-US" smtClean="0"/>
              <a:t>6/15/26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7" name="Title 1">
            <a:extLst>
              <a:ext uri="{FF2B5EF4-FFF2-40B4-BE49-F238E27FC236}">
                <a16:creationId xmlns:a16="http://schemas.microsoft.com/office/drawing/2014/main" id="{35CB9FAF-4194-4EAD-452C-A94164F17EDE}"/>
              </a:ext>
            </a:extLst>
          </p:cNvPr>
          <p:cNvSpPr>
            <a:spLocks noGrp="1"/>
          </p:cNvSpPr>
          <p:nvPr>
            <p:ph type="title"/>
          </p:nvPr>
        </p:nvSpPr>
        <p:spPr>
          <a:xfrm>
            <a:off x="628650" y="273844"/>
            <a:ext cx="7886700" cy="669131"/>
          </a:xfrm>
        </p:spPr>
        <p:txBody>
          <a:bodyPr/>
          <a:lstStyle/>
          <a:p>
            <a:r>
              <a:rPr lang="en-US"/>
              <a:t>Click to edit Master title style</a:t>
            </a:r>
            <a:endParaRPr lang="en-US" dirty="0"/>
          </a:p>
        </p:txBody>
      </p:sp>
    </p:spTree>
    <p:extLst>
      <p:ext uri="{BB962C8B-B14F-4D97-AF65-F5344CB8AC3E}">
        <p14:creationId xmlns:p14="http://schemas.microsoft.com/office/powerpoint/2010/main" val="794471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D6AF72-F30E-3246-B7B3-276B30CCF4A4}" type="datetime1">
              <a:rPr lang="en-US" altLang="zh-CN" smtClean="0"/>
              <a:t>6/15/26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4270710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942975"/>
            <a:ext cx="3886200" cy="3689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942975"/>
            <a:ext cx="3886200" cy="36897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9EB4F7F4-4304-7F4B-B785-EEC50ABD970A}" type="datetime1">
              <a:rPr lang="en-US" altLang="zh-CN" smtClean="0"/>
              <a:t>6/15/26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0E9C1D4-69BA-4B09-8A24-1CCDDD1AB85B}" type="slidenum">
              <a:rPr lang="zh-CN" altLang="en-US" smtClean="0"/>
              <a:t>‹#›</a:t>
            </a:fld>
            <a:endParaRPr lang="zh-CN" altLang="en-US"/>
          </a:p>
        </p:txBody>
      </p:sp>
      <p:sp>
        <p:nvSpPr>
          <p:cNvPr id="8" name="Title 1">
            <a:extLst>
              <a:ext uri="{FF2B5EF4-FFF2-40B4-BE49-F238E27FC236}">
                <a16:creationId xmlns:a16="http://schemas.microsoft.com/office/drawing/2014/main" id="{A20E6608-C9E1-51A7-4447-9582DB1E0B94}"/>
              </a:ext>
            </a:extLst>
          </p:cNvPr>
          <p:cNvSpPr>
            <a:spLocks noGrp="1"/>
          </p:cNvSpPr>
          <p:nvPr>
            <p:ph type="title"/>
          </p:nvPr>
        </p:nvSpPr>
        <p:spPr>
          <a:xfrm>
            <a:off x="628650" y="273844"/>
            <a:ext cx="7886700" cy="669131"/>
          </a:xfrm>
        </p:spPr>
        <p:txBody>
          <a:bodyPr/>
          <a:lstStyle/>
          <a:p>
            <a:r>
              <a:rPr lang="en-US"/>
              <a:t>Click to edit Master title style</a:t>
            </a:r>
            <a:endParaRPr lang="en-US" dirty="0"/>
          </a:p>
        </p:txBody>
      </p:sp>
    </p:spTree>
    <p:extLst>
      <p:ext uri="{BB962C8B-B14F-4D97-AF65-F5344CB8AC3E}">
        <p14:creationId xmlns:p14="http://schemas.microsoft.com/office/powerpoint/2010/main" val="310696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960829"/>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629842" y="1596618"/>
            <a:ext cx="3868340" cy="30456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960829"/>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4629150" y="1596618"/>
            <a:ext cx="3887391" cy="3045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AE3DA2AD-866F-9348-BEC7-B30D4CD77602}" type="datetime1">
              <a:rPr lang="en-US" altLang="zh-CN" smtClean="0"/>
              <a:t>6/15/26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80E9C1D4-69BA-4B09-8A24-1CCDDD1AB85B}" type="slidenum">
              <a:rPr lang="zh-CN" altLang="en-US" smtClean="0"/>
              <a:t>‹#›</a:t>
            </a:fld>
            <a:endParaRPr lang="zh-CN" altLang="en-US"/>
          </a:p>
        </p:txBody>
      </p:sp>
      <p:sp>
        <p:nvSpPr>
          <p:cNvPr id="10" name="Title 1">
            <a:extLst>
              <a:ext uri="{FF2B5EF4-FFF2-40B4-BE49-F238E27FC236}">
                <a16:creationId xmlns:a16="http://schemas.microsoft.com/office/drawing/2014/main" id="{97025B06-33BC-4034-F02A-34F7DEC61A04}"/>
              </a:ext>
            </a:extLst>
          </p:cNvPr>
          <p:cNvSpPr>
            <a:spLocks noGrp="1"/>
          </p:cNvSpPr>
          <p:nvPr>
            <p:ph type="title"/>
          </p:nvPr>
        </p:nvSpPr>
        <p:spPr>
          <a:xfrm>
            <a:off x="628650" y="273844"/>
            <a:ext cx="7886700" cy="669131"/>
          </a:xfrm>
        </p:spPr>
        <p:txBody>
          <a:bodyPr/>
          <a:lstStyle/>
          <a:p>
            <a:r>
              <a:rPr lang="en-US"/>
              <a:t>Click to edit Master title style</a:t>
            </a:r>
            <a:endParaRPr lang="en-US" dirty="0"/>
          </a:p>
        </p:txBody>
      </p:sp>
    </p:spTree>
    <p:extLst>
      <p:ext uri="{BB962C8B-B14F-4D97-AF65-F5344CB8AC3E}">
        <p14:creationId xmlns:p14="http://schemas.microsoft.com/office/powerpoint/2010/main" val="1277504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669131"/>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22741D-E476-F04E-ADB3-06D1BCCC0E35}" type="datetime1">
              <a:rPr lang="en-US" altLang="zh-CN" smtClean="0"/>
              <a:t>6/15/26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2764051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EFDCEA-8899-3641-AF8B-710C1453795F}" type="datetime1">
              <a:rPr lang="en-US" altLang="zh-CN" smtClean="0"/>
              <a:t>6/15/26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4003423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CD621A6-18EE-0F47-9D42-814C4CC0255E}" type="datetime1">
              <a:rPr lang="en-US" altLang="zh-CN" smtClean="0"/>
              <a:t>6/15/26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192537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3E9E2C-7ACC-6841-81A2-3C89227E3D34}" type="datetime1">
              <a:rPr lang="en-US" altLang="zh-CN" smtClean="0"/>
              <a:t>6/15/26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1000265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4E7C6E-DB06-F24C-85D5-0587351F72F5}" type="datetime1">
              <a:rPr lang="en-US" altLang="zh-CN" smtClean="0"/>
              <a:t>6/15/26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532065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8B4F9B46-8700-9649-BA2F-7622601F67EB}" type="datetime1">
              <a:rPr lang="en-US" altLang="zh-CN" smtClean="0"/>
              <a:t>6/15/26</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585743034"/>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5" r:id="rId10"/>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E99090-93D0-E0A3-DC82-466C1D100996}"/>
              </a:ext>
            </a:extLst>
          </p:cNvPr>
          <p:cNvSpPr>
            <a:spLocks noGrp="1"/>
          </p:cNvSpPr>
          <p:nvPr>
            <p:ph type="ctrTitle"/>
          </p:nvPr>
        </p:nvSpPr>
        <p:spPr/>
        <p:txBody>
          <a:bodyPr/>
          <a:lstStyle/>
          <a:p>
            <a:r>
              <a:rPr lang="en-US" dirty="0"/>
              <a:t>MIS</a:t>
            </a:r>
            <a:r>
              <a:rPr lang="en-US" altLang="zh-CN" dirty="0"/>
              <a:t>Q</a:t>
            </a:r>
            <a:r>
              <a:rPr lang="en-US" dirty="0"/>
              <a:t> Paper Revision Plan</a:t>
            </a:r>
          </a:p>
        </p:txBody>
      </p:sp>
      <p:sp>
        <p:nvSpPr>
          <p:cNvPr id="2" name="文本占位符 4">
            <a:extLst>
              <a:ext uri="{FF2B5EF4-FFF2-40B4-BE49-F238E27FC236}">
                <a16:creationId xmlns:a16="http://schemas.microsoft.com/office/drawing/2014/main" id="{D9AC642F-4334-659F-4695-C63CA7980A43}"/>
              </a:ext>
            </a:extLst>
          </p:cNvPr>
          <p:cNvSpPr txBox="1">
            <a:spLocks/>
          </p:cNvSpPr>
          <p:nvPr/>
        </p:nvSpPr>
        <p:spPr>
          <a:xfrm>
            <a:off x="2498784" y="3031274"/>
            <a:ext cx="4146432" cy="39483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altLang="zh-CN" dirty="0"/>
              <a:t>Dylan</a:t>
            </a:r>
            <a:r>
              <a:rPr lang="zh-CN" altLang="en-US" dirty="0"/>
              <a:t> </a:t>
            </a:r>
            <a:r>
              <a:rPr lang="en-US" altLang="zh-CN" dirty="0"/>
              <a:t>Junluo</a:t>
            </a:r>
            <a:r>
              <a:rPr lang="zh-CN" altLang="en-US" dirty="0"/>
              <a:t> </a:t>
            </a:r>
            <a:r>
              <a:rPr lang="en-US" altLang="zh-CN" dirty="0"/>
              <a:t>CHEN, Ben LIU, Xin LI</a:t>
            </a:r>
            <a:endParaRPr lang="zh-CN" altLang="en-US" dirty="0"/>
          </a:p>
        </p:txBody>
      </p:sp>
    </p:spTree>
    <p:extLst>
      <p:ext uri="{BB962C8B-B14F-4D97-AF65-F5344CB8AC3E}">
        <p14:creationId xmlns:p14="http://schemas.microsoft.com/office/powerpoint/2010/main" val="2004901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7200C-F79E-CEF3-9151-1B73923D182B}"/>
              </a:ext>
            </a:extLst>
          </p:cNvPr>
          <p:cNvSpPr>
            <a:spLocks noGrp="1"/>
          </p:cNvSpPr>
          <p:nvPr>
            <p:ph type="title"/>
          </p:nvPr>
        </p:nvSpPr>
        <p:spPr>
          <a:xfrm>
            <a:off x="628650" y="273844"/>
            <a:ext cx="7886700" cy="669131"/>
          </a:xfrm>
        </p:spPr>
        <p:txBody>
          <a:bodyPr/>
          <a:lstStyle/>
          <a:p>
            <a:r>
              <a:rPr lang="en-US" dirty="0"/>
              <a:t>Outline</a:t>
            </a:r>
          </a:p>
        </p:txBody>
      </p:sp>
      <p:sp>
        <p:nvSpPr>
          <p:cNvPr id="3" name="Content Placeholder 2">
            <a:extLst>
              <a:ext uri="{FF2B5EF4-FFF2-40B4-BE49-F238E27FC236}">
                <a16:creationId xmlns:a16="http://schemas.microsoft.com/office/drawing/2014/main" id="{23E0BF02-F119-69CF-1539-948FF6AAFE6F}"/>
              </a:ext>
            </a:extLst>
          </p:cNvPr>
          <p:cNvSpPr>
            <a:spLocks noGrp="1"/>
          </p:cNvSpPr>
          <p:nvPr>
            <p:ph idx="1"/>
          </p:nvPr>
        </p:nvSpPr>
        <p:spPr/>
        <p:txBody>
          <a:bodyPr/>
          <a:lstStyle/>
          <a:p>
            <a:r>
              <a:rPr lang="en-US" dirty="0"/>
              <a:t>Summary of </a:t>
            </a:r>
            <a:r>
              <a:rPr lang="en-US" altLang="zh-CN" dirty="0"/>
              <a:t>our</a:t>
            </a:r>
            <a:r>
              <a:rPr lang="zh-CN" altLang="en-US" dirty="0"/>
              <a:t> </a:t>
            </a:r>
            <a:r>
              <a:rPr lang="en-US" dirty="0"/>
              <a:t>paper (page </a:t>
            </a:r>
            <a:r>
              <a:rPr lang="en-US" altLang="zh-CN" dirty="0"/>
              <a:t>2</a:t>
            </a:r>
            <a:r>
              <a:rPr lang="en-US" dirty="0"/>
              <a:t>~</a:t>
            </a:r>
            <a:r>
              <a:rPr lang="en-US" altLang="zh-CN" dirty="0"/>
              <a:t>4</a:t>
            </a:r>
            <a:r>
              <a:rPr lang="en-US" dirty="0"/>
              <a:t>)</a:t>
            </a:r>
          </a:p>
          <a:p>
            <a:r>
              <a:rPr lang="en-US" dirty="0"/>
              <a:t>Review panel’s major concern (page </a:t>
            </a:r>
            <a:r>
              <a:rPr lang="en-US" altLang="zh-CN" dirty="0"/>
              <a:t>5</a:t>
            </a:r>
            <a:r>
              <a:rPr lang="en-US" dirty="0"/>
              <a:t>)</a:t>
            </a:r>
          </a:p>
          <a:p>
            <a:r>
              <a:rPr lang="en-US" dirty="0"/>
              <a:t>SE’s suggestion</a:t>
            </a:r>
            <a:r>
              <a:rPr lang="zh-CN" altLang="en-US" dirty="0"/>
              <a:t> </a:t>
            </a:r>
            <a:r>
              <a:rPr lang="en-US" altLang="zh-CN" dirty="0"/>
              <a:t>(page</a:t>
            </a:r>
            <a:r>
              <a:rPr lang="zh-CN" altLang="en-US" dirty="0"/>
              <a:t> </a:t>
            </a:r>
            <a:r>
              <a:rPr lang="en-US" altLang="zh-CN" dirty="0"/>
              <a:t>6)</a:t>
            </a:r>
            <a:endParaRPr lang="en-US" dirty="0"/>
          </a:p>
          <a:p>
            <a:r>
              <a:rPr lang="en-US" dirty="0"/>
              <a:t>Our plan</a:t>
            </a:r>
          </a:p>
        </p:txBody>
      </p:sp>
      <p:sp>
        <p:nvSpPr>
          <p:cNvPr id="4" name="Slide Number Placeholder 3">
            <a:extLst>
              <a:ext uri="{FF2B5EF4-FFF2-40B4-BE49-F238E27FC236}">
                <a16:creationId xmlns:a16="http://schemas.microsoft.com/office/drawing/2014/main" id="{95FF446D-B8C2-E491-42AB-7703F6E7EB67}"/>
              </a:ext>
            </a:extLst>
          </p:cNvPr>
          <p:cNvSpPr>
            <a:spLocks noGrp="1"/>
          </p:cNvSpPr>
          <p:nvPr>
            <p:ph type="sldNum" sz="quarter" idx="12"/>
          </p:nvPr>
        </p:nvSpPr>
        <p:spPr/>
        <p:txBody>
          <a:bodyPr/>
          <a:lstStyle/>
          <a:p>
            <a:fld id="{48F63A3B-78C7-47BE-AE5E-E10140E04643}" type="slidenum">
              <a:rPr lang="en-US" smtClean="0"/>
              <a:t>1</a:t>
            </a:fld>
            <a:endParaRPr lang="en-US" dirty="0"/>
          </a:p>
        </p:txBody>
      </p:sp>
    </p:spTree>
    <p:extLst>
      <p:ext uri="{BB962C8B-B14F-4D97-AF65-F5344CB8AC3E}">
        <p14:creationId xmlns:p14="http://schemas.microsoft.com/office/powerpoint/2010/main" val="184545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5FC77-AA78-2257-A2F4-E1818478D210}"/>
              </a:ext>
            </a:extLst>
          </p:cNvPr>
          <p:cNvSpPr>
            <a:spLocks noGrp="1"/>
          </p:cNvSpPr>
          <p:nvPr>
            <p:ph type="title"/>
          </p:nvPr>
        </p:nvSpPr>
        <p:spPr/>
        <p:txBody>
          <a:bodyPr/>
          <a:lstStyle/>
          <a:p>
            <a:r>
              <a:rPr lang="en-US" dirty="0"/>
              <a:t>Background</a:t>
            </a:r>
          </a:p>
        </p:txBody>
      </p:sp>
      <p:grpSp>
        <p:nvGrpSpPr>
          <p:cNvPr id="28" name="Group 27">
            <a:extLst>
              <a:ext uri="{FF2B5EF4-FFF2-40B4-BE49-F238E27FC236}">
                <a16:creationId xmlns:a16="http://schemas.microsoft.com/office/drawing/2014/main" id="{859BBE05-E7EA-9FDF-3411-5AE7E42C269D}"/>
              </a:ext>
            </a:extLst>
          </p:cNvPr>
          <p:cNvGrpSpPr/>
          <p:nvPr/>
        </p:nvGrpSpPr>
        <p:grpSpPr>
          <a:xfrm>
            <a:off x="628650" y="1268016"/>
            <a:ext cx="7674956" cy="3875484"/>
            <a:chOff x="-214002" y="895689"/>
            <a:chExt cx="9276979" cy="4684430"/>
          </a:xfrm>
        </p:grpSpPr>
        <p:sp>
          <p:nvSpPr>
            <p:cNvPr id="3" name="Content Placeholder 2">
              <a:extLst>
                <a:ext uri="{FF2B5EF4-FFF2-40B4-BE49-F238E27FC236}">
                  <a16:creationId xmlns:a16="http://schemas.microsoft.com/office/drawing/2014/main" id="{4C8AB4D0-EE8E-9036-0D08-A3E05C613649}"/>
                </a:ext>
              </a:extLst>
            </p:cNvPr>
            <p:cNvSpPr txBox="1">
              <a:spLocks/>
            </p:cNvSpPr>
            <p:nvPr/>
          </p:nvSpPr>
          <p:spPr>
            <a:xfrm>
              <a:off x="2163984" y="3672984"/>
              <a:ext cx="6898993" cy="1907135"/>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base">
                <a:lnSpc>
                  <a:spcPct val="160000"/>
                </a:lnSpc>
                <a:spcBef>
                  <a:spcPct val="0"/>
                </a:spcBef>
                <a:spcAft>
                  <a:spcPct val="0"/>
                </a:spcAft>
                <a:buNone/>
              </a:pPr>
              <a:r>
                <a:rPr lang="en-US" altLang="en-US" sz="1800" dirty="0"/>
                <a:t>Our Research Question:</a:t>
              </a:r>
            </a:p>
            <a:p>
              <a:pPr marL="428608" lvl="1" fontAlgn="base">
                <a:lnSpc>
                  <a:spcPct val="160000"/>
                </a:lnSpc>
                <a:spcBef>
                  <a:spcPct val="0"/>
                </a:spcBef>
                <a:spcAft>
                  <a:spcPct val="0"/>
                </a:spcAft>
              </a:pPr>
              <a:r>
                <a:rPr lang="en-US" altLang="en-US" sz="1400" dirty="0"/>
                <a:t>How does internal GenAI affect </a:t>
              </a:r>
              <a:r>
                <a:rPr lang="en-US" altLang="en-US" sz="1400" i="1" dirty="0"/>
                <a:t>human answerers </a:t>
              </a:r>
              <a:r>
                <a:rPr lang="en-US" altLang="zh-CN" sz="1400" i="1" dirty="0"/>
                <a:t>(supply)</a:t>
              </a:r>
              <a:r>
                <a:rPr lang="zh-CN" altLang="en-US" sz="1400" i="1" dirty="0"/>
                <a:t> </a:t>
              </a:r>
              <a:r>
                <a:rPr lang="en-US" altLang="en-US" sz="1400" dirty="0"/>
                <a:t>and </a:t>
              </a:r>
              <a:r>
                <a:rPr lang="en-US" altLang="en-US" sz="1400" i="1" dirty="0"/>
                <a:t>viewers</a:t>
              </a:r>
              <a:r>
                <a:rPr lang="en-US" altLang="en-US" sz="1400" dirty="0"/>
                <a:t> </a:t>
              </a:r>
              <a:r>
                <a:rPr lang="en-US" altLang="zh-CN" sz="1400" i="1" dirty="0"/>
                <a:t>(recognition)</a:t>
              </a:r>
              <a:r>
                <a:rPr lang="zh-CN" altLang="en-US" sz="1400" dirty="0"/>
                <a:t> </a:t>
              </a:r>
              <a:r>
                <a:rPr lang="en-US" altLang="en-US" sz="1400" dirty="0"/>
                <a:t>in online Q&amp;A communities?</a:t>
              </a:r>
            </a:p>
          </p:txBody>
        </p:sp>
        <p:sp>
          <p:nvSpPr>
            <p:cNvPr id="6" name="矩形: 圆角 2">
              <a:extLst>
                <a:ext uri="{FF2B5EF4-FFF2-40B4-BE49-F238E27FC236}">
                  <a16:creationId xmlns:a16="http://schemas.microsoft.com/office/drawing/2014/main" id="{2AF5271D-AC9D-F67F-0A4A-DC882B32871B}"/>
                </a:ext>
              </a:extLst>
            </p:cNvPr>
            <p:cNvSpPr/>
            <p:nvPr/>
          </p:nvSpPr>
          <p:spPr>
            <a:xfrm>
              <a:off x="2387865" y="895689"/>
              <a:ext cx="4537911" cy="2424118"/>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100" dirty="0"/>
            </a:p>
          </p:txBody>
        </p:sp>
        <p:sp>
          <p:nvSpPr>
            <p:cNvPr id="7" name="箭头: 右 7">
              <a:extLst>
                <a:ext uri="{FF2B5EF4-FFF2-40B4-BE49-F238E27FC236}">
                  <a16:creationId xmlns:a16="http://schemas.microsoft.com/office/drawing/2014/main" id="{25069724-675C-7F97-1917-0E6C5BAA507D}"/>
                </a:ext>
              </a:extLst>
            </p:cNvPr>
            <p:cNvSpPr/>
            <p:nvPr/>
          </p:nvSpPr>
          <p:spPr>
            <a:xfrm>
              <a:off x="1457276" y="2300512"/>
              <a:ext cx="1833166" cy="572708"/>
            </a:xfrm>
            <a:prstGeom prst="rightArrow">
              <a:avLst/>
            </a:prstGeom>
            <a:solidFill>
              <a:srgbClr val="0070C0">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100" dirty="0"/>
            </a:p>
          </p:txBody>
        </p:sp>
        <p:pic>
          <p:nvPicPr>
            <p:cNvPr id="8" name="Picture 2" descr="ChatGPT Logo - SVG, PNG, AI, EPS Vectors">
              <a:extLst>
                <a:ext uri="{FF2B5EF4-FFF2-40B4-BE49-F238E27FC236}">
                  <a16:creationId xmlns:a16="http://schemas.microsoft.com/office/drawing/2014/main" id="{22C9B45E-DB60-0A0B-E483-00987619B51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789" y="3947100"/>
              <a:ext cx="724788" cy="72478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43">
              <a:extLst>
                <a:ext uri="{FF2B5EF4-FFF2-40B4-BE49-F238E27FC236}">
                  <a16:creationId xmlns:a16="http://schemas.microsoft.com/office/drawing/2014/main" id="{18E42CD2-C2B6-69C4-8EEA-08B24F5C34E2}"/>
                </a:ext>
              </a:extLst>
            </p:cNvPr>
            <p:cNvSpPr txBox="1"/>
            <p:nvPr/>
          </p:nvSpPr>
          <p:spPr>
            <a:xfrm flipH="1">
              <a:off x="-214002" y="4640927"/>
              <a:ext cx="2442370" cy="520828"/>
            </a:xfrm>
            <a:prstGeom prst="rect">
              <a:avLst/>
            </a:prstGeom>
            <a:noFill/>
          </p:spPr>
          <p:txBody>
            <a:bodyPr wrap="square" rtlCol="0">
              <a:spAutoFit/>
            </a:bodyPr>
            <a:lstStyle/>
            <a:p>
              <a:pPr algn="ctr"/>
              <a:r>
                <a:rPr lang="en-US" sz="1100" b="1" dirty="0"/>
                <a:t>External </a:t>
              </a:r>
              <a:r>
                <a:rPr lang="en-US" altLang="zh-CN" sz="1100" b="1" dirty="0" err="1"/>
                <a:t>Gen</a:t>
              </a:r>
              <a:r>
                <a:rPr lang="en-US" sz="1100" b="1" dirty="0" err="1"/>
                <a:t>AI</a:t>
              </a:r>
              <a:r>
                <a:rPr lang="en-US" sz="1100" b="1" dirty="0"/>
                <a:t> </a:t>
              </a:r>
            </a:p>
            <a:p>
              <a:pPr algn="ctr"/>
              <a:r>
                <a:rPr lang="en-US" sz="1100" dirty="0"/>
                <a:t>(e.g., ChatGPT)</a:t>
              </a:r>
            </a:p>
          </p:txBody>
        </p:sp>
        <p:sp>
          <p:nvSpPr>
            <p:cNvPr id="10" name="箭头: 右 7">
              <a:extLst>
                <a:ext uri="{FF2B5EF4-FFF2-40B4-BE49-F238E27FC236}">
                  <a16:creationId xmlns:a16="http://schemas.microsoft.com/office/drawing/2014/main" id="{6191C53E-912C-13A5-A2FF-41DE2E8E1691}"/>
                </a:ext>
              </a:extLst>
            </p:cNvPr>
            <p:cNvSpPr/>
            <p:nvPr/>
          </p:nvSpPr>
          <p:spPr>
            <a:xfrm rot="5400000">
              <a:off x="692163" y="3430871"/>
              <a:ext cx="655323" cy="266700"/>
            </a:xfrm>
            <a:prstGeom prst="rightArrow">
              <a:avLst/>
            </a:prstGeom>
            <a:solidFill>
              <a:srgbClr val="0070C0">
                <a:alpha val="2427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100" dirty="0"/>
            </a:p>
          </p:txBody>
        </p:sp>
        <p:sp>
          <p:nvSpPr>
            <p:cNvPr id="11" name="TextBox 10">
              <a:extLst>
                <a:ext uri="{FF2B5EF4-FFF2-40B4-BE49-F238E27FC236}">
                  <a16:creationId xmlns:a16="http://schemas.microsoft.com/office/drawing/2014/main" id="{58FD20B2-0AD9-9442-189F-1214EEBBB063}"/>
                </a:ext>
              </a:extLst>
            </p:cNvPr>
            <p:cNvSpPr txBox="1"/>
            <p:nvPr/>
          </p:nvSpPr>
          <p:spPr>
            <a:xfrm>
              <a:off x="7164221" y="2077691"/>
              <a:ext cx="691235" cy="316217"/>
            </a:xfrm>
            <a:prstGeom prst="rect">
              <a:avLst/>
            </a:prstGeom>
            <a:noFill/>
          </p:spPr>
          <p:txBody>
            <a:bodyPr wrap="square" rtlCol="0">
              <a:spAutoFit/>
            </a:bodyPr>
            <a:lstStyle/>
            <a:p>
              <a:pPr algn="ctr"/>
              <a:r>
                <a:rPr lang="en-US" sz="1100" dirty="0"/>
                <a:t>Supply</a:t>
              </a:r>
            </a:p>
          </p:txBody>
        </p:sp>
        <p:sp>
          <p:nvSpPr>
            <p:cNvPr id="12" name="TextBox 15">
              <a:extLst>
                <a:ext uri="{FF2B5EF4-FFF2-40B4-BE49-F238E27FC236}">
                  <a16:creationId xmlns:a16="http://schemas.microsoft.com/office/drawing/2014/main" id="{D5F63FB4-D4E1-0F96-F488-0ED8988C49CB}"/>
                </a:ext>
              </a:extLst>
            </p:cNvPr>
            <p:cNvSpPr txBox="1"/>
            <p:nvPr/>
          </p:nvSpPr>
          <p:spPr>
            <a:xfrm>
              <a:off x="3502977" y="2715791"/>
              <a:ext cx="947936" cy="204611"/>
            </a:xfrm>
            <a:prstGeom prst="rect">
              <a:avLst/>
            </a:prstGeom>
            <a:solidFill>
              <a:schemeClr val="bg1">
                <a:alpha val="90000"/>
              </a:schemeClr>
            </a:solidFill>
          </p:spPr>
          <p:txBody>
            <a:bodyPr wrap="square" lIns="0" tIns="0" rIns="0" bIns="0" rtlCol="0">
              <a:spAutoFit/>
            </a:bodyPr>
            <a:lstStyle/>
            <a:p>
              <a:pPr algn="ctr" defTabSz="761970">
                <a:defRPr/>
              </a:pPr>
              <a:r>
                <a:rPr lang="en-US" sz="1100" b="1" dirty="0">
                  <a:solidFill>
                    <a:prstClr val="black"/>
                  </a:solidFill>
                  <a:latin typeface="Calibri" panose="020F0502020204030204"/>
                </a:rPr>
                <a:t>Questions</a:t>
              </a:r>
            </a:p>
          </p:txBody>
        </p:sp>
        <p:sp>
          <p:nvSpPr>
            <p:cNvPr id="13" name="TextBox 15">
              <a:extLst>
                <a:ext uri="{FF2B5EF4-FFF2-40B4-BE49-F238E27FC236}">
                  <a16:creationId xmlns:a16="http://schemas.microsoft.com/office/drawing/2014/main" id="{5BC61DE7-1110-5E13-F45E-0D75FF5ADD3F}"/>
                </a:ext>
              </a:extLst>
            </p:cNvPr>
            <p:cNvSpPr txBox="1"/>
            <p:nvPr/>
          </p:nvSpPr>
          <p:spPr>
            <a:xfrm>
              <a:off x="4791553" y="2715791"/>
              <a:ext cx="947936" cy="204611"/>
            </a:xfrm>
            <a:prstGeom prst="rect">
              <a:avLst/>
            </a:prstGeom>
            <a:solidFill>
              <a:schemeClr val="bg1">
                <a:alpha val="90000"/>
              </a:schemeClr>
            </a:solidFill>
          </p:spPr>
          <p:txBody>
            <a:bodyPr wrap="square" lIns="0" tIns="0" rIns="0" bIns="0" rtlCol="0">
              <a:spAutoFit/>
            </a:bodyPr>
            <a:lstStyle/>
            <a:p>
              <a:pPr algn="ctr" defTabSz="761970">
                <a:defRPr/>
              </a:pPr>
              <a:r>
                <a:rPr lang="en-US" sz="1100" b="1" dirty="0">
                  <a:solidFill>
                    <a:prstClr val="black"/>
                  </a:solidFill>
                  <a:latin typeface="Calibri" panose="020F0502020204030204"/>
                </a:rPr>
                <a:t>Answers</a:t>
              </a:r>
            </a:p>
          </p:txBody>
        </p:sp>
        <p:pic>
          <p:nvPicPr>
            <p:cNvPr id="14" name="Picture 3">
              <a:extLst>
                <a:ext uri="{FF2B5EF4-FFF2-40B4-BE49-F238E27FC236}">
                  <a16:creationId xmlns:a16="http://schemas.microsoft.com/office/drawing/2014/main" id="{1628B703-69EA-B617-B0B4-005C6E30E8B1}"/>
                </a:ext>
              </a:extLst>
            </p:cNvPr>
            <p:cNvPicPr>
              <a:picLocks noChangeAspect="1"/>
            </p:cNvPicPr>
            <p:nvPr/>
          </p:nvPicPr>
          <p:blipFill rotWithShape="1">
            <a:blip r:embed="rId4"/>
            <a:srcRect l="-685" t="252" r="685" b="53500"/>
            <a:stretch/>
          </p:blipFill>
          <p:spPr>
            <a:xfrm>
              <a:off x="3443202" y="2255979"/>
              <a:ext cx="1051651" cy="484017"/>
            </a:xfrm>
            <a:prstGeom prst="rect">
              <a:avLst/>
            </a:prstGeom>
          </p:spPr>
        </p:pic>
        <p:pic>
          <p:nvPicPr>
            <p:cNvPr id="15" name="Picture 30">
              <a:extLst>
                <a:ext uri="{FF2B5EF4-FFF2-40B4-BE49-F238E27FC236}">
                  <a16:creationId xmlns:a16="http://schemas.microsoft.com/office/drawing/2014/main" id="{E974D6E8-99D8-61C5-09AB-35EABEBAD152}"/>
                </a:ext>
              </a:extLst>
            </p:cNvPr>
            <p:cNvPicPr>
              <a:picLocks noChangeAspect="1"/>
            </p:cNvPicPr>
            <p:nvPr/>
          </p:nvPicPr>
          <p:blipFill rotWithShape="1">
            <a:blip r:embed="rId4"/>
            <a:srcRect t="53752" b="1"/>
            <a:stretch/>
          </p:blipFill>
          <p:spPr>
            <a:xfrm>
              <a:off x="4679674" y="2265394"/>
              <a:ext cx="1051651" cy="484017"/>
            </a:xfrm>
            <a:prstGeom prst="rect">
              <a:avLst/>
            </a:prstGeom>
          </p:spPr>
        </p:pic>
        <p:sp>
          <p:nvSpPr>
            <p:cNvPr id="16" name="TextBox 27">
              <a:extLst>
                <a:ext uri="{FF2B5EF4-FFF2-40B4-BE49-F238E27FC236}">
                  <a16:creationId xmlns:a16="http://schemas.microsoft.com/office/drawing/2014/main" id="{2B884C76-FE7B-8423-C8AF-2ACD2F8E7E98}"/>
                </a:ext>
              </a:extLst>
            </p:cNvPr>
            <p:cNvSpPr txBox="1"/>
            <p:nvPr/>
          </p:nvSpPr>
          <p:spPr>
            <a:xfrm>
              <a:off x="1465296" y="2077691"/>
              <a:ext cx="698689" cy="316217"/>
            </a:xfrm>
            <a:prstGeom prst="rect">
              <a:avLst/>
            </a:prstGeom>
            <a:noFill/>
          </p:spPr>
          <p:txBody>
            <a:bodyPr wrap="square" rtlCol="0">
              <a:spAutoFit/>
            </a:bodyPr>
            <a:lstStyle/>
            <a:p>
              <a:pPr algn="ctr"/>
              <a:r>
                <a:rPr lang="en-US" sz="1100" dirty="0"/>
                <a:t>Supply</a:t>
              </a:r>
            </a:p>
          </p:txBody>
        </p:sp>
        <p:sp>
          <p:nvSpPr>
            <p:cNvPr id="17" name="TextBox 16">
              <a:extLst>
                <a:ext uri="{FF2B5EF4-FFF2-40B4-BE49-F238E27FC236}">
                  <a16:creationId xmlns:a16="http://schemas.microsoft.com/office/drawing/2014/main" id="{693F3EBF-3A9D-CF03-783D-8BFE80A83C91}"/>
                </a:ext>
              </a:extLst>
            </p:cNvPr>
            <p:cNvSpPr txBox="1"/>
            <p:nvPr/>
          </p:nvSpPr>
          <p:spPr>
            <a:xfrm flipH="1">
              <a:off x="7855456" y="2900159"/>
              <a:ext cx="1044288" cy="316217"/>
            </a:xfrm>
            <a:prstGeom prst="rect">
              <a:avLst/>
            </a:prstGeom>
            <a:noFill/>
          </p:spPr>
          <p:txBody>
            <a:bodyPr wrap="square" rtlCol="0">
              <a:spAutoFit/>
            </a:bodyPr>
            <a:lstStyle/>
            <a:p>
              <a:pPr algn="ctr"/>
              <a:r>
                <a:rPr lang="en-US" sz="1100" b="1" dirty="0"/>
                <a:t>Answerers</a:t>
              </a:r>
            </a:p>
          </p:txBody>
        </p:sp>
        <p:sp>
          <p:nvSpPr>
            <p:cNvPr id="18" name="TextBox 6">
              <a:extLst>
                <a:ext uri="{FF2B5EF4-FFF2-40B4-BE49-F238E27FC236}">
                  <a16:creationId xmlns:a16="http://schemas.microsoft.com/office/drawing/2014/main" id="{AB890164-4ED1-FC02-2A9B-5C4B7B269372}"/>
                </a:ext>
              </a:extLst>
            </p:cNvPr>
            <p:cNvSpPr txBox="1"/>
            <p:nvPr/>
          </p:nvSpPr>
          <p:spPr>
            <a:xfrm flipH="1">
              <a:off x="453918" y="2873221"/>
              <a:ext cx="1163783" cy="316217"/>
            </a:xfrm>
            <a:prstGeom prst="rect">
              <a:avLst/>
            </a:prstGeom>
            <a:noFill/>
          </p:spPr>
          <p:txBody>
            <a:bodyPr wrap="square" rtlCol="0">
              <a:spAutoFit/>
            </a:bodyPr>
            <a:lstStyle/>
            <a:p>
              <a:r>
                <a:rPr lang="en-US" sz="1100" b="1" dirty="0"/>
                <a:t>Questioners</a:t>
              </a:r>
            </a:p>
          </p:txBody>
        </p:sp>
        <p:sp>
          <p:nvSpPr>
            <p:cNvPr id="19" name="man-silhouette_43368">
              <a:extLst>
                <a:ext uri="{FF2B5EF4-FFF2-40B4-BE49-F238E27FC236}">
                  <a16:creationId xmlns:a16="http://schemas.microsoft.com/office/drawing/2014/main" id="{9306CAFD-615F-555A-BF64-C7A6890A5CAD}"/>
                </a:ext>
              </a:extLst>
            </p:cNvPr>
            <p:cNvSpPr/>
            <p:nvPr/>
          </p:nvSpPr>
          <p:spPr>
            <a:xfrm>
              <a:off x="8191143" y="2038112"/>
              <a:ext cx="372912" cy="932443"/>
            </a:xfrm>
            <a:custGeom>
              <a:avLst/>
              <a:gdLst>
                <a:gd name="connsiteX0" fmla="*/ 54978 w 241969"/>
                <a:gd name="connsiteY0" fmla="*/ 102390 h 605028"/>
                <a:gd name="connsiteX1" fmla="*/ 116083 w 241969"/>
                <a:gd name="connsiteY1" fmla="*/ 102390 h 605028"/>
                <a:gd name="connsiteX2" fmla="*/ 125886 w 241969"/>
                <a:gd name="connsiteY2" fmla="*/ 102390 h 605028"/>
                <a:gd name="connsiteX3" fmla="*/ 186991 w 241969"/>
                <a:gd name="connsiteY3" fmla="*/ 102390 h 605028"/>
                <a:gd name="connsiteX4" fmla="*/ 241969 w 241969"/>
                <a:gd name="connsiteY4" fmla="*/ 158501 h 605028"/>
                <a:gd name="connsiteX5" fmla="*/ 241969 w 241969"/>
                <a:gd name="connsiteY5" fmla="*/ 319577 h 605028"/>
                <a:gd name="connsiteX6" fmla="*/ 218769 w 241969"/>
                <a:gd name="connsiteY6" fmla="*/ 342740 h 605028"/>
                <a:gd name="connsiteX7" fmla="*/ 195568 w 241969"/>
                <a:gd name="connsiteY7" fmla="*/ 319577 h 605028"/>
                <a:gd name="connsiteX8" fmla="*/ 195487 w 241969"/>
                <a:gd name="connsiteY8" fmla="*/ 177994 h 605028"/>
                <a:gd name="connsiteX9" fmla="*/ 193118 w 241969"/>
                <a:gd name="connsiteY9" fmla="*/ 175629 h 605028"/>
                <a:gd name="connsiteX10" fmla="*/ 188216 w 241969"/>
                <a:gd name="connsiteY10" fmla="*/ 175629 h 605028"/>
                <a:gd name="connsiteX11" fmla="*/ 185766 w 241969"/>
                <a:gd name="connsiteY11" fmla="*/ 177994 h 605028"/>
                <a:gd name="connsiteX12" fmla="*/ 185766 w 241969"/>
                <a:gd name="connsiteY12" fmla="*/ 575178 h 605028"/>
                <a:gd name="connsiteX13" fmla="*/ 155867 w 241969"/>
                <a:gd name="connsiteY13" fmla="*/ 605028 h 605028"/>
                <a:gd name="connsiteX14" fmla="*/ 125886 w 241969"/>
                <a:gd name="connsiteY14" fmla="*/ 575178 h 605028"/>
                <a:gd name="connsiteX15" fmla="*/ 125886 w 241969"/>
                <a:gd name="connsiteY15" fmla="*/ 341516 h 605028"/>
                <a:gd name="connsiteX16" fmla="*/ 123435 w 241969"/>
                <a:gd name="connsiteY16" fmla="*/ 339069 h 605028"/>
                <a:gd name="connsiteX17" fmla="*/ 118615 w 241969"/>
                <a:gd name="connsiteY17" fmla="*/ 339069 h 605028"/>
                <a:gd name="connsiteX18" fmla="*/ 116083 w 241969"/>
                <a:gd name="connsiteY18" fmla="*/ 341516 h 605028"/>
                <a:gd name="connsiteX19" fmla="*/ 116083 w 241969"/>
                <a:gd name="connsiteY19" fmla="*/ 575178 h 605028"/>
                <a:gd name="connsiteX20" fmla="*/ 86184 w 241969"/>
                <a:gd name="connsiteY20" fmla="*/ 605028 h 605028"/>
                <a:gd name="connsiteX21" fmla="*/ 56203 w 241969"/>
                <a:gd name="connsiteY21" fmla="*/ 575178 h 605028"/>
                <a:gd name="connsiteX22" fmla="*/ 56203 w 241969"/>
                <a:gd name="connsiteY22" fmla="*/ 177994 h 605028"/>
                <a:gd name="connsiteX23" fmla="*/ 53834 w 241969"/>
                <a:gd name="connsiteY23" fmla="*/ 175629 h 605028"/>
                <a:gd name="connsiteX24" fmla="*/ 48933 w 241969"/>
                <a:gd name="connsiteY24" fmla="*/ 175629 h 605028"/>
                <a:gd name="connsiteX25" fmla="*/ 46482 w 241969"/>
                <a:gd name="connsiteY25" fmla="*/ 177994 h 605028"/>
                <a:gd name="connsiteX26" fmla="*/ 46482 w 241969"/>
                <a:gd name="connsiteY26" fmla="*/ 319577 h 605028"/>
                <a:gd name="connsiteX27" fmla="*/ 23200 w 241969"/>
                <a:gd name="connsiteY27" fmla="*/ 342740 h 605028"/>
                <a:gd name="connsiteX28" fmla="*/ 0 w 241969"/>
                <a:gd name="connsiteY28" fmla="*/ 319577 h 605028"/>
                <a:gd name="connsiteX29" fmla="*/ 0 w 241969"/>
                <a:gd name="connsiteY29" fmla="*/ 158501 h 605028"/>
                <a:gd name="connsiteX30" fmla="*/ 54978 w 241969"/>
                <a:gd name="connsiteY30" fmla="*/ 102390 h 605028"/>
                <a:gd name="connsiteX31" fmla="*/ 120984 w 241969"/>
                <a:gd name="connsiteY31" fmla="*/ 0 h 605028"/>
                <a:gd name="connsiteX32" fmla="*/ 165546 w 241969"/>
                <a:gd name="connsiteY32" fmla="*/ 44492 h 605028"/>
                <a:gd name="connsiteX33" fmla="*/ 120984 w 241969"/>
                <a:gd name="connsiteY33" fmla="*/ 88984 h 605028"/>
                <a:gd name="connsiteX34" fmla="*/ 76422 w 241969"/>
                <a:gd name="connsiteY34" fmla="*/ 44492 h 605028"/>
                <a:gd name="connsiteX35" fmla="*/ 120984 w 241969"/>
                <a:gd name="connsiteY3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41969" h="605028">
                  <a:moveTo>
                    <a:pt x="54978" y="102390"/>
                  </a:moveTo>
                  <a:lnTo>
                    <a:pt x="116083" y="102390"/>
                  </a:lnTo>
                  <a:lnTo>
                    <a:pt x="125886" y="102390"/>
                  </a:lnTo>
                  <a:lnTo>
                    <a:pt x="186991" y="102390"/>
                  </a:lnTo>
                  <a:cubicBezTo>
                    <a:pt x="217543" y="102390"/>
                    <a:pt x="241969" y="126776"/>
                    <a:pt x="241969" y="158501"/>
                  </a:cubicBezTo>
                  <a:lnTo>
                    <a:pt x="241969" y="319577"/>
                  </a:lnTo>
                  <a:cubicBezTo>
                    <a:pt x="241969" y="332382"/>
                    <a:pt x="231594" y="342740"/>
                    <a:pt x="218769" y="342740"/>
                  </a:cubicBezTo>
                  <a:cubicBezTo>
                    <a:pt x="205943" y="342740"/>
                    <a:pt x="195568" y="332382"/>
                    <a:pt x="195568" y="319577"/>
                  </a:cubicBezTo>
                  <a:cubicBezTo>
                    <a:pt x="195568" y="319577"/>
                    <a:pt x="195487" y="177994"/>
                    <a:pt x="195487" y="177994"/>
                  </a:cubicBezTo>
                  <a:cubicBezTo>
                    <a:pt x="195487" y="176689"/>
                    <a:pt x="194425" y="175629"/>
                    <a:pt x="193118" y="175629"/>
                  </a:cubicBezTo>
                  <a:lnTo>
                    <a:pt x="188216" y="175629"/>
                  </a:lnTo>
                  <a:cubicBezTo>
                    <a:pt x="186828" y="175629"/>
                    <a:pt x="185766" y="176689"/>
                    <a:pt x="185766" y="177994"/>
                  </a:cubicBezTo>
                  <a:lnTo>
                    <a:pt x="185766" y="575178"/>
                  </a:lnTo>
                  <a:cubicBezTo>
                    <a:pt x="185766" y="591653"/>
                    <a:pt x="172368" y="605028"/>
                    <a:pt x="155867" y="605028"/>
                  </a:cubicBezTo>
                  <a:cubicBezTo>
                    <a:pt x="139283" y="605028"/>
                    <a:pt x="125886" y="591653"/>
                    <a:pt x="125886" y="575178"/>
                  </a:cubicBezTo>
                  <a:lnTo>
                    <a:pt x="125886" y="341516"/>
                  </a:lnTo>
                  <a:cubicBezTo>
                    <a:pt x="125886" y="339803"/>
                    <a:pt x="125069" y="339069"/>
                    <a:pt x="123435" y="339069"/>
                  </a:cubicBezTo>
                  <a:lnTo>
                    <a:pt x="118615" y="339069"/>
                  </a:lnTo>
                  <a:cubicBezTo>
                    <a:pt x="116900" y="339069"/>
                    <a:pt x="116083" y="339803"/>
                    <a:pt x="116083" y="341516"/>
                  </a:cubicBezTo>
                  <a:lnTo>
                    <a:pt x="116083" y="575178"/>
                  </a:lnTo>
                  <a:cubicBezTo>
                    <a:pt x="116083" y="591653"/>
                    <a:pt x="102686" y="605028"/>
                    <a:pt x="86184" y="605028"/>
                  </a:cubicBezTo>
                  <a:cubicBezTo>
                    <a:pt x="69601" y="605028"/>
                    <a:pt x="56203" y="591653"/>
                    <a:pt x="56203" y="575178"/>
                  </a:cubicBezTo>
                  <a:lnTo>
                    <a:pt x="56203" y="177994"/>
                  </a:lnTo>
                  <a:cubicBezTo>
                    <a:pt x="56203" y="176689"/>
                    <a:pt x="55141" y="175629"/>
                    <a:pt x="53834" y="175629"/>
                  </a:cubicBezTo>
                  <a:lnTo>
                    <a:pt x="48933" y="175629"/>
                  </a:lnTo>
                  <a:cubicBezTo>
                    <a:pt x="47544" y="175629"/>
                    <a:pt x="46482" y="176689"/>
                    <a:pt x="46482" y="177994"/>
                  </a:cubicBezTo>
                  <a:cubicBezTo>
                    <a:pt x="46482" y="177994"/>
                    <a:pt x="46482" y="319577"/>
                    <a:pt x="46482" y="319577"/>
                  </a:cubicBezTo>
                  <a:cubicBezTo>
                    <a:pt x="46482" y="332382"/>
                    <a:pt x="36026" y="342740"/>
                    <a:pt x="23200" y="342740"/>
                  </a:cubicBezTo>
                  <a:cubicBezTo>
                    <a:pt x="10375" y="342740"/>
                    <a:pt x="0" y="332382"/>
                    <a:pt x="0" y="319577"/>
                  </a:cubicBezTo>
                  <a:lnTo>
                    <a:pt x="0" y="158501"/>
                  </a:lnTo>
                  <a:cubicBezTo>
                    <a:pt x="0" y="126776"/>
                    <a:pt x="24426" y="102390"/>
                    <a:pt x="54978" y="102390"/>
                  </a:cubicBezTo>
                  <a:close/>
                  <a:moveTo>
                    <a:pt x="120984" y="0"/>
                  </a:moveTo>
                  <a:cubicBezTo>
                    <a:pt x="145595" y="0"/>
                    <a:pt x="165546" y="19920"/>
                    <a:pt x="165546" y="44492"/>
                  </a:cubicBezTo>
                  <a:cubicBezTo>
                    <a:pt x="165546" y="69064"/>
                    <a:pt x="145595" y="88984"/>
                    <a:pt x="120984" y="88984"/>
                  </a:cubicBezTo>
                  <a:cubicBezTo>
                    <a:pt x="96373" y="88984"/>
                    <a:pt x="76422" y="69064"/>
                    <a:pt x="76422" y="44492"/>
                  </a:cubicBezTo>
                  <a:cubicBezTo>
                    <a:pt x="76422" y="19920"/>
                    <a:pt x="96373" y="0"/>
                    <a:pt x="120984" y="0"/>
                  </a:cubicBez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20" name="answer_268107">
              <a:extLst>
                <a:ext uri="{FF2B5EF4-FFF2-40B4-BE49-F238E27FC236}">
                  <a16:creationId xmlns:a16="http://schemas.microsoft.com/office/drawing/2014/main" id="{920421F0-2EB8-A33D-ABE9-7FE8B73C3CFE}"/>
                </a:ext>
              </a:extLst>
            </p:cNvPr>
            <p:cNvSpPr/>
            <p:nvPr/>
          </p:nvSpPr>
          <p:spPr>
            <a:xfrm>
              <a:off x="686465" y="2031638"/>
              <a:ext cx="698689" cy="886126"/>
            </a:xfrm>
            <a:custGeom>
              <a:avLst/>
              <a:gdLst>
                <a:gd name="connsiteX0" fmla="*/ 322413 w 478363"/>
                <a:gd name="connsiteY0" fmla="*/ 385963 h 606692"/>
                <a:gd name="connsiteX1" fmla="*/ 351133 w 478363"/>
                <a:gd name="connsiteY1" fmla="*/ 385963 h 606692"/>
                <a:gd name="connsiteX2" fmla="*/ 351133 w 478363"/>
                <a:gd name="connsiteY2" fmla="*/ 537275 h 606692"/>
                <a:gd name="connsiteX3" fmla="*/ 336773 w 478363"/>
                <a:gd name="connsiteY3" fmla="*/ 551580 h 606692"/>
                <a:gd name="connsiteX4" fmla="*/ 322413 w 478363"/>
                <a:gd name="connsiteY4" fmla="*/ 537275 h 606692"/>
                <a:gd name="connsiteX5" fmla="*/ 245920 w 478363"/>
                <a:gd name="connsiteY5" fmla="*/ 385963 h 606692"/>
                <a:gd name="connsiteX6" fmla="*/ 300467 w 478363"/>
                <a:gd name="connsiteY6" fmla="*/ 385963 h 606692"/>
                <a:gd name="connsiteX7" fmla="*/ 300467 w 478363"/>
                <a:gd name="connsiteY7" fmla="*/ 558452 h 606692"/>
                <a:gd name="connsiteX8" fmla="*/ 273149 w 478363"/>
                <a:gd name="connsiteY8" fmla="*/ 585734 h 606692"/>
                <a:gd name="connsiteX9" fmla="*/ 245920 w 478363"/>
                <a:gd name="connsiteY9" fmla="*/ 558452 h 606692"/>
                <a:gd name="connsiteX10" fmla="*/ 179518 w 478363"/>
                <a:gd name="connsiteY10" fmla="*/ 385963 h 606692"/>
                <a:gd name="connsiteX11" fmla="*/ 234065 w 478363"/>
                <a:gd name="connsiteY11" fmla="*/ 385963 h 606692"/>
                <a:gd name="connsiteX12" fmla="*/ 234065 w 478363"/>
                <a:gd name="connsiteY12" fmla="*/ 558452 h 606692"/>
                <a:gd name="connsiteX13" fmla="*/ 206747 w 478363"/>
                <a:gd name="connsiteY13" fmla="*/ 585734 h 606692"/>
                <a:gd name="connsiteX14" fmla="*/ 179518 w 478363"/>
                <a:gd name="connsiteY14" fmla="*/ 558452 h 606692"/>
                <a:gd name="connsiteX15" fmla="*/ 126806 w 478363"/>
                <a:gd name="connsiteY15" fmla="*/ 385963 h 606692"/>
                <a:gd name="connsiteX16" fmla="*/ 155456 w 478363"/>
                <a:gd name="connsiteY16" fmla="*/ 385963 h 606692"/>
                <a:gd name="connsiteX17" fmla="*/ 155456 w 478363"/>
                <a:gd name="connsiteY17" fmla="*/ 537275 h 606692"/>
                <a:gd name="connsiteX18" fmla="*/ 141131 w 478363"/>
                <a:gd name="connsiteY18" fmla="*/ 551580 h 606692"/>
                <a:gd name="connsiteX19" fmla="*/ 126806 w 478363"/>
                <a:gd name="connsiteY19" fmla="*/ 537275 h 606692"/>
                <a:gd name="connsiteX20" fmla="*/ 13795 w 478363"/>
                <a:gd name="connsiteY20" fmla="*/ 337626 h 606692"/>
                <a:gd name="connsiteX21" fmla="*/ 464569 w 478363"/>
                <a:gd name="connsiteY21" fmla="*/ 337626 h 606692"/>
                <a:gd name="connsiteX22" fmla="*/ 478363 w 478363"/>
                <a:gd name="connsiteY22" fmla="*/ 351399 h 606692"/>
                <a:gd name="connsiteX23" fmla="*/ 464569 w 478363"/>
                <a:gd name="connsiteY23" fmla="*/ 365172 h 606692"/>
                <a:gd name="connsiteX24" fmla="*/ 450952 w 478363"/>
                <a:gd name="connsiteY24" fmla="*/ 365172 h 606692"/>
                <a:gd name="connsiteX25" fmla="*/ 450952 w 478363"/>
                <a:gd name="connsiteY25" fmla="*/ 585543 h 606692"/>
                <a:gd name="connsiteX26" fmla="*/ 429770 w 478363"/>
                <a:gd name="connsiteY26" fmla="*/ 606692 h 606692"/>
                <a:gd name="connsiteX27" fmla="*/ 408589 w 478363"/>
                <a:gd name="connsiteY27" fmla="*/ 585543 h 606692"/>
                <a:gd name="connsiteX28" fmla="*/ 408589 w 478363"/>
                <a:gd name="connsiteY28" fmla="*/ 365172 h 606692"/>
                <a:gd name="connsiteX29" fmla="*/ 71020 w 478363"/>
                <a:gd name="connsiteY29" fmla="*/ 365172 h 606692"/>
                <a:gd name="connsiteX30" fmla="*/ 71020 w 478363"/>
                <a:gd name="connsiteY30" fmla="*/ 585543 h 606692"/>
                <a:gd name="connsiteX31" fmla="*/ 49839 w 478363"/>
                <a:gd name="connsiteY31" fmla="*/ 606692 h 606692"/>
                <a:gd name="connsiteX32" fmla="*/ 28658 w 478363"/>
                <a:gd name="connsiteY32" fmla="*/ 585543 h 606692"/>
                <a:gd name="connsiteX33" fmla="*/ 28658 w 478363"/>
                <a:gd name="connsiteY33" fmla="*/ 365172 h 606692"/>
                <a:gd name="connsiteX34" fmla="*/ 13795 w 478363"/>
                <a:gd name="connsiteY34" fmla="*/ 365172 h 606692"/>
                <a:gd name="connsiteX35" fmla="*/ 0 w 478363"/>
                <a:gd name="connsiteY35" fmla="*/ 351399 h 606692"/>
                <a:gd name="connsiteX36" fmla="*/ 13795 w 478363"/>
                <a:gd name="connsiteY36" fmla="*/ 337626 h 606692"/>
                <a:gd name="connsiteX37" fmla="*/ 239958 w 478363"/>
                <a:gd name="connsiteY37" fmla="*/ 69548 h 606692"/>
                <a:gd name="connsiteX38" fmla="*/ 287131 w 478363"/>
                <a:gd name="connsiteY38" fmla="*/ 116651 h 606692"/>
                <a:gd name="connsiteX39" fmla="*/ 239958 w 478363"/>
                <a:gd name="connsiteY39" fmla="*/ 163754 h 606692"/>
                <a:gd name="connsiteX40" fmla="*/ 192785 w 478363"/>
                <a:gd name="connsiteY40" fmla="*/ 116651 h 606692"/>
                <a:gd name="connsiteX41" fmla="*/ 239958 w 478363"/>
                <a:gd name="connsiteY41" fmla="*/ 69548 h 606692"/>
                <a:gd name="connsiteX42" fmla="*/ 369130 w 478363"/>
                <a:gd name="connsiteY42" fmla="*/ 1049 h 606692"/>
                <a:gd name="connsiteX43" fmla="*/ 386453 w 478363"/>
                <a:gd name="connsiteY43" fmla="*/ 2571 h 606692"/>
                <a:gd name="connsiteX44" fmla="*/ 396155 w 478363"/>
                <a:gd name="connsiteY44" fmla="*/ 33229 h 606692"/>
                <a:gd name="connsiteX45" fmla="*/ 300026 w 478363"/>
                <a:gd name="connsiteY45" fmla="*/ 216109 h 606692"/>
                <a:gd name="connsiteX46" fmla="*/ 300026 w 478363"/>
                <a:gd name="connsiteY46" fmla="*/ 316880 h 606692"/>
                <a:gd name="connsiteX47" fmla="*/ 236741 w 478363"/>
                <a:gd name="connsiteY47" fmla="*/ 316880 h 606692"/>
                <a:gd name="connsiteX48" fmla="*/ 243328 w 478363"/>
                <a:gd name="connsiteY48" fmla="*/ 293776 h 606692"/>
                <a:gd name="connsiteX49" fmla="*/ 199714 w 478363"/>
                <a:gd name="connsiteY49" fmla="*/ 250410 h 606692"/>
                <a:gd name="connsiteX50" fmla="*/ 199625 w 478363"/>
                <a:gd name="connsiteY50" fmla="*/ 250410 h 606692"/>
                <a:gd name="connsiteX51" fmla="*/ 179420 w 478363"/>
                <a:gd name="connsiteY51" fmla="*/ 250410 h 606692"/>
                <a:gd name="connsiteX52" fmla="*/ 179420 w 478363"/>
                <a:gd name="connsiteY52" fmla="*/ 235570 h 606692"/>
                <a:gd name="connsiteX53" fmla="*/ 174257 w 478363"/>
                <a:gd name="connsiteY53" fmla="*/ 228905 h 606692"/>
                <a:gd name="connsiteX54" fmla="*/ 166603 w 478363"/>
                <a:gd name="connsiteY54" fmla="*/ 232460 h 606692"/>
                <a:gd name="connsiteX55" fmla="*/ 166425 w 478363"/>
                <a:gd name="connsiteY55" fmla="*/ 232815 h 606692"/>
                <a:gd name="connsiteX56" fmla="*/ 148178 w 478363"/>
                <a:gd name="connsiteY56" fmla="*/ 271293 h 606692"/>
                <a:gd name="connsiteX57" fmla="*/ 199625 w 478363"/>
                <a:gd name="connsiteY57" fmla="*/ 271204 h 606692"/>
                <a:gd name="connsiteX58" fmla="*/ 199714 w 478363"/>
                <a:gd name="connsiteY58" fmla="*/ 271204 h 606692"/>
                <a:gd name="connsiteX59" fmla="*/ 222500 w 478363"/>
                <a:gd name="connsiteY59" fmla="*/ 293864 h 606692"/>
                <a:gd name="connsiteX60" fmla="*/ 199803 w 478363"/>
                <a:gd name="connsiteY60" fmla="*/ 316613 h 606692"/>
                <a:gd name="connsiteX61" fmla="*/ 112219 w 478363"/>
                <a:gd name="connsiteY61" fmla="*/ 316880 h 606692"/>
                <a:gd name="connsiteX62" fmla="*/ 91569 w 478363"/>
                <a:gd name="connsiteY62" fmla="*/ 284445 h 606692"/>
                <a:gd name="connsiteX63" fmla="*/ 125214 w 478363"/>
                <a:gd name="connsiteY63" fmla="*/ 213443 h 606692"/>
                <a:gd name="connsiteX64" fmla="*/ 179954 w 478363"/>
                <a:gd name="connsiteY64" fmla="*/ 178787 h 606692"/>
                <a:gd name="connsiteX65" fmla="*/ 268784 w 478363"/>
                <a:gd name="connsiteY65" fmla="*/ 178787 h 606692"/>
                <a:gd name="connsiteX66" fmla="*/ 355745 w 478363"/>
                <a:gd name="connsiteY66" fmla="*/ 12257 h 606692"/>
                <a:gd name="connsiteX67" fmla="*/ 369130 w 478363"/>
                <a:gd name="connsiteY67" fmla="*/ 1049 h 606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8363" h="606692">
                  <a:moveTo>
                    <a:pt x="322413" y="385963"/>
                  </a:moveTo>
                  <a:lnTo>
                    <a:pt x="351133" y="385963"/>
                  </a:lnTo>
                  <a:lnTo>
                    <a:pt x="351133" y="537275"/>
                  </a:lnTo>
                  <a:cubicBezTo>
                    <a:pt x="351133" y="545183"/>
                    <a:pt x="344711" y="551580"/>
                    <a:pt x="336773" y="551580"/>
                  </a:cubicBezTo>
                  <a:cubicBezTo>
                    <a:pt x="328835" y="551580"/>
                    <a:pt x="322413" y="545183"/>
                    <a:pt x="322413" y="537275"/>
                  </a:cubicBezTo>
                  <a:close/>
                  <a:moveTo>
                    <a:pt x="245920" y="385963"/>
                  </a:moveTo>
                  <a:lnTo>
                    <a:pt x="300467" y="385963"/>
                  </a:lnTo>
                  <a:lnTo>
                    <a:pt x="300467" y="558452"/>
                  </a:lnTo>
                  <a:cubicBezTo>
                    <a:pt x="300467" y="573559"/>
                    <a:pt x="288276" y="585734"/>
                    <a:pt x="273149" y="585734"/>
                  </a:cubicBezTo>
                  <a:cubicBezTo>
                    <a:pt x="258111" y="585734"/>
                    <a:pt x="245920" y="573559"/>
                    <a:pt x="245920" y="558452"/>
                  </a:cubicBezTo>
                  <a:close/>
                  <a:moveTo>
                    <a:pt x="179518" y="385963"/>
                  </a:moveTo>
                  <a:lnTo>
                    <a:pt x="234065" y="385963"/>
                  </a:lnTo>
                  <a:lnTo>
                    <a:pt x="234065" y="558452"/>
                  </a:lnTo>
                  <a:cubicBezTo>
                    <a:pt x="234065" y="573559"/>
                    <a:pt x="221874" y="585734"/>
                    <a:pt x="206747" y="585734"/>
                  </a:cubicBezTo>
                  <a:cubicBezTo>
                    <a:pt x="191709" y="585734"/>
                    <a:pt x="179518" y="573559"/>
                    <a:pt x="179518" y="558452"/>
                  </a:cubicBezTo>
                  <a:close/>
                  <a:moveTo>
                    <a:pt x="126806" y="385963"/>
                  </a:moveTo>
                  <a:lnTo>
                    <a:pt x="155456" y="385963"/>
                  </a:lnTo>
                  <a:lnTo>
                    <a:pt x="155456" y="537275"/>
                  </a:lnTo>
                  <a:cubicBezTo>
                    <a:pt x="155456" y="545183"/>
                    <a:pt x="149050" y="551580"/>
                    <a:pt x="141131" y="551580"/>
                  </a:cubicBezTo>
                  <a:cubicBezTo>
                    <a:pt x="133212" y="551580"/>
                    <a:pt x="126806" y="545183"/>
                    <a:pt x="126806" y="537275"/>
                  </a:cubicBezTo>
                  <a:close/>
                  <a:moveTo>
                    <a:pt x="13795" y="337626"/>
                  </a:moveTo>
                  <a:lnTo>
                    <a:pt x="464569" y="337626"/>
                  </a:lnTo>
                  <a:cubicBezTo>
                    <a:pt x="472133" y="337626"/>
                    <a:pt x="478363" y="343846"/>
                    <a:pt x="478363" y="351399"/>
                  </a:cubicBezTo>
                  <a:cubicBezTo>
                    <a:pt x="478363" y="359041"/>
                    <a:pt x="472133" y="365172"/>
                    <a:pt x="464569" y="365172"/>
                  </a:cubicBezTo>
                  <a:lnTo>
                    <a:pt x="450952" y="365172"/>
                  </a:lnTo>
                  <a:lnTo>
                    <a:pt x="450952" y="585543"/>
                  </a:lnTo>
                  <a:cubicBezTo>
                    <a:pt x="450952" y="597184"/>
                    <a:pt x="441429" y="606692"/>
                    <a:pt x="429770" y="606692"/>
                  </a:cubicBezTo>
                  <a:cubicBezTo>
                    <a:pt x="418023" y="606692"/>
                    <a:pt x="408589" y="597184"/>
                    <a:pt x="408589" y="585543"/>
                  </a:cubicBezTo>
                  <a:lnTo>
                    <a:pt x="408589" y="365172"/>
                  </a:lnTo>
                  <a:lnTo>
                    <a:pt x="71020" y="365172"/>
                  </a:lnTo>
                  <a:lnTo>
                    <a:pt x="71020" y="585543"/>
                  </a:lnTo>
                  <a:cubicBezTo>
                    <a:pt x="71020" y="597184"/>
                    <a:pt x="61498" y="606692"/>
                    <a:pt x="49839" y="606692"/>
                  </a:cubicBezTo>
                  <a:cubicBezTo>
                    <a:pt x="38091" y="606692"/>
                    <a:pt x="28658" y="597184"/>
                    <a:pt x="28658" y="585543"/>
                  </a:cubicBezTo>
                  <a:lnTo>
                    <a:pt x="28658" y="365172"/>
                  </a:lnTo>
                  <a:lnTo>
                    <a:pt x="13795" y="365172"/>
                  </a:lnTo>
                  <a:cubicBezTo>
                    <a:pt x="6141" y="365172"/>
                    <a:pt x="0" y="359041"/>
                    <a:pt x="0" y="351399"/>
                  </a:cubicBezTo>
                  <a:cubicBezTo>
                    <a:pt x="0" y="343846"/>
                    <a:pt x="6141" y="337626"/>
                    <a:pt x="13795" y="337626"/>
                  </a:cubicBezTo>
                  <a:close/>
                  <a:moveTo>
                    <a:pt x="239958" y="69548"/>
                  </a:moveTo>
                  <a:cubicBezTo>
                    <a:pt x="266011" y="69548"/>
                    <a:pt x="287131" y="90637"/>
                    <a:pt x="287131" y="116651"/>
                  </a:cubicBezTo>
                  <a:cubicBezTo>
                    <a:pt x="287131" y="142665"/>
                    <a:pt x="266011" y="163754"/>
                    <a:pt x="239958" y="163754"/>
                  </a:cubicBezTo>
                  <a:cubicBezTo>
                    <a:pt x="213905" y="163754"/>
                    <a:pt x="192785" y="142665"/>
                    <a:pt x="192785" y="116651"/>
                  </a:cubicBezTo>
                  <a:cubicBezTo>
                    <a:pt x="192785" y="90637"/>
                    <a:pt x="213905" y="69548"/>
                    <a:pt x="239958" y="69548"/>
                  </a:cubicBezTo>
                  <a:close/>
                  <a:moveTo>
                    <a:pt x="369130" y="1049"/>
                  </a:moveTo>
                  <a:cubicBezTo>
                    <a:pt x="374682" y="-695"/>
                    <a:pt x="380890" y="-317"/>
                    <a:pt x="386453" y="2571"/>
                  </a:cubicBezTo>
                  <a:cubicBezTo>
                    <a:pt x="397579" y="8347"/>
                    <a:pt x="401940" y="22121"/>
                    <a:pt x="396155" y="33229"/>
                  </a:cubicBezTo>
                  <a:cubicBezTo>
                    <a:pt x="295130" y="226595"/>
                    <a:pt x="302340" y="213354"/>
                    <a:pt x="300026" y="216109"/>
                  </a:cubicBezTo>
                  <a:lnTo>
                    <a:pt x="300026" y="316880"/>
                  </a:lnTo>
                  <a:lnTo>
                    <a:pt x="236741" y="316880"/>
                  </a:lnTo>
                  <a:cubicBezTo>
                    <a:pt x="240925" y="310126"/>
                    <a:pt x="243328" y="302306"/>
                    <a:pt x="243328" y="293776"/>
                  </a:cubicBezTo>
                  <a:cubicBezTo>
                    <a:pt x="243239" y="269783"/>
                    <a:pt x="223746" y="250410"/>
                    <a:pt x="199714" y="250410"/>
                  </a:cubicBezTo>
                  <a:lnTo>
                    <a:pt x="199625" y="250410"/>
                  </a:lnTo>
                  <a:lnTo>
                    <a:pt x="179420" y="250410"/>
                  </a:lnTo>
                  <a:lnTo>
                    <a:pt x="179420" y="235570"/>
                  </a:lnTo>
                  <a:cubicBezTo>
                    <a:pt x="179420" y="232371"/>
                    <a:pt x="177284" y="229616"/>
                    <a:pt x="174257" y="228905"/>
                  </a:cubicBezTo>
                  <a:cubicBezTo>
                    <a:pt x="171142" y="228195"/>
                    <a:pt x="168027" y="229616"/>
                    <a:pt x="166603" y="232460"/>
                  </a:cubicBezTo>
                  <a:cubicBezTo>
                    <a:pt x="166514" y="232549"/>
                    <a:pt x="166425" y="232727"/>
                    <a:pt x="166425" y="232815"/>
                  </a:cubicBezTo>
                  <a:cubicBezTo>
                    <a:pt x="156278" y="254231"/>
                    <a:pt x="158414" y="249611"/>
                    <a:pt x="148178" y="271293"/>
                  </a:cubicBezTo>
                  <a:lnTo>
                    <a:pt x="199625" y="271204"/>
                  </a:lnTo>
                  <a:lnTo>
                    <a:pt x="199714" y="271204"/>
                  </a:lnTo>
                  <a:cubicBezTo>
                    <a:pt x="212264" y="271204"/>
                    <a:pt x="222411" y="281335"/>
                    <a:pt x="222500" y="293864"/>
                  </a:cubicBezTo>
                  <a:cubicBezTo>
                    <a:pt x="222500" y="306394"/>
                    <a:pt x="212353" y="316613"/>
                    <a:pt x="199803" y="316613"/>
                  </a:cubicBezTo>
                  <a:lnTo>
                    <a:pt x="112219" y="316880"/>
                  </a:lnTo>
                  <a:cubicBezTo>
                    <a:pt x="95485" y="316880"/>
                    <a:pt x="84537" y="299463"/>
                    <a:pt x="91569" y="284445"/>
                  </a:cubicBezTo>
                  <a:cubicBezTo>
                    <a:pt x="95218" y="276803"/>
                    <a:pt x="120942" y="222507"/>
                    <a:pt x="125214" y="213443"/>
                  </a:cubicBezTo>
                  <a:cubicBezTo>
                    <a:pt x="135183" y="192383"/>
                    <a:pt x="156723" y="178787"/>
                    <a:pt x="179954" y="178787"/>
                  </a:cubicBezTo>
                  <a:lnTo>
                    <a:pt x="268784" y="178787"/>
                  </a:lnTo>
                  <a:lnTo>
                    <a:pt x="355745" y="12257"/>
                  </a:lnTo>
                  <a:cubicBezTo>
                    <a:pt x="358682" y="6659"/>
                    <a:pt x="363578" y="2793"/>
                    <a:pt x="369130" y="1049"/>
                  </a:cubicBez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1970">
                <a:defRPr/>
              </a:pPr>
              <a:endParaRPr lang="en-US" sz="1100">
                <a:solidFill>
                  <a:prstClr val="white"/>
                </a:solidFill>
                <a:latin typeface="Calibri" panose="020F0502020204030204"/>
              </a:endParaRPr>
            </a:p>
          </p:txBody>
        </p:sp>
        <p:sp>
          <p:nvSpPr>
            <p:cNvPr id="21" name="speech-bubble-with-question-mark_65814">
              <a:extLst>
                <a:ext uri="{FF2B5EF4-FFF2-40B4-BE49-F238E27FC236}">
                  <a16:creationId xmlns:a16="http://schemas.microsoft.com/office/drawing/2014/main" id="{05E25EC1-3271-F540-1A78-9E8F844C7175}"/>
                </a:ext>
              </a:extLst>
            </p:cNvPr>
            <p:cNvSpPr/>
            <p:nvPr/>
          </p:nvSpPr>
          <p:spPr>
            <a:xfrm>
              <a:off x="510561" y="1588344"/>
              <a:ext cx="508071" cy="443294"/>
            </a:xfrm>
            <a:custGeom>
              <a:avLst/>
              <a:gdLst>
                <a:gd name="T0" fmla="*/ 554 w 619"/>
                <a:gd name="T1" fmla="*/ 0 h 541"/>
                <a:gd name="T2" fmla="*/ 65 w 619"/>
                <a:gd name="T3" fmla="*/ 0 h 541"/>
                <a:gd name="T4" fmla="*/ 0 w 619"/>
                <a:gd name="T5" fmla="*/ 64 h 541"/>
                <a:gd name="T6" fmla="*/ 0 w 619"/>
                <a:gd name="T7" fmla="*/ 385 h 541"/>
                <a:gd name="T8" fmla="*/ 65 w 619"/>
                <a:gd name="T9" fmla="*/ 450 h 541"/>
                <a:gd name="T10" fmla="*/ 437 w 619"/>
                <a:gd name="T11" fmla="*/ 450 h 541"/>
                <a:gd name="T12" fmla="*/ 508 w 619"/>
                <a:gd name="T13" fmla="*/ 522 h 541"/>
                <a:gd name="T14" fmla="*/ 554 w 619"/>
                <a:gd name="T15" fmla="*/ 541 h 541"/>
                <a:gd name="T16" fmla="*/ 579 w 619"/>
                <a:gd name="T17" fmla="*/ 536 h 541"/>
                <a:gd name="T18" fmla="*/ 619 w 619"/>
                <a:gd name="T19" fmla="*/ 476 h 541"/>
                <a:gd name="T20" fmla="*/ 619 w 619"/>
                <a:gd name="T21" fmla="*/ 64 h 541"/>
                <a:gd name="T22" fmla="*/ 554 w 619"/>
                <a:gd name="T23" fmla="*/ 0 h 541"/>
                <a:gd name="T24" fmla="*/ 339 w 619"/>
                <a:gd name="T25" fmla="*/ 356 h 541"/>
                <a:gd name="T26" fmla="*/ 298 w 619"/>
                <a:gd name="T27" fmla="*/ 395 h 541"/>
                <a:gd name="T28" fmla="*/ 258 w 619"/>
                <a:gd name="T29" fmla="*/ 356 h 541"/>
                <a:gd name="T30" fmla="*/ 258 w 619"/>
                <a:gd name="T31" fmla="*/ 355 h 541"/>
                <a:gd name="T32" fmla="*/ 298 w 619"/>
                <a:gd name="T33" fmla="*/ 315 h 541"/>
                <a:gd name="T34" fmla="*/ 339 w 619"/>
                <a:gd name="T35" fmla="*/ 355 h 541"/>
                <a:gd name="T36" fmla="*/ 339 w 619"/>
                <a:gd name="T37" fmla="*/ 356 h 541"/>
                <a:gd name="T38" fmla="*/ 420 w 619"/>
                <a:gd name="T39" fmla="*/ 161 h 541"/>
                <a:gd name="T40" fmla="*/ 328 w 619"/>
                <a:gd name="T41" fmla="*/ 254 h 541"/>
                <a:gd name="T42" fmla="*/ 327 w 619"/>
                <a:gd name="T43" fmla="*/ 262 h 541"/>
                <a:gd name="T44" fmla="*/ 302 w 619"/>
                <a:gd name="T45" fmla="*/ 285 h 541"/>
                <a:gd name="T46" fmla="*/ 298 w 619"/>
                <a:gd name="T47" fmla="*/ 285 h 541"/>
                <a:gd name="T48" fmla="*/ 273 w 619"/>
                <a:gd name="T49" fmla="*/ 262 h 541"/>
                <a:gd name="T50" fmla="*/ 269 w 619"/>
                <a:gd name="T51" fmla="*/ 231 h 541"/>
                <a:gd name="T52" fmla="*/ 290 w 619"/>
                <a:gd name="T53" fmla="*/ 203 h 541"/>
                <a:gd name="T54" fmla="*/ 349 w 619"/>
                <a:gd name="T55" fmla="*/ 162 h 541"/>
                <a:gd name="T56" fmla="*/ 349 w 619"/>
                <a:gd name="T57" fmla="*/ 161 h 541"/>
                <a:gd name="T58" fmla="*/ 306 w 619"/>
                <a:gd name="T59" fmla="*/ 128 h 541"/>
                <a:gd name="T60" fmla="*/ 252 w 619"/>
                <a:gd name="T61" fmla="*/ 147 h 541"/>
                <a:gd name="T62" fmla="*/ 232 w 619"/>
                <a:gd name="T63" fmla="*/ 154 h 541"/>
                <a:gd name="T64" fmla="*/ 199 w 619"/>
                <a:gd name="T65" fmla="*/ 122 h 541"/>
                <a:gd name="T66" fmla="*/ 211 w 619"/>
                <a:gd name="T67" fmla="*/ 97 h 541"/>
                <a:gd name="T68" fmla="*/ 308 w 619"/>
                <a:gd name="T69" fmla="*/ 64 h 541"/>
                <a:gd name="T70" fmla="*/ 420 w 619"/>
                <a:gd name="T71" fmla="*/ 160 h 541"/>
                <a:gd name="T72" fmla="*/ 420 w 619"/>
                <a:gd name="T73" fmla="*/ 161 h 541"/>
                <a:gd name="T74" fmla="*/ 420 w 619"/>
                <a:gd name="T75" fmla="*/ 161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9" h="541">
                  <a:moveTo>
                    <a:pt x="554" y="0"/>
                  </a:moveTo>
                  <a:lnTo>
                    <a:pt x="65" y="0"/>
                  </a:lnTo>
                  <a:cubicBezTo>
                    <a:pt x="29" y="0"/>
                    <a:pt x="0" y="29"/>
                    <a:pt x="0" y="64"/>
                  </a:cubicBezTo>
                  <a:lnTo>
                    <a:pt x="0" y="385"/>
                  </a:lnTo>
                  <a:cubicBezTo>
                    <a:pt x="0" y="421"/>
                    <a:pt x="29" y="450"/>
                    <a:pt x="65" y="450"/>
                  </a:cubicBezTo>
                  <a:lnTo>
                    <a:pt x="437" y="450"/>
                  </a:lnTo>
                  <a:lnTo>
                    <a:pt x="508" y="522"/>
                  </a:lnTo>
                  <a:cubicBezTo>
                    <a:pt x="520" y="535"/>
                    <a:pt x="537" y="541"/>
                    <a:pt x="554" y="541"/>
                  </a:cubicBezTo>
                  <a:cubicBezTo>
                    <a:pt x="562" y="541"/>
                    <a:pt x="571" y="540"/>
                    <a:pt x="579" y="536"/>
                  </a:cubicBezTo>
                  <a:cubicBezTo>
                    <a:pt x="603" y="526"/>
                    <a:pt x="619" y="503"/>
                    <a:pt x="619" y="476"/>
                  </a:cubicBezTo>
                  <a:lnTo>
                    <a:pt x="619" y="64"/>
                  </a:lnTo>
                  <a:cubicBezTo>
                    <a:pt x="619" y="29"/>
                    <a:pt x="590" y="0"/>
                    <a:pt x="554" y="0"/>
                  </a:cubicBezTo>
                  <a:close/>
                  <a:moveTo>
                    <a:pt x="339" y="356"/>
                  </a:moveTo>
                  <a:cubicBezTo>
                    <a:pt x="339" y="378"/>
                    <a:pt x="322" y="395"/>
                    <a:pt x="298" y="395"/>
                  </a:cubicBezTo>
                  <a:cubicBezTo>
                    <a:pt x="275" y="395"/>
                    <a:pt x="258" y="378"/>
                    <a:pt x="258" y="356"/>
                  </a:cubicBezTo>
                  <a:lnTo>
                    <a:pt x="258" y="355"/>
                  </a:lnTo>
                  <a:cubicBezTo>
                    <a:pt x="258" y="333"/>
                    <a:pt x="275" y="315"/>
                    <a:pt x="298" y="315"/>
                  </a:cubicBezTo>
                  <a:cubicBezTo>
                    <a:pt x="322" y="315"/>
                    <a:pt x="339" y="333"/>
                    <a:pt x="339" y="355"/>
                  </a:cubicBezTo>
                  <a:lnTo>
                    <a:pt x="339" y="356"/>
                  </a:lnTo>
                  <a:close/>
                  <a:moveTo>
                    <a:pt x="420" y="161"/>
                  </a:moveTo>
                  <a:cubicBezTo>
                    <a:pt x="420" y="219"/>
                    <a:pt x="379" y="244"/>
                    <a:pt x="328" y="254"/>
                  </a:cubicBezTo>
                  <a:lnTo>
                    <a:pt x="327" y="262"/>
                  </a:lnTo>
                  <a:cubicBezTo>
                    <a:pt x="325" y="274"/>
                    <a:pt x="315" y="285"/>
                    <a:pt x="302" y="285"/>
                  </a:cubicBezTo>
                  <a:lnTo>
                    <a:pt x="298" y="285"/>
                  </a:lnTo>
                  <a:cubicBezTo>
                    <a:pt x="285" y="285"/>
                    <a:pt x="275" y="275"/>
                    <a:pt x="273" y="262"/>
                  </a:cubicBezTo>
                  <a:lnTo>
                    <a:pt x="269" y="231"/>
                  </a:lnTo>
                  <a:cubicBezTo>
                    <a:pt x="266" y="215"/>
                    <a:pt x="275" y="205"/>
                    <a:pt x="290" y="203"/>
                  </a:cubicBezTo>
                  <a:cubicBezTo>
                    <a:pt x="330" y="198"/>
                    <a:pt x="349" y="185"/>
                    <a:pt x="349" y="162"/>
                  </a:cubicBezTo>
                  <a:lnTo>
                    <a:pt x="349" y="161"/>
                  </a:lnTo>
                  <a:cubicBezTo>
                    <a:pt x="349" y="141"/>
                    <a:pt x="333" y="128"/>
                    <a:pt x="306" y="128"/>
                  </a:cubicBezTo>
                  <a:cubicBezTo>
                    <a:pt x="286" y="128"/>
                    <a:pt x="269" y="135"/>
                    <a:pt x="252" y="147"/>
                  </a:cubicBezTo>
                  <a:cubicBezTo>
                    <a:pt x="247" y="151"/>
                    <a:pt x="239" y="154"/>
                    <a:pt x="232" y="154"/>
                  </a:cubicBezTo>
                  <a:cubicBezTo>
                    <a:pt x="214" y="154"/>
                    <a:pt x="199" y="140"/>
                    <a:pt x="199" y="122"/>
                  </a:cubicBezTo>
                  <a:cubicBezTo>
                    <a:pt x="199" y="113"/>
                    <a:pt x="203" y="104"/>
                    <a:pt x="211" y="97"/>
                  </a:cubicBezTo>
                  <a:cubicBezTo>
                    <a:pt x="236" y="77"/>
                    <a:pt x="267" y="64"/>
                    <a:pt x="308" y="64"/>
                  </a:cubicBezTo>
                  <a:cubicBezTo>
                    <a:pt x="374" y="64"/>
                    <a:pt x="420" y="98"/>
                    <a:pt x="420" y="160"/>
                  </a:cubicBezTo>
                  <a:lnTo>
                    <a:pt x="420" y="161"/>
                  </a:lnTo>
                  <a:lnTo>
                    <a:pt x="420" y="161"/>
                  </a:ln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1970">
                <a:defRPr/>
              </a:pPr>
              <a:endParaRPr lang="en-US" sz="1100">
                <a:solidFill>
                  <a:prstClr val="white"/>
                </a:solidFill>
                <a:latin typeface="Calibri" panose="020F0502020204030204"/>
              </a:endParaRPr>
            </a:p>
          </p:txBody>
        </p:sp>
        <p:sp>
          <p:nvSpPr>
            <p:cNvPr id="22" name="箭头: 右 9">
              <a:extLst>
                <a:ext uri="{FF2B5EF4-FFF2-40B4-BE49-F238E27FC236}">
                  <a16:creationId xmlns:a16="http://schemas.microsoft.com/office/drawing/2014/main" id="{2F086922-95BB-B4F1-69ED-59C85DA52327}"/>
                </a:ext>
              </a:extLst>
            </p:cNvPr>
            <p:cNvSpPr/>
            <p:nvPr/>
          </p:nvSpPr>
          <p:spPr>
            <a:xfrm rot="10800000">
              <a:off x="5851367" y="2300511"/>
              <a:ext cx="1996979" cy="572708"/>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100" dirty="0"/>
            </a:p>
          </p:txBody>
        </p:sp>
        <p:sp>
          <p:nvSpPr>
            <p:cNvPr id="23" name="文本框 33">
              <a:extLst>
                <a:ext uri="{FF2B5EF4-FFF2-40B4-BE49-F238E27FC236}">
                  <a16:creationId xmlns:a16="http://schemas.microsoft.com/office/drawing/2014/main" id="{1FF402C1-75D2-04BB-8861-19DDAED7F649}"/>
                </a:ext>
              </a:extLst>
            </p:cNvPr>
            <p:cNvSpPr txBox="1"/>
            <p:nvPr/>
          </p:nvSpPr>
          <p:spPr>
            <a:xfrm>
              <a:off x="2578229" y="900528"/>
              <a:ext cx="4078289" cy="316217"/>
            </a:xfrm>
            <a:prstGeom prst="rect">
              <a:avLst/>
            </a:prstGeom>
            <a:noFill/>
          </p:spPr>
          <p:txBody>
            <a:bodyPr wrap="square">
              <a:spAutoFit/>
            </a:bodyPr>
            <a:lstStyle/>
            <a:p>
              <a:pPr algn="ctr"/>
              <a:r>
                <a:rPr lang="en-US" altLang="zh-CN" sz="1100" b="1" dirty="0"/>
                <a:t>Online Q&amp;A Communities</a:t>
              </a:r>
            </a:p>
          </p:txBody>
        </p:sp>
        <p:sp>
          <p:nvSpPr>
            <p:cNvPr id="24" name="technological_376048">
              <a:extLst>
                <a:ext uri="{FF2B5EF4-FFF2-40B4-BE49-F238E27FC236}">
                  <a16:creationId xmlns:a16="http://schemas.microsoft.com/office/drawing/2014/main" id="{8F5A73E8-B2C7-D996-C75C-3988948620AB}"/>
                </a:ext>
              </a:extLst>
            </p:cNvPr>
            <p:cNvSpPr/>
            <p:nvPr/>
          </p:nvSpPr>
          <p:spPr>
            <a:xfrm>
              <a:off x="5925071" y="1071651"/>
              <a:ext cx="609488" cy="573815"/>
            </a:xfrm>
            <a:custGeom>
              <a:avLst/>
              <a:gdLst>
                <a:gd name="connsiteX0" fmla="*/ 234365 w 607639"/>
                <a:gd name="connsiteY0" fmla="*/ 415983 h 572074"/>
                <a:gd name="connsiteX1" fmla="*/ 373276 w 607639"/>
                <a:gd name="connsiteY1" fmla="*/ 415983 h 572074"/>
                <a:gd name="connsiteX2" fmla="*/ 399260 w 607639"/>
                <a:gd name="connsiteY2" fmla="*/ 442031 h 572074"/>
                <a:gd name="connsiteX3" fmla="*/ 373276 w 607639"/>
                <a:gd name="connsiteY3" fmla="*/ 467990 h 572074"/>
                <a:gd name="connsiteX4" fmla="*/ 234365 w 607639"/>
                <a:gd name="connsiteY4" fmla="*/ 467990 h 572074"/>
                <a:gd name="connsiteX5" fmla="*/ 208380 w 607639"/>
                <a:gd name="connsiteY5" fmla="*/ 442031 h 572074"/>
                <a:gd name="connsiteX6" fmla="*/ 234365 w 607639"/>
                <a:gd name="connsiteY6" fmla="*/ 415983 h 572074"/>
                <a:gd name="connsiteX7" fmla="*/ 503414 w 607639"/>
                <a:gd name="connsiteY7" fmla="*/ 364023 h 572074"/>
                <a:gd name="connsiteX8" fmla="*/ 503414 w 607639"/>
                <a:gd name="connsiteY8" fmla="*/ 416013 h 572074"/>
                <a:gd name="connsiteX9" fmla="*/ 555571 w 607639"/>
                <a:gd name="connsiteY9" fmla="*/ 416013 h 572074"/>
                <a:gd name="connsiteX10" fmla="*/ 555571 w 607639"/>
                <a:gd name="connsiteY10" fmla="*/ 364023 h 572074"/>
                <a:gd name="connsiteX11" fmla="*/ 52068 w 607639"/>
                <a:gd name="connsiteY11" fmla="*/ 364023 h 572074"/>
                <a:gd name="connsiteX12" fmla="*/ 52068 w 607639"/>
                <a:gd name="connsiteY12" fmla="*/ 416013 h 572074"/>
                <a:gd name="connsiteX13" fmla="*/ 104136 w 607639"/>
                <a:gd name="connsiteY13" fmla="*/ 416013 h 572074"/>
                <a:gd name="connsiteX14" fmla="*/ 104136 w 607639"/>
                <a:gd name="connsiteY14" fmla="*/ 364023 h 572074"/>
                <a:gd name="connsiteX15" fmla="*/ 364541 w 607639"/>
                <a:gd name="connsiteY15" fmla="*/ 311970 h 572074"/>
                <a:gd name="connsiteX16" fmla="*/ 399259 w 607639"/>
                <a:gd name="connsiteY16" fmla="*/ 346653 h 572074"/>
                <a:gd name="connsiteX17" fmla="*/ 364541 w 607639"/>
                <a:gd name="connsiteY17" fmla="*/ 381336 h 572074"/>
                <a:gd name="connsiteX18" fmla="*/ 329823 w 607639"/>
                <a:gd name="connsiteY18" fmla="*/ 346653 h 572074"/>
                <a:gd name="connsiteX19" fmla="*/ 364541 w 607639"/>
                <a:gd name="connsiteY19" fmla="*/ 311970 h 572074"/>
                <a:gd name="connsiteX20" fmla="*/ 243063 w 607639"/>
                <a:gd name="connsiteY20" fmla="*/ 311970 h 572074"/>
                <a:gd name="connsiteX21" fmla="*/ 277746 w 607639"/>
                <a:gd name="connsiteY21" fmla="*/ 346653 h 572074"/>
                <a:gd name="connsiteX22" fmla="*/ 243063 w 607639"/>
                <a:gd name="connsiteY22" fmla="*/ 381336 h 572074"/>
                <a:gd name="connsiteX23" fmla="*/ 208380 w 607639"/>
                <a:gd name="connsiteY23" fmla="*/ 346653 h 572074"/>
                <a:gd name="connsiteX24" fmla="*/ 243063 w 607639"/>
                <a:gd name="connsiteY24" fmla="*/ 311970 h 572074"/>
                <a:gd name="connsiteX25" fmla="*/ 156204 w 607639"/>
                <a:gd name="connsiteY25" fmla="*/ 260042 h 572074"/>
                <a:gd name="connsiteX26" fmla="*/ 156204 w 607639"/>
                <a:gd name="connsiteY26" fmla="*/ 337983 h 572074"/>
                <a:gd name="connsiteX27" fmla="*/ 156204 w 607639"/>
                <a:gd name="connsiteY27" fmla="*/ 442053 h 572074"/>
                <a:gd name="connsiteX28" fmla="*/ 156204 w 607639"/>
                <a:gd name="connsiteY28" fmla="*/ 519995 h 572074"/>
                <a:gd name="connsiteX29" fmla="*/ 451346 w 607639"/>
                <a:gd name="connsiteY29" fmla="*/ 519995 h 572074"/>
                <a:gd name="connsiteX30" fmla="*/ 451346 w 607639"/>
                <a:gd name="connsiteY30" fmla="*/ 442053 h 572074"/>
                <a:gd name="connsiteX31" fmla="*/ 451346 w 607639"/>
                <a:gd name="connsiteY31" fmla="*/ 337983 h 572074"/>
                <a:gd name="connsiteX32" fmla="*/ 451346 w 607639"/>
                <a:gd name="connsiteY32" fmla="*/ 260042 h 572074"/>
                <a:gd name="connsiteX33" fmla="*/ 303775 w 607639"/>
                <a:gd name="connsiteY33" fmla="*/ 51991 h 572074"/>
                <a:gd name="connsiteX34" fmla="*/ 277786 w 607639"/>
                <a:gd name="connsiteY34" fmla="*/ 78030 h 572074"/>
                <a:gd name="connsiteX35" fmla="*/ 303775 w 607639"/>
                <a:gd name="connsiteY35" fmla="*/ 103981 h 572074"/>
                <a:gd name="connsiteX36" fmla="*/ 329854 w 607639"/>
                <a:gd name="connsiteY36" fmla="*/ 78030 h 572074"/>
                <a:gd name="connsiteX37" fmla="*/ 303775 w 607639"/>
                <a:gd name="connsiteY37" fmla="*/ 51991 h 572074"/>
                <a:gd name="connsiteX38" fmla="*/ 303775 w 607639"/>
                <a:gd name="connsiteY38" fmla="*/ 0 h 572074"/>
                <a:gd name="connsiteX39" fmla="*/ 381922 w 607639"/>
                <a:gd name="connsiteY39" fmla="*/ 78030 h 572074"/>
                <a:gd name="connsiteX40" fmla="*/ 329854 w 607639"/>
                <a:gd name="connsiteY40" fmla="*/ 151528 h 572074"/>
                <a:gd name="connsiteX41" fmla="*/ 329854 w 607639"/>
                <a:gd name="connsiteY41" fmla="*/ 208051 h 572074"/>
                <a:gd name="connsiteX42" fmla="*/ 477425 w 607639"/>
                <a:gd name="connsiteY42" fmla="*/ 208051 h 572074"/>
                <a:gd name="connsiteX43" fmla="*/ 503414 w 607639"/>
                <a:gd name="connsiteY43" fmla="*/ 234002 h 572074"/>
                <a:gd name="connsiteX44" fmla="*/ 503414 w 607639"/>
                <a:gd name="connsiteY44" fmla="*/ 312032 h 572074"/>
                <a:gd name="connsiteX45" fmla="*/ 581561 w 607639"/>
                <a:gd name="connsiteY45" fmla="*/ 312032 h 572074"/>
                <a:gd name="connsiteX46" fmla="*/ 607639 w 607639"/>
                <a:gd name="connsiteY46" fmla="*/ 337983 h 572074"/>
                <a:gd name="connsiteX47" fmla="*/ 607639 w 607639"/>
                <a:gd name="connsiteY47" fmla="*/ 442053 h 572074"/>
                <a:gd name="connsiteX48" fmla="*/ 581561 w 607639"/>
                <a:gd name="connsiteY48" fmla="*/ 468004 h 572074"/>
                <a:gd name="connsiteX49" fmla="*/ 503414 w 607639"/>
                <a:gd name="connsiteY49" fmla="*/ 468004 h 572074"/>
                <a:gd name="connsiteX50" fmla="*/ 503414 w 607639"/>
                <a:gd name="connsiteY50" fmla="*/ 546034 h 572074"/>
                <a:gd name="connsiteX51" fmla="*/ 477425 w 607639"/>
                <a:gd name="connsiteY51" fmla="*/ 572074 h 572074"/>
                <a:gd name="connsiteX52" fmla="*/ 130214 w 607639"/>
                <a:gd name="connsiteY52" fmla="*/ 572074 h 572074"/>
                <a:gd name="connsiteX53" fmla="*/ 104136 w 607639"/>
                <a:gd name="connsiteY53" fmla="*/ 546034 h 572074"/>
                <a:gd name="connsiteX54" fmla="*/ 104136 w 607639"/>
                <a:gd name="connsiteY54" fmla="*/ 468004 h 572074"/>
                <a:gd name="connsiteX55" fmla="*/ 26078 w 607639"/>
                <a:gd name="connsiteY55" fmla="*/ 468004 h 572074"/>
                <a:gd name="connsiteX56" fmla="*/ 0 w 607639"/>
                <a:gd name="connsiteY56" fmla="*/ 442053 h 572074"/>
                <a:gd name="connsiteX57" fmla="*/ 0 w 607639"/>
                <a:gd name="connsiteY57" fmla="*/ 337983 h 572074"/>
                <a:gd name="connsiteX58" fmla="*/ 26078 w 607639"/>
                <a:gd name="connsiteY58" fmla="*/ 312032 h 572074"/>
                <a:gd name="connsiteX59" fmla="*/ 104136 w 607639"/>
                <a:gd name="connsiteY59" fmla="*/ 312032 h 572074"/>
                <a:gd name="connsiteX60" fmla="*/ 104136 w 607639"/>
                <a:gd name="connsiteY60" fmla="*/ 234002 h 572074"/>
                <a:gd name="connsiteX61" fmla="*/ 130214 w 607639"/>
                <a:gd name="connsiteY61" fmla="*/ 208051 h 572074"/>
                <a:gd name="connsiteX62" fmla="*/ 277786 w 607639"/>
                <a:gd name="connsiteY62" fmla="*/ 208051 h 572074"/>
                <a:gd name="connsiteX63" fmla="*/ 277786 w 607639"/>
                <a:gd name="connsiteY63" fmla="*/ 151528 h 572074"/>
                <a:gd name="connsiteX64" fmla="*/ 225718 w 607639"/>
                <a:gd name="connsiteY64" fmla="*/ 78030 h 572074"/>
                <a:gd name="connsiteX65" fmla="*/ 303775 w 607639"/>
                <a:gd name="connsiteY65" fmla="*/ 0 h 572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7639" h="572074">
                  <a:moveTo>
                    <a:pt x="234365" y="415983"/>
                  </a:moveTo>
                  <a:lnTo>
                    <a:pt x="373276" y="415983"/>
                  </a:lnTo>
                  <a:cubicBezTo>
                    <a:pt x="387603" y="415983"/>
                    <a:pt x="399260" y="427629"/>
                    <a:pt x="399260" y="442031"/>
                  </a:cubicBezTo>
                  <a:cubicBezTo>
                    <a:pt x="399260" y="456344"/>
                    <a:pt x="387603" y="467990"/>
                    <a:pt x="373276" y="467990"/>
                  </a:cubicBezTo>
                  <a:lnTo>
                    <a:pt x="234365" y="467990"/>
                  </a:lnTo>
                  <a:cubicBezTo>
                    <a:pt x="220038" y="467990"/>
                    <a:pt x="208380" y="456344"/>
                    <a:pt x="208380" y="442031"/>
                  </a:cubicBezTo>
                  <a:cubicBezTo>
                    <a:pt x="208380" y="427629"/>
                    <a:pt x="220038" y="415983"/>
                    <a:pt x="234365" y="415983"/>
                  </a:cubicBezTo>
                  <a:close/>
                  <a:moveTo>
                    <a:pt x="503414" y="364023"/>
                  </a:moveTo>
                  <a:lnTo>
                    <a:pt x="503414" y="416013"/>
                  </a:lnTo>
                  <a:lnTo>
                    <a:pt x="555571" y="416013"/>
                  </a:lnTo>
                  <a:lnTo>
                    <a:pt x="555571" y="364023"/>
                  </a:lnTo>
                  <a:close/>
                  <a:moveTo>
                    <a:pt x="52068" y="364023"/>
                  </a:moveTo>
                  <a:lnTo>
                    <a:pt x="52068" y="416013"/>
                  </a:lnTo>
                  <a:lnTo>
                    <a:pt x="104136" y="416013"/>
                  </a:lnTo>
                  <a:lnTo>
                    <a:pt x="104136" y="364023"/>
                  </a:lnTo>
                  <a:close/>
                  <a:moveTo>
                    <a:pt x="364541" y="311970"/>
                  </a:moveTo>
                  <a:cubicBezTo>
                    <a:pt x="383715" y="311970"/>
                    <a:pt x="399259" y="327498"/>
                    <a:pt x="399259" y="346653"/>
                  </a:cubicBezTo>
                  <a:cubicBezTo>
                    <a:pt x="399259" y="365808"/>
                    <a:pt x="383715" y="381336"/>
                    <a:pt x="364541" y="381336"/>
                  </a:cubicBezTo>
                  <a:cubicBezTo>
                    <a:pt x="345367" y="381336"/>
                    <a:pt x="329823" y="365808"/>
                    <a:pt x="329823" y="346653"/>
                  </a:cubicBezTo>
                  <a:cubicBezTo>
                    <a:pt x="329823" y="327498"/>
                    <a:pt x="345367" y="311970"/>
                    <a:pt x="364541" y="311970"/>
                  </a:cubicBezTo>
                  <a:close/>
                  <a:moveTo>
                    <a:pt x="243063" y="311970"/>
                  </a:moveTo>
                  <a:cubicBezTo>
                    <a:pt x="262218" y="311970"/>
                    <a:pt x="277746" y="327498"/>
                    <a:pt x="277746" y="346653"/>
                  </a:cubicBezTo>
                  <a:cubicBezTo>
                    <a:pt x="277746" y="365808"/>
                    <a:pt x="262218" y="381336"/>
                    <a:pt x="243063" y="381336"/>
                  </a:cubicBezTo>
                  <a:cubicBezTo>
                    <a:pt x="223908" y="381336"/>
                    <a:pt x="208380" y="365808"/>
                    <a:pt x="208380" y="346653"/>
                  </a:cubicBezTo>
                  <a:cubicBezTo>
                    <a:pt x="208380" y="327498"/>
                    <a:pt x="223908" y="311970"/>
                    <a:pt x="243063" y="311970"/>
                  </a:cubicBezTo>
                  <a:close/>
                  <a:moveTo>
                    <a:pt x="156204" y="260042"/>
                  </a:moveTo>
                  <a:lnTo>
                    <a:pt x="156204" y="337983"/>
                  </a:lnTo>
                  <a:lnTo>
                    <a:pt x="156204" y="442053"/>
                  </a:lnTo>
                  <a:lnTo>
                    <a:pt x="156204" y="519995"/>
                  </a:lnTo>
                  <a:lnTo>
                    <a:pt x="451346" y="519995"/>
                  </a:lnTo>
                  <a:lnTo>
                    <a:pt x="451346" y="442053"/>
                  </a:lnTo>
                  <a:lnTo>
                    <a:pt x="451346" y="337983"/>
                  </a:lnTo>
                  <a:lnTo>
                    <a:pt x="451346" y="260042"/>
                  </a:lnTo>
                  <a:close/>
                  <a:moveTo>
                    <a:pt x="303775" y="51991"/>
                  </a:moveTo>
                  <a:cubicBezTo>
                    <a:pt x="289445" y="51991"/>
                    <a:pt x="277786" y="63633"/>
                    <a:pt x="277786" y="78030"/>
                  </a:cubicBezTo>
                  <a:cubicBezTo>
                    <a:pt x="277786" y="92339"/>
                    <a:pt x="289445" y="103981"/>
                    <a:pt x="303775" y="103981"/>
                  </a:cubicBezTo>
                  <a:cubicBezTo>
                    <a:pt x="318194" y="103981"/>
                    <a:pt x="329854" y="92339"/>
                    <a:pt x="329854" y="78030"/>
                  </a:cubicBezTo>
                  <a:cubicBezTo>
                    <a:pt x="329854" y="63633"/>
                    <a:pt x="318194" y="51991"/>
                    <a:pt x="303775" y="51991"/>
                  </a:cubicBezTo>
                  <a:close/>
                  <a:moveTo>
                    <a:pt x="303775" y="0"/>
                  </a:moveTo>
                  <a:cubicBezTo>
                    <a:pt x="346854" y="0"/>
                    <a:pt x="381922" y="35016"/>
                    <a:pt x="381922" y="78030"/>
                  </a:cubicBezTo>
                  <a:cubicBezTo>
                    <a:pt x="381922" y="111891"/>
                    <a:pt x="360116" y="140774"/>
                    <a:pt x="329854" y="151528"/>
                  </a:cubicBezTo>
                  <a:lnTo>
                    <a:pt x="329854" y="208051"/>
                  </a:lnTo>
                  <a:lnTo>
                    <a:pt x="477425" y="208051"/>
                  </a:lnTo>
                  <a:cubicBezTo>
                    <a:pt x="491754" y="208051"/>
                    <a:pt x="503414" y="219693"/>
                    <a:pt x="503414" y="234002"/>
                  </a:cubicBezTo>
                  <a:lnTo>
                    <a:pt x="503414" y="312032"/>
                  </a:lnTo>
                  <a:lnTo>
                    <a:pt x="581561" y="312032"/>
                  </a:lnTo>
                  <a:cubicBezTo>
                    <a:pt x="595980" y="312032"/>
                    <a:pt x="607639" y="323675"/>
                    <a:pt x="607639" y="337983"/>
                  </a:cubicBezTo>
                  <a:lnTo>
                    <a:pt x="607639" y="442053"/>
                  </a:lnTo>
                  <a:cubicBezTo>
                    <a:pt x="607639" y="456362"/>
                    <a:pt x="595980" y="468004"/>
                    <a:pt x="581561" y="468004"/>
                  </a:cubicBezTo>
                  <a:lnTo>
                    <a:pt x="503414" y="468004"/>
                  </a:lnTo>
                  <a:lnTo>
                    <a:pt x="503414" y="546034"/>
                  </a:lnTo>
                  <a:cubicBezTo>
                    <a:pt x="503414" y="560432"/>
                    <a:pt x="491754" y="572074"/>
                    <a:pt x="477425" y="572074"/>
                  </a:cubicBezTo>
                  <a:lnTo>
                    <a:pt x="130214" y="572074"/>
                  </a:lnTo>
                  <a:cubicBezTo>
                    <a:pt x="115796" y="572074"/>
                    <a:pt x="104136" y="560432"/>
                    <a:pt x="104136" y="546034"/>
                  </a:cubicBezTo>
                  <a:lnTo>
                    <a:pt x="104136" y="468004"/>
                  </a:lnTo>
                  <a:lnTo>
                    <a:pt x="26078" y="468004"/>
                  </a:lnTo>
                  <a:cubicBezTo>
                    <a:pt x="11659" y="468004"/>
                    <a:pt x="0" y="456362"/>
                    <a:pt x="0" y="442053"/>
                  </a:cubicBezTo>
                  <a:lnTo>
                    <a:pt x="0" y="337983"/>
                  </a:lnTo>
                  <a:cubicBezTo>
                    <a:pt x="0" y="323675"/>
                    <a:pt x="11659" y="312032"/>
                    <a:pt x="26078" y="312032"/>
                  </a:cubicBezTo>
                  <a:lnTo>
                    <a:pt x="104136" y="312032"/>
                  </a:lnTo>
                  <a:lnTo>
                    <a:pt x="104136" y="234002"/>
                  </a:lnTo>
                  <a:cubicBezTo>
                    <a:pt x="104136" y="219693"/>
                    <a:pt x="115796" y="208051"/>
                    <a:pt x="130214" y="208051"/>
                  </a:cubicBezTo>
                  <a:lnTo>
                    <a:pt x="277786" y="208051"/>
                  </a:lnTo>
                  <a:lnTo>
                    <a:pt x="277786" y="151528"/>
                  </a:lnTo>
                  <a:cubicBezTo>
                    <a:pt x="247435" y="140774"/>
                    <a:pt x="225718" y="111891"/>
                    <a:pt x="225718" y="78030"/>
                  </a:cubicBezTo>
                  <a:cubicBezTo>
                    <a:pt x="225718" y="35016"/>
                    <a:pt x="260697" y="0"/>
                    <a:pt x="303775" y="0"/>
                  </a:cubicBez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25" name="文本框 29">
              <a:extLst>
                <a:ext uri="{FF2B5EF4-FFF2-40B4-BE49-F238E27FC236}">
                  <a16:creationId xmlns:a16="http://schemas.microsoft.com/office/drawing/2014/main" id="{8D5B014C-100A-50CC-D59B-87E224664623}"/>
                </a:ext>
              </a:extLst>
            </p:cNvPr>
            <p:cNvSpPr txBox="1"/>
            <p:nvPr/>
          </p:nvSpPr>
          <p:spPr>
            <a:xfrm>
              <a:off x="5542613" y="1597503"/>
              <a:ext cx="1383163" cy="334818"/>
            </a:xfrm>
            <a:prstGeom prst="rect">
              <a:avLst/>
            </a:prstGeom>
            <a:noFill/>
          </p:spPr>
          <p:txBody>
            <a:bodyPr wrap="square">
              <a:spAutoFit/>
            </a:bodyPr>
            <a:lstStyle/>
            <a:p>
              <a:pPr algn="ctr"/>
              <a:r>
                <a:rPr lang="en-US" altLang="zh-CN" sz="1200" b="1" dirty="0">
                  <a:solidFill>
                    <a:srgbClr val="FF0000"/>
                  </a:solidFill>
                </a:rPr>
                <a:t>Internal</a:t>
              </a:r>
              <a:r>
                <a:rPr lang="en-US" altLang="zh-CN" sz="1100" b="1" dirty="0">
                  <a:solidFill>
                    <a:srgbClr val="FF0000"/>
                  </a:solidFill>
                </a:rPr>
                <a:t> </a:t>
              </a:r>
              <a:r>
                <a:rPr lang="en-US" altLang="zh-CN" sz="1100" dirty="0">
                  <a:solidFill>
                    <a:srgbClr val="FF0000"/>
                  </a:solidFill>
                </a:rPr>
                <a:t>GenAI</a:t>
              </a:r>
            </a:p>
          </p:txBody>
        </p:sp>
        <p:sp>
          <p:nvSpPr>
            <p:cNvPr id="26" name="箭头: 右 37">
              <a:extLst>
                <a:ext uri="{FF2B5EF4-FFF2-40B4-BE49-F238E27FC236}">
                  <a16:creationId xmlns:a16="http://schemas.microsoft.com/office/drawing/2014/main" id="{9B34028C-72E8-E770-B44F-7F89DE04E1B2}"/>
                </a:ext>
              </a:extLst>
            </p:cNvPr>
            <p:cNvSpPr/>
            <p:nvPr/>
          </p:nvSpPr>
          <p:spPr>
            <a:xfrm rot="8293985">
              <a:off x="5082055" y="1682985"/>
              <a:ext cx="730985" cy="227137"/>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100" dirty="0"/>
            </a:p>
          </p:txBody>
        </p:sp>
        <p:sp>
          <p:nvSpPr>
            <p:cNvPr id="27" name="TextBox 27">
              <a:extLst>
                <a:ext uri="{FF2B5EF4-FFF2-40B4-BE49-F238E27FC236}">
                  <a16:creationId xmlns:a16="http://schemas.microsoft.com/office/drawing/2014/main" id="{819BC108-0502-D070-8AA9-594052102FFB}"/>
                </a:ext>
              </a:extLst>
            </p:cNvPr>
            <p:cNvSpPr txBox="1"/>
            <p:nvPr/>
          </p:nvSpPr>
          <p:spPr>
            <a:xfrm>
              <a:off x="4830033" y="1405151"/>
              <a:ext cx="939256" cy="316217"/>
            </a:xfrm>
            <a:prstGeom prst="rect">
              <a:avLst/>
            </a:prstGeom>
            <a:noFill/>
          </p:spPr>
          <p:txBody>
            <a:bodyPr wrap="square" rtlCol="0">
              <a:spAutoFit/>
            </a:bodyPr>
            <a:lstStyle/>
            <a:p>
              <a:pPr algn="ctr"/>
              <a:r>
                <a:rPr lang="en-US" sz="1100" dirty="0"/>
                <a:t>Supply</a:t>
              </a:r>
            </a:p>
          </p:txBody>
        </p:sp>
      </p:grpSp>
      <p:sp>
        <p:nvSpPr>
          <p:cNvPr id="4" name="Slide Number Placeholder 3">
            <a:extLst>
              <a:ext uri="{FF2B5EF4-FFF2-40B4-BE49-F238E27FC236}">
                <a16:creationId xmlns:a16="http://schemas.microsoft.com/office/drawing/2014/main" id="{13D6D7F9-FCF8-BE23-49C2-0B2EDFA5A0B6}"/>
              </a:ext>
            </a:extLst>
          </p:cNvPr>
          <p:cNvSpPr>
            <a:spLocks noGrp="1"/>
          </p:cNvSpPr>
          <p:nvPr>
            <p:ph type="sldNum" sz="quarter" idx="12"/>
          </p:nvPr>
        </p:nvSpPr>
        <p:spPr/>
        <p:txBody>
          <a:bodyPr/>
          <a:lstStyle/>
          <a:p>
            <a:fld id="{80E9C1D4-69BA-4B09-8A24-1CCDDD1AB85B}" type="slidenum">
              <a:rPr lang="zh-CN" altLang="en-US" smtClean="0"/>
              <a:t>2</a:t>
            </a:fld>
            <a:endParaRPr lang="zh-CN" altLang="en-US"/>
          </a:p>
        </p:txBody>
      </p:sp>
    </p:spTree>
    <p:extLst>
      <p:ext uri="{BB962C8B-B14F-4D97-AF65-F5344CB8AC3E}">
        <p14:creationId xmlns:p14="http://schemas.microsoft.com/office/powerpoint/2010/main" val="3922076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EC31D-BD68-0537-17B6-A00980772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6D49D-3278-E411-F372-40884236707B}"/>
              </a:ext>
            </a:extLst>
          </p:cNvPr>
          <p:cNvSpPr>
            <a:spLocks noGrp="1"/>
          </p:cNvSpPr>
          <p:nvPr>
            <p:ph type="title"/>
          </p:nvPr>
        </p:nvSpPr>
        <p:spPr>
          <a:xfrm>
            <a:off x="513357" y="273844"/>
            <a:ext cx="8293754" cy="669131"/>
          </a:xfrm>
        </p:spPr>
        <p:txBody>
          <a:bodyPr>
            <a:noAutofit/>
          </a:bodyPr>
          <a:lstStyle/>
          <a:p>
            <a:r>
              <a:rPr lang="en-US" dirty="0"/>
              <a:t>A </a:t>
            </a:r>
            <a:r>
              <a:rPr lang="en-US" altLang="zh-CN" dirty="0"/>
              <a:t>r</a:t>
            </a:r>
            <a:r>
              <a:rPr lang="en-US" dirty="0"/>
              <a:t>andomized </a:t>
            </a:r>
            <a:r>
              <a:rPr lang="en-US" altLang="zh-CN" dirty="0"/>
              <a:t>f</a:t>
            </a:r>
            <a:r>
              <a:rPr lang="en-US" dirty="0"/>
              <a:t>ield </a:t>
            </a:r>
            <a:r>
              <a:rPr lang="en-US" altLang="zh-CN" dirty="0"/>
              <a:t>e</a:t>
            </a:r>
            <a:r>
              <a:rPr lang="en-US" dirty="0"/>
              <a:t>xperiment on </a:t>
            </a:r>
            <a:r>
              <a:rPr lang="en-US" i="1" dirty="0"/>
              <a:t>SegmentFault</a:t>
            </a:r>
            <a:endParaRPr lang="en-US" altLang="zh-CN" dirty="0"/>
          </a:p>
        </p:txBody>
      </p:sp>
      <p:grpSp>
        <p:nvGrpSpPr>
          <p:cNvPr id="40" name="Group 39">
            <a:extLst>
              <a:ext uri="{FF2B5EF4-FFF2-40B4-BE49-F238E27FC236}">
                <a16:creationId xmlns:a16="http://schemas.microsoft.com/office/drawing/2014/main" id="{B9116859-38EF-D5CE-F202-5F5A493DC94C}"/>
              </a:ext>
            </a:extLst>
          </p:cNvPr>
          <p:cNvGrpSpPr/>
          <p:nvPr/>
        </p:nvGrpSpPr>
        <p:grpSpPr>
          <a:xfrm>
            <a:off x="1487568" y="1146096"/>
            <a:ext cx="5873709" cy="3757714"/>
            <a:chOff x="1070879" y="1111942"/>
            <a:chExt cx="6520706" cy="4171631"/>
          </a:xfrm>
        </p:grpSpPr>
        <p:pic>
          <p:nvPicPr>
            <p:cNvPr id="4" name="图片 4">
              <a:extLst>
                <a:ext uri="{FF2B5EF4-FFF2-40B4-BE49-F238E27FC236}">
                  <a16:creationId xmlns:a16="http://schemas.microsoft.com/office/drawing/2014/main" id="{F7969002-E896-35D3-B9A0-80D66F0EB021}"/>
                </a:ext>
              </a:extLst>
            </p:cNvPr>
            <p:cNvPicPr>
              <a:picLocks noChangeAspect="1"/>
            </p:cNvPicPr>
            <p:nvPr/>
          </p:nvPicPr>
          <p:blipFill>
            <a:blip r:embed="rId3"/>
            <a:stretch>
              <a:fillRect/>
            </a:stretch>
          </p:blipFill>
          <p:spPr>
            <a:xfrm>
              <a:off x="1070879" y="1583738"/>
              <a:ext cx="2446993" cy="3699835"/>
            </a:xfrm>
            <a:prstGeom prst="rect">
              <a:avLst/>
            </a:prstGeom>
          </p:spPr>
        </p:pic>
        <p:pic>
          <p:nvPicPr>
            <p:cNvPr id="5" name="图片 8">
              <a:extLst>
                <a:ext uri="{FF2B5EF4-FFF2-40B4-BE49-F238E27FC236}">
                  <a16:creationId xmlns:a16="http://schemas.microsoft.com/office/drawing/2014/main" id="{01AEBDD4-60C1-83D7-D779-1BA2C4D1BABF}"/>
                </a:ext>
              </a:extLst>
            </p:cNvPr>
            <p:cNvPicPr>
              <a:picLocks noChangeAspect="1"/>
            </p:cNvPicPr>
            <p:nvPr/>
          </p:nvPicPr>
          <p:blipFill>
            <a:blip r:embed="rId4"/>
            <a:stretch>
              <a:fillRect/>
            </a:stretch>
          </p:blipFill>
          <p:spPr>
            <a:xfrm>
              <a:off x="5213906" y="1583738"/>
              <a:ext cx="2377678" cy="3699835"/>
            </a:xfrm>
            <a:prstGeom prst="rect">
              <a:avLst/>
            </a:prstGeom>
          </p:spPr>
        </p:pic>
        <p:sp>
          <p:nvSpPr>
            <p:cNvPr id="29" name="矩形 9">
              <a:extLst>
                <a:ext uri="{FF2B5EF4-FFF2-40B4-BE49-F238E27FC236}">
                  <a16:creationId xmlns:a16="http://schemas.microsoft.com/office/drawing/2014/main" id="{7F3EF1D3-23B7-2E1E-14D2-DB423FB3CED0}"/>
                </a:ext>
              </a:extLst>
            </p:cNvPr>
            <p:cNvSpPr/>
            <p:nvPr/>
          </p:nvSpPr>
          <p:spPr>
            <a:xfrm>
              <a:off x="1248586" y="1698505"/>
              <a:ext cx="2269287" cy="983486"/>
            </a:xfrm>
            <a:prstGeom prst="rect">
              <a:avLst/>
            </a:prstGeom>
            <a:solidFill>
              <a:schemeClr val="bg2">
                <a:alpha val="5000"/>
              </a:schemeClr>
            </a:solidFill>
            <a:ln w="412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0" name="矩形 10">
              <a:extLst>
                <a:ext uri="{FF2B5EF4-FFF2-40B4-BE49-F238E27FC236}">
                  <a16:creationId xmlns:a16="http://schemas.microsoft.com/office/drawing/2014/main" id="{5B62BF5D-34EE-AAE4-0545-0656E3517875}"/>
                </a:ext>
              </a:extLst>
            </p:cNvPr>
            <p:cNvSpPr/>
            <p:nvPr/>
          </p:nvSpPr>
          <p:spPr>
            <a:xfrm>
              <a:off x="5388237" y="1698505"/>
              <a:ext cx="2203348" cy="1206048"/>
            </a:xfrm>
            <a:prstGeom prst="rect">
              <a:avLst/>
            </a:prstGeom>
            <a:solidFill>
              <a:schemeClr val="bg2">
                <a:alpha val="5000"/>
              </a:schemeClr>
            </a:solidFill>
            <a:ln w="412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1" name="矩形 11">
              <a:extLst>
                <a:ext uri="{FF2B5EF4-FFF2-40B4-BE49-F238E27FC236}">
                  <a16:creationId xmlns:a16="http://schemas.microsoft.com/office/drawing/2014/main" id="{3AC455E2-7245-C5D0-A180-8E77D3D20D5F}"/>
                </a:ext>
              </a:extLst>
            </p:cNvPr>
            <p:cNvSpPr/>
            <p:nvPr/>
          </p:nvSpPr>
          <p:spPr>
            <a:xfrm>
              <a:off x="1248585" y="2736628"/>
              <a:ext cx="2269287" cy="441617"/>
            </a:xfrm>
            <a:prstGeom prst="rect">
              <a:avLst/>
            </a:prstGeom>
            <a:solidFill>
              <a:schemeClr val="bg1">
                <a:alpha val="5000"/>
              </a:schemeClr>
            </a:solid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2" name="矩形 12">
              <a:extLst>
                <a:ext uri="{FF2B5EF4-FFF2-40B4-BE49-F238E27FC236}">
                  <a16:creationId xmlns:a16="http://schemas.microsoft.com/office/drawing/2014/main" id="{13A47313-C0D0-E0FD-E7DD-FAD6BF142D27}"/>
                </a:ext>
              </a:extLst>
            </p:cNvPr>
            <p:cNvSpPr/>
            <p:nvPr/>
          </p:nvSpPr>
          <p:spPr>
            <a:xfrm>
              <a:off x="1248585" y="3374404"/>
              <a:ext cx="2269287" cy="1127838"/>
            </a:xfrm>
            <a:prstGeom prst="rect">
              <a:avLst/>
            </a:prstGeom>
            <a:solidFill>
              <a:schemeClr val="bg2">
                <a:alpha val="5000"/>
              </a:schemeClr>
            </a:solidFill>
            <a:ln w="412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3" name="矩形 13">
              <a:extLst>
                <a:ext uri="{FF2B5EF4-FFF2-40B4-BE49-F238E27FC236}">
                  <a16:creationId xmlns:a16="http://schemas.microsoft.com/office/drawing/2014/main" id="{EDD39B5B-36DB-4796-335F-78604D208E0F}"/>
                </a:ext>
              </a:extLst>
            </p:cNvPr>
            <p:cNvSpPr/>
            <p:nvPr/>
          </p:nvSpPr>
          <p:spPr>
            <a:xfrm>
              <a:off x="5388237" y="4690629"/>
              <a:ext cx="2203348" cy="592944"/>
            </a:xfrm>
            <a:prstGeom prst="rect">
              <a:avLst/>
            </a:prstGeom>
            <a:solidFill>
              <a:schemeClr val="bg2">
                <a:alpha val="5000"/>
              </a:schemeClr>
            </a:solidFill>
            <a:ln w="412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4" name="矩形 48">
              <a:extLst>
                <a:ext uri="{FF2B5EF4-FFF2-40B4-BE49-F238E27FC236}">
                  <a16:creationId xmlns:a16="http://schemas.microsoft.com/office/drawing/2014/main" id="{EDD32161-5026-1A2C-9BA8-2F70DF92445C}"/>
                </a:ext>
              </a:extLst>
            </p:cNvPr>
            <p:cNvSpPr/>
            <p:nvPr/>
          </p:nvSpPr>
          <p:spPr>
            <a:xfrm>
              <a:off x="1248585" y="4502585"/>
              <a:ext cx="2269287" cy="744227"/>
            </a:xfrm>
            <a:prstGeom prst="rect">
              <a:avLst/>
            </a:prstGeom>
            <a:solidFill>
              <a:schemeClr val="bg2">
                <a:alpha val="5000"/>
              </a:schemeClr>
            </a:solidFill>
            <a:ln w="412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5" name="矩形 50">
              <a:extLst>
                <a:ext uri="{FF2B5EF4-FFF2-40B4-BE49-F238E27FC236}">
                  <a16:creationId xmlns:a16="http://schemas.microsoft.com/office/drawing/2014/main" id="{673A1DFB-AD82-2774-C717-9E065F4A5AD3}"/>
                </a:ext>
              </a:extLst>
            </p:cNvPr>
            <p:cNvSpPr/>
            <p:nvPr/>
          </p:nvSpPr>
          <p:spPr>
            <a:xfrm>
              <a:off x="5388236" y="3990808"/>
              <a:ext cx="2203348" cy="699817"/>
            </a:xfrm>
            <a:prstGeom prst="rect">
              <a:avLst/>
            </a:prstGeom>
            <a:solidFill>
              <a:schemeClr val="bg2">
                <a:alpha val="5000"/>
              </a:schemeClr>
            </a:solidFill>
            <a:ln w="412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6" name="矩形 51">
              <a:extLst>
                <a:ext uri="{FF2B5EF4-FFF2-40B4-BE49-F238E27FC236}">
                  <a16:creationId xmlns:a16="http://schemas.microsoft.com/office/drawing/2014/main" id="{B81253D6-7D35-0880-599A-C4C20634E6D5}"/>
                </a:ext>
              </a:extLst>
            </p:cNvPr>
            <p:cNvSpPr/>
            <p:nvPr/>
          </p:nvSpPr>
          <p:spPr>
            <a:xfrm flipV="1">
              <a:off x="5388236" y="3100713"/>
              <a:ext cx="2203348" cy="890096"/>
            </a:xfrm>
            <a:prstGeom prst="rect">
              <a:avLst/>
            </a:prstGeom>
            <a:solidFill>
              <a:schemeClr val="bg2">
                <a:alpha val="5000"/>
              </a:schemeClr>
            </a:solidFill>
            <a:ln w="412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cxnSp>
          <p:nvCxnSpPr>
            <p:cNvPr id="37" name="直接连接符 54">
              <a:extLst>
                <a:ext uri="{FF2B5EF4-FFF2-40B4-BE49-F238E27FC236}">
                  <a16:creationId xmlns:a16="http://schemas.microsoft.com/office/drawing/2014/main" id="{7B43F039-7089-1487-BE31-1E029B878498}"/>
                </a:ext>
              </a:extLst>
            </p:cNvPr>
            <p:cNvCxnSpPr>
              <a:cxnSpLocks/>
            </p:cNvCxnSpPr>
            <p:nvPr/>
          </p:nvCxnSpPr>
          <p:spPr>
            <a:xfrm>
              <a:off x="4385964" y="1163920"/>
              <a:ext cx="0" cy="4119653"/>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sp>
          <p:nvSpPr>
            <p:cNvPr id="38" name="矩形: 圆角 55">
              <a:extLst>
                <a:ext uri="{FF2B5EF4-FFF2-40B4-BE49-F238E27FC236}">
                  <a16:creationId xmlns:a16="http://schemas.microsoft.com/office/drawing/2014/main" id="{60F49EAE-4E5D-FB48-D6DE-10130E1216DC}"/>
                </a:ext>
              </a:extLst>
            </p:cNvPr>
            <p:cNvSpPr/>
            <p:nvPr/>
          </p:nvSpPr>
          <p:spPr>
            <a:xfrm>
              <a:off x="1070879" y="1115031"/>
              <a:ext cx="2446974" cy="305970"/>
            </a:xfrm>
            <a:prstGeom prst="round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Calibri" panose="020F0502020204030204" pitchFamily="34" charset="0"/>
                  <a:cs typeface="Calibri" panose="020F0502020204030204" pitchFamily="34" charset="0"/>
                </a:rPr>
                <a:t>AI</a:t>
              </a:r>
              <a:r>
                <a:rPr lang="zh-CN" altLang="en-US" sz="1200" b="1" dirty="0">
                  <a:solidFill>
                    <a:schemeClr val="tx1"/>
                  </a:solidFill>
                  <a:latin typeface="Calibri" panose="020F0502020204030204" pitchFamily="34" charset="0"/>
                  <a:cs typeface="Calibri" panose="020F0502020204030204" pitchFamily="34" charset="0"/>
                </a:rPr>
                <a:t> </a:t>
              </a:r>
              <a:r>
                <a:rPr lang="en-US" altLang="zh-CN" sz="1200" b="1" dirty="0">
                  <a:solidFill>
                    <a:schemeClr val="tx1"/>
                  </a:solidFill>
                  <a:latin typeface="Calibri" panose="020F0502020204030204" pitchFamily="34" charset="0"/>
                  <a:cs typeface="Calibri" panose="020F0502020204030204" pitchFamily="34" charset="0"/>
                </a:rPr>
                <a:t>group</a:t>
              </a:r>
              <a:r>
                <a:rPr lang="zh-CN" altLang="en-US" sz="1200" b="1" dirty="0">
                  <a:solidFill>
                    <a:schemeClr val="tx1"/>
                  </a:solidFill>
                  <a:latin typeface="Calibri" panose="020F0502020204030204" pitchFamily="34" charset="0"/>
                  <a:cs typeface="Calibri" panose="020F0502020204030204" pitchFamily="34" charset="0"/>
                </a:rPr>
                <a:t> </a:t>
              </a:r>
              <a:r>
                <a:rPr lang="en-US" altLang="zh-CN" sz="1200" b="1" dirty="0">
                  <a:solidFill>
                    <a:schemeClr val="tx1"/>
                  </a:solidFill>
                  <a:latin typeface="Calibri" panose="020F0502020204030204" pitchFamily="34" charset="0"/>
                  <a:cs typeface="Calibri" panose="020F0502020204030204" pitchFamily="34" charset="0"/>
                </a:rPr>
                <a:t>(treatment</a:t>
              </a:r>
              <a:r>
                <a:rPr lang="zh-CN" altLang="en-US" sz="1200" b="1" dirty="0">
                  <a:solidFill>
                    <a:schemeClr val="tx1"/>
                  </a:solidFill>
                  <a:latin typeface="Calibri" panose="020F0502020204030204" pitchFamily="34" charset="0"/>
                  <a:cs typeface="Calibri" panose="020F0502020204030204" pitchFamily="34" charset="0"/>
                </a:rPr>
                <a:t> </a:t>
              </a:r>
              <a:r>
                <a:rPr lang="en-US" altLang="zh-CN" sz="1200" b="1" dirty="0">
                  <a:solidFill>
                    <a:schemeClr val="tx1"/>
                  </a:solidFill>
                  <a:latin typeface="Calibri" panose="020F0502020204030204" pitchFamily="34" charset="0"/>
                  <a:cs typeface="Calibri" panose="020F0502020204030204" pitchFamily="34" charset="0"/>
                </a:rPr>
                <a:t>group)</a:t>
              </a:r>
              <a:endParaRPr lang="zh-CN" altLang="en-US" sz="1200" b="1" dirty="0">
                <a:solidFill>
                  <a:schemeClr val="tx1"/>
                </a:solidFill>
                <a:latin typeface="Calibri" panose="020F0502020204030204" pitchFamily="34" charset="0"/>
                <a:cs typeface="Calibri" panose="020F0502020204030204" pitchFamily="34" charset="0"/>
              </a:endParaRPr>
            </a:p>
          </p:txBody>
        </p:sp>
        <p:sp>
          <p:nvSpPr>
            <p:cNvPr id="39" name="矩形: 圆角 57">
              <a:extLst>
                <a:ext uri="{FF2B5EF4-FFF2-40B4-BE49-F238E27FC236}">
                  <a16:creationId xmlns:a16="http://schemas.microsoft.com/office/drawing/2014/main" id="{9D946093-1E4D-D63D-A566-D41E64522EA8}"/>
                </a:ext>
              </a:extLst>
            </p:cNvPr>
            <p:cNvSpPr/>
            <p:nvPr/>
          </p:nvSpPr>
          <p:spPr>
            <a:xfrm>
              <a:off x="5213906" y="1111942"/>
              <a:ext cx="2377669" cy="305970"/>
            </a:xfrm>
            <a:prstGeom prst="round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Calibri" panose="020F0502020204030204" pitchFamily="34" charset="0"/>
                  <a:cs typeface="Calibri" panose="020F0502020204030204" pitchFamily="34" charset="0"/>
                </a:rPr>
                <a:t>no</a:t>
              </a:r>
              <a:r>
                <a:rPr lang="zh-CN" altLang="en-US" sz="1200" b="1" dirty="0">
                  <a:solidFill>
                    <a:schemeClr val="tx1"/>
                  </a:solidFill>
                  <a:latin typeface="Calibri" panose="020F0502020204030204" pitchFamily="34" charset="0"/>
                  <a:cs typeface="Calibri" panose="020F0502020204030204" pitchFamily="34" charset="0"/>
                </a:rPr>
                <a:t> </a:t>
              </a:r>
              <a:r>
                <a:rPr lang="en-US" altLang="zh-CN" sz="1200" b="1" dirty="0">
                  <a:solidFill>
                    <a:schemeClr val="tx1"/>
                  </a:solidFill>
                  <a:latin typeface="Calibri" panose="020F0502020204030204" pitchFamily="34" charset="0"/>
                  <a:cs typeface="Calibri" panose="020F0502020204030204" pitchFamily="34" charset="0"/>
                </a:rPr>
                <a:t>AI</a:t>
              </a:r>
              <a:r>
                <a:rPr lang="zh-CN" altLang="en-US" sz="1200" b="1" dirty="0">
                  <a:solidFill>
                    <a:schemeClr val="tx1"/>
                  </a:solidFill>
                  <a:latin typeface="Calibri" panose="020F0502020204030204" pitchFamily="34" charset="0"/>
                  <a:cs typeface="Calibri" panose="020F0502020204030204" pitchFamily="34" charset="0"/>
                </a:rPr>
                <a:t> </a:t>
              </a:r>
              <a:r>
                <a:rPr lang="en-US" altLang="zh-CN" sz="1200" b="1" dirty="0">
                  <a:solidFill>
                    <a:schemeClr val="tx1"/>
                  </a:solidFill>
                  <a:latin typeface="Calibri" panose="020F0502020204030204" pitchFamily="34" charset="0"/>
                  <a:cs typeface="Calibri" panose="020F0502020204030204" pitchFamily="34" charset="0"/>
                </a:rPr>
                <a:t>group</a:t>
              </a:r>
              <a:r>
                <a:rPr lang="zh-CN" altLang="en-US" sz="1200" b="1" dirty="0">
                  <a:solidFill>
                    <a:schemeClr val="tx1"/>
                  </a:solidFill>
                  <a:latin typeface="Calibri" panose="020F0502020204030204" pitchFamily="34" charset="0"/>
                  <a:cs typeface="Calibri" panose="020F0502020204030204" pitchFamily="34" charset="0"/>
                </a:rPr>
                <a:t> </a:t>
              </a:r>
              <a:r>
                <a:rPr lang="en-US" altLang="zh-CN" sz="1200" b="1" dirty="0">
                  <a:solidFill>
                    <a:schemeClr val="tx1"/>
                  </a:solidFill>
                  <a:latin typeface="Calibri" panose="020F0502020204030204" pitchFamily="34" charset="0"/>
                  <a:cs typeface="Calibri" panose="020F0502020204030204" pitchFamily="34" charset="0"/>
                </a:rPr>
                <a:t>(control</a:t>
              </a:r>
              <a:r>
                <a:rPr lang="zh-CN" altLang="en-US" sz="1200" b="1" dirty="0">
                  <a:solidFill>
                    <a:schemeClr val="tx1"/>
                  </a:solidFill>
                  <a:latin typeface="Calibri" panose="020F0502020204030204" pitchFamily="34" charset="0"/>
                  <a:cs typeface="Calibri" panose="020F0502020204030204" pitchFamily="34" charset="0"/>
                </a:rPr>
                <a:t> </a:t>
              </a:r>
              <a:r>
                <a:rPr lang="en-US" altLang="zh-CN" sz="1200" b="1" dirty="0">
                  <a:solidFill>
                    <a:schemeClr val="tx1"/>
                  </a:solidFill>
                  <a:latin typeface="Calibri" panose="020F0502020204030204" pitchFamily="34" charset="0"/>
                  <a:cs typeface="Calibri" panose="020F0502020204030204" pitchFamily="34" charset="0"/>
                </a:rPr>
                <a:t>group)</a:t>
              </a:r>
              <a:r>
                <a:rPr lang="zh-CN" altLang="en-US" sz="1200" b="1" dirty="0">
                  <a:solidFill>
                    <a:schemeClr val="tx1"/>
                  </a:solidFill>
                  <a:latin typeface="Calibri" panose="020F0502020204030204" pitchFamily="34" charset="0"/>
                  <a:cs typeface="Calibri" panose="020F0502020204030204" pitchFamily="34" charset="0"/>
                </a:rPr>
                <a:t> </a:t>
              </a:r>
            </a:p>
          </p:txBody>
        </p:sp>
      </p:grpSp>
      <p:sp>
        <p:nvSpPr>
          <p:cNvPr id="3" name="Slide Number Placeholder 2">
            <a:extLst>
              <a:ext uri="{FF2B5EF4-FFF2-40B4-BE49-F238E27FC236}">
                <a16:creationId xmlns:a16="http://schemas.microsoft.com/office/drawing/2014/main" id="{F914D3FF-5985-5AAA-6BF6-9AF94934CACA}"/>
              </a:ext>
            </a:extLst>
          </p:cNvPr>
          <p:cNvSpPr>
            <a:spLocks noGrp="1"/>
          </p:cNvSpPr>
          <p:nvPr>
            <p:ph type="sldNum" sz="quarter" idx="12"/>
          </p:nvPr>
        </p:nvSpPr>
        <p:spPr/>
        <p:txBody>
          <a:bodyPr/>
          <a:lstStyle/>
          <a:p>
            <a:fld id="{80E9C1D4-69BA-4B09-8A24-1CCDDD1AB85B}" type="slidenum">
              <a:rPr lang="zh-CN" altLang="en-US" smtClean="0"/>
              <a:t>3</a:t>
            </a:fld>
            <a:endParaRPr lang="zh-CN" altLang="en-US"/>
          </a:p>
        </p:txBody>
      </p:sp>
    </p:spTree>
    <p:extLst>
      <p:ext uri="{BB962C8B-B14F-4D97-AF65-F5344CB8AC3E}">
        <p14:creationId xmlns:p14="http://schemas.microsoft.com/office/powerpoint/2010/main" val="2323804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8E1AE-7FD4-99EE-79E1-646AC5D81BB4}"/>
              </a:ext>
            </a:extLst>
          </p:cNvPr>
          <p:cNvSpPr>
            <a:spLocks noGrp="1"/>
          </p:cNvSpPr>
          <p:nvPr>
            <p:ph type="title"/>
          </p:nvPr>
        </p:nvSpPr>
        <p:spPr/>
        <p:txBody>
          <a:bodyPr/>
          <a:lstStyle/>
          <a:p>
            <a:r>
              <a:rPr lang="en-US" dirty="0"/>
              <a:t>Original </a:t>
            </a:r>
            <a:r>
              <a:rPr lang="en-US" altLang="zh-CN" dirty="0"/>
              <a:t>f</a:t>
            </a:r>
            <a:r>
              <a:rPr lang="en-US" dirty="0"/>
              <a:t>raming (not drawn in the paper)</a:t>
            </a:r>
          </a:p>
        </p:txBody>
      </p:sp>
      <p:grpSp>
        <p:nvGrpSpPr>
          <p:cNvPr id="22" name="Group 21">
            <a:extLst>
              <a:ext uri="{FF2B5EF4-FFF2-40B4-BE49-F238E27FC236}">
                <a16:creationId xmlns:a16="http://schemas.microsoft.com/office/drawing/2014/main" id="{E05F0876-3189-DF7B-7B51-F453AB6BE72C}"/>
              </a:ext>
            </a:extLst>
          </p:cNvPr>
          <p:cNvGrpSpPr/>
          <p:nvPr/>
        </p:nvGrpSpPr>
        <p:grpSpPr>
          <a:xfrm>
            <a:off x="1551852" y="907765"/>
            <a:ext cx="5777636" cy="4110460"/>
            <a:chOff x="1751877" y="436276"/>
            <a:chExt cx="8786314" cy="6250963"/>
          </a:xfrm>
        </p:grpSpPr>
        <p:sp>
          <p:nvSpPr>
            <p:cNvPr id="5" name="Rectangle 4">
              <a:extLst>
                <a:ext uri="{FF2B5EF4-FFF2-40B4-BE49-F238E27FC236}">
                  <a16:creationId xmlns:a16="http://schemas.microsoft.com/office/drawing/2014/main" id="{4DE43C9A-13B2-3D3C-CAD6-2F8ECF5BC6F0}"/>
                </a:ext>
              </a:extLst>
            </p:cNvPr>
            <p:cNvSpPr/>
            <p:nvPr/>
          </p:nvSpPr>
          <p:spPr>
            <a:xfrm>
              <a:off x="5938372" y="4912532"/>
              <a:ext cx="1682896"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Viewer Recognition </a:t>
              </a:r>
            </a:p>
          </p:txBody>
        </p:sp>
        <p:sp>
          <p:nvSpPr>
            <p:cNvPr id="6" name="Rectangle 5">
              <a:extLst>
                <a:ext uri="{FF2B5EF4-FFF2-40B4-BE49-F238E27FC236}">
                  <a16:creationId xmlns:a16="http://schemas.microsoft.com/office/drawing/2014/main" id="{6A6CCCEF-1520-C9B2-6CD9-A5057784C5E8}"/>
                </a:ext>
              </a:extLst>
            </p:cNvPr>
            <p:cNvSpPr/>
            <p:nvPr/>
          </p:nvSpPr>
          <p:spPr>
            <a:xfrm>
              <a:off x="1751877" y="3685240"/>
              <a:ext cx="1787664"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Has AI Answer</a:t>
              </a:r>
            </a:p>
          </p:txBody>
        </p:sp>
        <p:cxnSp>
          <p:nvCxnSpPr>
            <p:cNvPr id="7" name="Straight Arrow Connector 6">
              <a:extLst>
                <a:ext uri="{FF2B5EF4-FFF2-40B4-BE49-F238E27FC236}">
                  <a16:creationId xmlns:a16="http://schemas.microsoft.com/office/drawing/2014/main" id="{4D2F2B7D-D3C8-E504-3853-1DBE8AAF5941}"/>
                </a:ext>
              </a:extLst>
            </p:cNvPr>
            <p:cNvCxnSpPr>
              <a:cxnSpLocks/>
              <a:stCxn id="6" idx="3"/>
              <a:endCxn id="5" idx="1"/>
            </p:cNvCxnSpPr>
            <p:nvPr/>
          </p:nvCxnSpPr>
          <p:spPr>
            <a:xfrm>
              <a:off x="3539541" y="4039619"/>
              <a:ext cx="2398831" cy="122729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8" name="Rectangle 7">
              <a:extLst>
                <a:ext uri="{FF2B5EF4-FFF2-40B4-BE49-F238E27FC236}">
                  <a16:creationId xmlns:a16="http://schemas.microsoft.com/office/drawing/2014/main" id="{A499957B-B544-F52E-D917-4F702EBE1C26}"/>
                </a:ext>
              </a:extLst>
            </p:cNvPr>
            <p:cNvSpPr/>
            <p:nvPr/>
          </p:nvSpPr>
          <p:spPr>
            <a:xfrm>
              <a:off x="8703409" y="5839362"/>
              <a:ext cx="1682896"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t>E</a:t>
              </a:r>
              <a:r>
                <a:rPr lang="en-US" sz="1200" dirty="0"/>
                <a:t>levated </a:t>
              </a:r>
              <a:r>
                <a:rPr lang="en-US" altLang="zh-CN" sz="1200" dirty="0"/>
                <a:t>E</a:t>
              </a:r>
              <a:r>
                <a:rPr lang="en-US" sz="1200" dirty="0"/>
                <a:t>xpectations </a:t>
              </a:r>
            </a:p>
          </p:txBody>
        </p:sp>
        <p:sp>
          <p:nvSpPr>
            <p:cNvPr id="9" name="Rectangle 8">
              <a:extLst>
                <a:ext uri="{FF2B5EF4-FFF2-40B4-BE49-F238E27FC236}">
                  <a16:creationId xmlns:a16="http://schemas.microsoft.com/office/drawing/2014/main" id="{CDDAA13B-376F-5B96-9AAB-85A3F520F829}"/>
                </a:ext>
              </a:extLst>
            </p:cNvPr>
            <p:cNvSpPr/>
            <p:nvPr/>
          </p:nvSpPr>
          <p:spPr>
            <a:xfrm>
              <a:off x="5982140" y="2114441"/>
              <a:ext cx="1682896"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Answer</a:t>
              </a:r>
              <a:r>
                <a:rPr lang="en-US" altLang="zh-CN" sz="1200" dirty="0"/>
                <a:t>er</a:t>
              </a:r>
              <a:r>
                <a:rPr lang="en-US" sz="1200" dirty="0"/>
                <a:t> Participation</a:t>
              </a:r>
            </a:p>
          </p:txBody>
        </p:sp>
        <p:cxnSp>
          <p:nvCxnSpPr>
            <p:cNvPr id="10" name="Straight Arrow Connector 9">
              <a:extLst>
                <a:ext uri="{FF2B5EF4-FFF2-40B4-BE49-F238E27FC236}">
                  <a16:creationId xmlns:a16="http://schemas.microsoft.com/office/drawing/2014/main" id="{37CD32F7-C853-0A38-078F-4E5A90CBEA33}"/>
                </a:ext>
              </a:extLst>
            </p:cNvPr>
            <p:cNvCxnSpPr>
              <a:cxnSpLocks/>
              <a:stCxn id="6" idx="3"/>
              <a:endCxn id="9" idx="1"/>
            </p:cNvCxnSpPr>
            <p:nvPr/>
          </p:nvCxnSpPr>
          <p:spPr>
            <a:xfrm flipV="1">
              <a:off x="3539541" y="2468820"/>
              <a:ext cx="2442599" cy="1570798"/>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1" name="Rectangle 10">
              <a:extLst>
                <a:ext uri="{FF2B5EF4-FFF2-40B4-BE49-F238E27FC236}">
                  <a16:creationId xmlns:a16="http://schemas.microsoft.com/office/drawing/2014/main" id="{237CD72E-106C-7DB2-4821-1043A9BC84A8}"/>
                </a:ext>
              </a:extLst>
            </p:cNvPr>
            <p:cNvSpPr/>
            <p:nvPr/>
          </p:nvSpPr>
          <p:spPr>
            <a:xfrm>
              <a:off x="8703407" y="4913719"/>
              <a:ext cx="1682898"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Attention</a:t>
              </a:r>
              <a:r>
                <a:rPr lang="zh-CN" altLang="en-US" sz="1200" dirty="0"/>
                <a:t> </a:t>
              </a:r>
              <a:r>
                <a:rPr lang="en-US" altLang="zh-CN" sz="1200" dirty="0"/>
                <a:t>Diversion</a:t>
              </a:r>
              <a:endParaRPr lang="en-US" sz="1200" dirty="0"/>
            </a:p>
          </p:txBody>
        </p:sp>
        <p:sp>
          <p:nvSpPr>
            <p:cNvPr id="12" name="Rectangle 11">
              <a:extLst>
                <a:ext uri="{FF2B5EF4-FFF2-40B4-BE49-F238E27FC236}">
                  <a16:creationId xmlns:a16="http://schemas.microsoft.com/office/drawing/2014/main" id="{3D9879D8-79F2-7F25-ED7A-054ECB2AFF83}"/>
                </a:ext>
              </a:extLst>
            </p:cNvPr>
            <p:cNvSpPr/>
            <p:nvPr/>
          </p:nvSpPr>
          <p:spPr>
            <a:xfrm>
              <a:off x="8703407" y="3988075"/>
              <a:ext cx="1682898"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Quality</a:t>
              </a:r>
              <a:r>
                <a:rPr lang="zh-CN" altLang="en-US" sz="1200" dirty="0"/>
                <a:t> </a:t>
              </a:r>
              <a:r>
                <a:rPr lang="en-US" altLang="zh-CN" sz="1200" dirty="0"/>
                <a:t>Degradation</a:t>
              </a:r>
              <a:endParaRPr lang="en-US" sz="1200" dirty="0"/>
            </a:p>
          </p:txBody>
        </p:sp>
        <p:sp>
          <p:nvSpPr>
            <p:cNvPr id="13" name="Right Brace 12">
              <a:extLst>
                <a:ext uri="{FF2B5EF4-FFF2-40B4-BE49-F238E27FC236}">
                  <a16:creationId xmlns:a16="http://schemas.microsoft.com/office/drawing/2014/main" id="{4126743B-48CA-239C-5118-A305B7051325}"/>
                </a:ext>
              </a:extLst>
            </p:cNvPr>
            <p:cNvSpPr/>
            <p:nvPr/>
          </p:nvSpPr>
          <p:spPr>
            <a:xfrm rot="10800000">
              <a:off x="7894572" y="3988075"/>
              <a:ext cx="589496" cy="2560045"/>
            </a:xfrm>
            <a:prstGeom prst="rightBrace">
              <a:avLst>
                <a:gd name="adj1" fmla="val 39413"/>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200"/>
            </a:p>
          </p:txBody>
        </p:sp>
        <p:sp>
          <p:nvSpPr>
            <p:cNvPr id="14" name="Rectangle 13">
              <a:extLst>
                <a:ext uri="{FF2B5EF4-FFF2-40B4-BE49-F238E27FC236}">
                  <a16:creationId xmlns:a16="http://schemas.microsoft.com/office/drawing/2014/main" id="{4A4DEB17-68A5-A63F-7D68-5999590567BD}"/>
                </a:ext>
              </a:extLst>
            </p:cNvPr>
            <p:cNvSpPr/>
            <p:nvPr/>
          </p:nvSpPr>
          <p:spPr>
            <a:xfrm>
              <a:off x="8708965" y="1160476"/>
              <a:ext cx="1682898"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Source</a:t>
              </a:r>
              <a:r>
                <a:rPr lang="zh-CN" altLang="en-US" sz="1200" dirty="0"/>
                <a:t> </a:t>
              </a:r>
              <a:r>
                <a:rPr lang="en-US" altLang="zh-CN" sz="1200" dirty="0"/>
                <a:t>Effect</a:t>
              </a:r>
              <a:endParaRPr lang="en-US" sz="1200" dirty="0"/>
            </a:p>
          </p:txBody>
        </p:sp>
        <p:sp>
          <p:nvSpPr>
            <p:cNvPr id="15" name="Rectangle 14">
              <a:extLst>
                <a:ext uri="{FF2B5EF4-FFF2-40B4-BE49-F238E27FC236}">
                  <a16:creationId xmlns:a16="http://schemas.microsoft.com/office/drawing/2014/main" id="{7EC3D984-36A8-7E5E-9109-1D0A550B62CC}"/>
                </a:ext>
              </a:extLst>
            </p:cNvPr>
            <p:cNvSpPr/>
            <p:nvPr/>
          </p:nvSpPr>
          <p:spPr>
            <a:xfrm>
              <a:off x="8708966" y="2114441"/>
              <a:ext cx="1682898"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t>Content</a:t>
              </a:r>
              <a:r>
                <a:rPr lang="zh-CN" altLang="en-US" sz="1200" dirty="0"/>
                <a:t> </a:t>
              </a:r>
              <a:r>
                <a:rPr lang="en-US" altLang="zh-CN" sz="1200" dirty="0"/>
                <a:t>Effect</a:t>
              </a:r>
              <a:endParaRPr lang="en-US" sz="1200" dirty="0"/>
            </a:p>
          </p:txBody>
        </p:sp>
        <p:sp>
          <p:nvSpPr>
            <p:cNvPr id="16" name="Rectangle 15">
              <a:extLst>
                <a:ext uri="{FF2B5EF4-FFF2-40B4-BE49-F238E27FC236}">
                  <a16:creationId xmlns:a16="http://schemas.microsoft.com/office/drawing/2014/main" id="{F615365A-F2CC-8E77-919E-1243FA23612A}"/>
                </a:ext>
              </a:extLst>
            </p:cNvPr>
            <p:cNvSpPr/>
            <p:nvPr/>
          </p:nvSpPr>
          <p:spPr>
            <a:xfrm>
              <a:off x="8714519" y="2946147"/>
              <a:ext cx="1671786"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Position</a:t>
              </a:r>
              <a:r>
                <a:rPr lang="zh-CN" altLang="en-US" sz="1200" dirty="0"/>
                <a:t> </a:t>
              </a:r>
              <a:r>
                <a:rPr lang="en-US" altLang="zh-CN" sz="1200" dirty="0"/>
                <a:t>Effect</a:t>
              </a:r>
              <a:endParaRPr lang="en-US" sz="1200" dirty="0"/>
            </a:p>
          </p:txBody>
        </p:sp>
        <p:sp>
          <p:nvSpPr>
            <p:cNvPr id="17" name="Right Brace 16">
              <a:extLst>
                <a:ext uri="{FF2B5EF4-FFF2-40B4-BE49-F238E27FC236}">
                  <a16:creationId xmlns:a16="http://schemas.microsoft.com/office/drawing/2014/main" id="{D5FFE042-7E93-83DF-9B48-7DA20B4159E7}"/>
                </a:ext>
              </a:extLst>
            </p:cNvPr>
            <p:cNvSpPr/>
            <p:nvPr/>
          </p:nvSpPr>
          <p:spPr>
            <a:xfrm rot="10800000" flipV="1">
              <a:off x="7894572" y="1131837"/>
              <a:ext cx="590411" cy="2541472"/>
            </a:xfrm>
            <a:prstGeom prst="rightBrace">
              <a:avLst>
                <a:gd name="adj1" fmla="val 86730"/>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200"/>
            </a:p>
          </p:txBody>
        </p:sp>
        <p:sp>
          <p:nvSpPr>
            <p:cNvPr id="18" name="TextBox 17">
              <a:extLst>
                <a:ext uri="{FF2B5EF4-FFF2-40B4-BE49-F238E27FC236}">
                  <a16:creationId xmlns:a16="http://schemas.microsoft.com/office/drawing/2014/main" id="{D62A6C42-2A2B-7715-3F98-9DFA7740B4C2}"/>
                </a:ext>
              </a:extLst>
            </p:cNvPr>
            <p:cNvSpPr txBox="1"/>
            <p:nvPr/>
          </p:nvSpPr>
          <p:spPr>
            <a:xfrm>
              <a:off x="5318095" y="2884623"/>
              <a:ext cx="492916" cy="421245"/>
            </a:xfrm>
            <a:prstGeom prst="rect">
              <a:avLst/>
            </a:prstGeom>
            <a:noFill/>
          </p:spPr>
          <p:txBody>
            <a:bodyPr wrap="none" rtlCol="0">
              <a:spAutoFit/>
            </a:bodyPr>
            <a:lstStyle/>
            <a:p>
              <a:r>
                <a:rPr lang="en-US" altLang="zh-CN" sz="1200" dirty="0">
                  <a:solidFill>
                    <a:srgbClr val="FF0000"/>
                  </a:solidFill>
                </a:rPr>
                <a:t>(-)</a:t>
              </a:r>
              <a:endParaRPr lang="en-US" sz="1200" dirty="0">
                <a:solidFill>
                  <a:srgbClr val="FF0000"/>
                </a:solidFill>
              </a:endParaRPr>
            </a:p>
          </p:txBody>
        </p:sp>
        <p:sp>
          <p:nvSpPr>
            <p:cNvPr id="19" name="TextBox 18">
              <a:extLst>
                <a:ext uri="{FF2B5EF4-FFF2-40B4-BE49-F238E27FC236}">
                  <a16:creationId xmlns:a16="http://schemas.microsoft.com/office/drawing/2014/main" id="{C3561EB3-1C06-025E-2E30-F8038E8B6F2D}"/>
                </a:ext>
              </a:extLst>
            </p:cNvPr>
            <p:cNvSpPr txBox="1"/>
            <p:nvPr/>
          </p:nvSpPr>
          <p:spPr>
            <a:xfrm>
              <a:off x="5318095" y="4520232"/>
              <a:ext cx="492916" cy="421245"/>
            </a:xfrm>
            <a:prstGeom prst="rect">
              <a:avLst/>
            </a:prstGeom>
            <a:noFill/>
          </p:spPr>
          <p:txBody>
            <a:bodyPr wrap="none" rtlCol="0">
              <a:spAutoFit/>
            </a:bodyPr>
            <a:lstStyle/>
            <a:p>
              <a:r>
                <a:rPr lang="en-US" altLang="zh-CN" sz="1200" dirty="0">
                  <a:solidFill>
                    <a:srgbClr val="FF0000"/>
                  </a:solidFill>
                </a:rPr>
                <a:t>(-)</a:t>
              </a:r>
              <a:endParaRPr lang="en-US" sz="1200" dirty="0">
                <a:solidFill>
                  <a:srgbClr val="FF0000"/>
                </a:solidFill>
              </a:endParaRPr>
            </a:p>
          </p:txBody>
        </p:sp>
        <p:sp>
          <p:nvSpPr>
            <p:cNvPr id="20" name="TextBox 19">
              <a:extLst>
                <a:ext uri="{FF2B5EF4-FFF2-40B4-BE49-F238E27FC236}">
                  <a16:creationId xmlns:a16="http://schemas.microsoft.com/office/drawing/2014/main" id="{6071C52F-0EB5-9998-5B24-4F2A62DDE3B7}"/>
                </a:ext>
              </a:extLst>
            </p:cNvPr>
            <p:cNvSpPr txBox="1"/>
            <p:nvPr/>
          </p:nvSpPr>
          <p:spPr>
            <a:xfrm>
              <a:off x="8683383" y="436276"/>
              <a:ext cx="1663040" cy="468050"/>
            </a:xfrm>
            <a:prstGeom prst="rect">
              <a:avLst/>
            </a:prstGeom>
            <a:noFill/>
          </p:spPr>
          <p:txBody>
            <a:bodyPr wrap="none" rtlCol="0">
              <a:spAutoFit/>
            </a:bodyPr>
            <a:lstStyle/>
            <a:p>
              <a:r>
                <a:rPr lang="en-US" altLang="zh-CN" sz="1400" dirty="0"/>
                <a:t>mechanisms</a:t>
              </a:r>
              <a:endParaRPr lang="en-US" sz="1400" dirty="0"/>
            </a:p>
          </p:txBody>
        </p:sp>
        <p:sp>
          <p:nvSpPr>
            <p:cNvPr id="21" name="Rectangle 20">
              <a:extLst>
                <a:ext uri="{FF2B5EF4-FFF2-40B4-BE49-F238E27FC236}">
                  <a16:creationId xmlns:a16="http://schemas.microsoft.com/office/drawing/2014/main" id="{B17C357D-561F-96EE-F978-EBB628A7BEF2}"/>
                </a:ext>
              </a:extLst>
            </p:cNvPr>
            <p:cNvSpPr/>
            <p:nvPr/>
          </p:nvSpPr>
          <p:spPr>
            <a:xfrm>
              <a:off x="8569760" y="1001078"/>
              <a:ext cx="1968431" cy="5686161"/>
            </a:xfrm>
            <a:prstGeom prst="rect">
              <a:avLst/>
            </a:prstGeom>
            <a:noFill/>
            <a:ln w="25400">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grpSp>
      <p:sp>
        <p:nvSpPr>
          <p:cNvPr id="3" name="Slide Number Placeholder 2">
            <a:extLst>
              <a:ext uri="{FF2B5EF4-FFF2-40B4-BE49-F238E27FC236}">
                <a16:creationId xmlns:a16="http://schemas.microsoft.com/office/drawing/2014/main" id="{0790D671-324D-4964-3379-22A66D32460A}"/>
              </a:ext>
            </a:extLst>
          </p:cNvPr>
          <p:cNvSpPr>
            <a:spLocks noGrp="1"/>
          </p:cNvSpPr>
          <p:nvPr>
            <p:ph type="sldNum" sz="quarter" idx="12"/>
          </p:nvPr>
        </p:nvSpPr>
        <p:spPr/>
        <p:txBody>
          <a:bodyPr/>
          <a:lstStyle/>
          <a:p>
            <a:fld id="{80E9C1D4-69BA-4B09-8A24-1CCDDD1AB85B}" type="slidenum">
              <a:rPr lang="zh-CN" altLang="en-US" smtClean="0"/>
              <a:t>4</a:t>
            </a:fld>
            <a:endParaRPr lang="zh-CN" altLang="en-US"/>
          </a:p>
        </p:txBody>
      </p:sp>
    </p:spTree>
    <p:extLst>
      <p:ext uri="{BB962C8B-B14F-4D97-AF65-F5344CB8AC3E}">
        <p14:creationId xmlns:p14="http://schemas.microsoft.com/office/powerpoint/2010/main" val="3287725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5F2BEC-2686-5538-BB04-438584853FD4}"/>
              </a:ext>
            </a:extLst>
          </p:cNvPr>
          <p:cNvSpPr>
            <a:spLocks noGrp="1"/>
          </p:cNvSpPr>
          <p:nvPr>
            <p:ph idx="1"/>
          </p:nvPr>
        </p:nvSpPr>
        <p:spPr/>
        <p:txBody>
          <a:bodyPr>
            <a:normAutofit/>
          </a:bodyPr>
          <a:lstStyle/>
          <a:p>
            <a:pPr marL="514350" indent="-514350">
              <a:buFont typeface="+mj-lt"/>
              <a:buAutoNum type="arabicPeriod"/>
            </a:pPr>
            <a:r>
              <a:rPr lang="en-US" altLang="zh-CN" sz="2800" dirty="0">
                <a:latin typeface="+mj-lt"/>
              </a:rPr>
              <a:t>Need</a:t>
            </a:r>
            <a:r>
              <a:rPr lang="en-US" altLang="en-US" sz="2800" dirty="0">
                <a:latin typeface="+mj-lt"/>
              </a:rPr>
              <a:t> an overarching theoretical framework</a:t>
            </a:r>
          </a:p>
          <a:p>
            <a:pPr marL="514350" indent="-514350">
              <a:buFont typeface="+mj-lt"/>
              <a:buAutoNum type="arabicPeriod"/>
            </a:pPr>
            <a:r>
              <a:rPr lang="en-US" altLang="zh-CN" sz="2800" dirty="0">
                <a:latin typeface="+mj-lt"/>
              </a:rPr>
              <a:t>Need</a:t>
            </a:r>
            <a:r>
              <a:rPr lang="zh-CN" altLang="en-US" sz="2800" dirty="0">
                <a:latin typeface="+mj-lt"/>
              </a:rPr>
              <a:t> </a:t>
            </a:r>
            <a:r>
              <a:rPr lang="en-US" altLang="zh-CN" sz="2800" dirty="0">
                <a:latin typeface="+mj-lt"/>
              </a:rPr>
              <a:t>specific</a:t>
            </a:r>
            <a:r>
              <a:rPr lang="zh-CN" altLang="en-US" sz="2800" dirty="0">
                <a:latin typeface="+mj-lt"/>
              </a:rPr>
              <a:t> </a:t>
            </a:r>
            <a:r>
              <a:rPr lang="en-US" altLang="zh-CN" sz="2800" dirty="0">
                <a:latin typeface="+mj-lt"/>
              </a:rPr>
              <a:t>justifications</a:t>
            </a:r>
            <a:r>
              <a:rPr lang="zh-CN" altLang="en-US" sz="2800" dirty="0">
                <a:latin typeface="+mj-lt"/>
              </a:rPr>
              <a:t> </a:t>
            </a:r>
            <a:r>
              <a:rPr lang="en-US" altLang="zh-CN" sz="2800" dirty="0">
                <a:latin typeface="+mj-lt"/>
              </a:rPr>
              <a:t>on</a:t>
            </a:r>
            <a:r>
              <a:rPr lang="zh-CN" altLang="en-US" sz="2800" dirty="0">
                <a:latin typeface="+mj-lt"/>
              </a:rPr>
              <a:t> </a:t>
            </a:r>
            <a:r>
              <a:rPr lang="en-US" altLang="zh-CN" sz="2800" dirty="0">
                <a:latin typeface="+mj-lt"/>
              </a:rPr>
              <a:t>each</a:t>
            </a:r>
            <a:r>
              <a:rPr lang="zh-CN" altLang="en-US" sz="2800" dirty="0">
                <a:latin typeface="+mj-lt"/>
              </a:rPr>
              <a:t> </a:t>
            </a:r>
            <a:r>
              <a:rPr lang="en-US" altLang="zh-CN" sz="2800" dirty="0">
                <a:latin typeface="+mj-lt"/>
              </a:rPr>
              <a:t>mechanism (source,</a:t>
            </a:r>
            <a:r>
              <a:rPr lang="zh-CN" altLang="en-US" sz="2800" dirty="0">
                <a:latin typeface="+mj-lt"/>
              </a:rPr>
              <a:t> </a:t>
            </a:r>
            <a:r>
              <a:rPr lang="en-US" altLang="zh-CN" sz="2800" dirty="0">
                <a:latin typeface="+mj-lt"/>
              </a:rPr>
              <a:t>content,</a:t>
            </a:r>
            <a:r>
              <a:rPr lang="zh-CN" altLang="en-US" sz="2800" dirty="0">
                <a:latin typeface="+mj-lt"/>
              </a:rPr>
              <a:t> </a:t>
            </a:r>
            <a:r>
              <a:rPr lang="en-US" altLang="zh-CN" sz="2800" dirty="0">
                <a:latin typeface="+mj-lt"/>
              </a:rPr>
              <a:t>and</a:t>
            </a:r>
            <a:r>
              <a:rPr lang="zh-CN" altLang="en-US" sz="2800" dirty="0">
                <a:latin typeface="+mj-lt"/>
              </a:rPr>
              <a:t> </a:t>
            </a:r>
            <a:r>
              <a:rPr lang="en-US" altLang="zh-CN" sz="2800" dirty="0">
                <a:latin typeface="+mj-lt"/>
              </a:rPr>
              <a:t>position)</a:t>
            </a:r>
          </a:p>
          <a:p>
            <a:pPr marL="514350" indent="-514350">
              <a:buFont typeface="+mj-lt"/>
              <a:buAutoNum type="arabicPeriod"/>
            </a:pPr>
            <a:r>
              <a:rPr lang="en-US" altLang="zh-CN" sz="2800" dirty="0">
                <a:latin typeface="+mj-lt"/>
              </a:rPr>
              <a:t>Need</a:t>
            </a:r>
            <a:r>
              <a:rPr lang="zh-CN" altLang="en-US" sz="2800" dirty="0">
                <a:latin typeface="+mj-lt"/>
              </a:rPr>
              <a:t> </a:t>
            </a:r>
            <a:r>
              <a:rPr lang="en-US" altLang="zh-CN" sz="2800" dirty="0">
                <a:latin typeface="+mj-lt"/>
              </a:rPr>
              <a:t>a</a:t>
            </a:r>
            <a:r>
              <a:rPr lang="zh-CN" altLang="en-US" sz="2800" dirty="0">
                <a:latin typeface="+mj-lt"/>
              </a:rPr>
              <a:t> </a:t>
            </a:r>
            <a:r>
              <a:rPr lang="en-US" altLang="zh-CN" sz="2800" dirty="0">
                <a:latin typeface="+mj-lt"/>
              </a:rPr>
              <a:t>stronger</a:t>
            </a:r>
            <a:r>
              <a:rPr lang="zh-CN" altLang="en-US" sz="2800" dirty="0">
                <a:latin typeface="+mj-lt"/>
              </a:rPr>
              <a:t> </a:t>
            </a:r>
            <a:r>
              <a:rPr lang="en-US" altLang="zh-CN" sz="2800" dirty="0">
                <a:latin typeface="+mj-lt"/>
              </a:rPr>
              <a:t>connection</a:t>
            </a:r>
            <a:r>
              <a:rPr lang="zh-CN" altLang="en-US" sz="2800" dirty="0">
                <a:latin typeface="+mj-lt"/>
              </a:rPr>
              <a:t> </a:t>
            </a:r>
            <a:r>
              <a:rPr lang="en-US" altLang="zh-CN" sz="2800" dirty="0">
                <a:latin typeface="+mj-lt"/>
              </a:rPr>
              <a:t>between</a:t>
            </a:r>
            <a:r>
              <a:rPr lang="zh-CN" altLang="en-US" sz="2800" dirty="0">
                <a:latin typeface="+mj-lt"/>
              </a:rPr>
              <a:t> </a:t>
            </a:r>
            <a:r>
              <a:rPr lang="en-US" altLang="en-US" sz="2800" dirty="0">
                <a:latin typeface="+mj-lt"/>
              </a:rPr>
              <a:t>theory and empirical findings </a:t>
            </a:r>
          </a:p>
          <a:p>
            <a:pPr marL="514350" indent="-514350">
              <a:buFont typeface="+mj-lt"/>
              <a:buAutoNum type="arabicPeriod"/>
            </a:pPr>
            <a:r>
              <a:rPr lang="en-US" altLang="zh-CN" sz="2800" dirty="0">
                <a:latin typeface="+mj-lt"/>
              </a:rPr>
              <a:t>Need</a:t>
            </a:r>
            <a:r>
              <a:rPr lang="zh-CN" altLang="en-US" sz="2800" dirty="0">
                <a:latin typeface="+mj-lt"/>
              </a:rPr>
              <a:t> </a:t>
            </a:r>
            <a:r>
              <a:rPr lang="en-US" altLang="zh-CN" sz="2800" dirty="0">
                <a:latin typeface="+mj-lt"/>
              </a:rPr>
              <a:t>deeper</a:t>
            </a:r>
            <a:r>
              <a:rPr lang="zh-CN" altLang="en-US" sz="2800" dirty="0">
                <a:latin typeface="+mj-lt"/>
              </a:rPr>
              <a:t> </a:t>
            </a:r>
            <a:r>
              <a:rPr lang="en-US" altLang="zh-CN" sz="2800" dirty="0">
                <a:latin typeface="+mj-lt"/>
              </a:rPr>
              <a:t>explanation:</a:t>
            </a:r>
            <a:r>
              <a:rPr lang="zh-CN" altLang="en-US" sz="2800" dirty="0">
                <a:latin typeface="+mj-lt"/>
              </a:rPr>
              <a:t> </a:t>
            </a:r>
            <a:r>
              <a:rPr lang="en-US" altLang="zh-CN" sz="2800" dirty="0">
                <a:latin typeface="+mj-lt"/>
              </a:rPr>
              <a:t>why</a:t>
            </a:r>
            <a:r>
              <a:rPr lang="zh-CN" altLang="en-US" sz="2800" dirty="0">
                <a:latin typeface="+mj-lt"/>
              </a:rPr>
              <a:t> </a:t>
            </a:r>
            <a:r>
              <a:rPr lang="en-US" altLang="zh-CN" sz="2800" dirty="0">
                <a:latin typeface="+mj-lt"/>
              </a:rPr>
              <a:t>our</a:t>
            </a:r>
            <a:r>
              <a:rPr lang="zh-CN" altLang="en-US" sz="2800" dirty="0">
                <a:latin typeface="+mj-lt"/>
              </a:rPr>
              <a:t> </a:t>
            </a:r>
            <a:r>
              <a:rPr lang="en-US" altLang="zh-CN" sz="2800" dirty="0">
                <a:latin typeface="+mj-lt"/>
              </a:rPr>
              <a:t>results</a:t>
            </a:r>
            <a:r>
              <a:rPr lang="zh-CN" altLang="en-US" sz="2800" dirty="0">
                <a:latin typeface="+mj-lt"/>
              </a:rPr>
              <a:t> </a:t>
            </a:r>
            <a:r>
              <a:rPr lang="en-US" altLang="zh-CN" sz="2800" dirty="0">
                <a:latin typeface="+mj-lt"/>
              </a:rPr>
              <a:t>are</a:t>
            </a:r>
            <a:r>
              <a:rPr lang="zh-CN" altLang="en-US" sz="2800" dirty="0">
                <a:latin typeface="+mj-lt"/>
              </a:rPr>
              <a:t> </a:t>
            </a:r>
            <a:r>
              <a:rPr lang="en-US" altLang="zh-CN" sz="2800" dirty="0">
                <a:latin typeface="+mj-lt"/>
              </a:rPr>
              <a:t>d</a:t>
            </a:r>
            <a:r>
              <a:rPr lang="en-US" altLang="en-US" sz="2800" dirty="0">
                <a:latin typeface="+mj-lt"/>
              </a:rPr>
              <a:t>ifferen</a:t>
            </a:r>
            <a:r>
              <a:rPr lang="en-US" altLang="zh-CN" sz="2800" dirty="0">
                <a:latin typeface="+mj-lt"/>
              </a:rPr>
              <a:t>t</a:t>
            </a:r>
            <a:r>
              <a:rPr lang="en-US" altLang="en-US" sz="2800" dirty="0">
                <a:latin typeface="+mj-lt"/>
              </a:rPr>
              <a:t> from </a:t>
            </a:r>
            <a:r>
              <a:rPr lang="en-US" sz="2800" dirty="0">
                <a:latin typeface="+mj-lt"/>
              </a:rPr>
              <a:t>Su et al. </a:t>
            </a:r>
            <a:r>
              <a:rPr lang="en-US" altLang="zh-CN" sz="2800" dirty="0">
                <a:latin typeface="+mj-lt"/>
              </a:rPr>
              <a:t>(</a:t>
            </a:r>
            <a:r>
              <a:rPr lang="en-US" sz="2800" dirty="0">
                <a:latin typeface="+mj-lt"/>
              </a:rPr>
              <a:t>2023</a:t>
            </a:r>
            <a:r>
              <a:rPr lang="en-US" altLang="zh-CN" sz="2800" dirty="0">
                <a:latin typeface="+mj-lt"/>
              </a:rPr>
              <a:t>)</a:t>
            </a:r>
            <a:endParaRPr lang="en-US" sz="2800" dirty="0">
              <a:latin typeface="+mj-lt"/>
            </a:endParaRPr>
          </a:p>
        </p:txBody>
      </p:sp>
      <p:sp>
        <p:nvSpPr>
          <p:cNvPr id="7" name="Slide Number Placeholder 6">
            <a:extLst>
              <a:ext uri="{FF2B5EF4-FFF2-40B4-BE49-F238E27FC236}">
                <a16:creationId xmlns:a16="http://schemas.microsoft.com/office/drawing/2014/main" id="{3B680BA7-CFF9-C13A-7265-763767945489}"/>
              </a:ext>
            </a:extLst>
          </p:cNvPr>
          <p:cNvSpPr>
            <a:spLocks noGrp="1"/>
          </p:cNvSpPr>
          <p:nvPr>
            <p:ph type="sldNum" sz="quarter" idx="12"/>
          </p:nvPr>
        </p:nvSpPr>
        <p:spPr/>
        <p:txBody>
          <a:bodyPr/>
          <a:lstStyle/>
          <a:p>
            <a:fld id="{48F63A3B-78C7-47BE-AE5E-E10140E04643}" type="slidenum">
              <a:rPr lang="en-US" smtClean="0"/>
              <a:t>5</a:t>
            </a:fld>
            <a:endParaRPr lang="en-US" dirty="0"/>
          </a:p>
        </p:txBody>
      </p:sp>
      <p:sp>
        <p:nvSpPr>
          <p:cNvPr id="2" name="Title 1">
            <a:extLst>
              <a:ext uri="{FF2B5EF4-FFF2-40B4-BE49-F238E27FC236}">
                <a16:creationId xmlns:a16="http://schemas.microsoft.com/office/drawing/2014/main" id="{5E62EFF5-E33B-B355-873A-90A91BA978E3}"/>
              </a:ext>
            </a:extLst>
          </p:cNvPr>
          <p:cNvSpPr>
            <a:spLocks noGrp="1"/>
          </p:cNvSpPr>
          <p:nvPr>
            <p:ph type="title"/>
          </p:nvPr>
        </p:nvSpPr>
        <p:spPr/>
        <p:txBody>
          <a:bodyPr>
            <a:normAutofit/>
          </a:bodyPr>
          <a:lstStyle/>
          <a:p>
            <a:r>
              <a:rPr lang="en-US" dirty="0"/>
              <a:t>Review panel’s major concerns</a:t>
            </a:r>
          </a:p>
        </p:txBody>
      </p:sp>
      <p:sp>
        <p:nvSpPr>
          <p:cNvPr id="6" name="TextBox 5">
            <a:extLst>
              <a:ext uri="{FF2B5EF4-FFF2-40B4-BE49-F238E27FC236}">
                <a16:creationId xmlns:a16="http://schemas.microsoft.com/office/drawing/2014/main" id="{080F38B0-939D-9646-C5D6-7BAC95D55411}"/>
              </a:ext>
            </a:extLst>
          </p:cNvPr>
          <p:cNvSpPr txBox="1"/>
          <p:nvPr/>
        </p:nvSpPr>
        <p:spPr>
          <a:xfrm>
            <a:off x="0" y="4889584"/>
            <a:ext cx="9144000" cy="253916"/>
          </a:xfrm>
          <a:prstGeom prst="rect">
            <a:avLst/>
          </a:prstGeom>
          <a:noFill/>
        </p:spPr>
        <p:txBody>
          <a:bodyPr wrap="square">
            <a:spAutoFit/>
          </a:bodyPr>
          <a:lstStyle/>
          <a:p>
            <a:r>
              <a:rPr lang="en-US" sz="1000" dirty="0">
                <a:latin typeface="Arial" panose="020B0604020202020204" pitchFamily="34" charset="0"/>
                <a:ea typeface="Times New Roman" panose="02020603050405020304" pitchFamily="18" charset="0"/>
                <a:cs typeface="Arial" panose="020B0604020202020204" pitchFamily="34" charset="0"/>
              </a:rPr>
              <a:t>Su, Y., Zhang, K., Wang, Q., &amp; Qiu, L. (2023). </a:t>
            </a:r>
            <a:r>
              <a:rPr lang="en-US" sz="1000" i="1" dirty="0">
                <a:latin typeface="Arial" panose="020B0604020202020204" pitchFamily="34" charset="0"/>
                <a:ea typeface="Times New Roman" panose="02020603050405020304" pitchFamily="18" charset="0"/>
                <a:cs typeface="Arial" panose="020B0604020202020204" pitchFamily="34" charset="0"/>
              </a:rPr>
              <a:t>Generative AI and Human Knowledge Sharing: Evidence from a Natural Experiment</a:t>
            </a:r>
            <a:r>
              <a:rPr lang="en-US" sz="1000" dirty="0">
                <a:latin typeface="Arial" panose="020B0604020202020204" pitchFamily="34" charset="0"/>
                <a:ea typeface="Times New Roman" panose="02020603050405020304" pitchFamily="18" charset="0"/>
                <a:cs typeface="Arial" panose="020B0604020202020204" pitchFamily="34" charset="0"/>
              </a:rPr>
              <a:t>. SSRN Scholarly Paper.</a:t>
            </a:r>
          </a:p>
        </p:txBody>
      </p:sp>
    </p:spTree>
    <p:extLst>
      <p:ext uri="{BB962C8B-B14F-4D97-AF65-F5344CB8AC3E}">
        <p14:creationId xmlns:p14="http://schemas.microsoft.com/office/powerpoint/2010/main" val="2809478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7E162-E131-495A-E241-A647A48F6B8A}"/>
              </a:ext>
            </a:extLst>
          </p:cNvPr>
          <p:cNvSpPr>
            <a:spLocks noGrp="1"/>
          </p:cNvSpPr>
          <p:nvPr>
            <p:ph type="title"/>
          </p:nvPr>
        </p:nvSpPr>
        <p:spPr>
          <a:xfrm>
            <a:off x="628650" y="273844"/>
            <a:ext cx="7886700" cy="669131"/>
          </a:xfrm>
        </p:spPr>
        <p:txBody>
          <a:bodyPr>
            <a:normAutofit/>
          </a:bodyPr>
          <a:lstStyle/>
          <a:p>
            <a:r>
              <a:rPr lang="en-US" dirty="0"/>
              <a:t>SE’s sugge</a:t>
            </a:r>
            <a:r>
              <a:rPr lang="en-US" altLang="zh-CN" dirty="0"/>
              <a:t>s</a:t>
            </a:r>
            <a:r>
              <a:rPr lang="en-US" dirty="0"/>
              <a:t>tion</a:t>
            </a:r>
            <a:r>
              <a:rPr lang="en-US" altLang="zh-CN" dirty="0"/>
              <a:t>s</a:t>
            </a:r>
          </a:p>
        </p:txBody>
      </p:sp>
      <p:sp>
        <p:nvSpPr>
          <p:cNvPr id="3" name="Content Placeholder 2">
            <a:extLst>
              <a:ext uri="{FF2B5EF4-FFF2-40B4-BE49-F238E27FC236}">
                <a16:creationId xmlns:a16="http://schemas.microsoft.com/office/drawing/2014/main" id="{968258D9-7F89-0016-A224-661E75B74780}"/>
              </a:ext>
            </a:extLst>
          </p:cNvPr>
          <p:cNvSpPr>
            <a:spLocks noGrp="1"/>
          </p:cNvSpPr>
          <p:nvPr>
            <p:ph idx="1"/>
          </p:nvPr>
        </p:nvSpPr>
        <p:spPr/>
        <p:txBody>
          <a:bodyPr>
            <a:normAutofit/>
          </a:bodyPr>
          <a:lstStyle/>
          <a:p>
            <a:r>
              <a:rPr lang="en-US" altLang="zh-CN" sz="3200" dirty="0"/>
              <a:t>Three</a:t>
            </a:r>
            <a:r>
              <a:rPr lang="zh-CN" altLang="en-US" sz="3200" dirty="0"/>
              <a:t> </a:t>
            </a:r>
            <a:r>
              <a:rPr lang="en-US" altLang="zh-CN" sz="3200" dirty="0"/>
              <a:t>possible</a:t>
            </a:r>
            <a:r>
              <a:rPr lang="zh-CN" altLang="en-US" sz="3200" dirty="0"/>
              <a:t> </a:t>
            </a:r>
            <a:r>
              <a:rPr lang="en-US" altLang="zh-CN" sz="3200" dirty="0"/>
              <a:t>routes</a:t>
            </a:r>
            <a:endParaRPr lang="en-US" altLang="en-US" sz="3200" dirty="0"/>
          </a:p>
          <a:p>
            <a:pPr lvl="1"/>
            <a:r>
              <a:rPr lang="en-US" altLang="zh-CN" sz="2400" b="1" dirty="0"/>
              <a:t>A.</a:t>
            </a:r>
            <a:r>
              <a:rPr lang="zh-CN" altLang="en-US" sz="2400" b="1" dirty="0"/>
              <a:t> </a:t>
            </a:r>
            <a:r>
              <a:rPr lang="en-US" altLang="zh-CN" sz="2400" b="1" dirty="0"/>
              <a:t>Incentive:</a:t>
            </a:r>
            <a:r>
              <a:rPr lang="zh-CN" altLang="en-US" sz="2400" b="1" dirty="0"/>
              <a:t> </a:t>
            </a:r>
            <a:r>
              <a:rPr lang="en-US" altLang="en-US" sz="2400" dirty="0"/>
              <a:t>participation incentives in online knowledge communities. </a:t>
            </a:r>
          </a:p>
          <a:p>
            <a:pPr lvl="1"/>
            <a:r>
              <a:rPr lang="en-US" altLang="zh-CN" sz="2400" b="1" dirty="0"/>
              <a:t>B.</a:t>
            </a:r>
            <a:r>
              <a:rPr lang="zh-CN" altLang="en-US" sz="2400" b="1" dirty="0"/>
              <a:t> </a:t>
            </a:r>
            <a:r>
              <a:rPr lang="en-US" altLang="zh-CN" sz="2400" b="1" dirty="0"/>
              <a:t>Authority:</a:t>
            </a:r>
            <a:r>
              <a:rPr lang="zh-CN" altLang="en-US" sz="2400" b="1" dirty="0"/>
              <a:t> </a:t>
            </a:r>
            <a:r>
              <a:rPr lang="en-US" altLang="en-US" sz="2400" dirty="0"/>
              <a:t>authority and credibility signals in human–AI interaction </a:t>
            </a:r>
            <a:endParaRPr lang="en-US" altLang="en-US" dirty="0"/>
          </a:p>
          <a:p>
            <a:pPr lvl="1"/>
            <a:r>
              <a:rPr lang="en-US" altLang="zh-CN" sz="2400" b="1" dirty="0">
                <a:solidFill>
                  <a:schemeClr val="accent5"/>
                </a:solidFill>
              </a:rPr>
              <a:t>C.</a:t>
            </a:r>
            <a:r>
              <a:rPr lang="zh-CN" altLang="en-US" sz="2400" b="1" dirty="0">
                <a:solidFill>
                  <a:schemeClr val="accent5"/>
                </a:solidFill>
              </a:rPr>
              <a:t> </a:t>
            </a:r>
            <a:r>
              <a:rPr lang="en-US" altLang="zh-CN" sz="2400" b="1" dirty="0">
                <a:solidFill>
                  <a:schemeClr val="accent5"/>
                </a:solidFill>
              </a:rPr>
              <a:t>Competition:</a:t>
            </a:r>
            <a:r>
              <a:rPr lang="zh-CN" altLang="en-US" sz="2400" b="1" dirty="0">
                <a:solidFill>
                  <a:schemeClr val="accent5"/>
                </a:solidFill>
              </a:rPr>
              <a:t> </a:t>
            </a:r>
            <a:r>
              <a:rPr lang="en-US" altLang="en-US" sz="2400" dirty="0">
                <a:solidFill>
                  <a:schemeClr val="accent5"/>
                </a:solidFill>
              </a:rPr>
              <a:t>competition and complementarity between </a:t>
            </a:r>
            <a:r>
              <a:rPr lang="en-US" altLang="zh-CN" sz="2400" dirty="0">
                <a:solidFill>
                  <a:schemeClr val="accent5"/>
                </a:solidFill>
              </a:rPr>
              <a:t>AI</a:t>
            </a:r>
            <a:r>
              <a:rPr lang="en-US" altLang="en-US" sz="2400" dirty="0">
                <a:solidFill>
                  <a:schemeClr val="accent5"/>
                </a:solidFill>
              </a:rPr>
              <a:t> and </a:t>
            </a:r>
            <a:r>
              <a:rPr lang="en-US" altLang="zh-CN" sz="2400" dirty="0">
                <a:solidFill>
                  <a:schemeClr val="accent5"/>
                </a:solidFill>
              </a:rPr>
              <a:t>human</a:t>
            </a:r>
            <a:endParaRPr lang="en-US" altLang="en-US" sz="2400" dirty="0">
              <a:solidFill>
                <a:schemeClr val="accent5"/>
              </a:solidFill>
            </a:endParaRPr>
          </a:p>
        </p:txBody>
      </p:sp>
      <p:sp>
        <p:nvSpPr>
          <p:cNvPr id="4" name="Content Placeholder 2">
            <a:extLst>
              <a:ext uri="{FF2B5EF4-FFF2-40B4-BE49-F238E27FC236}">
                <a16:creationId xmlns:a16="http://schemas.microsoft.com/office/drawing/2014/main" id="{DF8AEDAD-50E8-BFD8-2BF2-5D4AF4695479}"/>
              </a:ext>
            </a:extLst>
          </p:cNvPr>
          <p:cNvSpPr txBox="1">
            <a:spLocks/>
          </p:cNvSpPr>
          <p:nvPr/>
        </p:nvSpPr>
        <p:spPr>
          <a:xfrm>
            <a:off x="628650" y="2675554"/>
            <a:ext cx="857251" cy="718820"/>
          </a:xfrm>
          <a:prstGeom prst="rect">
            <a:avLst/>
          </a:prstGeom>
        </p:spPr>
        <p:txBody>
          <a:bodyPr vert="horz" lIns="91440" tIns="45720" rIns="91440" bIns="45720" rtlCol="0">
            <a:normAutofit lnSpcReduction="10000"/>
          </a:bodyPr>
          <a:lstStyle>
            <a:lvl1pPr marL="0" indent="-301415" algn="just" defTabSz="761909" rtl="0" eaLnBrk="1" latinLnBrk="0" hangingPunct="1">
              <a:lnSpc>
                <a:spcPct val="130000"/>
              </a:lnSpc>
              <a:spcBef>
                <a:spcPts val="500"/>
              </a:spcBef>
              <a:buClr>
                <a:schemeClr val="accent3">
                  <a:lumMod val="75000"/>
                </a:schemeClr>
              </a:buClr>
              <a:buFont typeface="Wingdings" panose="05000000000000000000" pitchFamily="2" charset="2"/>
              <a:buChar char="p"/>
              <a:defRPr lang="zh-CN" altLang="en-US" sz="2000" b="1" kern="1200" baseline="0" dirty="0">
                <a:solidFill>
                  <a:schemeClr val="tx1"/>
                </a:solidFill>
                <a:latin typeface="Times New Roman" panose="02020603050405020304" pitchFamily="18" charset="0"/>
                <a:ea typeface="微软雅黑" panose="020B0503020204020204" pitchFamily="34" charset="-122"/>
                <a:cs typeface="+mn-cs"/>
              </a:defRPr>
            </a:lvl1pPr>
            <a:lvl2pPr marL="448071" indent="-238097" algn="just" defTabSz="761909" rtl="0" eaLnBrk="1" latinLnBrk="0" hangingPunct="1">
              <a:lnSpc>
                <a:spcPct val="130000"/>
              </a:lnSpc>
              <a:spcBef>
                <a:spcPts val="500"/>
              </a:spcBef>
              <a:buClr>
                <a:schemeClr val="accent3">
                  <a:lumMod val="75000"/>
                </a:schemeClr>
              </a:buClr>
              <a:buFont typeface="Wingdings" panose="05000000000000000000" pitchFamily="2" charset="2"/>
              <a:buChar char="l"/>
              <a:defRPr lang="zh-CN" altLang="en-US" sz="1800" b="1" kern="1200" dirty="0">
                <a:solidFill>
                  <a:schemeClr val="tx1"/>
                </a:solidFill>
                <a:latin typeface="Times New Roman" panose="02020603050405020304" pitchFamily="18" charset="0"/>
                <a:ea typeface="+mj-ea"/>
                <a:cs typeface="Times New Roman" panose="02020603050405020304" pitchFamily="18" charset="0"/>
              </a:defRPr>
            </a:lvl2pPr>
            <a:lvl3pPr marL="599928" indent="-190477" algn="just" defTabSz="761909" rtl="0" eaLnBrk="1" latinLnBrk="0" hangingPunct="1">
              <a:lnSpc>
                <a:spcPct val="130000"/>
              </a:lnSpc>
              <a:spcBef>
                <a:spcPts val="500"/>
              </a:spcBef>
              <a:buClr>
                <a:schemeClr val="accent3">
                  <a:lumMod val="75000"/>
                </a:schemeClr>
              </a:buClr>
              <a:buFont typeface="Wingdings" panose="05000000000000000000" pitchFamily="2" charset="2"/>
              <a:buChar char="Ø"/>
              <a:defRPr lang="zh-CN" altLang="en-US" sz="1800" b="0" kern="1200" baseline="0" dirty="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809903" indent="-191977" algn="just" defTabSz="761909" rtl="0" eaLnBrk="1" latinLnBrk="0" hangingPunct="1">
              <a:lnSpc>
                <a:spcPct val="100000"/>
              </a:lnSpc>
              <a:spcBef>
                <a:spcPts val="0"/>
              </a:spcBef>
              <a:buClr>
                <a:schemeClr val="accent3">
                  <a:lumMod val="75000"/>
                </a:schemeClr>
              </a:buClr>
              <a:buFont typeface="+mj-lt"/>
              <a:buAutoNum type="arabicPeriod"/>
              <a:defRPr lang="en-US" altLang="zh-CN" sz="1200" b="0" kern="1200" dirty="0">
                <a:solidFill>
                  <a:schemeClr val="tx1"/>
                </a:solidFill>
                <a:latin typeface="微软雅黑" panose="020B0503020204020204" pitchFamily="34" charset="-122"/>
                <a:ea typeface="微软雅黑" panose="020B0503020204020204" pitchFamily="34" charset="-122"/>
                <a:cs typeface="+mn-cs"/>
              </a:defRPr>
            </a:lvl4pPr>
            <a:lvl5pPr marL="2057400" indent="-228600" algn="just" defTabSz="761909" rtl="0" eaLnBrk="1" latinLnBrk="0" hangingPunct="1">
              <a:lnSpc>
                <a:spcPct val="150000"/>
              </a:lnSpc>
              <a:spcBef>
                <a:spcPts val="500"/>
              </a:spcBef>
              <a:buClr>
                <a:schemeClr val="accent3">
                  <a:lumMod val="75000"/>
                </a:schemeClr>
              </a:buClr>
              <a:buFont typeface="Wingdings" panose="05000000000000000000" pitchFamily="2" charset="2"/>
              <a:buChar char="•"/>
              <a:defRPr lang="zh-CN" altLang="en-US" sz="1500" b="1" kern="1200" dirty="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buNone/>
            </a:pPr>
            <a:r>
              <a:rPr lang="en-US" sz="3600" dirty="0">
                <a:solidFill>
                  <a:schemeClr val="accent5"/>
                </a:solidFill>
                <a:latin typeface="+mj-lt"/>
              </a:rPr>
              <a:t>√</a:t>
            </a:r>
          </a:p>
        </p:txBody>
      </p:sp>
      <p:sp>
        <p:nvSpPr>
          <p:cNvPr id="5" name="Slide Number Placeholder 4">
            <a:extLst>
              <a:ext uri="{FF2B5EF4-FFF2-40B4-BE49-F238E27FC236}">
                <a16:creationId xmlns:a16="http://schemas.microsoft.com/office/drawing/2014/main" id="{7A86FAE6-4736-B187-0849-439B13C77C5B}"/>
              </a:ext>
            </a:extLst>
          </p:cNvPr>
          <p:cNvSpPr>
            <a:spLocks noGrp="1"/>
          </p:cNvSpPr>
          <p:nvPr>
            <p:ph type="sldNum" sz="quarter" idx="12"/>
          </p:nvPr>
        </p:nvSpPr>
        <p:spPr/>
        <p:txBody>
          <a:bodyPr/>
          <a:lstStyle/>
          <a:p>
            <a:fld id="{48F63A3B-78C7-47BE-AE5E-E10140E04643}" type="slidenum">
              <a:rPr lang="en-US" smtClean="0"/>
              <a:t>6</a:t>
            </a:fld>
            <a:endParaRPr lang="en-US" dirty="0"/>
          </a:p>
        </p:txBody>
      </p:sp>
    </p:spTree>
    <p:extLst>
      <p:ext uri="{BB962C8B-B14F-4D97-AF65-F5344CB8AC3E}">
        <p14:creationId xmlns:p14="http://schemas.microsoft.com/office/powerpoint/2010/main" val="442449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1DD952-95C7-7558-A7AE-4572A513E3C8}"/>
              </a:ext>
            </a:extLst>
          </p:cNvPr>
          <p:cNvSpPr>
            <a:spLocks noGrp="1"/>
          </p:cNvSpPr>
          <p:nvPr>
            <p:ph type="title"/>
          </p:nvPr>
        </p:nvSpPr>
        <p:spPr/>
        <p:txBody>
          <a:bodyPr/>
          <a:lstStyle/>
          <a:p>
            <a:r>
              <a:rPr lang="en-US" altLang="zh-CN" dirty="0"/>
              <a:t>Simplify</a:t>
            </a:r>
            <a:r>
              <a:rPr lang="zh-CN" altLang="en-US" dirty="0"/>
              <a:t> </a:t>
            </a:r>
            <a:r>
              <a:rPr lang="en-US" altLang="zh-CN" dirty="0"/>
              <a:t>the</a:t>
            </a:r>
            <a:r>
              <a:rPr lang="zh-CN" altLang="en-US" dirty="0"/>
              <a:t> </a:t>
            </a:r>
            <a:r>
              <a:rPr lang="en-US" altLang="zh-CN" dirty="0"/>
              <a:t>model</a:t>
            </a:r>
          </a:p>
        </p:txBody>
      </p:sp>
      <p:grpSp>
        <p:nvGrpSpPr>
          <p:cNvPr id="38" name="Group 37">
            <a:extLst>
              <a:ext uri="{FF2B5EF4-FFF2-40B4-BE49-F238E27FC236}">
                <a16:creationId xmlns:a16="http://schemas.microsoft.com/office/drawing/2014/main" id="{81D95157-D879-4FFE-5B2A-706E33C9BD74}"/>
              </a:ext>
            </a:extLst>
          </p:cNvPr>
          <p:cNvGrpSpPr/>
          <p:nvPr/>
        </p:nvGrpSpPr>
        <p:grpSpPr>
          <a:xfrm>
            <a:off x="223364" y="1203373"/>
            <a:ext cx="5491521" cy="3144241"/>
            <a:chOff x="516459" y="1999259"/>
            <a:chExt cx="7273185" cy="4164356"/>
          </a:xfrm>
        </p:grpSpPr>
        <p:sp>
          <p:nvSpPr>
            <p:cNvPr id="2" name="Rectangle 1">
              <a:extLst>
                <a:ext uri="{FF2B5EF4-FFF2-40B4-BE49-F238E27FC236}">
                  <a16:creationId xmlns:a16="http://schemas.microsoft.com/office/drawing/2014/main" id="{587B7778-D367-9462-7F60-D38D4ADD18FF}"/>
                </a:ext>
              </a:extLst>
            </p:cNvPr>
            <p:cNvSpPr/>
            <p:nvPr/>
          </p:nvSpPr>
          <p:spPr>
            <a:xfrm>
              <a:off x="3168911" y="4079891"/>
              <a:ext cx="4000284" cy="2083724"/>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200"/>
            </a:p>
          </p:txBody>
        </p:sp>
        <p:grpSp>
          <p:nvGrpSpPr>
            <p:cNvPr id="3" name="Group 2">
              <a:extLst>
                <a:ext uri="{FF2B5EF4-FFF2-40B4-BE49-F238E27FC236}">
                  <a16:creationId xmlns:a16="http://schemas.microsoft.com/office/drawing/2014/main" id="{85D8601C-C9B9-E809-E974-06D3AB6DF6D4}"/>
                </a:ext>
              </a:extLst>
            </p:cNvPr>
            <p:cNvGrpSpPr/>
            <p:nvPr/>
          </p:nvGrpSpPr>
          <p:grpSpPr>
            <a:xfrm>
              <a:off x="516459" y="1999259"/>
              <a:ext cx="6524263" cy="4089966"/>
              <a:chOff x="1751877" y="1131837"/>
              <a:chExt cx="8639987" cy="5416283"/>
            </a:xfrm>
          </p:grpSpPr>
          <p:sp>
            <p:nvSpPr>
              <p:cNvPr id="22" name="Rectangle 21">
                <a:extLst>
                  <a:ext uri="{FF2B5EF4-FFF2-40B4-BE49-F238E27FC236}">
                    <a16:creationId xmlns:a16="http://schemas.microsoft.com/office/drawing/2014/main" id="{98600F49-05CA-E511-8E89-8A0D93A1A802}"/>
                  </a:ext>
                </a:extLst>
              </p:cNvPr>
              <p:cNvSpPr/>
              <p:nvPr/>
            </p:nvSpPr>
            <p:spPr>
              <a:xfrm>
                <a:off x="5938372" y="4912532"/>
                <a:ext cx="1682896"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Viewer Recognition </a:t>
                </a:r>
              </a:p>
            </p:txBody>
          </p:sp>
          <p:sp>
            <p:nvSpPr>
              <p:cNvPr id="23" name="Rectangle 22">
                <a:extLst>
                  <a:ext uri="{FF2B5EF4-FFF2-40B4-BE49-F238E27FC236}">
                    <a16:creationId xmlns:a16="http://schemas.microsoft.com/office/drawing/2014/main" id="{8B442F7D-2949-49DF-276D-270E3F5652A0}"/>
                  </a:ext>
                </a:extLst>
              </p:cNvPr>
              <p:cNvSpPr/>
              <p:nvPr/>
            </p:nvSpPr>
            <p:spPr>
              <a:xfrm>
                <a:off x="1751877" y="3685240"/>
                <a:ext cx="1787664"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Has AI Answer</a:t>
                </a:r>
              </a:p>
            </p:txBody>
          </p:sp>
          <p:cxnSp>
            <p:nvCxnSpPr>
              <p:cNvPr id="24" name="Straight Arrow Connector 23">
                <a:extLst>
                  <a:ext uri="{FF2B5EF4-FFF2-40B4-BE49-F238E27FC236}">
                    <a16:creationId xmlns:a16="http://schemas.microsoft.com/office/drawing/2014/main" id="{0203224D-E2A1-38C3-A231-598B009066D5}"/>
                  </a:ext>
                </a:extLst>
              </p:cNvPr>
              <p:cNvCxnSpPr>
                <a:cxnSpLocks/>
                <a:stCxn id="23" idx="3"/>
                <a:endCxn id="22" idx="1"/>
              </p:cNvCxnSpPr>
              <p:nvPr/>
            </p:nvCxnSpPr>
            <p:spPr>
              <a:xfrm>
                <a:off x="3539541" y="4039619"/>
                <a:ext cx="2398831" cy="122729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25" name="Rectangle 24">
                <a:extLst>
                  <a:ext uri="{FF2B5EF4-FFF2-40B4-BE49-F238E27FC236}">
                    <a16:creationId xmlns:a16="http://schemas.microsoft.com/office/drawing/2014/main" id="{E17482F6-D704-060C-6E9C-3AB7D7787CF1}"/>
                  </a:ext>
                </a:extLst>
              </p:cNvPr>
              <p:cNvSpPr/>
              <p:nvPr/>
            </p:nvSpPr>
            <p:spPr>
              <a:xfrm>
                <a:off x="8703409" y="5839362"/>
                <a:ext cx="1682896"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E</a:t>
                </a:r>
                <a:r>
                  <a:rPr lang="en-US" sz="1100" dirty="0"/>
                  <a:t>levated </a:t>
                </a:r>
                <a:r>
                  <a:rPr lang="en-US" altLang="zh-CN" sz="1100" dirty="0"/>
                  <a:t>E</a:t>
                </a:r>
                <a:r>
                  <a:rPr lang="en-US" sz="1100" dirty="0"/>
                  <a:t>xpectations </a:t>
                </a:r>
              </a:p>
            </p:txBody>
          </p:sp>
          <p:sp>
            <p:nvSpPr>
              <p:cNvPr id="26" name="Rectangle 25">
                <a:extLst>
                  <a:ext uri="{FF2B5EF4-FFF2-40B4-BE49-F238E27FC236}">
                    <a16:creationId xmlns:a16="http://schemas.microsoft.com/office/drawing/2014/main" id="{F1D282B3-006A-67A9-784E-42403F6F4F01}"/>
                  </a:ext>
                </a:extLst>
              </p:cNvPr>
              <p:cNvSpPr/>
              <p:nvPr/>
            </p:nvSpPr>
            <p:spPr>
              <a:xfrm>
                <a:off x="5982140" y="2114441"/>
                <a:ext cx="1682896"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Answer</a:t>
                </a:r>
                <a:r>
                  <a:rPr lang="en-US" altLang="zh-CN" sz="1100" dirty="0"/>
                  <a:t>er</a:t>
                </a:r>
                <a:r>
                  <a:rPr lang="en-US" sz="1100" dirty="0"/>
                  <a:t> Participation</a:t>
                </a:r>
              </a:p>
            </p:txBody>
          </p:sp>
          <p:cxnSp>
            <p:nvCxnSpPr>
              <p:cNvPr id="27" name="Straight Arrow Connector 26">
                <a:extLst>
                  <a:ext uri="{FF2B5EF4-FFF2-40B4-BE49-F238E27FC236}">
                    <a16:creationId xmlns:a16="http://schemas.microsoft.com/office/drawing/2014/main" id="{EB641FDB-6FF4-0053-DE2F-DE786C7A65A4}"/>
                  </a:ext>
                </a:extLst>
              </p:cNvPr>
              <p:cNvCxnSpPr>
                <a:cxnSpLocks/>
                <a:stCxn id="23" idx="3"/>
                <a:endCxn id="26" idx="1"/>
              </p:cNvCxnSpPr>
              <p:nvPr/>
            </p:nvCxnSpPr>
            <p:spPr>
              <a:xfrm flipV="1">
                <a:off x="3539541" y="2468820"/>
                <a:ext cx="2442599" cy="1570798"/>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28" name="Rectangle 27">
                <a:extLst>
                  <a:ext uri="{FF2B5EF4-FFF2-40B4-BE49-F238E27FC236}">
                    <a16:creationId xmlns:a16="http://schemas.microsoft.com/office/drawing/2014/main" id="{ACC20B06-6872-304C-711B-D3B278FAC386}"/>
                  </a:ext>
                </a:extLst>
              </p:cNvPr>
              <p:cNvSpPr/>
              <p:nvPr/>
            </p:nvSpPr>
            <p:spPr>
              <a:xfrm>
                <a:off x="8703407" y="4913719"/>
                <a:ext cx="1682898"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Attention</a:t>
                </a:r>
                <a:r>
                  <a:rPr lang="zh-CN" altLang="en-US" sz="1100" dirty="0"/>
                  <a:t> </a:t>
                </a:r>
                <a:r>
                  <a:rPr lang="en-US" altLang="zh-CN" sz="1100" dirty="0"/>
                  <a:t>Diversion</a:t>
                </a:r>
                <a:endParaRPr lang="en-US" sz="1100" dirty="0"/>
              </a:p>
            </p:txBody>
          </p:sp>
          <p:sp>
            <p:nvSpPr>
              <p:cNvPr id="29" name="Rectangle 28">
                <a:extLst>
                  <a:ext uri="{FF2B5EF4-FFF2-40B4-BE49-F238E27FC236}">
                    <a16:creationId xmlns:a16="http://schemas.microsoft.com/office/drawing/2014/main" id="{1E1252B1-451A-46AE-3BBD-7A29EE66E15C}"/>
                  </a:ext>
                </a:extLst>
              </p:cNvPr>
              <p:cNvSpPr/>
              <p:nvPr/>
            </p:nvSpPr>
            <p:spPr>
              <a:xfrm>
                <a:off x="8703407" y="3988075"/>
                <a:ext cx="1682898"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Quality</a:t>
                </a:r>
                <a:r>
                  <a:rPr lang="zh-CN" altLang="en-US" sz="1100" dirty="0"/>
                  <a:t> </a:t>
                </a:r>
                <a:r>
                  <a:rPr lang="en-US" altLang="zh-CN" sz="1100" dirty="0"/>
                  <a:t>Degradation</a:t>
                </a:r>
                <a:endParaRPr lang="en-US" sz="1100" dirty="0"/>
              </a:p>
            </p:txBody>
          </p:sp>
          <p:sp>
            <p:nvSpPr>
              <p:cNvPr id="30" name="Right Brace 29">
                <a:extLst>
                  <a:ext uri="{FF2B5EF4-FFF2-40B4-BE49-F238E27FC236}">
                    <a16:creationId xmlns:a16="http://schemas.microsoft.com/office/drawing/2014/main" id="{BBB5F173-497D-FB16-FAF6-9FE5D588DC25}"/>
                  </a:ext>
                </a:extLst>
              </p:cNvPr>
              <p:cNvSpPr/>
              <p:nvPr/>
            </p:nvSpPr>
            <p:spPr>
              <a:xfrm rot="10800000">
                <a:off x="8035349" y="3988075"/>
                <a:ext cx="589496" cy="2560045"/>
              </a:xfrm>
              <a:prstGeom prst="rightBrace">
                <a:avLst>
                  <a:gd name="adj1" fmla="val 39413"/>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100"/>
              </a:p>
            </p:txBody>
          </p:sp>
          <p:sp>
            <p:nvSpPr>
              <p:cNvPr id="31" name="Rectangle 30">
                <a:extLst>
                  <a:ext uri="{FF2B5EF4-FFF2-40B4-BE49-F238E27FC236}">
                    <a16:creationId xmlns:a16="http://schemas.microsoft.com/office/drawing/2014/main" id="{ED05125C-C263-5C90-FEA0-D30FC30502AB}"/>
                  </a:ext>
                </a:extLst>
              </p:cNvPr>
              <p:cNvSpPr/>
              <p:nvPr/>
            </p:nvSpPr>
            <p:spPr>
              <a:xfrm>
                <a:off x="8708965" y="1160476"/>
                <a:ext cx="1682898"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Source</a:t>
                </a:r>
                <a:r>
                  <a:rPr lang="zh-CN" altLang="en-US" sz="1100" dirty="0"/>
                  <a:t> </a:t>
                </a:r>
                <a:r>
                  <a:rPr lang="en-US" altLang="zh-CN" sz="1100" dirty="0"/>
                  <a:t>Effect</a:t>
                </a:r>
                <a:endParaRPr lang="en-US" sz="1100" dirty="0"/>
              </a:p>
            </p:txBody>
          </p:sp>
          <p:sp>
            <p:nvSpPr>
              <p:cNvPr id="32" name="Rectangle 31">
                <a:extLst>
                  <a:ext uri="{FF2B5EF4-FFF2-40B4-BE49-F238E27FC236}">
                    <a16:creationId xmlns:a16="http://schemas.microsoft.com/office/drawing/2014/main" id="{491E05A7-37D1-B032-2DA9-86952702B22C}"/>
                  </a:ext>
                </a:extLst>
              </p:cNvPr>
              <p:cNvSpPr/>
              <p:nvPr/>
            </p:nvSpPr>
            <p:spPr>
              <a:xfrm>
                <a:off x="8708966" y="2114441"/>
                <a:ext cx="1682898"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Content</a:t>
                </a:r>
                <a:r>
                  <a:rPr lang="zh-CN" altLang="en-US" sz="1100" dirty="0"/>
                  <a:t> </a:t>
                </a:r>
                <a:r>
                  <a:rPr lang="en-US" altLang="zh-CN" sz="1100" dirty="0"/>
                  <a:t>Effect</a:t>
                </a:r>
                <a:endParaRPr lang="en-US" sz="1100" dirty="0"/>
              </a:p>
            </p:txBody>
          </p:sp>
          <p:sp>
            <p:nvSpPr>
              <p:cNvPr id="33" name="Rectangle 32">
                <a:extLst>
                  <a:ext uri="{FF2B5EF4-FFF2-40B4-BE49-F238E27FC236}">
                    <a16:creationId xmlns:a16="http://schemas.microsoft.com/office/drawing/2014/main" id="{7D76CFE6-636D-ABAC-E4A4-2DADF15BCBCE}"/>
                  </a:ext>
                </a:extLst>
              </p:cNvPr>
              <p:cNvSpPr/>
              <p:nvPr/>
            </p:nvSpPr>
            <p:spPr>
              <a:xfrm>
                <a:off x="8714519" y="2946147"/>
                <a:ext cx="1671786"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Position</a:t>
                </a:r>
                <a:r>
                  <a:rPr lang="zh-CN" altLang="en-US" sz="1100" dirty="0"/>
                  <a:t> </a:t>
                </a:r>
                <a:r>
                  <a:rPr lang="en-US" altLang="zh-CN" sz="1100" dirty="0"/>
                  <a:t>Effect</a:t>
                </a:r>
                <a:endParaRPr lang="en-US" sz="1100" dirty="0"/>
              </a:p>
            </p:txBody>
          </p:sp>
          <p:sp>
            <p:nvSpPr>
              <p:cNvPr id="34" name="Right Brace 33">
                <a:extLst>
                  <a:ext uri="{FF2B5EF4-FFF2-40B4-BE49-F238E27FC236}">
                    <a16:creationId xmlns:a16="http://schemas.microsoft.com/office/drawing/2014/main" id="{6825CB8A-0477-0DDC-6F19-71354E20AB58}"/>
                  </a:ext>
                </a:extLst>
              </p:cNvPr>
              <p:cNvSpPr/>
              <p:nvPr/>
            </p:nvSpPr>
            <p:spPr>
              <a:xfrm rot="10800000" flipV="1">
                <a:off x="7894572" y="1131837"/>
                <a:ext cx="590411" cy="2541472"/>
              </a:xfrm>
              <a:prstGeom prst="rightBrace">
                <a:avLst>
                  <a:gd name="adj1" fmla="val 86730"/>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100"/>
              </a:p>
            </p:txBody>
          </p:sp>
          <p:sp>
            <p:nvSpPr>
              <p:cNvPr id="35" name="TextBox 34">
                <a:extLst>
                  <a:ext uri="{FF2B5EF4-FFF2-40B4-BE49-F238E27FC236}">
                    <a16:creationId xmlns:a16="http://schemas.microsoft.com/office/drawing/2014/main" id="{D8643B78-356D-5DCE-9FFA-CA4A8B6429AD}"/>
                  </a:ext>
                </a:extLst>
              </p:cNvPr>
              <p:cNvSpPr txBox="1"/>
              <p:nvPr/>
            </p:nvSpPr>
            <p:spPr>
              <a:xfrm>
                <a:off x="5318095" y="2884624"/>
                <a:ext cx="551630" cy="458847"/>
              </a:xfrm>
              <a:prstGeom prst="rect">
                <a:avLst/>
              </a:prstGeom>
              <a:noFill/>
            </p:spPr>
            <p:txBody>
              <a:bodyPr wrap="none" rtlCol="0">
                <a:spAutoFit/>
              </a:bodyPr>
              <a:lstStyle/>
              <a:p>
                <a:r>
                  <a:rPr lang="en-US" altLang="zh-CN" sz="1100" dirty="0">
                    <a:solidFill>
                      <a:srgbClr val="FF0000"/>
                    </a:solidFill>
                  </a:rPr>
                  <a:t>(-)</a:t>
                </a:r>
                <a:endParaRPr lang="en-US" sz="1100" dirty="0">
                  <a:solidFill>
                    <a:srgbClr val="FF0000"/>
                  </a:solidFill>
                </a:endParaRPr>
              </a:p>
            </p:txBody>
          </p:sp>
          <p:sp>
            <p:nvSpPr>
              <p:cNvPr id="36" name="TextBox 35">
                <a:extLst>
                  <a:ext uri="{FF2B5EF4-FFF2-40B4-BE49-F238E27FC236}">
                    <a16:creationId xmlns:a16="http://schemas.microsoft.com/office/drawing/2014/main" id="{1CF3C028-223E-591B-2DDB-41D71E6161CB}"/>
                  </a:ext>
                </a:extLst>
              </p:cNvPr>
              <p:cNvSpPr txBox="1"/>
              <p:nvPr/>
            </p:nvSpPr>
            <p:spPr>
              <a:xfrm>
                <a:off x="5318095" y="4520230"/>
                <a:ext cx="551630" cy="458847"/>
              </a:xfrm>
              <a:prstGeom prst="rect">
                <a:avLst/>
              </a:prstGeom>
              <a:noFill/>
            </p:spPr>
            <p:txBody>
              <a:bodyPr wrap="none" rtlCol="0">
                <a:spAutoFit/>
              </a:bodyPr>
              <a:lstStyle/>
              <a:p>
                <a:r>
                  <a:rPr lang="en-US" altLang="zh-CN" sz="1100" dirty="0">
                    <a:solidFill>
                      <a:srgbClr val="FF0000"/>
                    </a:solidFill>
                  </a:rPr>
                  <a:t>(-)</a:t>
                </a:r>
                <a:endParaRPr lang="en-US" sz="1100" dirty="0">
                  <a:solidFill>
                    <a:srgbClr val="FF0000"/>
                  </a:solidFill>
                </a:endParaRPr>
              </a:p>
            </p:txBody>
          </p:sp>
        </p:grpSp>
        <p:sp>
          <p:nvSpPr>
            <p:cNvPr id="37" name="Multiply 36">
              <a:extLst>
                <a:ext uri="{FF2B5EF4-FFF2-40B4-BE49-F238E27FC236}">
                  <a16:creationId xmlns:a16="http://schemas.microsoft.com/office/drawing/2014/main" id="{1E7B953D-38B6-1FA0-DE06-7F42EB783D6D}"/>
                </a:ext>
              </a:extLst>
            </p:cNvPr>
            <p:cNvSpPr/>
            <p:nvPr/>
          </p:nvSpPr>
          <p:spPr>
            <a:xfrm>
              <a:off x="6608070" y="3044277"/>
              <a:ext cx="1181574" cy="1165230"/>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sp>
        <p:nvSpPr>
          <p:cNvPr id="39" name="Multiply 38">
            <a:extLst>
              <a:ext uri="{FF2B5EF4-FFF2-40B4-BE49-F238E27FC236}">
                <a16:creationId xmlns:a16="http://schemas.microsoft.com/office/drawing/2014/main" id="{D71F0C25-A5CD-B179-48A8-6288CA7F9CCC}"/>
              </a:ext>
            </a:extLst>
          </p:cNvPr>
          <p:cNvSpPr/>
          <p:nvPr/>
        </p:nvSpPr>
        <p:spPr>
          <a:xfrm>
            <a:off x="4822753" y="3887472"/>
            <a:ext cx="892132" cy="879791"/>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0" name="TextBox 39">
            <a:extLst>
              <a:ext uri="{FF2B5EF4-FFF2-40B4-BE49-F238E27FC236}">
                <a16:creationId xmlns:a16="http://schemas.microsoft.com/office/drawing/2014/main" id="{AE812F5A-DA6B-F426-63B3-DAEEB9F07AAB}"/>
              </a:ext>
            </a:extLst>
          </p:cNvPr>
          <p:cNvSpPr txBox="1"/>
          <p:nvPr/>
        </p:nvSpPr>
        <p:spPr>
          <a:xfrm>
            <a:off x="5630640" y="2985111"/>
            <a:ext cx="3020361" cy="830997"/>
          </a:xfrm>
          <a:prstGeom prst="rect">
            <a:avLst/>
          </a:prstGeom>
          <a:noFill/>
        </p:spPr>
        <p:txBody>
          <a:bodyPr wrap="square" rtlCol="0">
            <a:spAutoFit/>
          </a:bodyPr>
          <a:lstStyle/>
          <a:p>
            <a:r>
              <a:rPr lang="en-US" sz="1600" dirty="0"/>
              <a:t>Reason:</a:t>
            </a:r>
          </a:p>
          <a:p>
            <a:pPr marL="285750" indent="-285750">
              <a:buFont typeface="Arial" panose="020B0604020202020204" pitchFamily="34" charset="0"/>
              <a:buChar char="•"/>
            </a:pPr>
            <a:r>
              <a:rPr lang="en-US" altLang="zh-CN" sz="1600" dirty="0"/>
              <a:t>Focus</a:t>
            </a:r>
            <a:r>
              <a:rPr lang="zh-CN" altLang="en-US" sz="1600" dirty="0"/>
              <a:t> </a:t>
            </a:r>
            <a:r>
              <a:rPr lang="en-US" altLang="zh-CN" sz="1600" dirty="0"/>
              <a:t>on</a:t>
            </a:r>
            <a:r>
              <a:rPr lang="zh-CN" altLang="en-US" sz="1600" dirty="0"/>
              <a:t> </a:t>
            </a:r>
            <a:r>
              <a:rPr lang="en-US" altLang="zh-CN" sz="1600" dirty="0"/>
              <a:t>the</a:t>
            </a:r>
            <a:r>
              <a:rPr lang="zh-CN" altLang="en-US" sz="1600" dirty="0"/>
              <a:t> </a:t>
            </a:r>
            <a:r>
              <a:rPr lang="en-US" altLang="zh-CN" sz="1600" dirty="0"/>
              <a:t>behavioral</a:t>
            </a:r>
            <a:r>
              <a:rPr lang="zh-CN" altLang="en-US" sz="1600" dirty="0"/>
              <a:t> </a:t>
            </a:r>
            <a:r>
              <a:rPr lang="en-US" altLang="zh-CN" sz="1600" dirty="0"/>
              <a:t>processes</a:t>
            </a:r>
            <a:r>
              <a:rPr lang="zh-CN" altLang="en-US" sz="1600" dirty="0"/>
              <a:t> </a:t>
            </a:r>
            <a:r>
              <a:rPr lang="en-US" altLang="zh-CN" sz="1600" dirty="0"/>
              <a:t>of</a:t>
            </a:r>
            <a:r>
              <a:rPr lang="zh-CN" altLang="en-US" sz="1600" dirty="0"/>
              <a:t> </a:t>
            </a:r>
            <a:r>
              <a:rPr lang="en-US" altLang="zh-CN" sz="1600" dirty="0"/>
              <a:t>answerers</a:t>
            </a:r>
            <a:r>
              <a:rPr lang="zh-CN" altLang="en-US" sz="1600" dirty="0"/>
              <a:t> </a:t>
            </a:r>
            <a:r>
              <a:rPr lang="en-US" altLang="zh-CN" sz="1600" dirty="0"/>
              <a:t>(SE)</a:t>
            </a:r>
            <a:endParaRPr lang="en-US" sz="1600" dirty="0"/>
          </a:p>
        </p:txBody>
      </p:sp>
      <p:sp>
        <p:nvSpPr>
          <p:cNvPr id="41" name="TextBox 40">
            <a:extLst>
              <a:ext uri="{FF2B5EF4-FFF2-40B4-BE49-F238E27FC236}">
                <a16:creationId xmlns:a16="http://schemas.microsoft.com/office/drawing/2014/main" id="{98BDA6FF-BC9B-2D57-1935-B428B7EC2B7B}"/>
              </a:ext>
            </a:extLst>
          </p:cNvPr>
          <p:cNvSpPr txBox="1"/>
          <p:nvPr/>
        </p:nvSpPr>
        <p:spPr>
          <a:xfrm>
            <a:off x="5630640" y="1300506"/>
            <a:ext cx="3227610" cy="1077218"/>
          </a:xfrm>
          <a:prstGeom prst="rect">
            <a:avLst/>
          </a:prstGeom>
          <a:noFill/>
        </p:spPr>
        <p:txBody>
          <a:bodyPr wrap="square" rtlCol="0">
            <a:spAutoFit/>
          </a:bodyPr>
          <a:lstStyle/>
          <a:p>
            <a:r>
              <a:rPr lang="en-US" sz="1600" dirty="0"/>
              <a:t>Reason</a:t>
            </a:r>
            <a:r>
              <a:rPr lang="en-US" altLang="zh-CN" sz="1600" dirty="0"/>
              <a:t>s</a:t>
            </a:r>
            <a:r>
              <a:rPr lang="en-US" sz="1600" dirty="0"/>
              <a:t>: </a:t>
            </a:r>
          </a:p>
          <a:p>
            <a:pPr marL="285750" indent="-285750">
              <a:buFont typeface="Arial" panose="020B0604020202020204" pitchFamily="34" charset="0"/>
              <a:buChar char="•"/>
            </a:pPr>
            <a:r>
              <a:rPr lang="en-US" altLang="zh-CN" sz="1600" dirty="0"/>
              <a:t>Reviewer</a:t>
            </a:r>
            <a:r>
              <a:rPr lang="zh-CN" altLang="en-US" sz="1600" dirty="0"/>
              <a:t> </a:t>
            </a:r>
            <a:r>
              <a:rPr lang="en-US" altLang="zh-CN" sz="1600" dirty="0"/>
              <a:t>concerns</a:t>
            </a:r>
            <a:r>
              <a:rPr lang="zh-CN" altLang="en-US" sz="1600" dirty="0"/>
              <a:t> </a:t>
            </a:r>
            <a:r>
              <a:rPr lang="en-US" altLang="zh-CN" sz="1600" dirty="0"/>
              <a:t>on</a:t>
            </a:r>
            <a:r>
              <a:rPr lang="zh-CN" altLang="en-US" sz="1600" dirty="0"/>
              <a:t> </a:t>
            </a:r>
            <a:r>
              <a:rPr lang="en-US" altLang="zh-CN" sz="1600" dirty="0"/>
              <a:t>our</a:t>
            </a:r>
            <a:r>
              <a:rPr lang="zh-CN" altLang="en-US" sz="1600" dirty="0"/>
              <a:t> </a:t>
            </a:r>
            <a:r>
              <a:rPr lang="en-US" altLang="zh-CN" sz="1600" dirty="0"/>
              <a:t>test</a:t>
            </a:r>
            <a:r>
              <a:rPr lang="zh-CN" altLang="en-US" sz="1600" dirty="0"/>
              <a:t> </a:t>
            </a:r>
            <a:r>
              <a:rPr lang="en-US" altLang="zh-CN" sz="1600" dirty="0"/>
              <a:t>(R1,</a:t>
            </a:r>
            <a:r>
              <a:rPr lang="zh-CN" altLang="en-US" sz="1600" dirty="0"/>
              <a:t> </a:t>
            </a:r>
            <a:r>
              <a:rPr lang="en-US" altLang="zh-CN" sz="1600" dirty="0"/>
              <a:t>R2,</a:t>
            </a:r>
            <a:r>
              <a:rPr lang="zh-CN" altLang="en-US" sz="1600" dirty="0"/>
              <a:t> </a:t>
            </a:r>
            <a:r>
              <a:rPr lang="en-US" altLang="zh-CN" sz="1600" dirty="0"/>
              <a:t>R3)</a:t>
            </a:r>
            <a:endParaRPr lang="en-US" sz="1600" dirty="0"/>
          </a:p>
          <a:p>
            <a:pPr marL="285750" indent="-285750">
              <a:buFont typeface="Arial" panose="020B0604020202020204" pitchFamily="34" charset="0"/>
              <a:buChar char="•"/>
            </a:pPr>
            <a:r>
              <a:rPr lang="en-US" altLang="zh-CN" sz="1600" dirty="0"/>
              <a:t>Difficult</a:t>
            </a:r>
            <a:r>
              <a:rPr lang="zh-CN" altLang="en-US" sz="1600" dirty="0"/>
              <a:t> </a:t>
            </a:r>
            <a:r>
              <a:rPr lang="en-US" altLang="zh-CN" sz="1600" dirty="0"/>
              <a:t>to</a:t>
            </a:r>
            <a:r>
              <a:rPr lang="zh-CN" altLang="en-US" sz="1600" dirty="0"/>
              <a:t> </a:t>
            </a:r>
            <a:r>
              <a:rPr lang="en-US" altLang="zh-CN" sz="1600" dirty="0"/>
              <a:t>understand</a:t>
            </a:r>
            <a:r>
              <a:rPr lang="zh-CN" altLang="en-US" sz="1600" dirty="0"/>
              <a:t> </a:t>
            </a:r>
            <a:r>
              <a:rPr lang="en-US" altLang="zh-CN" sz="1600" dirty="0"/>
              <a:t>(R2)</a:t>
            </a:r>
            <a:endParaRPr lang="en-US" sz="1600" dirty="0"/>
          </a:p>
        </p:txBody>
      </p:sp>
      <p:sp>
        <p:nvSpPr>
          <p:cNvPr id="5" name="Slide Number Placeholder 4">
            <a:extLst>
              <a:ext uri="{FF2B5EF4-FFF2-40B4-BE49-F238E27FC236}">
                <a16:creationId xmlns:a16="http://schemas.microsoft.com/office/drawing/2014/main" id="{0C239A70-5D22-F261-F800-68FA7DDE6E4C}"/>
              </a:ext>
            </a:extLst>
          </p:cNvPr>
          <p:cNvSpPr>
            <a:spLocks noGrp="1"/>
          </p:cNvSpPr>
          <p:nvPr>
            <p:ph type="sldNum" sz="quarter" idx="12"/>
          </p:nvPr>
        </p:nvSpPr>
        <p:spPr/>
        <p:txBody>
          <a:bodyPr/>
          <a:lstStyle/>
          <a:p>
            <a:fld id="{80E9C1D4-69BA-4B09-8A24-1CCDDD1AB85B}" type="slidenum">
              <a:rPr lang="zh-CN" altLang="en-US" smtClean="0"/>
              <a:t>7</a:t>
            </a:fld>
            <a:endParaRPr lang="zh-CN" altLang="en-US"/>
          </a:p>
        </p:txBody>
      </p:sp>
    </p:spTree>
    <p:extLst>
      <p:ext uri="{BB962C8B-B14F-4D97-AF65-F5344CB8AC3E}">
        <p14:creationId xmlns:p14="http://schemas.microsoft.com/office/powerpoint/2010/main" val="4174780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41248-64B4-B035-CAAE-EB984B861E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83F2B6-86D1-E137-FA03-338C930A2D02}"/>
              </a:ext>
            </a:extLst>
          </p:cNvPr>
          <p:cNvSpPr>
            <a:spLocks noGrp="1"/>
          </p:cNvSpPr>
          <p:nvPr>
            <p:ph type="title"/>
          </p:nvPr>
        </p:nvSpPr>
        <p:spPr/>
        <p:txBody>
          <a:bodyPr/>
          <a:lstStyle/>
          <a:p>
            <a:r>
              <a:rPr lang="en-US" altLang="zh-CN" dirty="0"/>
              <a:t>New</a:t>
            </a:r>
            <a:r>
              <a:rPr lang="zh-CN" altLang="en-US" dirty="0"/>
              <a:t> </a:t>
            </a:r>
            <a:r>
              <a:rPr lang="en-US" altLang="zh-CN" dirty="0"/>
              <a:t>framework</a:t>
            </a:r>
          </a:p>
        </p:txBody>
      </p:sp>
      <p:grpSp>
        <p:nvGrpSpPr>
          <p:cNvPr id="19" name="Group 18">
            <a:extLst>
              <a:ext uri="{FF2B5EF4-FFF2-40B4-BE49-F238E27FC236}">
                <a16:creationId xmlns:a16="http://schemas.microsoft.com/office/drawing/2014/main" id="{E896F3C3-358C-C015-5B49-7C8BCA6D8D35}"/>
              </a:ext>
            </a:extLst>
          </p:cNvPr>
          <p:cNvGrpSpPr/>
          <p:nvPr/>
        </p:nvGrpSpPr>
        <p:grpSpPr>
          <a:xfrm>
            <a:off x="830004" y="942975"/>
            <a:ext cx="7842964" cy="4085147"/>
            <a:chOff x="1658679" y="1585391"/>
            <a:chExt cx="9166022" cy="4774286"/>
          </a:xfrm>
        </p:grpSpPr>
        <p:sp>
          <p:nvSpPr>
            <p:cNvPr id="5" name="Rectangle 4">
              <a:extLst>
                <a:ext uri="{FF2B5EF4-FFF2-40B4-BE49-F238E27FC236}">
                  <a16:creationId xmlns:a16="http://schemas.microsoft.com/office/drawing/2014/main" id="{9DD92018-0388-F20F-9F6E-6BE3AADF5BE4}"/>
                </a:ext>
              </a:extLst>
            </p:cNvPr>
            <p:cNvSpPr/>
            <p:nvPr/>
          </p:nvSpPr>
          <p:spPr>
            <a:xfrm>
              <a:off x="8899344" y="3294784"/>
              <a:ext cx="1925357" cy="859858"/>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Answer </a:t>
              </a:r>
              <a:r>
                <a:rPr lang="en-US" altLang="zh-CN" dirty="0"/>
                <a:t>Quality</a:t>
              </a:r>
              <a:endParaRPr lang="en-US" dirty="0"/>
            </a:p>
          </p:txBody>
        </p:sp>
        <p:sp>
          <p:nvSpPr>
            <p:cNvPr id="6" name="Rectangle 5">
              <a:extLst>
                <a:ext uri="{FF2B5EF4-FFF2-40B4-BE49-F238E27FC236}">
                  <a16:creationId xmlns:a16="http://schemas.microsoft.com/office/drawing/2014/main" id="{260AF3F6-71A8-9509-A268-CFDB0B30AC52}"/>
                </a:ext>
              </a:extLst>
            </p:cNvPr>
            <p:cNvSpPr/>
            <p:nvPr/>
          </p:nvSpPr>
          <p:spPr>
            <a:xfrm>
              <a:off x="6590925" y="1585391"/>
              <a:ext cx="1925357" cy="82099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Answer</a:t>
              </a:r>
              <a:r>
                <a:rPr lang="en-US" altLang="zh-CN" dirty="0"/>
                <a:t>er</a:t>
              </a:r>
              <a:r>
                <a:rPr lang="en-US" dirty="0"/>
                <a:t> Participation</a:t>
              </a:r>
            </a:p>
          </p:txBody>
        </p:sp>
        <p:sp>
          <p:nvSpPr>
            <p:cNvPr id="7" name="Rectangle 6">
              <a:extLst>
                <a:ext uri="{FF2B5EF4-FFF2-40B4-BE49-F238E27FC236}">
                  <a16:creationId xmlns:a16="http://schemas.microsoft.com/office/drawing/2014/main" id="{57BB8A08-1673-1299-5AAF-E9CE80464093}"/>
                </a:ext>
              </a:extLst>
            </p:cNvPr>
            <p:cNvSpPr/>
            <p:nvPr/>
          </p:nvSpPr>
          <p:spPr>
            <a:xfrm>
              <a:off x="1658679" y="2554168"/>
              <a:ext cx="1786456" cy="792119"/>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Has AI Answer</a:t>
              </a:r>
            </a:p>
          </p:txBody>
        </p:sp>
        <p:cxnSp>
          <p:nvCxnSpPr>
            <p:cNvPr id="8" name="Straight Arrow Connector 7">
              <a:extLst>
                <a:ext uri="{FF2B5EF4-FFF2-40B4-BE49-F238E27FC236}">
                  <a16:creationId xmlns:a16="http://schemas.microsoft.com/office/drawing/2014/main" id="{22F47648-274C-8619-A213-3AB690266BF2}"/>
                </a:ext>
              </a:extLst>
            </p:cNvPr>
            <p:cNvCxnSpPr>
              <a:cxnSpLocks/>
              <a:stCxn id="7" idx="3"/>
              <a:endCxn id="6" idx="1"/>
            </p:cNvCxnSpPr>
            <p:nvPr/>
          </p:nvCxnSpPr>
          <p:spPr>
            <a:xfrm flipV="1">
              <a:off x="3445135" y="1995888"/>
              <a:ext cx="3145790" cy="954340"/>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DA2D5E4E-646F-FABE-AC3D-0231DF093B72}"/>
                </a:ext>
              </a:extLst>
            </p:cNvPr>
            <p:cNvCxnSpPr>
              <a:cxnSpLocks/>
              <a:stCxn id="10" idx="0"/>
            </p:cNvCxnSpPr>
            <p:nvPr/>
          </p:nvCxnSpPr>
          <p:spPr>
            <a:xfrm flipH="1" flipV="1">
              <a:off x="4427055" y="2710016"/>
              <a:ext cx="622702" cy="1741600"/>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17CC7861-C3E0-50E1-EBC3-116F9DA48BE1}"/>
                </a:ext>
              </a:extLst>
            </p:cNvPr>
            <p:cNvSpPr/>
            <p:nvPr/>
          </p:nvSpPr>
          <p:spPr>
            <a:xfrm>
              <a:off x="4358409" y="4451616"/>
              <a:ext cx="1382696" cy="77448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AI Answer Length</a:t>
              </a:r>
            </a:p>
          </p:txBody>
        </p:sp>
        <p:sp>
          <p:nvSpPr>
            <p:cNvPr id="11" name="Rectangle 10">
              <a:extLst>
                <a:ext uri="{FF2B5EF4-FFF2-40B4-BE49-F238E27FC236}">
                  <a16:creationId xmlns:a16="http://schemas.microsoft.com/office/drawing/2014/main" id="{A496EFB9-F6AF-5868-CFFB-153CFF7586EA}"/>
                </a:ext>
              </a:extLst>
            </p:cNvPr>
            <p:cNvSpPr/>
            <p:nvPr/>
          </p:nvSpPr>
          <p:spPr>
            <a:xfrm>
              <a:off x="6548315" y="4451616"/>
              <a:ext cx="1382696" cy="77448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AI Answer Quality</a:t>
              </a:r>
            </a:p>
          </p:txBody>
        </p:sp>
        <p:cxnSp>
          <p:nvCxnSpPr>
            <p:cNvPr id="12" name="Straight Arrow Connector 11">
              <a:extLst>
                <a:ext uri="{FF2B5EF4-FFF2-40B4-BE49-F238E27FC236}">
                  <a16:creationId xmlns:a16="http://schemas.microsoft.com/office/drawing/2014/main" id="{920B978E-E2DC-0503-EEFC-7F8B65C4D60B}"/>
                </a:ext>
              </a:extLst>
            </p:cNvPr>
            <p:cNvCxnSpPr>
              <a:cxnSpLocks/>
              <a:stCxn id="11" idx="0"/>
            </p:cNvCxnSpPr>
            <p:nvPr/>
          </p:nvCxnSpPr>
          <p:spPr>
            <a:xfrm flipV="1">
              <a:off x="7239663" y="3556812"/>
              <a:ext cx="146271" cy="894804"/>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D36C3219-F5A1-DF90-5643-53453AAEE93D}"/>
                </a:ext>
              </a:extLst>
            </p:cNvPr>
            <p:cNvCxnSpPr>
              <a:cxnSpLocks/>
              <a:stCxn id="7" idx="3"/>
              <a:endCxn id="5" idx="1"/>
            </p:cNvCxnSpPr>
            <p:nvPr/>
          </p:nvCxnSpPr>
          <p:spPr>
            <a:xfrm>
              <a:off x="3445135" y="2950228"/>
              <a:ext cx="5454209" cy="774485"/>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D62B88E-07EE-2ABF-3B55-00C3C78D60BF}"/>
                </a:ext>
              </a:extLst>
            </p:cNvPr>
            <p:cNvCxnSpPr>
              <a:cxnSpLocks/>
              <a:stCxn id="10" idx="0"/>
            </p:cNvCxnSpPr>
            <p:nvPr/>
          </p:nvCxnSpPr>
          <p:spPr>
            <a:xfrm flipV="1">
              <a:off x="5049757" y="3294784"/>
              <a:ext cx="192094" cy="1156832"/>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715489B-86E8-291E-5401-DDA5926F6297}"/>
                </a:ext>
              </a:extLst>
            </p:cNvPr>
            <p:cNvCxnSpPr>
              <a:cxnSpLocks/>
              <a:stCxn id="11" idx="0"/>
            </p:cNvCxnSpPr>
            <p:nvPr/>
          </p:nvCxnSpPr>
          <p:spPr>
            <a:xfrm flipH="1" flipV="1">
              <a:off x="6304622" y="2113534"/>
              <a:ext cx="935040" cy="2338081"/>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6" name="Right Brace 15">
              <a:extLst>
                <a:ext uri="{FF2B5EF4-FFF2-40B4-BE49-F238E27FC236}">
                  <a16:creationId xmlns:a16="http://schemas.microsoft.com/office/drawing/2014/main" id="{117BC3D0-113F-6A2D-AF08-55694A17F9FB}"/>
                </a:ext>
              </a:extLst>
            </p:cNvPr>
            <p:cNvSpPr/>
            <p:nvPr/>
          </p:nvSpPr>
          <p:spPr>
            <a:xfrm rot="5400000">
              <a:off x="6031744" y="1748538"/>
              <a:ext cx="280310" cy="7953390"/>
            </a:xfrm>
            <a:prstGeom prst="rightBrace">
              <a:avLst>
                <a:gd name="adj1" fmla="val 41330"/>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FA637156-6910-940C-3BE4-5F461899E8EA}"/>
                </a:ext>
              </a:extLst>
            </p:cNvPr>
            <p:cNvSpPr txBox="1"/>
            <p:nvPr/>
          </p:nvSpPr>
          <p:spPr>
            <a:xfrm>
              <a:off x="2195884" y="5928041"/>
              <a:ext cx="1876043" cy="431636"/>
            </a:xfrm>
            <a:prstGeom prst="rect">
              <a:avLst/>
            </a:prstGeom>
            <a:noFill/>
            <a:ln>
              <a:noFill/>
            </a:ln>
          </p:spPr>
          <p:txBody>
            <a:bodyPr wrap="none" rtlCol="0">
              <a:spAutoFit/>
            </a:bodyPr>
            <a:lstStyle/>
            <a:p>
              <a:r>
                <a:rPr lang="en-US" altLang="zh-CN" dirty="0"/>
                <a:t>Fast</a:t>
              </a:r>
              <a:r>
                <a:rPr lang="en-US" dirty="0"/>
                <a:t> Processing</a:t>
              </a:r>
            </a:p>
          </p:txBody>
        </p:sp>
        <p:sp>
          <p:nvSpPr>
            <p:cNvPr id="18" name="TextBox 17">
              <a:extLst>
                <a:ext uri="{FF2B5EF4-FFF2-40B4-BE49-F238E27FC236}">
                  <a16:creationId xmlns:a16="http://schemas.microsoft.com/office/drawing/2014/main" id="{9A1D49E0-0890-7069-7B24-25B3594A79CE}"/>
                </a:ext>
              </a:extLst>
            </p:cNvPr>
            <p:cNvSpPr txBox="1"/>
            <p:nvPr/>
          </p:nvSpPr>
          <p:spPr>
            <a:xfrm>
              <a:off x="8167195" y="5886801"/>
              <a:ext cx="1958324" cy="431636"/>
            </a:xfrm>
            <a:prstGeom prst="rect">
              <a:avLst/>
            </a:prstGeom>
            <a:noFill/>
            <a:ln>
              <a:noFill/>
            </a:ln>
          </p:spPr>
          <p:txBody>
            <a:bodyPr wrap="none" rtlCol="0">
              <a:spAutoFit/>
            </a:bodyPr>
            <a:lstStyle/>
            <a:p>
              <a:r>
                <a:rPr lang="en-US" altLang="zh-CN" dirty="0"/>
                <a:t>Slow</a:t>
              </a:r>
              <a:r>
                <a:rPr lang="en-US" dirty="0"/>
                <a:t> Processing</a:t>
              </a:r>
            </a:p>
          </p:txBody>
        </p:sp>
      </p:grpSp>
      <p:sp>
        <p:nvSpPr>
          <p:cNvPr id="2" name="Slide Number Placeholder 1">
            <a:extLst>
              <a:ext uri="{FF2B5EF4-FFF2-40B4-BE49-F238E27FC236}">
                <a16:creationId xmlns:a16="http://schemas.microsoft.com/office/drawing/2014/main" id="{92957478-A092-6853-1C5A-0B055C5625C0}"/>
              </a:ext>
            </a:extLst>
          </p:cNvPr>
          <p:cNvSpPr>
            <a:spLocks noGrp="1"/>
          </p:cNvSpPr>
          <p:nvPr>
            <p:ph type="sldNum" sz="quarter" idx="12"/>
          </p:nvPr>
        </p:nvSpPr>
        <p:spPr/>
        <p:txBody>
          <a:bodyPr/>
          <a:lstStyle/>
          <a:p>
            <a:fld id="{80E9C1D4-69BA-4B09-8A24-1CCDDD1AB85B}" type="slidenum">
              <a:rPr lang="zh-CN" altLang="en-US" smtClean="0"/>
              <a:t>8</a:t>
            </a:fld>
            <a:endParaRPr lang="zh-CN" altLang="en-US"/>
          </a:p>
        </p:txBody>
      </p:sp>
      <p:sp>
        <p:nvSpPr>
          <p:cNvPr id="3" name="Rounded Rectangle 2">
            <a:extLst>
              <a:ext uri="{FF2B5EF4-FFF2-40B4-BE49-F238E27FC236}">
                <a16:creationId xmlns:a16="http://schemas.microsoft.com/office/drawing/2014/main" id="{93694064-AFC0-C590-8966-98AFCEEACAF1}"/>
              </a:ext>
            </a:extLst>
          </p:cNvPr>
          <p:cNvSpPr/>
          <p:nvPr/>
        </p:nvSpPr>
        <p:spPr>
          <a:xfrm>
            <a:off x="181695" y="1566448"/>
            <a:ext cx="1016358" cy="410934"/>
          </a:xfrm>
          <a:prstGeom prst="roundRect">
            <a:avLst>
              <a:gd name="adj" fmla="val 45809"/>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000" dirty="0"/>
              <a:t>Previous Source Effect</a:t>
            </a:r>
          </a:p>
        </p:txBody>
      </p:sp>
      <p:sp>
        <p:nvSpPr>
          <p:cNvPr id="20" name="Rounded Rectangle 19">
            <a:extLst>
              <a:ext uri="{FF2B5EF4-FFF2-40B4-BE49-F238E27FC236}">
                <a16:creationId xmlns:a16="http://schemas.microsoft.com/office/drawing/2014/main" id="{6FF95063-A0C9-C66E-D081-8CA390EA0D53}"/>
              </a:ext>
            </a:extLst>
          </p:cNvPr>
          <p:cNvSpPr/>
          <p:nvPr/>
        </p:nvSpPr>
        <p:spPr>
          <a:xfrm>
            <a:off x="2190630" y="3780460"/>
            <a:ext cx="1116191" cy="410934"/>
          </a:xfrm>
          <a:prstGeom prst="roundRect">
            <a:avLst>
              <a:gd name="adj" fmla="val 45809"/>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000" dirty="0"/>
              <a:t>Previous </a:t>
            </a:r>
            <a:r>
              <a:rPr lang="en-US" altLang="zh-CN" sz="1000" dirty="0"/>
              <a:t>Content</a:t>
            </a:r>
            <a:r>
              <a:rPr lang="en-US" sz="1000" dirty="0"/>
              <a:t> Effect</a:t>
            </a:r>
          </a:p>
        </p:txBody>
      </p:sp>
      <p:sp>
        <p:nvSpPr>
          <p:cNvPr id="21" name="Rounded Rectangle 20">
            <a:extLst>
              <a:ext uri="{FF2B5EF4-FFF2-40B4-BE49-F238E27FC236}">
                <a16:creationId xmlns:a16="http://schemas.microsoft.com/office/drawing/2014/main" id="{1568C598-2A86-8609-42CC-7F0D03680E4B}"/>
              </a:ext>
            </a:extLst>
          </p:cNvPr>
          <p:cNvSpPr/>
          <p:nvPr/>
        </p:nvSpPr>
        <p:spPr>
          <a:xfrm>
            <a:off x="5874033" y="604084"/>
            <a:ext cx="1016358" cy="410934"/>
          </a:xfrm>
          <a:prstGeom prst="roundRect">
            <a:avLst>
              <a:gd name="adj" fmla="val 45809"/>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000" dirty="0"/>
              <a:t>Previous </a:t>
            </a:r>
          </a:p>
          <a:p>
            <a:pPr algn="ctr"/>
            <a:r>
              <a:rPr lang="en-US" altLang="zh-CN" sz="1000" dirty="0"/>
              <a:t>Core</a:t>
            </a:r>
            <a:r>
              <a:rPr lang="zh-CN" altLang="en-US" sz="1000" dirty="0"/>
              <a:t> </a:t>
            </a:r>
            <a:r>
              <a:rPr lang="en-US" altLang="zh-CN" sz="1000" dirty="0"/>
              <a:t>DV</a:t>
            </a:r>
            <a:endParaRPr lang="en-US" sz="1000" dirty="0"/>
          </a:p>
        </p:txBody>
      </p:sp>
      <p:sp>
        <p:nvSpPr>
          <p:cNvPr id="22" name="Rounded Rectangle 21">
            <a:extLst>
              <a:ext uri="{FF2B5EF4-FFF2-40B4-BE49-F238E27FC236}">
                <a16:creationId xmlns:a16="http://schemas.microsoft.com/office/drawing/2014/main" id="{AF09F173-2619-3E83-0409-F6CB587EC91B}"/>
              </a:ext>
            </a:extLst>
          </p:cNvPr>
          <p:cNvSpPr/>
          <p:nvPr/>
        </p:nvSpPr>
        <p:spPr>
          <a:xfrm>
            <a:off x="7883540" y="2208309"/>
            <a:ext cx="1016359" cy="410934"/>
          </a:xfrm>
          <a:prstGeom prst="roundRect">
            <a:avLst>
              <a:gd name="adj" fmla="val 45809"/>
            </a:avLst>
          </a:prstGeom>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CN" sz="1000" dirty="0"/>
              <a:t>New</a:t>
            </a:r>
            <a:r>
              <a:rPr lang="zh-CN" altLang="en-US" sz="1000" dirty="0"/>
              <a:t> </a:t>
            </a:r>
            <a:r>
              <a:rPr lang="en-US" altLang="zh-CN" sz="1000" dirty="0"/>
              <a:t>DV</a:t>
            </a:r>
            <a:endParaRPr lang="en-US" sz="1000" dirty="0"/>
          </a:p>
        </p:txBody>
      </p:sp>
      <p:sp>
        <p:nvSpPr>
          <p:cNvPr id="23" name="Rounded Rectangle 22">
            <a:extLst>
              <a:ext uri="{FF2B5EF4-FFF2-40B4-BE49-F238E27FC236}">
                <a16:creationId xmlns:a16="http://schemas.microsoft.com/office/drawing/2014/main" id="{86676019-94A5-DFF9-B061-817522150D88}"/>
              </a:ext>
            </a:extLst>
          </p:cNvPr>
          <p:cNvSpPr/>
          <p:nvPr/>
        </p:nvSpPr>
        <p:spPr>
          <a:xfrm>
            <a:off x="6030188" y="3773943"/>
            <a:ext cx="1116191" cy="410934"/>
          </a:xfrm>
          <a:prstGeom prst="roundRect">
            <a:avLst>
              <a:gd name="adj" fmla="val 45809"/>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000" dirty="0"/>
              <a:t>Previous </a:t>
            </a:r>
            <a:r>
              <a:rPr lang="en-US" altLang="zh-CN" sz="1000" dirty="0"/>
              <a:t>Content</a:t>
            </a:r>
            <a:r>
              <a:rPr lang="en-US" sz="1000" dirty="0"/>
              <a:t> Effect</a:t>
            </a:r>
          </a:p>
        </p:txBody>
      </p:sp>
    </p:spTree>
    <p:extLst>
      <p:ext uri="{BB962C8B-B14F-4D97-AF65-F5344CB8AC3E}">
        <p14:creationId xmlns:p14="http://schemas.microsoft.com/office/powerpoint/2010/main" val="3300893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BA3EF-E6D3-1428-ABCA-06302BD7D19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B7D35A-9A29-1E5C-F085-D8E31FC9ADBF}"/>
              </a:ext>
            </a:extLst>
          </p:cNvPr>
          <p:cNvSpPr>
            <a:spLocks noGrp="1"/>
          </p:cNvSpPr>
          <p:nvPr>
            <p:ph type="title"/>
          </p:nvPr>
        </p:nvSpPr>
        <p:spPr/>
        <p:txBody>
          <a:bodyPr/>
          <a:lstStyle/>
          <a:p>
            <a:r>
              <a:rPr lang="en-US" dirty="0"/>
              <a:t>AI’s </a:t>
            </a:r>
            <a:r>
              <a:rPr lang="en-US" altLang="zh-CN" dirty="0"/>
              <a:t>t</a:t>
            </a:r>
            <a:r>
              <a:rPr lang="en-US" dirty="0"/>
              <a:t>wo </a:t>
            </a:r>
            <a:r>
              <a:rPr lang="en-US" altLang="zh-CN" dirty="0"/>
              <a:t>r</a:t>
            </a:r>
            <a:r>
              <a:rPr lang="en-US" dirty="0"/>
              <a:t>oles in </a:t>
            </a:r>
            <a:r>
              <a:rPr lang="en-US" altLang="zh-CN" dirty="0"/>
              <a:t>c</a:t>
            </a:r>
            <a:r>
              <a:rPr lang="en-US" dirty="0"/>
              <a:t>ompetition</a:t>
            </a:r>
            <a:endParaRPr lang="en-US" altLang="zh-CN" dirty="0"/>
          </a:p>
        </p:txBody>
      </p:sp>
      <p:grpSp>
        <p:nvGrpSpPr>
          <p:cNvPr id="5" name="Group 4">
            <a:extLst>
              <a:ext uri="{FF2B5EF4-FFF2-40B4-BE49-F238E27FC236}">
                <a16:creationId xmlns:a16="http://schemas.microsoft.com/office/drawing/2014/main" id="{4CCFE3AA-41B9-D111-C8C2-C662AD88C1C1}"/>
              </a:ext>
            </a:extLst>
          </p:cNvPr>
          <p:cNvGrpSpPr/>
          <p:nvPr/>
        </p:nvGrpSpPr>
        <p:grpSpPr>
          <a:xfrm>
            <a:off x="3054163" y="1335992"/>
            <a:ext cx="5609326" cy="2864856"/>
            <a:chOff x="2660220" y="1649186"/>
            <a:chExt cx="9166022" cy="4807477"/>
          </a:xfrm>
        </p:grpSpPr>
        <p:sp>
          <p:nvSpPr>
            <p:cNvPr id="6" name="Rectangle 5">
              <a:extLst>
                <a:ext uri="{FF2B5EF4-FFF2-40B4-BE49-F238E27FC236}">
                  <a16:creationId xmlns:a16="http://schemas.microsoft.com/office/drawing/2014/main" id="{786735E3-2E57-B2F1-35E6-0A240CDE4A81}"/>
                </a:ext>
              </a:extLst>
            </p:cNvPr>
            <p:cNvSpPr/>
            <p:nvPr/>
          </p:nvSpPr>
          <p:spPr>
            <a:xfrm>
              <a:off x="9900885" y="3358579"/>
              <a:ext cx="1925357" cy="859858"/>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Answer </a:t>
              </a:r>
              <a:r>
                <a:rPr lang="en-US" altLang="zh-CN" sz="1200" dirty="0"/>
                <a:t>Quality</a:t>
              </a:r>
              <a:endParaRPr lang="en-US" sz="1200" dirty="0"/>
            </a:p>
          </p:txBody>
        </p:sp>
        <p:sp>
          <p:nvSpPr>
            <p:cNvPr id="7" name="Rectangle 6">
              <a:extLst>
                <a:ext uri="{FF2B5EF4-FFF2-40B4-BE49-F238E27FC236}">
                  <a16:creationId xmlns:a16="http://schemas.microsoft.com/office/drawing/2014/main" id="{2D5F6CAA-FCC7-DADE-D8FA-83A7FBF1EAB8}"/>
                </a:ext>
              </a:extLst>
            </p:cNvPr>
            <p:cNvSpPr/>
            <p:nvPr/>
          </p:nvSpPr>
          <p:spPr>
            <a:xfrm>
              <a:off x="7592466" y="1649186"/>
              <a:ext cx="1925357" cy="82099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Answer</a:t>
              </a:r>
              <a:r>
                <a:rPr lang="en-US" altLang="zh-CN" sz="1200" dirty="0"/>
                <a:t>er</a:t>
              </a:r>
              <a:r>
                <a:rPr lang="en-US" sz="1200" dirty="0"/>
                <a:t> Participation</a:t>
              </a:r>
            </a:p>
          </p:txBody>
        </p:sp>
        <p:sp>
          <p:nvSpPr>
            <p:cNvPr id="8" name="Rectangle 7">
              <a:extLst>
                <a:ext uri="{FF2B5EF4-FFF2-40B4-BE49-F238E27FC236}">
                  <a16:creationId xmlns:a16="http://schemas.microsoft.com/office/drawing/2014/main" id="{2953290E-D55F-53F9-C390-437C2E3F4570}"/>
                </a:ext>
              </a:extLst>
            </p:cNvPr>
            <p:cNvSpPr/>
            <p:nvPr/>
          </p:nvSpPr>
          <p:spPr>
            <a:xfrm>
              <a:off x="2660220" y="2617963"/>
              <a:ext cx="1786456" cy="792119"/>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Has AI Answer</a:t>
              </a:r>
            </a:p>
          </p:txBody>
        </p:sp>
        <p:cxnSp>
          <p:nvCxnSpPr>
            <p:cNvPr id="9" name="Straight Arrow Connector 8">
              <a:extLst>
                <a:ext uri="{FF2B5EF4-FFF2-40B4-BE49-F238E27FC236}">
                  <a16:creationId xmlns:a16="http://schemas.microsoft.com/office/drawing/2014/main" id="{5519EAAD-4D12-FB24-F2B4-E85D356AF541}"/>
                </a:ext>
              </a:extLst>
            </p:cNvPr>
            <p:cNvCxnSpPr>
              <a:cxnSpLocks/>
              <a:stCxn id="8" idx="3"/>
              <a:endCxn id="7" idx="1"/>
            </p:cNvCxnSpPr>
            <p:nvPr/>
          </p:nvCxnSpPr>
          <p:spPr>
            <a:xfrm flipV="1">
              <a:off x="4446676" y="2059683"/>
              <a:ext cx="3145790" cy="954340"/>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0D6BDDB6-5AA7-3B2A-0F83-84316901AD19}"/>
                </a:ext>
              </a:extLst>
            </p:cNvPr>
            <p:cNvCxnSpPr>
              <a:cxnSpLocks/>
              <a:stCxn id="11" idx="0"/>
            </p:cNvCxnSpPr>
            <p:nvPr/>
          </p:nvCxnSpPr>
          <p:spPr>
            <a:xfrm flipH="1" flipV="1">
              <a:off x="5428596" y="2773811"/>
              <a:ext cx="622702" cy="1741600"/>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22F50A79-5C36-4DD9-646F-0B93E0609689}"/>
                </a:ext>
              </a:extLst>
            </p:cNvPr>
            <p:cNvSpPr/>
            <p:nvPr/>
          </p:nvSpPr>
          <p:spPr>
            <a:xfrm>
              <a:off x="5359950" y="4515411"/>
              <a:ext cx="1382696" cy="77448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AI Answer Length</a:t>
              </a:r>
            </a:p>
          </p:txBody>
        </p:sp>
        <p:sp>
          <p:nvSpPr>
            <p:cNvPr id="12" name="Rectangle 11">
              <a:extLst>
                <a:ext uri="{FF2B5EF4-FFF2-40B4-BE49-F238E27FC236}">
                  <a16:creationId xmlns:a16="http://schemas.microsoft.com/office/drawing/2014/main" id="{4E3A3FFA-001C-53FF-38A7-4C66B56F0C0A}"/>
                </a:ext>
              </a:extLst>
            </p:cNvPr>
            <p:cNvSpPr/>
            <p:nvPr/>
          </p:nvSpPr>
          <p:spPr>
            <a:xfrm>
              <a:off x="7549856" y="4515411"/>
              <a:ext cx="1382696" cy="77448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AI Answer Quality</a:t>
              </a:r>
            </a:p>
          </p:txBody>
        </p:sp>
        <p:cxnSp>
          <p:nvCxnSpPr>
            <p:cNvPr id="13" name="Straight Arrow Connector 12">
              <a:extLst>
                <a:ext uri="{FF2B5EF4-FFF2-40B4-BE49-F238E27FC236}">
                  <a16:creationId xmlns:a16="http://schemas.microsoft.com/office/drawing/2014/main" id="{479AE161-B168-39CE-DD5A-E9C561B51190}"/>
                </a:ext>
              </a:extLst>
            </p:cNvPr>
            <p:cNvCxnSpPr>
              <a:cxnSpLocks/>
              <a:stCxn id="12" idx="0"/>
            </p:cNvCxnSpPr>
            <p:nvPr/>
          </p:nvCxnSpPr>
          <p:spPr>
            <a:xfrm flipV="1">
              <a:off x="8241204" y="3620607"/>
              <a:ext cx="146271" cy="894804"/>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B22D367-D317-B163-140B-1F6D8CF40DBA}"/>
                </a:ext>
              </a:extLst>
            </p:cNvPr>
            <p:cNvCxnSpPr>
              <a:cxnSpLocks/>
              <a:stCxn id="8" idx="3"/>
              <a:endCxn id="6" idx="1"/>
            </p:cNvCxnSpPr>
            <p:nvPr/>
          </p:nvCxnSpPr>
          <p:spPr>
            <a:xfrm>
              <a:off x="4446676" y="3014023"/>
              <a:ext cx="5454209" cy="774485"/>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BC9B170-9FF8-3757-BCAE-F3DA7EF22B29}"/>
                </a:ext>
              </a:extLst>
            </p:cNvPr>
            <p:cNvCxnSpPr>
              <a:cxnSpLocks/>
              <a:stCxn id="11" idx="0"/>
            </p:cNvCxnSpPr>
            <p:nvPr/>
          </p:nvCxnSpPr>
          <p:spPr>
            <a:xfrm flipV="1">
              <a:off x="6051298" y="3358579"/>
              <a:ext cx="192094" cy="1156832"/>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4AC4FE6-04E4-E0A4-8683-4A10A240AD40}"/>
                </a:ext>
              </a:extLst>
            </p:cNvPr>
            <p:cNvCxnSpPr>
              <a:cxnSpLocks/>
              <a:stCxn id="12" idx="0"/>
            </p:cNvCxnSpPr>
            <p:nvPr/>
          </p:nvCxnSpPr>
          <p:spPr>
            <a:xfrm flipH="1" flipV="1">
              <a:off x="7306163" y="2177329"/>
              <a:ext cx="935040" cy="2338081"/>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7" name="Right Brace 16">
              <a:extLst>
                <a:ext uri="{FF2B5EF4-FFF2-40B4-BE49-F238E27FC236}">
                  <a16:creationId xmlns:a16="http://schemas.microsoft.com/office/drawing/2014/main" id="{1A05A46D-C473-A9EC-6829-A7C663C67040}"/>
                </a:ext>
              </a:extLst>
            </p:cNvPr>
            <p:cNvSpPr/>
            <p:nvPr/>
          </p:nvSpPr>
          <p:spPr>
            <a:xfrm rot="5400000">
              <a:off x="7033285" y="1812333"/>
              <a:ext cx="280310" cy="7953390"/>
            </a:xfrm>
            <a:prstGeom prst="rightBrace">
              <a:avLst>
                <a:gd name="adj1" fmla="val 41330"/>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200"/>
            </a:p>
          </p:txBody>
        </p:sp>
        <p:sp>
          <p:nvSpPr>
            <p:cNvPr id="18" name="TextBox 17">
              <a:extLst>
                <a:ext uri="{FF2B5EF4-FFF2-40B4-BE49-F238E27FC236}">
                  <a16:creationId xmlns:a16="http://schemas.microsoft.com/office/drawing/2014/main" id="{39A39DBC-6BFE-3BFE-6268-83B418AB2966}"/>
                </a:ext>
              </a:extLst>
            </p:cNvPr>
            <p:cNvSpPr txBox="1"/>
            <p:nvPr/>
          </p:nvSpPr>
          <p:spPr>
            <a:xfrm>
              <a:off x="3197425" y="5991835"/>
              <a:ext cx="1854547" cy="464828"/>
            </a:xfrm>
            <a:prstGeom prst="rect">
              <a:avLst/>
            </a:prstGeom>
            <a:noFill/>
            <a:ln>
              <a:noFill/>
            </a:ln>
          </p:spPr>
          <p:txBody>
            <a:bodyPr wrap="none" rtlCol="0">
              <a:spAutoFit/>
            </a:bodyPr>
            <a:lstStyle/>
            <a:p>
              <a:r>
                <a:rPr lang="en-US" altLang="zh-CN" sz="1200" dirty="0"/>
                <a:t>Fast</a:t>
              </a:r>
              <a:r>
                <a:rPr lang="en-US" sz="1200" dirty="0"/>
                <a:t> Processing</a:t>
              </a:r>
            </a:p>
          </p:txBody>
        </p:sp>
        <p:sp>
          <p:nvSpPr>
            <p:cNvPr id="19" name="TextBox 18">
              <a:extLst>
                <a:ext uri="{FF2B5EF4-FFF2-40B4-BE49-F238E27FC236}">
                  <a16:creationId xmlns:a16="http://schemas.microsoft.com/office/drawing/2014/main" id="{2CFB7398-0BCB-E0CE-1CF7-DECA46C90652}"/>
                </a:ext>
              </a:extLst>
            </p:cNvPr>
            <p:cNvSpPr txBox="1"/>
            <p:nvPr/>
          </p:nvSpPr>
          <p:spPr>
            <a:xfrm>
              <a:off x="9168735" y="5950596"/>
              <a:ext cx="1931243" cy="464828"/>
            </a:xfrm>
            <a:prstGeom prst="rect">
              <a:avLst/>
            </a:prstGeom>
            <a:noFill/>
            <a:ln>
              <a:noFill/>
            </a:ln>
          </p:spPr>
          <p:txBody>
            <a:bodyPr wrap="none" rtlCol="0">
              <a:spAutoFit/>
            </a:bodyPr>
            <a:lstStyle/>
            <a:p>
              <a:r>
                <a:rPr lang="en-US" altLang="zh-CN" sz="1200" dirty="0"/>
                <a:t>Slow</a:t>
              </a:r>
              <a:r>
                <a:rPr lang="en-US" sz="1200" dirty="0"/>
                <a:t> Processing</a:t>
              </a:r>
            </a:p>
          </p:txBody>
        </p:sp>
      </p:grpSp>
      <p:sp>
        <p:nvSpPr>
          <p:cNvPr id="41" name="Right Arrow 40">
            <a:extLst>
              <a:ext uri="{FF2B5EF4-FFF2-40B4-BE49-F238E27FC236}">
                <a16:creationId xmlns:a16="http://schemas.microsoft.com/office/drawing/2014/main" id="{FE3757AC-5171-613F-08B4-A62E176EBCA1}"/>
              </a:ext>
            </a:extLst>
          </p:cNvPr>
          <p:cNvSpPr/>
          <p:nvPr/>
        </p:nvSpPr>
        <p:spPr>
          <a:xfrm>
            <a:off x="2270164" y="2011589"/>
            <a:ext cx="622730" cy="275464"/>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1200"/>
          </a:p>
        </p:txBody>
      </p:sp>
      <p:sp>
        <p:nvSpPr>
          <p:cNvPr id="42" name="TextBox 41">
            <a:extLst>
              <a:ext uri="{FF2B5EF4-FFF2-40B4-BE49-F238E27FC236}">
                <a16:creationId xmlns:a16="http://schemas.microsoft.com/office/drawing/2014/main" id="{66B4F2AD-CCAD-15D9-0204-EE9F197A6329}"/>
              </a:ext>
            </a:extLst>
          </p:cNvPr>
          <p:cNvSpPr txBox="1"/>
          <p:nvPr/>
        </p:nvSpPr>
        <p:spPr>
          <a:xfrm>
            <a:off x="527777" y="1924555"/>
            <a:ext cx="1670255" cy="461665"/>
          </a:xfrm>
          <a:prstGeom prst="rect">
            <a:avLst/>
          </a:prstGeom>
          <a:noFill/>
        </p:spPr>
        <p:txBody>
          <a:bodyPr wrap="square">
            <a:spAutoFit/>
          </a:bodyPr>
          <a:lstStyle/>
          <a:p>
            <a:pPr algn="ctr"/>
            <a:r>
              <a:rPr lang="en-US" altLang="zh-CN" sz="1200" dirty="0"/>
              <a:t>AI</a:t>
            </a:r>
            <a:r>
              <a:rPr lang="zh-CN" altLang="en-US" sz="1200" dirty="0"/>
              <a:t> </a:t>
            </a:r>
            <a:r>
              <a:rPr lang="en-US" altLang="zh-CN" sz="1200" dirty="0"/>
              <a:t>label</a:t>
            </a:r>
            <a:r>
              <a:rPr lang="zh-CN" altLang="en-US" sz="1200" dirty="0"/>
              <a:t> </a:t>
            </a:r>
            <a:r>
              <a:rPr lang="en-US" altLang="zh-CN" sz="1200" dirty="0"/>
              <a:t>signals</a:t>
            </a:r>
            <a:r>
              <a:rPr lang="zh-CN" altLang="en-US" sz="1200" dirty="0"/>
              <a:t> </a:t>
            </a:r>
            <a:r>
              <a:rPr lang="en-US" altLang="zh-CN" sz="1200" dirty="0"/>
              <a:t>weak</a:t>
            </a:r>
            <a:r>
              <a:rPr lang="zh-CN" altLang="en-US" sz="1200" dirty="0"/>
              <a:t> </a:t>
            </a:r>
            <a:r>
              <a:rPr lang="en-US" altLang="zh-CN" sz="1200" dirty="0"/>
              <a:t>competition</a:t>
            </a:r>
            <a:endParaRPr lang="en-US" sz="1200" dirty="0"/>
          </a:p>
        </p:txBody>
      </p:sp>
      <p:sp>
        <p:nvSpPr>
          <p:cNvPr id="43" name="Right Arrow 42">
            <a:extLst>
              <a:ext uri="{FF2B5EF4-FFF2-40B4-BE49-F238E27FC236}">
                <a16:creationId xmlns:a16="http://schemas.microsoft.com/office/drawing/2014/main" id="{10D3640B-5469-E71C-D200-A7BDBBEF6514}"/>
              </a:ext>
            </a:extLst>
          </p:cNvPr>
          <p:cNvSpPr/>
          <p:nvPr/>
        </p:nvSpPr>
        <p:spPr>
          <a:xfrm>
            <a:off x="2270164" y="3092685"/>
            <a:ext cx="622730" cy="275464"/>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1200"/>
          </a:p>
        </p:txBody>
      </p:sp>
      <p:sp>
        <p:nvSpPr>
          <p:cNvPr id="44" name="TextBox 43">
            <a:extLst>
              <a:ext uri="{FF2B5EF4-FFF2-40B4-BE49-F238E27FC236}">
                <a16:creationId xmlns:a16="http://schemas.microsoft.com/office/drawing/2014/main" id="{7FF9FEA4-A152-26BE-AB3D-B12FCFAC2F66}"/>
              </a:ext>
            </a:extLst>
          </p:cNvPr>
          <p:cNvSpPr txBox="1"/>
          <p:nvPr/>
        </p:nvSpPr>
        <p:spPr>
          <a:xfrm>
            <a:off x="527777" y="3005651"/>
            <a:ext cx="1670255" cy="461665"/>
          </a:xfrm>
          <a:prstGeom prst="rect">
            <a:avLst/>
          </a:prstGeom>
          <a:noFill/>
        </p:spPr>
        <p:txBody>
          <a:bodyPr wrap="square">
            <a:spAutoFit/>
          </a:bodyPr>
          <a:lstStyle/>
          <a:p>
            <a:pPr algn="ctr"/>
            <a:r>
              <a:rPr lang="en-US" altLang="en-US" sz="1200" dirty="0"/>
              <a:t>AI </a:t>
            </a:r>
            <a:r>
              <a:rPr lang="en-US" altLang="zh-CN" sz="1200" dirty="0"/>
              <a:t>content</a:t>
            </a:r>
            <a:r>
              <a:rPr lang="en-US" altLang="en-US" sz="1200" dirty="0"/>
              <a:t> generate concrete competition </a:t>
            </a:r>
            <a:endParaRPr lang="en-US" sz="1200" dirty="0"/>
          </a:p>
        </p:txBody>
      </p:sp>
      <p:sp>
        <p:nvSpPr>
          <p:cNvPr id="45" name="Rectangle 44">
            <a:extLst>
              <a:ext uri="{FF2B5EF4-FFF2-40B4-BE49-F238E27FC236}">
                <a16:creationId xmlns:a16="http://schemas.microsoft.com/office/drawing/2014/main" id="{0E66FA4C-E293-F581-F402-19549586BA54}"/>
              </a:ext>
            </a:extLst>
          </p:cNvPr>
          <p:cNvSpPr/>
          <p:nvPr/>
        </p:nvSpPr>
        <p:spPr>
          <a:xfrm>
            <a:off x="3054163" y="2933942"/>
            <a:ext cx="3983013" cy="675450"/>
          </a:xfrm>
          <a:prstGeom prst="rect">
            <a:avLst/>
          </a:prstGeom>
          <a:noFill/>
          <a:ln w="25400">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 name="Slide Number Placeholder 1">
            <a:extLst>
              <a:ext uri="{FF2B5EF4-FFF2-40B4-BE49-F238E27FC236}">
                <a16:creationId xmlns:a16="http://schemas.microsoft.com/office/drawing/2014/main" id="{B5CEC1B5-5178-D903-4C05-DBD7E3AFF6EF}"/>
              </a:ext>
            </a:extLst>
          </p:cNvPr>
          <p:cNvSpPr>
            <a:spLocks noGrp="1"/>
          </p:cNvSpPr>
          <p:nvPr>
            <p:ph type="sldNum" sz="quarter" idx="12"/>
          </p:nvPr>
        </p:nvSpPr>
        <p:spPr/>
        <p:txBody>
          <a:bodyPr/>
          <a:lstStyle/>
          <a:p>
            <a:fld id="{80E9C1D4-69BA-4B09-8A24-1CCDDD1AB85B}" type="slidenum">
              <a:rPr lang="zh-CN" altLang="en-US" smtClean="0"/>
              <a:t>9</a:t>
            </a:fld>
            <a:endParaRPr lang="zh-CN" altLang="en-US"/>
          </a:p>
        </p:txBody>
      </p:sp>
      <p:sp>
        <p:nvSpPr>
          <p:cNvPr id="3" name="TextBox 2">
            <a:extLst>
              <a:ext uri="{FF2B5EF4-FFF2-40B4-BE49-F238E27FC236}">
                <a16:creationId xmlns:a16="http://schemas.microsoft.com/office/drawing/2014/main" id="{064FB893-18C4-AB37-AEF7-978B02A8D87D}"/>
              </a:ext>
            </a:extLst>
          </p:cNvPr>
          <p:cNvSpPr txBox="1"/>
          <p:nvPr/>
        </p:nvSpPr>
        <p:spPr>
          <a:xfrm>
            <a:off x="4825096" y="1502690"/>
            <a:ext cx="300082" cy="369332"/>
          </a:xfrm>
          <a:prstGeom prst="rect">
            <a:avLst/>
          </a:prstGeom>
          <a:noFill/>
        </p:spPr>
        <p:txBody>
          <a:bodyPr wrap="none" rtlCol="0">
            <a:spAutoFit/>
          </a:bodyPr>
          <a:lstStyle/>
          <a:p>
            <a:r>
              <a:rPr lang="en-US" altLang="zh-CN" dirty="0"/>
              <a:t>+</a:t>
            </a:r>
            <a:endParaRPr lang="en-US" dirty="0"/>
          </a:p>
        </p:txBody>
      </p:sp>
      <p:sp>
        <p:nvSpPr>
          <p:cNvPr id="20" name="TextBox 19">
            <a:extLst>
              <a:ext uri="{FF2B5EF4-FFF2-40B4-BE49-F238E27FC236}">
                <a16:creationId xmlns:a16="http://schemas.microsoft.com/office/drawing/2014/main" id="{E487AAFF-6C3F-01C7-6137-27488115DF97}"/>
              </a:ext>
            </a:extLst>
          </p:cNvPr>
          <p:cNvSpPr txBox="1"/>
          <p:nvPr/>
        </p:nvSpPr>
        <p:spPr>
          <a:xfrm>
            <a:off x="5580886" y="2039241"/>
            <a:ext cx="255198" cy="369332"/>
          </a:xfrm>
          <a:prstGeom prst="rect">
            <a:avLst/>
          </a:prstGeom>
          <a:noFill/>
        </p:spPr>
        <p:txBody>
          <a:bodyPr wrap="none" rtlCol="0">
            <a:spAutoFit/>
          </a:bodyPr>
          <a:lstStyle/>
          <a:p>
            <a:r>
              <a:rPr lang="en-US" altLang="zh-CN" dirty="0"/>
              <a:t>-</a:t>
            </a:r>
            <a:endParaRPr lang="en-US" dirty="0"/>
          </a:p>
        </p:txBody>
      </p:sp>
      <p:sp>
        <p:nvSpPr>
          <p:cNvPr id="21" name="TextBox 20">
            <a:extLst>
              <a:ext uri="{FF2B5EF4-FFF2-40B4-BE49-F238E27FC236}">
                <a16:creationId xmlns:a16="http://schemas.microsoft.com/office/drawing/2014/main" id="{8954B56E-1905-3F2D-2624-F74A345511B8}"/>
              </a:ext>
            </a:extLst>
          </p:cNvPr>
          <p:cNvSpPr txBox="1"/>
          <p:nvPr/>
        </p:nvSpPr>
        <p:spPr>
          <a:xfrm>
            <a:off x="6498040" y="2536720"/>
            <a:ext cx="255198" cy="369332"/>
          </a:xfrm>
          <a:prstGeom prst="rect">
            <a:avLst/>
          </a:prstGeom>
          <a:noFill/>
        </p:spPr>
        <p:txBody>
          <a:bodyPr wrap="none" rtlCol="0">
            <a:spAutoFit/>
          </a:bodyPr>
          <a:lstStyle/>
          <a:p>
            <a:r>
              <a:rPr lang="en-US" altLang="zh-CN" dirty="0"/>
              <a:t>-</a:t>
            </a:r>
            <a:endParaRPr lang="en-US" dirty="0"/>
          </a:p>
        </p:txBody>
      </p:sp>
      <p:sp>
        <p:nvSpPr>
          <p:cNvPr id="22" name="TextBox 21">
            <a:extLst>
              <a:ext uri="{FF2B5EF4-FFF2-40B4-BE49-F238E27FC236}">
                <a16:creationId xmlns:a16="http://schemas.microsoft.com/office/drawing/2014/main" id="{DAED4990-5AA4-E756-741E-3A5D813DB8AC}"/>
              </a:ext>
            </a:extLst>
          </p:cNvPr>
          <p:cNvSpPr txBox="1"/>
          <p:nvPr/>
        </p:nvSpPr>
        <p:spPr>
          <a:xfrm>
            <a:off x="4719079" y="2498982"/>
            <a:ext cx="255198" cy="369332"/>
          </a:xfrm>
          <a:prstGeom prst="rect">
            <a:avLst/>
          </a:prstGeom>
          <a:noFill/>
        </p:spPr>
        <p:txBody>
          <a:bodyPr wrap="none" rtlCol="0">
            <a:spAutoFit/>
          </a:bodyPr>
          <a:lstStyle/>
          <a:p>
            <a:r>
              <a:rPr lang="en-US" altLang="zh-CN" dirty="0"/>
              <a:t>-</a:t>
            </a:r>
            <a:endParaRPr lang="en-US" dirty="0"/>
          </a:p>
        </p:txBody>
      </p:sp>
    </p:spTree>
    <p:extLst>
      <p:ext uri="{BB962C8B-B14F-4D97-AF65-F5344CB8AC3E}">
        <p14:creationId xmlns:p14="http://schemas.microsoft.com/office/powerpoint/2010/main" val="1612745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42272-345A-2CA7-586A-2C96416A6BE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B6B869-CE50-6B65-2C38-623365614820}"/>
              </a:ext>
            </a:extLst>
          </p:cNvPr>
          <p:cNvSpPr>
            <a:spLocks noGrp="1"/>
          </p:cNvSpPr>
          <p:nvPr>
            <p:ph type="title"/>
          </p:nvPr>
        </p:nvSpPr>
        <p:spPr>
          <a:xfrm>
            <a:off x="417095" y="273844"/>
            <a:ext cx="8293768" cy="669131"/>
          </a:xfrm>
        </p:spPr>
        <p:txBody>
          <a:bodyPr>
            <a:noAutofit/>
          </a:bodyPr>
          <a:lstStyle/>
          <a:p>
            <a:r>
              <a:rPr lang="en-US" altLang="zh-CN" dirty="0"/>
              <a:t>Fast</a:t>
            </a:r>
            <a:r>
              <a:rPr lang="zh-CN" altLang="en-US" dirty="0"/>
              <a:t> </a:t>
            </a:r>
            <a:r>
              <a:rPr lang="en-US" altLang="zh-CN" dirty="0"/>
              <a:t>and</a:t>
            </a:r>
            <a:r>
              <a:rPr lang="zh-CN" altLang="en-US" dirty="0"/>
              <a:t> </a:t>
            </a:r>
            <a:r>
              <a:rPr lang="en-US" altLang="zh-CN" dirty="0"/>
              <a:t>slow:</a:t>
            </a:r>
            <a:r>
              <a:rPr lang="zh-CN" altLang="en-US" dirty="0"/>
              <a:t> </a:t>
            </a:r>
            <a:r>
              <a:rPr lang="en-US" altLang="zh-CN" dirty="0"/>
              <a:t>t</a:t>
            </a:r>
            <a:r>
              <a:rPr lang="en-US" dirty="0"/>
              <a:t>wo </a:t>
            </a:r>
            <a:r>
              <a:rPr lang="en-US" altLang="zh-CN" dirty="0"/>
              <a:t>different</a:t>
            </a:r>
            <a:r>
              <a:rPr lang="zh-CN" altLang="en-US" dirty="0"/>
              <a:t> </a:t>
            </a:r>
            <a:r>
              <a:rPr lang="en-US" altLang="zh-CN" dirty="0"/>
              <a:t>d</a:t>
            </a:r>
            <a:r>
              <a:rPr lang="en-US" dirty="0"/>
              <a:t>ecisions</a:t>
            </a:r>
            <a:endParaRPr lang="en-US" altLang="zh-CN" dirty="0"/>
          </a:p>
        </p:txBody>
      </p:sp>
      <p:grpSp>
        <p:nvGrpSpPr>
          <p:cNvPr id="2" name="Group 1">
            <a:extLst>
              <a:ext uri="{FF2B5EF4-FFF2-40B4-BE49-F238E27FC236}">
                <a16:creationId xmlns:a16="http://schemas.microsoft.com/office/drawing/2014/main" id="{C7351565-FDCB-B3CF-51DD-C47497831C1D}"/>
              </a:ext>
            </a:extLst>
          </p:cNvPr>
          <p:cNvGrpSpPr/>
          <p:nvPr/>
        </p:nvGrpSpPr>
        <p:grpSpPr>
          <a:xfrm>
            <a:off x="241027" y="1517515"/>
            <a:ext cx="5961891" cy="2806007"/>
            <a:chOff x="2660220" y="1649186"/>
            <a:chExt cx="9166022" cy="4818295"/>
          </a:xfrm>
        </p:grpSpPr>
        <p:sp>
          <p:nvSpPr>
            <p:cNvPr id="3" name="Rectangle 2">
              <a:extLst>
                <a:ext uri="{FF2B5EF4-FFF2-40B4-BE49-F238E27FC236}">
                  <a16:creationId xmlns:a16="http://schemas.microsoft.com/office/drawing/2014/main" id="{E3789825-44E8-ACB9-A0B4-43EA17E763D7}"/>
                </a:ext>
              </a:extLst>
            </p:cNvPr>
            <p:cNvSpPr/>
            <p:nvPr/>
          </p:nvSpPr>
          <p:spPr>
            <a:xfrm>
              <a:off x="9900885" y="3358579"/>
              <a:ext cx="1925357" cy="859858"/>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Answer </a:t>
              </a:r>
              <a:r>
                <a:rPr lang="en-US" altLang="zh-CN" sz="1200" dirty="0"/>
                <a:t>Quality</a:t>
              </a:r>
              <a:endParaRPr lang="en-US" sz="1200" dirty="0"/>
            </a:p>
          </p:txBody>
        </p:sp>
        <p:sp>
          <p:nvSpPr>
            <p:cNvPr id="20" name="Rectangle 19">
              <a:extLst>
                <a:ext uri="{FF2B5EF4-FFF2-40B4-BE49-F238E27FC236}">
                  <a16:creationId xmlns:a16="http://schemas.microsoft.com/office/drawing/2014/main" id="{453BB270-4185-5022-5B5A-3289A170C779}"/>
                </a:ext>
              </a:extLst>
            </p:cNvPr>
            <p:cNvSpPr/>
            <p:nvPr/>
          </p:nvSpPr>
          <p:spPr>
            <a:xfrm>
              <a:off x="7592466" y="1649186"/>
              <a:ext cx="1925357" cy="82099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Answer</a:t>
              </a:r>
              <a:r>
                <a:rPr lang="en-US" altLang="zh-CN" sz="1200" dirty="0"/>
                <a:t>er</a:t>
              </a:r>
              <a:r>
                <a:rPr lang="en-US" sz="1200" dirty="0"/>
                <a:t> Participation</a:t>
              </a:r>
            </a:p>
          </p:txBody>
        </p:sp>
        <p:sp>
          <p:nvSpPr>
            <p:cNvPr id="21" name="Rectangle 20">
              <a:extLst>
                <a:ext uri="{FF2B5EF4-FFF2-40B4-BE49-F238E27FC236}">
                  <a16:creationId xmlns:a16="http://schemas.microsoft.com/office/drawing/2014/main" id="{1217D84A-183A-35C0-7DAB-1DF392A50EFF}"/>
                </a:ext>
              </a:extLst>
            </p:cNvPr>
            <p:cNvSpPr/>
            <p:nvPr/>
          </p:nvSpPr>
          <p:spPr>
            <a:xfrm>
              <a:off x="2660220" y="2617963"/>
              <a:ext cx="1786456" cy="792119"/>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Has AI Answer</a:t>
              </a:r>
            </a:p>
          </p:txBody>
        </p:sp>
        <p:cxnSp>
          <p:nvCxnSpPr>
            <p:cNvPr id="22" name="Straight Arrow Connector 21">
              <a:extLst>
                <a:ext uri="{FF2B5EF4-FFF2-40B4-BE49-F238E27FC236}">
                  <a16:creationId xmlns:a16="http://schemas.microsoft.com/office/drawing/2014/main" id="{F1220F62-7B38-62B4-7D0D-398070892A4D}"/>
                </a:ext>
              </a:extLst>
            </p:cNvPr>
            <p:cNvCxnSpPr>
              <a:cxnSpLocks/>
              <a:stCxn id="21" idx="3"/>
              <a:endCxn id="20" idx="1"/>
            </p:cNvCxnSpPr>
            <p:nvPr/>
          </p:nvCxnSpPr>
          <p:spPr>
            <a:xfrm flipV="1">
              <a:off x="4446676" y="2059683"/>
              <a:ext cx="3145790" cy="954340"/>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B79D7400-B0C1-3D2C-069A-DB64A4156A42}"/>
                </a:ext>
              </a:extLst>
            </p:cNvPr>
            <p:cNvCxnSpPr>
              <a:cxnSpLocks/>
              <a:stCxn id="24" idx="0"/>
            </p:cNvCxnSpPr>
            <p:nvPr/>
          </p:nvCxnSpPr>
          <p:spPr>
            <a:xfrm flipH="1" flipV="1">
              <a:off x="5428596" y="2773811"/>
              <a:ext cx="622702" cy="1741600"/>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12A7A63D-CFA1-BD98-811F-E32DA14481BD}"/>
                </a:ext>
              </a:extLst>
            </p:cNvPr>
            <p:cNvSpPr/>
            <p:nvPr/>
          </p:nvSpPr>
          <p:spPr>
            <a:xfrm>
              <a:off x="5359950" y="4515411"/>
              <a:ext cx="1382696" cy="77448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AI Answer Length</a:t>
              </a:r>
            </a:p>
          </p:txBody>
        </p:sp>
        <p:sp>
          <p:nvSpPr>
            <p:cNvPr id="25" name="Rectangle 24">
              <a:extLst>
                <a:ext uri="{FF2B5EF4-FFF2-40B4-BE49-F238E27FC236}">
                  <a16:creationId xmlns:a16="http://schemas.microsoft.com/office/drawing/2014/main" id="{E3972DE3-2AC8-D42A-F7D7-CA5418FB5B2E}"/>
                </a:ext>
              </a:extLst>
            </p:cNvPr>
            <p:cNvSpPr/>
            <p:nvPr/>
          </p:nvSpPr>
          <p:spPr>
            <a:xfrm>
              <a:off x="7549856" y="4515411"/>
              <a:ext cx="1382696" cy="77448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AI Answer Quality</a:t>
              </a:r>
            </a:p>
          </p:txBody>
        </p:sp>
        <p:cxnSp>
          <p:nvCxnSpPr>
            <p:cNvPr id="26" name="Straight Arrow Connector 25">
              <a:extLst>
                <a:ext uri="{FF2B5EF4-FFF2-40B4-BE49-F238E27FC236}">
                  <a16:creationId xmlns:a16="http://schemas.microsoft.com/office/drawing/2014/main" id="{17388C58-A951-EF50-8808-82277E6377F7}"/>
                </a:ext>
              </a:extLst>
            </p:cNvPr>
            <p:cNvCxnSpPr>
              <a:cxnSpLocks/>
              <a:stCxn id="25" idx="0"/>
            </p:cNvCxnSpPr>
            <p:nvPr/>
          </p:nvCxnSpPr>
          <p:spPr>
            <a:xfrm flipV="1">
              <a:off x="8241204" y="3620607"/>
              <a:ext cx="146271" cy="894804"/>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440C8F5-9A36-7C43-31D7-B6D59197567D}"/>
                </a:ext>
              </a:extLst>
            </p:cNvPr>
            <p:cNvCxnSpPr>
              <a:cxnSpLocks/>
              <a:stCxn id="21" idx="3"/>
              <a:endCxn id="3" idx="1"/>
            </p:cNvCxnSpPr>
            <p:nvPr/>
          </p:nvCxnSpPr>
          <p:spPr>
            <a:xfrm>
              <a:off x="4446676" y="3014023"/>
              <a:ext cx="5454209" cy="774485"/>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D880719A-0412-ADAD-8538-88F633FFA1D0}"/>
                </a:ext>
              </a:extLst>
            </p:cNvPr>
            <p:cNvCxnSpPr>
              <a:cxnSpLocks/>
              <a:stCxn id="24" idx="0"/>
            </p:cNvCxnSpPr>
            <p:nvPr/>
          </p:nvCxnSpPr>
          <p:spPr>
            <a:xfrm flipV="1">
              <a:off x="6051298" y="3358579"/>
              <a:ext cx="192094" cy="1156832"/>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A3FC58D3-D2CB-3571-551B-DE5508DA6F79}"/>
                </a:ext>
              </a:extLst>
            </p:cNvPr>
            <p:cNvCxnSpPr>
              <a:cxnSpLocks/>
              <a:stCxn id="25" idx="0"/>
            </p:cNvCxnSpPr>
            <p:nvPr/>
          </p:nvCxnSpPr>
          <p:spPr>
            <a:xfrm flipH="1" flipV="1">
              <a:off x="7306163" y="2177329"/>
              <a:ext cx="935040" cy="2338081"/>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0" name="Right Brace 29">
              <a:extLst>
                <a:ext uri="{FF2B5EF4-FFF2-40B4-BE49-F238E27FC236}">
                  <a16:creationId xmlns:a16="http://schemas.microsoft.com/office/drawing/2014/main" id="{025D15E5-93D6-4D4A-0202-2AA458F83595}"/>
                </a:ext>
              </a:extLst>
            </p:cNvPr>
            <p:cNvSpPr/>
            <p:nvPr/>
          </p:nvSpPr>
          <p:spPr>
            <a:xfrm rot="5400000">
              <a:off x="7033285" y="1812333"/>
              <a:ext cx="280310" cy="7953390"/>
            </a:xfrm>
            <a:prstGeom prst="rightBrace">
              <a:avLst>
                <a:gd name="adj1" fmla="val 41330"/>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200"/>
            </a:p>
          </p:txBody>
        </p:sp>
        <p:sp>
          <p:nvSpPr>
            <p:cNvPr id="31" name="TextBox 30">
              <a:extLst>
                <a:ext uri="{FF2B5EF4-FFF2-40B4-BE49-F238E27FC236}">
                  <a16:creationId xmlns:a16="http://schemas.microsoft.com/office/drawing/2014/main" id="{FEFC1DC5-8BEA-21FA-1286-41CBAA488207}"/>
                </a:ext>
              </a:extLst>
            </p:cNvPr>
            <p:cNvSpPr txBox="1"/>
            <p:nvPr/>
          </p:nvSpPr>
          <p:spPr>
            <a:xfrm>
              <a:off x="3197426" y="5991836"/>
              <a:ext cx="1744875" cy="475645"/>
            </a:xfrm>
            <a:prstGeom prst="rect">
              <a:avLst/>
            </a:prstGeom>
            <a:noFill/>
            <a:ln>
              <a:noFill/>
            </a:ln>
          </p:spPr>
          <p:txBody>
            <a:bodyPr wrap="none" rtlCol="0">
              <a:spAutoFit/>
            </a:bodyPr>
            <a:lstStyle/>
            <a:p>
              <a:r>
                <a:rPr lang="en-US" altLang="zh-CN" sz="1200" dirty="0"/>
                <a:t>Fast</a:t>
              </a:r>
              <a:r>
                <a:rPr lang="en-US" sz="1200" dirty="0"/>
                <a:t> Processing</a:t>
              </a:r>
            </a:p>
          </p:txBody>
        </p:sp>
        <p:sp>
          <p:nvSpPr>
            <p:cNvPr id="32" name="TextBox 31">
              <a:extLst>
                <a:ext uri="{FF2B5EF4-FFF2-40B4-BE49-F238E27FC236}">
                  <a16:creationId xmlns:a16="http://schemas.microsoft.com/office/drawing/2014/main" id="{405646BE-FD90-5B96-A496-6AFFEC1B014B}"/>
                </a:ext>
              </a:extLst>
            </p:cNvPr>
            <p:cNvSpPr txBox="1"/>
            <p:nvPr/>
          </p:nvSpPr>
          <p:spPr>
            <a:xfrm>
              <a:off x="9168734" y="5950596"/>
              <a:ext cx="1817036" cy="475645"/>
            </a:xfrm>
            <a:prstGeom prst="rect">
              <a:avLst/>
            </a:prstGeom>
            <a:noFill/>
            <a:ln>
              <a:noFill/>
            </a:ln>
          </p:spPr>
          <p:txBody>
            <a:bodyPr wrap="none" rtlCol="0">
              <a:spAutoFit/>
            </a:bodyPr>
            <a:lstStyle/>
            <a:p>
              <a:r>
                <a:rPr lang="en-US" altLang="zh-CN" sz="1200" dirty="0"/>
                <a:t>Slow</a:t>
              </a:r>
              <a:r>
                <a:rPr lang="en-US" sz="1200" dirty="0"/>
                <a:t> Processing</a:t>
              </a:r>
            </a:p>
          </p:txBody>
        </p:sp>
      </p:grpSp>
      <p:sp>
        <p:nvSpPr>
          <p:cNvPr id="33" name="TextBox 32">
            <a:extLst>
              <a:ext uri="{FF2B5EF4-FFF2-40B4-BE49-F238E27FC236}">
                <a16:creationId xmlns:a16="http://schemas.microsoft.com/office/drawing/2014/main" id="{5132ADA7-FD79-F822-BB90-F64FB7294AC3}"/>
              </a:ext>
            </a:extLst>
          </p:cNvPr>
          <p:cNvSpPr txBox="1"/>
          <p:nvPr/>
        </p:nvSpPr>
        <p:spPr>
          <a:xfrm>
            <a:off x="6454417" y="2034461"/>
            <a:ext cx="2689583" cy="1351588"/>
          </a:xfrm>
          <a:prstGeom prst="rect">
            <a:avLst/>
          </a:prstGeom>
          <a:noFill/>
        </p:spPr>
        <p:txBody>
          <a:bodyPr wrap="square" rtlCol="0">
            <a:spAutoFit/>
          </a:bodyPr>
          <a:lstStyle/>
          <a:p>
            <a:pPr>
              <a:lnSpc>
                <a:spcPct val="150000"/>
              </a:lnSpc>
            </a:pPr>
            <a:r>
              <a:rPr lang="en-US" altLang="zh-CN" sz="1400" dirty="0"/>
              <a:t>Based</a:t>
            </a:r>
            <a:r>
              <a:rPr lang="zh-CN" altLang="en-US" sz="1400" dirty="0"/>
              <a:t> </a:t>
            </a:r>
            <a:r>
              <a:rPr lang="en-US" altLang="zh-CN" sz="1400" dirty="0"/>
              <a:t>on</a:t>
            </a:r>
            <a:r>
              <a:rPr lang="zh-CN" altLang="en-US" sz="1400" dirty="0"/>
              <a:t> </a:t>
            </a:r>
            <a:r>
              <a:rPr lang="en-US" altLang="zh-CN" sz="1400" dirty="0"/>
              <a:t>Kahneman</a:t>
            </a:r>
            <a:r>
              <a:rPr lang="zh-CN" altLang="en-US" sz="1400" dirty="0"/>
              <a:t> </a:t>
            </a:r>
            <a:r>
              <a:rPr lang="en-US" altLang="zh-CN" sz="1400" dirty="0"/>
              <a:t>(2011)</a:t>
            </a:r>
            <a:endParaRPr lang="en-US" sz="1400" dirty="0"/>
          </a:p>
          <a:p>
            <a:pPr>
              <a:lnSpc>
                <a:spcPct val="150000"/>
              </a:lnSpc>
            </a:pPr>
            <a:r>
              <a:rPr lang="en-US" sz="1400" dirty="0"/>
              <a:t>Answer</a:t>
            </a:r>
            <a:r>
              <a:rPr lang="en-US" altLang="zh-CN" sz="1400" dirty="0"/>
              <a:t>er</a:t>
            </a:r>
            <a:r>
              <a:rPr lang="en-US" sz="1400" dirty="0"/>
              <a:t>s make two decisions </a:t>
            </a:r>
          </a:p>
          <a:p>
            <a:pPr>
              <a:lnSpc>
                <a:spcPct val="150000"/>
              </a:lnSpc>
            </a:pPr>
            <a:r>
              <a:rPr lang="en-US" sz="1400" dirty="0"/>
              <a:t>1) </a:t>
            </a:r>
            <a:r>
              <a:rPr lang="en-US" altLang="zh-CN" sz="1400" dirty="0"/>
              <a:t>Fast:</a:t>
            </a:r>
            <a:r>
              <a:rPr lang="zh-CN" altLang="en-US" sz="1400" dirty="0"/>
              <a:t> </a:t>
            </a:r>
            <a:r>
              <a:rPr lang="en-US" sz="1400" dirty="0"/>
              <a:t>whether to participate</a:t>
            </a:r>
          </a:p>
          <a:p>
            <a:pPr>
              <a:lnSpc>
                <a:spcPct val="150000"/>
              </a:lnSpc>
            </a:pPr>
            <a:r>
              <a:rPr lang="en-US" sz="1400" dirty="0"/>
              <a:t>2) </a:t>
            </a:r>
            <a:r>
              <a:rPr lang="en-US" altLang="zh-CN" sz="1400" dirty="0"/>
              <a:t>Slow:</a:t>
            </a:r>
            <a:r>
              <a:rPr lang="zh-CN" altLang="en-US" sz="1400" dirty="0"/>
              <a:t> </a:t>
            </a:r>
            <a:r>
              <a:rPr lang="en-US" sz="1400" dirty="0"/>
              <a:t>how to contribute</a:t>
            </a:r>
          </a:p>
        </p:txBody>
      </p:sp>
      <p:sp>
        <p:nvSpPr>
          <p:cNvPr id="34" name="TextBox 33">
            <a:extLst>
              <a:ext uri="{FF2B5EF4-FFF2-40B4-BE49-F238E27FC236}">
                <a16:creationId xmlns:a16="http://schemas.microsoft.com/office/drawing/2014/main" id="{7F4F033B-01C7-34EC-BA03-BAEC4E9DA379}"/>
              </a:ext>
            </a:extLst>
          </p:cNvPr>
          <p:cNvSpPr txBox="1"/>
          <p:nvPr/>
        </p:nvSpPr>
        <p:spPr>
          <a:xfrm>
            <a:off x="0" y="4913581"/>
            <a:ext cx="6013246" cy="261610"/>
          </a:xfrm>
          <a:prstGeom prst="rect">
            <a:avLst/>
          </a:prstGeom>
          <a:noFill/>
        </p:spPr>
        <p:txBody>
          <a:bodyPr wrap="square">
            <a:spAutoFit/>
          </a:bodyPr>
          <a:lstStyle/>
          <a:p>
            <a:r>
              <a:rPr lang="en-US" sz="1100" b="0" i="0" dirty="0">
                <a:solidFill>
                  <a:srgbClr val="222222"/>
                </a:solidFill>
                <a:effectLst/>
                <a:latin typeface="Arial" panose="020B0604020202020204" pitchFamily="34" charset="0"/>
              </a:rPr>
              <a:t>Kahneman, D. (2011). Thinking, fast and slow. </a:t>
            </a:r>
            <a:r>
              <a:rPr lang="en-US" sz="1100" b="0" i="1" dirty="0">
                <a:solidFill>
                  <a:srgbClr val="222222"/>
                </a:solidFill>
                <a:effectLst/>
                <a:latin typeface="Arial" panose="020B0604020202020204" pitchFamily="34" charset="0"/>
              </a:rPr>
              <a:t>Farrar, Straus and Giroux</a:t>
            </a:r>
            <a:r>
              <a:rPr lang="en-US" sz="1100" b="0" i="0" dirty="0">
                <a:solidFill>
                  <a:srgbClr val="222222"/>
                </a:solidFill>
                <a:effectLst/>
                <a:latin typeface="Arial" panose="020B0604020202020204" pitchFamily="34" charset="0"/>
              </a:rPr>
              <a:t>.</a:t>
            </a:r>
            <a:endParaRPr lang="en-US" sz="1100" dirty="0"/>
          </a:p>
        </p:txBody>
      </p:sp>
      <p:sp>
        <p:nvSpPr>
          <p:cNvPr id="5" name="Slide Number Placeholder 4">
            <a:extLst>
              <a:ext uri="{FF2B5EF4-FFF2-40B4-BE49-F238E27FC236}">
                <a16:creationId xmlns:a16="http://schemas.microsoft.com/office/drawing/2014/main" id="{2ECE0F62-83E2-536C-96FA-E586B6AF7AC4}"/>
              </a:ext>
            </a:extLst>
          </p:cNvPr>
          <p:cNvSpPr>
            <a:spLocks noGrp="1"/>
          </p:cNvSpPr>
          <p:nvPr>
            <p:ph type="sldNum" sz="quarter" idx="12"/>
          </p:nvPr>
        </p:nvSpPr>
        <p:spPr/>
        <p:txBody>
          <a:bodyPr/>
          <a:lstStyle/>
          <a:p>
            <a:fld id="{80E9C1D4-69BA-4B09-8A24-1CCDDD1AB85B}" type="slidenum">
              <a:rPr lang="zh-CN" altLang="en-US" smtClean="0"/>
              <a:t>10</a:t>
            </a:fld>
            <a:endParaRPr lang="zh-CN" altLang="en-US"/>
          </a:p>
        </p:txBody>
      </p:sp>
      <p:sp>
        <p:nvSpPr>
          <p:cNvPr id="6" name="TextBox 5">
            <a:extLst>
              <a:ext uri="{FF2B5EF4-FFF2-40B4-BE49-F238E27FC236}">
                <a16:creationId xmlns:a16="http://schemas.microsoft.com/office/drawing/2014/main" id="{D58083A7-AE38-5303-7D44-3EA92A452A90}"/>
              </a:ext>
            </a:extLst>
          </p:cNvPr>
          <p:cNvSpPr txBox="1"/>
          <p:nvPr/>
        </p:nvSpPr>
        <p:spPr>
          <a:xfrm>
            <a:off x="2058185" y="1637116"/>
            <a:ext cx="300082" cy="369332"/>
          </a:xfrm>
          <a:prstGeom prst="rect">
            <a:avLst/>
          </a:prstGeom>
          <a:noFill/>
        </p:spPr>
        <p:txBody>
          <a:bodyPr wrap="none" rtlCol="0">
            <a:spAutoFit/>
          </a:bodyPr>
          <a:lstStyle/>
          <a:p>
            <a:r>
              <a:rPr lang="en-US" altLang="zh-CN" dirty="0"/>
              <a:t>+</a:t>
            </a:r>
            <a:endParaRPr lang="en-US" dirty="0"/>
          </a:p>
        </p:txBody>
      </p:sp>
      <p:sp>
        <p:nvSpPr>
          <p:cNvPr id="7" name="TextBox 6">
            <a:extLst>
              <a:ext uri="{FF2B5EF4-FFF2-40B4-BE49-F238E27FC236}">
                <a16:creationId xmlns:a16="http://schemas.microsoft.com/office/drawing/2014/main" id="{B3393DBB-8417-F7C9-BFC2-8D28946E5128}"/>
              </a:ext>
            </a:extLst>
          </p:cNvPr>
          <p:cNvSpPr txBox="1"/>
          <p:nvPr/>
        </p:nvSpPr>
        <p:spPr>
          <a:xfrm>
            <a:off x="2813975" y="2173667"/>
            <a:ext cx="255198" cy="369332"/>
          </a:xfrm>
          <a:prstGeom prst="rect">
            <a:avLst/>
          </a:prstGeom>
          <a:noFill/>
        </p:spPr>
        <p:txBody>
          <a:bodyPr wrap="none" rtlCol="0">
            <a:spAutoFit/>
          </a:bodyPr>
          <a:lstStyle/>
          <a:p>
            <a:r>
              <a:rPr lang="en-US" altLang="zh-CN" dirty="0"/>
              <a:t>-</a:t>
            </a:r>
            <a:endParaRPr lang="en-US" dirty="0"/>
          </a:p>
        </p:txBody>
      </p:sp>
      <p:sp>
        <p:nvSpPr>
          <p:cNvPr id="8" name="TextBox 7">
            <a:extLst>
              <a:ext uri="{FF2B5EF4-FFF2-40B4-BE49-F238E27FC236}">
                <a16:creationId xmlns:a16="http://schemas.microsoft.com/office/drawing/2014/main" id="{D9310205-C398-34ED-537C-45D39D6BB3ED}"/>
              </a:ext>
            </a:extLst>
          </p:cNvPr>
          <p:cNvSpPr txBox="1"/>
          <p:nvPr/>
        </p:nvSpPr>
        <p:spPr>
          <a:xfrm>
            <a:off x="3938202" y="2712148"/>
            <a:ext cx="255198" cy="369332"/>
          </a:xfrm>
          <a:prstGeom prst="rect">
            <a:avLst/>
          </a:prstGeom>
          <a:noFill/>
        </p:spPr>
        <p:txBody>
          <a:bodyPr wrap="none" rtlCol="0">
            <a:spAutoFit/>
          </a:bodyPr>
          <a:lstStyle/>
          <a:p>
            <a:r>
              <a:rPr lang="en-US" altLang="zh-CN" dirty="0"/>
              <a:t>-</a:t>
            </a:r>
            <a:endParaRPr lang="en-US" dirty="0"/>
          </a:p>
        </p:txBody>
      </p:sp>
      <p:sp>
        <p:nvSpPr>
          <p:cNvPr id="9" name="TextBox 8">
            <a:extLst>
              <a:ext uri="{FF2B5EF4-FFF2-40B4-BE49-F238E27FC236}">
                <a16:creationId xmlns:a16="http://schemas.microsoft.com/office/drawing/2014/main" id="{A71783D1-EFC4-9EC7-8E47-00D80369CF5F}"/>
              </a:ext>
            </a:extLst>
          </p:cNvPr>
          <p:cNvSpPr txBox="1"/>
          <p:nvPr/>
        </p:nvSpPr>
        <p:spPr>
          <a:xfrm>
            <a:off x="1952168" y="2633408"/>
            <a:ext cx="255198" cy="369332"/>
          </a:xfrm>
          <a:prstGeom prst="rect">
            <a:avLst/>
          </a:prstGeom>
          <a:noFill/>
        </p:spPr>
        <p:txBody>
          <a:bodyPr wrap="none" rtlCol="0">
            <a:spAutoFit/>
          </a:bodyPr>
          <a:lstStyle/>
          <a:p>
            <a:r>
              <a:rPr lang="en-US" altLang="zh-CN" dirty="0"/>
              <a:t>-</a:t>
            </a:r>
            <a:endParaRPr lang="en-US" dirty="0"/>
          </a:p>
        </p:txBody>
      </p:sp>
    </p:spTree>
    <p:extLst>
      <p:ext uri="{BB962C8B-B14F-4D97-AF65-F5344CB8AC3E}">
        <p14:creationId xmlns:p14="http://schemas.microsoft.com/office/powerpoint/2010/main" val="4124422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0A152-B720-4919-9709-02FB6A3BE02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99169F5-E427-B82E-A3D9-9CBF03DF0B8E}"/>
              </a:ext>
            </a:extLst>
          </p:cNvPr>
          <p:cNvSpPr>
            <a:spLocks noGrp="1"/>
          </p:cNvSpPr>
          <p:nvPr>
            <p:ph type="title"/>
          </p:nvPr>
        </p:nvSpPr>
        <p:spPr/>
        <p:txBody>
          <a:bodyPr>
            <a:normAutofit fontScale="90000"/>
          </a:bodyPr>
          <a:lstStyle/>
          <a:p>
            <a:r>
              <a:rPr lang="en-US" dirty="0"/>
              <a:t>Theor</a:t>
            </a:r>
            <a:r>
              <a:rPr lang="en-US" altLang="zh-CN" dirty="0"/>
              <a:t>etical</a:t>
            </a:r>
            <a:r>
              <a:rPr lang="zh-CN" altLang="en-US" dirty="0"/>
              <a:t> </a:t>
            </a:r>
            <a:r>
              <a:rPr lang="en-US" altLang="zh-CN" dirty="0"/>
              <a:t>Development</a:t>
            </a:r>
            <a:r>
              <a:rPr lang="en-US" dirty="0"/>
              <a:t>: </a:t>
            </a:r>
            <a:br>
              <a:rPr lang="en-US" dirty="0"/>
            </a:br>
            <a:r>
              <a:rPr lang="en-US" altLang="en-US" dirty="0"/>
              <a:t>Competition with a "Weaker" Competitor</a:t>
            </a:r>
          </a:p>
        </p:txBody>
      </p:sp>
      <p:sp>
        <p:nvSpPr>
          <p:cNvPr id="6" name="Content Placeholder 2">
            <a:extLst>
              <a:ext uri="{FF2B5EF4-FFF2-40B4-BE49-F238E27FC236}">
                <a16:creationId xmlns:a16="http://schemas.microsoft.com/office/drawing/2014/main" id="{BA8FF815-E6EE-D03F-BE5E-5635CE322EEB}"/>
              </a:ext>
            </a:extLst>
          </p:cNvPr>
          <p:cNvSpPr txBox="1">
            <a:spLocks/>
          </p:cNvSpPr>
          <p:nvPr/>
        </p:nvSpPr>
        <p:spPr>
          <a:xfrm>
            <a:off x="628650" y="1190847"/>
            <a:ext cx="7886700" cy="3441876"/>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lvl="1">
              <a:spcBef>
                <a:spcPts val="750"/>
              </a:spcBef>
            </a:pPr>
            <a:r>
              <a:rPr lang="en-US" altLang="en-US" sz="2100" dirty="0">
                <a:latin typeface="+mj-lt"/>
              </a:rPr>
              <a:t>Humans </a:t>
            </a:r>
            <a:r>
              <a:rPr lang="en-US" altLang="zh-CN" sz="2100" dirty="0">
                <a:latin typeface="+mj-lt"/>
              </a:rPr>
              <a:t>first</a:t>
            </a:r>
            <a:r>
              <a:rPr lang="zh-CN" altLang="en-US" sz="2100" dirty="0">
                <a:latin typeface="+mj-lt"/>
              </a:rPr>
              <a:t> </a:t>
            </a:r>
            <a:r>
              <a:rPr lang="en-US" altLang="en-US" sz="2100" dirty="0">
                <a:latin typeface="+mj-lt"/>
              </a:rPr>
              <a:t>view AI as a weak competitor</a:t>
            </a:r>
            <a:r>
              <a:rPr lang="zh-CN" altLang="en-US" sz="2100" dirty="0">
                <a:latin typeface="+mj-lt"/>
              </a:rPr>
              <a:t> </a:t>
            </a:r>
            <a:r>
              <a:rPr lang="en-US" altLang="zh-CN" sz="2100" dirty="0">
                <a:latin typeface="+mj-lt"/>
              </a:rPr>
              <a:t>(before</a:t>
            </a:r>
            <a:r>
              <a:rPr lang="zh-CN" altLang="en-US" sz="2100" dirty="0">
                <a:latin typeface="+mj-lt"/>
              </a:rPr>
              <a:t> </a:t>
            </a:r>
            <a:r>
              <a:rPr lang="en-US" altLang="zh-CN" sz="2100" dirty="0">
                <a:latin typeface="+mj-lt"/>
              </a:rPr>
              <a:t>seeing</a:t>
            </a:r>
            <a:r>
              <a:rPr lang="zh-CN" altLang="en-US" sz="2100" dirty="0">
                <a:latin typeface="+mj-lt"/>
              </a:rPr>
              <a:t> </a:t>
            </a:r>
            <a:r>
              <a:rPr lang="en-US" altLang="zh-CN" sz="2100" dirty="0">
                <a:latin typeface="+mj-lt"/>
              </a:rPr>
              <a:t>content)</a:t>
            </a:r>
            <a:r>
              <a:rPr lang="en-US" altLang="en-US" sz="2100" dirty="0">
                <a:latin typeface="+mj-lt"/>
              </a:rPr>
              <a:t>, </a:t>
            </a:r>
          </a:p>
          <a:p>
            <a:pPr marL="171450" lvl="1">
              <a:spcBef>
                <a:spcPts val="750"/>
              </a:spcBef>
            </a:pPr>
            <a:r>
              <a:rPr lang="en-US" altLang="zh-CN" sz="2100" dirty="0">
                <a:latin typeface="+mj-lt"/>
              </a:rPr>
              <a:t>Then,</a:t>
            </a:r>
            <a:r>
              <a:rPr lang="en-US" altLang="en-US" sz="2100" dirty="0">
                <a:latin typeface="+mj-lt"/>
              </a:rPr>
              <a:t> AI </a:t>
            </a:r>
            <a:r>
              <a:rPr lang="en-US" altLang="zh-CN" sz="2100" dirty="0">
                <a:latin typeface="+mj-lt"/>
              </a:rPr>
              <a:t>content</a:t>
            </a:r>
            <a:r>
              <a:rPr lang="en-US" altLang="en-US" sz="2100" dirty="0">
                <a:latin typeface="+mj-lt"/>
              </a:rPr>
              <a:t> </a:t>
            </a:r>
            <a:r>
              <a:rPr lang="en-US" altLang="zh-CN" sz="2100" dirty="0">
                <a:latin typeface="+mj-lt"/>
              </a:rPr>
              <a:t>generates</a:t>
            </a:r>
            <a:r>
              <a:rPr lang="en-US" altLang="en-US" sz="2100" dirty="0">
                <a:latin typeface="+mj-lt"/>
              </a:rPr>
              <a:t> </a:t>
            </a:r>
            <a:r>
              <a:rPr lang="en-US" altLang="zh-CN" sz="2100" dirty="0">
                <a:latin typeface="+mj-lt"/>
              </a:rPr>
              <a:t>real</a:t>
            </a:r>
            <a:r>
              <a:rPr lang="zh-CN" altLang="en-US" sz="2100" dirty="0">
                <a:latin typeface="+mj-lt"/>
              </a:rPr>
              <a:t> </a:t>
            </a:r>
            <a:r>
              <a:rPr lang="en-US" altLang="en-US" sz="2100" dirty="0">
                <a:latin typeface="+mj-lt"/>
              </a:rPr>
              <a:t>competitive dynamics</a:t>
            </a:r>
            <a:endParaRPr lang="en-US" altLang="en-US" dirty="0">
              <a:latin typeface="+mj-lt"/>
            </a:endParaRPr>
          </a:p>
        </p:txBody>
      </p:sp>
      <p:graphicFrame>
        <p:nvGraphicFramePr>
          <p:cNvPr id="9" name="Table 8">
            <a:extLst>
              <a:ext uri="{FF2B5EF4-FFF2-40B4-BE49-F238E27FC236}">
                <a16:creationId xmlns:a16="http://schemas.microsoft.com/office/drawing/2014/main" id="{43204B9A-264D-6EB6-D096-DF7CFC744356}"/>
              </a:ext>
            </a:extLst>
          </p:cNvPr>
          <p:cNvGraphicFramePr>
            <a:graphicFrameLocks noGrp="1"/>
          </p:cNvGraphicFramePr>
          <p:nvPr>
            <p:extLst>
              <p:ext uri="{D42A27DB-BD31-4B8C-83A1-F6EECF244321}">
                <p14:modId xmlns:p14="http://schemas.microsoft.com/office/powerpoint/2010/main" val="1015654370"/>
              </p:ext>
            </p:extLst>
          </p:nvPr>
        </p:nvGraphicFramePr>
        <p:xfrm>
          <a:off x="628650" y="2058401"/>
          <a:ext cx="7768019" cy="2574321"/>
        </p:xfrm>
        <a:graphic>
          <a:graphicData uri="http://schemas.openxmlformats.org/drawingml/2006/table">
            <a:tbl>
              <a:tblPr>
                <a:tableStyleId>{2D5ABB26-0587-4C30-8999-92F81FD0307C}</a:tableStyleId>
              </a:tblPr>
              <a:tblGrid>
                <a:gridCol w="2130806">
                  <a:extLst>
                    <a:ext uri="{9D8B030D-6E8A-4147-A177-3AD203B41FA5}">
                      <a16:colId xmlns:a16="http://schemas.microsoft.com/office/drawing/2014/main" val="467291939"/>
                    </a:ext>
                  </a:extLst>
                </a:gridCol>
                <a:gridCol w="2867343">
                  <a:extLst>
                    <a:ext uri="{9D8B030D-6E8A-4147-A177-3AD203B41FA5}">
                      <a16:colId xmlns:a16="http://schemas.microsoft.com/office/drawing/2014/main" val="3768826293"/>
                    </a:ext>
                  </a:extLst>
                </a:gridCol>
                <a:gridCol w="2769870">
                  <a:extLst>
                    <a:ext uri="{9D8B030D-6E8A-4147-A177-3AD203B41FA5}">
                      <a16:colId xmlns:a16="http://schemas.microsoft.com/office/drawing/2014/main" val="2119890597"/>
                    </a:ext>
                  </a:extLst>
                </a:gridCol>
              </a:tblGrid>
              <a:tr h="409551">
                <a:tc>
                  <a:txBody>
                    <a:bodyPr/>
                    <a:lstStyle/>
                    <a:p>
                      <a:pPr algn="l">
                        <a:buNone/>
                      </a:pPr>
                      <a:r>
                        <a:rPr lang="en-US" altLang="zh-CN" sz="1600" dirty="0"/>
                        <a:t>DV</a:t>
                      </a:r>
                      <a:endParaRPr lang="en-US" sz="1600" dirty="0"/>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t>Contribution (Fast)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t>Answer Quality (Slow)</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2209051"/>
                  </a:ext>
                </a:extLst>
              </a:tr>
              <a:tr h="721590">
                <a:tc>
                  <a:txBody>
                    <a:bodyPr/>
                    <a:lstStyle/>
                    <a:p>
                      <a:pPr>
                        <a:buNone/>
                      </a:pPr>
                      <a:r>
                        <a:rPr lang="en-US" sz="1600" b="0" dirty="0"/>
                        <a:t>AI </a:t>
                      </a:r>
                      <a:r>
                        <a:rPr lang="en-US" altLang="zh-CN" sz="1600" b="0" dirty="0"/>
                        <a:t>Label</a:t>
                      </a:r>
                      <a:endParaRPr lang="en-US" sz="1600" b="0" dirty="0"/>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t>H1: </a:t>
                      </a:r>
                      <a:r>
                        <a:rPr lang="en-US" sz="1600" b="1" dirty="0"/>
                        <a:t>↑</a:t>
                      </a:r>
                      <a:r>
                        <a:rPr lang="en-US" sz="1600" dirty="0"/>
                        <a:t> </a:t>
                      </a:r>
                      <a:br>
                        <a:rPr lang="en-US" sz="1600" dirty="0"/>
                      </a:br>
                      <a:r>
                        <a:rPr lang="en-US" sz="1600" dirty="0"/>
                        <a:t>(</a:t>
                      </a:r>
                      <a:r>
                        <a:rPr lang="en-US" altLang="zh-CN" sz="1600" dirty="0"/>
                        <a:t>[theory]</a:t>
                      </a:r>
                      <a:r>
                        <a:rPr lang="en-US" sz="1600" dirty="0"/>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t>H3: </a:t>
                      </a:r>
                      <a:r>
                        <a:rPr lang="en-US" sz="1600" b="1" dirty="0"/>
                        <a:t>↓</a:t>
                      </a:r>
                      <a:r>
                        <a:rPr lang="en-US" sz="1600" dirty="0"/>
                        <a:t> </a:t>
                      </a:r>
                      <a:br>
                        <a:rPr lang="en-US" sz="1600" dirty="0"/>
                      </a:br>
                      <a:r>
                        <a:rPr lang="en-US" sz="1600" dirty="0"/>
                        <a:t>(weak rival → complacency)</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6073917"/>
                  </a:ext>
                </a:extLst>
              </a:tr>
              <a:tr h="721590">
                <a:tc>
                  <a:txBody>
                    <a:bodyPr/>
                    <a:lstStyle/>
                    <a:p>
                      <a:pPr>
                        <a:buNone/>
                      </a:pPr>
                      <a:r>
                        <a:rPr lang="en-US" altLang="zh-CN" sz="1600" b="0" dirty="0"/>
                        <a:t>AI</a:t>
                      </a:r>
                      <a:r>
                        <a:rPr lang="zh-CN" altLang="en-US" sz="1600" b="0" dirty="0"/>
                        <a:t> </a:t>
                      </a:r>
                      <a:r>
                        <a:rPr lang="en-US" altLang="zh-CN" sz="1600" b="0" dirty="0"/>
                        <a:t>Answer</a:t>
                      </a:r>
                      <a:r>
                        <a:rPr lang="zh-CN" altLang="en-US" sz="1600" b="0" dirty="0"/>
                        <a:t> </a:t>
                      </a:r>
                      <a:r>
                        <a:rPr lang="en-US" sz="1600" b="0" dirty="0"/>
                        <a:t>Length</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t>H2: </a:t>
                      </a:r>
                      <a:r>
                        <a:rPr lang="en-US" sz="1600" b="1" dirty="0"/>
                        <a:t>attenuates H1</a:t>
                      </a:r>
                      <a:r>
                        <a:rPr lang="en-US" sz="1600" dirty="0"/>
                        <a:t> </a:t>
                      </a:r>
                      <a:br>
                        <a:rPr lang="en-US" sz="1600" dirty="0"/>
                      </a:br>
                      <a:r>
                        <a:rPr lang="en-US" sz="1600" dirty="0"/>
                        <a:t>(occupied space → deters entry)</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703508"/>
                  </a:ext>
                </a:extLst>
              </a:tr>
              <a:tr h="721590">
                <a:tc>
                  <a:txBody>
                    <a:bodyPr/>
                    <a:lstStyle/>
                    <a:p>
                      <a:pPr>
                        <a:buNone/>
                      </a:pPr>
                      <a:r>
                        <a:rPr lang="en-US" altLang="zh-CN" sz="1600" b="0" dirty="0"/>
                        <a:t>AI</a:t>
                      </a:r>
                      <a:r>
                        <a:rPr lang="zh-CN" altLang="en-US" sz="1600" b="0" dirty="0"/>
                        <a:t> </a:t>
                      </a:r>
                      <a:r>
                        <a:rPr lang="en-US" altLang="zh-CN" sz="1600" b="0" dirty="0"/>
                        <a:t>Answer</a:t>
                      </a:r>
                      <a:r>
                        <a:rPr lang="zh-CN" altLang="en-US" sz="1600" b="0" dirty="0"/>
                        <a:t> </a:t>
                      </a:r>
                      <a:r>
                        <a:rPr lang="en-US" sz="1600" b="0" dirty="0"/>
                        <a:t>Quality</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t>H4: </a:t>
                      </a:r>
                      <a:r>
                        <a:rPr lang="en-US" sz="1600" b="1" dirty="0"/>
                        <a:t>reverses H3</a:t>
                      </a:r>
                      <a:r>
                        <a:rPr lang="en-US" sz="1600" dirty="0"/>
                        <a:t> </a:t>
                      </a:r>
                      <a:br>
                        <a:rPr lang="en-US" sz="1600" dirty="0"/>
                      </a:br>
                      <a:r>
                        <a:rPr lang="en-US" sz="1600" dirty="0"/>
                        <a:t>(credible rival → raises the bar)</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683457"/>
                  </a:ext>
                </a:extLst>
              </a:tr>
            </a:tbl>
          </a:graphicData>
        </a:graphic>
      </p:graphicFrame>
      <p:sp>
        <p:nvSpPr>
          <p:cNvPr id="2" name="Slide Number Placeholder 1">
            <a:extLst>
              <a:ext uri="{FF2B5EF4-FFF2-40B4-BE49-F238E27FC236}">
                <a16:creationId xmlns:a16="http://schemas.microsoft.com/office/drawing/2014/main" id="{B61F5E24-985A-8EF2-B400-C196B4A298F8}"/>
              </a:ext>
            </a:extLst>
          </p:cNvPr>
          <p:cNvSpPr>
            <a:spLocks noGrp="1"/>
          </p:cNvSpPr>
          <p:nvPr>
            <p:ph type="sldNum" sz="quarter" idx="12"/>
          </p:nvPr>
        </p:nvSpPr>
        <p:spPr/>
        <p:txBody>
          <a:bodyPr/>
          <a:lstStyle/>
          <a:p>
            <a:fld id="{80E9C1D4-69BA-4B09-8A24-1CCDDD1AB85B}" type="slidenum">
              <a:rPr lang="zh-CN" altLang="en-US" smtClean="0"/>
              <a:t>11</a:t>
            </a:fld>
            <a:endParaRPr lang="zh-CN" altLang="en-US"/>
          </a:p>
        </p:txBody>
      </p:sp>
    </p:spTree>
    <p:extLst>
      <p:ext uri="{BB962C8B-B14F-4D97-AF65-F5344CB8AC3E}">
        <p14:creationId xmlns:p14="http://schemas.microsoft.com/office/powerpoint/2010/main" val="2843246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E9167-48E4-1187-AB80-4A054A85592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FFF0AD8-00A9-F7B8-CCC3-475E4A69317D}"/>
              </a:ext>
            </a:extLst>
          </p:cNvPr>
          <p:cNvSpPr>
            <a:spLocks noGrp="1"/>
          </p:cNvSpPr>
          <p:nvPr>
            <p:ph type="title"/>
          </p:nvPr>
        </p:nvSpPr>
        <p:spPr/>
        <p:txBody>
          <a:bodyPr>
            <a:normAutofit/>
          </a:bodyPr>
          <a:lstStyle/>
          <a:p>
            <a:r>
              <a:rPr lang="en-US" altLang="zh-CN" dirty="0"/>
              <a:t>New</a:t>
            </a:r>
            <a:r>
              <a:rPr lang="zh-CN" altLang="en-US" dirty="0"/>
              <a:t> </a:t>
            </a:r>
            <a:r>
              <a:rPr lang="en-US" altLang="zh-CN" dirty="0"/>
              <a:t>results</a:t>
            </a:r>
          </a:p>
        </p:txBody>
      </p:sp>
      <p:sp>
        <p:nvSpPr>
          <p:cNvPr id="3" name="TextBox 2">
            <a:extLst>
              <a:ext uri="{FF2B5EF4-FFF2-40B4-BE49-F238E27FC236}">
                <a16:creationId xmlns:a16="http://schemas.microsoft.com/office/drawing/2014/main" id="{4534B309-7896-66B3-04A0-B04AC1143691}"/>
              </a:ext>
            </a:extLst>
          </p:cNvPr>
          <p:cNvSpPr txBox="1"/>
          <p:nvPr/>
        </p:nvSpPr>
        <p:spPr>
          <a:xfrm>
            <a:off x="770465" y="992375"/>
            <a:ext cx="3846267" cy="707886"/>
          </a:xfrm>
          <a:prstGeom prst="rect">
            <a:avLst/>
          </a:prstGeom>
          <a:noFill/>
        </p:spPr>
        <p:txBody>
          <a:bodyPr wrap="square">
            <a:spAutoFit/>
          </a:bodyPr>
          <a:lstStyle/>
          <a:p>
            <a:r>
              <a:rPr lang="en-US" altLang="zh-CN" sz="2000" dirty="0"/>
              <a:t>Fast:</a:t>
            </a:r>
            <a:r>
              <a:rPr lang="zh-CN" altLang="en-US" sz="2000" dirty="0"/>
              <a:t> </a:t>
            </a:r>
            <a:r>
              <a:rPr lang="en-US" altLang="zh-CN" sz="2000" dirty="0"/>
              <a:t>AI</a:t>
            </a:r>
            <a:r>
              <a:rPr lang="zh-CN" altLang="en-US" sz="2000" dirty="0"/>
              <a:t> </a:t>
            </a:r>
            <a:r>
              <a:rPr lang="en-US" altLang="zh-CN" sz="2000" dirty="0"/>
              <a:t>deter</a:t>
            </a:r>
            <a:r>
              <a:rPr lang="zh-CN" altLang="en-US" sz="2000" dirty="0"/>
              <a:t> </a:t>
            </a:r>
            <a:r>
              <a:rPr lang="en-US" altLang="zh-CN" sz="2000" dirty="0"/>
              <a:t>human</a:t>
            </a:r>
            <a:r>
              <a:rPr lang="zh-CN" altLang="en-US" sz="2000" dirty="0"/>
              <a:t> </a:t>
            </a:r>
            <a:r>
              <a:rPr lang="en-US" altLang="zh-CN" sz="2000" dirty="0"/>
              <a:t>participation</a:t>
            </a:r>
            <a:r>
              <a:rPr lang="zh-CN" altLang="en-US" sz="2000" dirty="0"/>
              <a:t> </a:t>
            </a:r>
            <a:br>
              <a:rPr lang="en-US" altLang="zh-CN" sz="2000" dirty="0"/>
            </a:br>
            <a:r>
              <a:rPr lang="en-US" altLang="zh-CN" sz="2000" dirty="0"/>
              <a:t>when</a:t>
            </a:r>
            <a:r>
              <a:rPr lang="zh-CN" altLang="en-US" sz="2000" dirty="0"/>
              <a:t> </a:t>
            </a:r>
            <a:r>
              <a:rPr lang="en-US" altLang="zh-CN" sz="2000" dirty="0"/>
              <a:t>answer</a:t>
            </a:r>
            <a:r>
              <a:rPr lang="zh-CN" altLang="en-US" sz="2000" dirty="0"/>
              <a:t> </a:t>
            </a:r>
            <a:r>
              <a:rPr lang="en-US" altLang="zh-CN" sz="2000" dirty="0"/>
              <a:t>is</a:t>
            </a:r>
            <a:r>
              <a:rPr lang="zh-CN" altLang="en-US" sz="2000" dirty="0"/>
              <a:t> </a:t>
            </a:r>
            <a:r>
              <a:rPr lang="en-US" altLang="zh-CN" sz="2000" dirty="0"/>
              <a:t>lengthy</a:t>
            </a:r>
            <a:endParaRPr lang="en-US" sz="2000" dirty="0"/>
          </a:p>
        </p:txBody>
      </p:sp>
      <p:sp>
        <p:nvSpPr>
          <p:cNvPr id="5" name="TextBox 4">
            <a:extLst>
              <a:ext uri="{FF2B5EF4-FFF2-40B4-BE49-F238E27FC236}">
                <a16:creationId xmlns:a16="http://schemas.microsoft.com/office/drawing/2014/main" id="{977D1A3B-F0C1-112C-7327-6CED1E650436}"/>
              </a:ext>
            </a:extLst>
          </p:cNvPr>
          <p:cNvSpPr txBox="1"/>
          <p:nvPr/>
        </p:nvSpPr>
        <p:spPr>
          <a:xfrm>
            <a:off x="4954502" y="992375"/>
            <a:ext cx="3846267" cy="707886"/>
          </a:xfrm>
          <a:prstGeom prst="rect">
            <a:avLst/>
          </a:prstGeom>
          <a:noFill/>
        </p:spPr>
        <p:txBody>
          <a:bodyPr wrap="square">
            <a:spAutoFit/>
          </a:bodyPr>
          <a:lstStyle/>
          <a:p>
            <a:r>
              <a:rPr lang="en-US" altLang="zh-CN" sz="2000" dirty="0"/>
              <a:t>Slow:</a:t>
            </a:r>
            <a:r>
              <a:rPr lang="zh-CN" altLang="en-US" sz="2000" dirty="0"/>
              <a:t> </a:t>
            </a:r>
            <a:r>
              <a:rPr lang="en-US" altLang="zh-CN" sz="2000" dirty="0"/>
              <a:t>AI</a:t>
            </a:r>
            <a:r>
              <a:rPr lang="zh-CN" altLang="en-US" sz="2000" dirty="0"/>
              <a:t> </a:t>
            </a:r>
            <a:r>
              <a:rPr lang="en-US" altLang="zh-CN" sz="2000" dirty="0"/>
              <a:t>elevate</a:t>
            </a:r>
            <a:r>
              <a:rPr lang="zh-CN" altLang="en-US" sz="2000" dirty="0"/>
              <a:t> </a:t>
            </a:r>
            <a:r>
              <a:rPr lang="en-US" altLang="zh-CN" sz="2000" dirty="0"/>
              <a:t>human</a:t>
            </a:r>
            <a:r>
              <a:rPr lang="zh-CN" altLang="en-US" sz="2000" dirty="0"/>
              <a:t> </a:t>
            </a:r>
            <a:r>
              <a:rPr lang="en-US" altLang="zh-CN" sz="2000" dirty="0"/>
              <a:t>answer</a:t>
            </a:r>
            <a:r>
              <a:rPr lang="zh-CN" altLang="en-US" sz="2000" dirty="0"/>
              <a:t> </a:t>
            </a:r>
            <a:r>
              <a:rPr lang="en-US" altLang="zh-CN" sz="2000" dirty="0"/>
              <a:t>quality</a:t>
            </a:r>
            <a:r>
              <a:rPr lang="zh-CN" altLang="en-US" sz="2000" dirty="0"/>
              <a:t> </a:t>
            </a:r>
            <a:r>
              <a:rPr lang="en-US" altLang="zh-CN" sz="2000" dirty="0"/>
              <a:t>when</a:t>
            </a:r>
            <a:r>
              <a:rPr lang="zh-CN" altLang="en-US" sz="2000" dirty="0"/>
              <a:t> </a:t>
            </a:r>
            <a:r>
              <a:rPr lang="en-US" altLang="zh-CN" sz="2000" dirty="0"/>
              <a:t>answer</a:t>
            </a:r>
            <a:r>
              <a:rPr lang="zh-CN" altLang="en-US" sz="2000" dirty="0"/>
              <a:t> </a:t>
            </a:r>
            <a:r>
              <a:rPr lang="en-US" altLang="zh-CN" sz="2000" dirty="0"/>
              <a:t>is</a:t>
            </a:r>
            <a:r>
              <a:rPr lang="zh-CN" altLang="en-US" sz="2000" dirty="0"/>
              <a:t> </a:t>
            </a:r>
            <a:r>
              <a:rPr lang="en-US" altLang="zh-CN" sz="2000" dirty="0"/>
              <a:t>high-quality</a:t>
            </a:r>
            <a:endParaRPr lang="en-US" sz="2000" dirty="0"/>
          </a:p>
        </p:txBody>
      </p:sp>
      <p:pic>
        <p:nvPicPr>
          <p:cNvPr id="6" name="Picture 5">
            <a:extLst>
              <a:ext uri="{FF2B5EF4-FFF2-40B4-BE49-F238E27FC236}">
                <a16:creationId xmlns:a16="http://schemas.microsoft.com/office/drawing/2014/main" id="{21254D46-7F83-A8FF-E47E-DC49CAA829C8}"/>
              </a:ext>
            </a:extLst>
          </p:cNvPr>
          <p:cNvPicPr>
            <a:picLocks noChangeAspect="1"/>
          </p:cNvPicPr>
          <p:nvPr/>
        </p:nvPicPr>
        <p:blipFill>
          <a:blip r:embed="rId3"/>
          <a:stretch>
            <a:fillRect/>
          </a:stretch>
        </p:blipFill>
        <p:spPr>
          <a:xfrm>
            <a:off x="755457" y="1733368"/>
            <a:ext cx="3523508" cy="2792912"/>
          </a:xfrm>
          <a:prstGeom prst="rect">
            <a:avLst/>
          </a:prstGeom>
        </p:spPr>
      </p:pic>
      <p:pic>
        <p:nvPicPr>
          <p:cNvPr id="7" name="Picture 6">
            <a:extLst>
              <a:ext uri="{FF2B5EF4-FFF2-40B4-BE49-F238E27FC236}">
                <a16:creationId xmlns:a16="http://schemas.microsoft.com/office/drawing/2014/main" id="{5262913B-5AF5-4E24-8B1B-FFAADE3F0524}"/>
              </a:ext>
            </a:extLst>
          </p:cNvPr>
          <p:cNvPicPr>
            <a:picLocks noChangeAspect="1"/>
          </p:cNvPicPr>
          <p:nvPr/>
        </p:nvPicPr>
        <p:blipFill>
          <a:blip r:embed="rId4"/>
          <a:stretch>
            <a:fillRect/>
          </a:stretch>
        </p:blipFill>
        <p:spPr>
          <a:xfrm>
            <a:off x="4954501" y="1733368"/>
            <a:ext cx="3357044" cy="2792912"/>
          </a:xfrm>
          <a:prstGeom prst="rect">
            <a:avLst/>
          </a:prstGeom>
        </p:spPr>
      </p:pic>
      <p:sp>
        <p:nvSpPr>
          <p:cNvPr id="2" name="Slide Number Placeholder 1">
            <a:extLst>
              <a:ext uri="{FF2B5EF4-FFF2-40B4-BE49-F238E27FC236}">
                <a16:creationId xmlns:a16="http://schemas.microsoft.com/office/drawing/2014/main" id="{A6FE4353-F779-ABFD-277C-F9E8FB9B0FE7}"/>
              </a:ext>
            </a:extLst>
          </p:cNvPr>
          <p:cNvSpPr>
            <a:spLocks noGrp="1"/>
          </p:cNvSpPr>
          <p:nvPr>
            <p:ph type="sldNum" sz="quarter" idx="12"/>
          </p:nvPr>
        </p:nvSpPr>
        <p:spPr/>
        <p:txBody>
          <a:bodyPr/>
          <a:lstStyle/>
          <a:p>
            <a:fld id="{80E9C1D4-69BA-4B09-8A24-1CCDDD1AB85B}" type="slidenum">
              <a:rPr lang="zh-CN" altLang="en-US" smtClean="0"/>
              <a:t>12</a:t>
            </a:fld>
            <a:endParaRPr lang="zh-CN" altLang="en-US"/>
          </a:p>
        </p:txBody>
      </p:sp>
    </p:spTree>
    <p:extLst>
      <p:ext uri="{BB962C8B-B14F-4D97-AF65-F5344CB8AC3E}">
        <p14:creationId xmlns:p14="http://schemas.microsoft.com/office/powerpoint/2010/main" val="3281919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39BE3-A37C-7DBC-B059-455F96F5C2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4790AB-1EDB-1F16-BFBE-942848FCAC9B}"/>
              </a:ext>
            </a:extLst>
          </p:cNvPr>
          <p:cNvSpPr>
            <a:spLocks noGrp="1"/>
          </p:cNvSpPr>
          <p:nvPr>
            <p:ph type="title"/>
          </p:nvPr>
        </p:nvSpPr>
        <p:spPr/>
        <p:txBody>
          <a:bodyPr>
            <a:normAutofit/>
          </a:bodyPr>
          <a:lstStyle/>
          <a:p>
            <a:r>
              <a:rPr lang="en-US" altLang="zh-CN" dirty="0"/>
              <a:t>Reconcile</a:t>
            </a:r>
            <a:r>
              <a:rPr lang="zh-CN" altLang="en-US" dirty="0"/>
              <a:t> </a:t>
            </a:r>
            <a:r>
              <a:rPr lang="en-US" altLang="zh-CN" dirty="0"/>
              <a:t>p</a:t>
            </a:r>
            <a:r>
              <a:rPr lang="en-US" dirty="0"/>
              <a:t>rior </a:t>
            </a:r>
            <a:r>
              <a:rPr lang="en-US" altLang="zh-CN" dirty="0"/>
              <a:t>f</a:t>
            </a:r>
            <a:r>
              <a:rPr lang="en-US" dirty="0"/>
              <a:t>indings (Su et</a:t>
            </a:r>
            <a:r>
              <a:rPr lang="en-US" altLang="zh-CN" dirty="0"/>
              <a:t>.</a:t>
            </a:r>
            <a:r>
              <a:rPr lang="en-US" dirty="0"/>
              <a:t> al</a:t>
            </a:r>
            <a:r>
              <a:rPr lang="en-US" altLang="zh-CN" dirty="0"/>
              <a:t>,</a:t>
            </a:r>
            <a:r>
              <a:rPr lang="zh-CN" altLang="en-US" dirty="0"/>
              <a:t> </a:t>
            </a:r>
            <a:r>
              <a:rPr lang="en-US" altLang="zh-CN" dirty="0"/>
              <a:t>2023</a:t>
            </a:r>
            <a:r>
              <a:rPr lang="en-US" dirty="0"/>
              <a:t>)</a:t>
            </a:r>
            <a:endParaRPr lang="en-US" altLang="zh-CN" dirty="0"/>
          </a:p>
        </p:txBody>
      </p:sp>
      <p:pic>
        <p:nvPicPr>
          <p:cNvPr id="2" name="Picture 1">
            <a:extLst>
              <a:ext uri="{FF2B5EF4-FFF2-40B4-BE49-F238E27FC236}">
                <a16:creationId xmlns:a16="http://schemas.microsoft.com/office/drawing/2014/main" id="{ED66AC6E-9C3D-468C-A065-EF8E483FD8AC}"/>
              </a:ext>
            </a:extLst>
          </p:cNvPr>
          <p:cNvPicPr>
            <a:picLocks noChangeAspect="1"/>
          </p:cNvPicPr>
          <p:nvPr/>
        </p:nvPicPr>
        <p:blipFill>
          <a:blip r:embed="rId3"/>
          <a:stretch>
            <a:fillRect/>
          </a:stretch>
        </p:blipFill>
        <p:spPr>
          <a:xfrm>
            <a:off x="2721404" y="1219172"/>
            <a:ext cx="3464674" cy="2746277"/>
          </a:xfrm>
          <a:prstGeom prst="rect">
            <a:avLst/>
          </a:prstGeom>
        </p:spPr>
      </p:pic>
      <p:sp>
        <p:nvSpPr>
          <p:cNvPr id="8" name="Right Arrow 7">
            <a:extLst>
              <a:ext uri="{FF2B5EF4-FFF2-40B4-BE49-F238E27FC236}">
                <a16:creationId xmlns:a16="http://schemas.microsoft.com/office/drawing/2014/main" id="{BEC9B71D-2F3E-8373-9BAE-6DBB1F543C9F}"/>
              </a:ext>
            </a:extLst>
          </p:cNvPr>
          <p:cNvSpPr/>
          <p:nvPr/>
        </p:nvSpPr>
        <p:spPr>
          <a:xfrm>
            <a:off x="2206266" y="2048256"/>
            <a:ext cx="1139664" cy="110116"/>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2739D51-A5CF-C3C6-2639-CA2CD498A6E8}"/>
              </a:ext>
            </a:extLst>
          </p:cNvPr>
          <p:cNvSpPr txBox="1"/>
          <p:nvPr/>
        </p:nvSpPr>
        <p:spPr>
          <a:xfrm>
            <a:off x="0" y="1867474"/>
            <a:ext cx="2816352" cy="923330"/>
          </a:xfrm>
          <a:prstGeom prst="rect">
            <a:avLst/>
          </a:prstGeom>
          <a:noFill/>
        </p:spPr>
        <p:txBody>
          <a:bodyPr wrap="square">
            <a:spAutoFit/>
          </a:bodyPr>
          <a:lstStyle/>
          <a:p>
            <a:pPr algn="ctr"/>
            <a:r>
              <a:rPr lang="en-US" dirty="0"/>
              <a:t>Su et</a:t>
            </a:r>
            <a:r>
              <a:rPr lang="en-US" altLang="zh-CN" dirty="0"/>
              <a:t>.</a:t>
            </a:r>
            <a:r>
              <a:rPr lang="en-US" dirty="0"/>
              <a:t> al </a:t>
            </a:r>
            <a:r>
              <a:rPr lang="en-US" altLang="zh-CN" dirty="0"/>
              <a:t>(</a:t>
            </a:r>
            <a:r>
              <a:rPr lang="en-US" dirty="0"/>
              <a:t>2023</a:t>
            </a:r>
            <a:r>
              <a:rPr lang="en-US" altLang="zh-CN" dirty="0"/>
              <a:t>) </a:t>
            </a:r>
          </a:p>
          <a:p>
            <a:pPr algn="ctr"/>
            <a:r>
              <a:rPr lang="en-US" dirty="0"/>
              <a:t>AI </a:t>
            </a:r>
            <a:r>
              <a:rPr lang="en-US" altLang="zh-CN" dirty="0"/>
              <a:t>label</a:t>
            </a:r>
            <a:r>
              <a:rPr lang="zh-CN" altLang="en-US" dirty="0"/>
              <a:t> </a:t>
            </a:r>
            <a:r>
              <a:rPr lang="en-US" dirty="0"/>
              <a:t>encourage</a:t>
            </a:r>
            <a:r>
              <a:rPr lang="en-US" altLang="zh-CN" dirty="0"/>
              <a:t>s</a:t>
            </a:r>
            <a:r>
              <a:rPr lang="en-US" dirty="0"/>
              <a:t> </a:t>
            </a:r>
            <a:r>
              <a:rPr lang="en-US" altLang="zh-CN" dirty="0"/>
              <a:t>participation</a:t>
            </a:r>
            <a:r>
              <a:rPr lang="en-US" dirty="0"/>
              <a:t> </a:t>
            </a:r>
          </a:p>
        </p:txBody>
      </p:sp>
      <p:sp>
        <p:nvSpPr>
          <p:cNvPr id="10" name="TextBox 9">
            <a:extLst>
              <a:ext uri="{FF2B5EF4-FFF2-40B4-BE49-F238E27FC236}">
                <a16:creationId xmlns:a16="http://schemas.microsoft.com/office/drawing/2014/main" id="{F39AADD1-4BF1-C6A1-309E-702EC04FE178}"/>
              </a:ext>
            </a:extLst>
          </p:cNvPr>
          <p:cNvSpPr txBox="1"/>
          <p:nvPr/>
        </p:nvSpPr>
        <p:spPr>
          <a:xfrm>
            <a:off x="6387872" y="2325945"/>
            <a:ext cx="2894069" cy="646331"/>
          </a:xfrm>
          <a:prstGeom prst="rect">
            <a:avLst/>
          </a:prstGeom>
          <a:noFill/>
        </p:spPr>
        <p:txBody>
          <a:bodyPr wrap="square">
            <a:spAutoFit/>
          </a:bodyPr>
          <a:lstStyle/>
          <a:p>
            <a:pPr algn="ctr"/>
            <a:r>
              <a:rPr lang="en-US" dirty="0"/>
              <a:t>Our finding</a:t>
            </a:r>
            <a:r>
              <a:rPr lang="en-US" altLang="zh-CN" dirty="0"/>
              <a:t>s</a:t>
            </a:r>
            <a:r>
              <a:rPr lang="en-US" dirty="0"/>
              <a:t> in las</a:t>
            </a:r>
            <a:r>
              <a:rPr lang="en-US" altLang="zh-CN" dirty="0"/>
              <a:t>t</a:t>
            </a:r>
            <a:r>
              <a:rPr lang="en-US" dirty="0"/>
              <a:t> round</a:t>
            </a:r>
            <a:r>
              <a:rPr lang="en-US" altLang="zh-CN" dirty="0"/>
              <a:t>:</a:t>
            </a:r>
            <a:endParaRPr lang="en-US" dirty="0"/>
          </a:p>
          <a:p>
            <a:pPr algn="ctr"/>
            <a:r>
              <a:rPr lang="en-US" dirty="0"/>
              <a:t>AI deter</a:t>
            </a:r>
            <a:r>
              <a:rPr lang="en-US" altLang="zh-CN" dirty="0"/>
              <a:t>s</a:t>
            </a:r>
            <a:r>
              <a:rPr lang="en-US" dirty="0"/>
              <a:t> </a:t>
            </a:r>
            <a:r>
              <a:rPr lang="en-US" altLang="zh-CN" dirty="0"/>
              <a:t>participation</a:t>
            </a:r>
            <a:r>
              <a:rPr lang="en-US" dirty="0"/>
              <a:t> </a:t>
            </a:r>
          </a:p>
        </p:txBody>
      </p:sp>
      <p:sp>
        <p:nvSpPr>
          <p:cNvPr id="11" name="Right Arrow 10">
            <a:extLst>
              <a:ext uri="{FF2B5EF4-FFF2-40B4-BE49-F238E27FC236}">
                <a16:creationId xmlns:a16="http://schemas.microsoft.com/office/drawing/2014/main" id="{50592698-3573-7906-7E56-DADA72D84D6F}"/>
              </a:ext>
            </a:extLst>
          </p:cNvPr>
          <p:cNvSpPr/>
          <p:nvPr/>
        </p:nvSpPr>
        <p:spPr>
          <a:xfrm rot="9529928">
            <a:off x="5514771" y="2879099"/>
            <a:ext cx="1139664" cy="95134"/>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74D7D92-5C70-889E-B363-979BCEDDBD73}"/>
              </a:ext>
            </a:extLst>
          </p:cNvPr>
          <p:cNvSpPr txBox="1"/>
          <p:nvPr/>
        </p:nvSpPr>
        <p:spPr>
          <a:xfrm>
            <a:off x="0" y="4033576"/>
            <a:ext cx="9144000" cy="400110"/>
          </a:xfrm>
          <a:prstGeom prst="rect">
            <a:avLst/>
          </a:prstGeom>
          <a:noFill/>
        </p:spPr>
        <p:txBody>
          <a:bodyPr wrap="square">
            <a:spAutoFit/>
          </a:bodyPr>
          <a:lstStyle/>
          <a:p>
            <a:pPr algn="ctr"/>
            <a:r>
              <a:rPr lang="en-US" altLang="zh-CN" sz="2000" dirty="0">
                <a:latin typeface="+mj-lt"/>
              </a:rPr>
              <a:t>AI</a:t>
            </a:r>
            <a:r>
              <a:rPr lang="zh-CN" altLang="en-US" sz="2000" dirty="0">
                <a:latin typeface="+mj-lt"/>
              </a:rPr>
              <a:t> </a:t>
            </a:r>
            <a:r>
              <a:rPr lang="en-US" altLang="zh-CN" sz="2000" dirty="0">
                <a:latin typeface="+mj-lt"/>
              </a:rPr>
              <a:t>l</a:t>
            </a:r>
            <a:r>
              <a:rPr lang="en-US" sz="2000" dirty="0">
                <a:latin typeface="+mj-lt"/>
              </a:rPr>
              <a:t>abel encourage</a:t>
            </a:r>
            <a:r>
              <a:rPr lang="en-US" altLang="zh-CN" sz="2000" dirty="0">
                <a:latin typeface="+mj-lt"/>
              </a:rPr>
              <a:t>s</a:t>
            </a:r>
            <a:r>
              <a:rPr lang="en-US" sz="2000" dirty="0">
                <a:latin typeface="+mj-lt"/>
              </a:rPr>
              <a:t> </a:t>
            </a:r>
            <a:r>
              <a:rPr lang="en-US" altLang="zh-CN" sz="2000" dirty="0">
                <a:latin typeface="+mj-lt"/>
              </a:rPr>
              <a:t>participation;</a:t>
            </a:r>
            <a:r>
              <a:rPr lang="en-US" sz="2000" dirty="0">
                <a:latin typeface="+mj-lt"/>
              </a:rPr>
              <a:t> </a:t>
            </a:r>
            <a:r>
              <a:rPr lang="en-US" altLang="zh-CN" sz="2000" dirty="0">
                <a:latin typeface="+mj-lt"/>
              </a:rPr>
              <a:t>AI</a:t>
            </a:r>
            <a:r>
              <a:rPr lang="zh-CN" altLang="en-US" sz="2000" dirty="0">
                <a:latin typeface="+mj-lt"/>
              </a:rPr>
              <a:t> </a:t>
            </a:r>
            <a:r>
              <a:rPr lang="en-US" altLang="zh-CN" sz="2000" dirty="0">
                <a:latin typeface="+mj-lt"/>
              </a:rPr>
              <a:t>c</a:t>
            </a:r>
            <a:r>
              <a:rPr lang="en-US" sz="2000" dirty="0">
                <a:latin typeface="+mj-lt"/>
              </a:rPr>
              <a:t>ontent deter</a:t>
            </a:r>
            <a:r>
              <a:rPr lang="en-US" altLang="zh-CN" sz="2000" dirty="0">
                <a:latin typeface="+mj-lt"/>
              </a:rPr>
              <a:t>s</a:t>
            </a:r>
            <a:r>
              <a:rPr lang="en-US" sz="2000" dirty="0">
                <a:latin typeface="+mj-lt"/>
              </a:rPr>
              <a:t> </a:t>
            </a:r>
            <a:r>
              <a:rPr lang="en-US" altLang="zh-CN" sz="2000" dirty="0">
                <a:latin typeface="+mj-lt"/>
              </a:rPr>
              <a:t>participation</a:t>
            </a:r>
            <a:endParaRPr lang="en-US" sz="2000" dirty="0">
              <a:latin typeface="+mj-lt"/>
            </a:endParaRPr>
          </a:p>
        </p:txBody>
      </p:sp>
      <p:sp>
        <p:nvSpPr>
          <p:cNvPr id="3" name="Slide Number Placeholder 2">
            <a:extLst>
              <a:ext uri="{FF2B5EF4-FFF2-40B4-BE49-F238E27FC236}">
                <a16:creationId xmlns:a16="http://schemas.microsoft.com/office/drawing/2014/main" id="{C417207F-7714-FC79-3F4A-419B2D1A5F99}"/>
              </a:ext>
            </a:extLst>
          </p:cNvPr>
          <p:cNvSpPr>
            <a:spLocks noGrp="1"/>
          </p:cNvSpPr>
          <p:nvPr>
            <p:ph type="sldNum" sz="quarter" idx="12"/>
          </p:nvPr>
        </p:nvSpPr>
        <p:spPr/>
        <p:txBody>
          <a:bodyPr/>
          <a:lstStyle/>
          <a:p>
            <a:fld id="{80E9C1D4-69BA-4B09-8A24-1CCDDD1AB85B}" type="slidenum">
              <a:rPr lang="zh-CN" altLang="en-US" smtClean="0"/>
              <a:t>13</a:t>
            </a:fld>
            <a:endParaRPr lang="zh-CN" altLang="en-US"/>
          </a:p>
        </p:txBody>
      </p:sp>
    </p:spTree>
    <p:extLst>
      <p:ext uri="{BB962C8B-B14F-4D97-AF65-F5344CB8AC3E}">
        <p14:creationId xmlns:p14="http://schemas.microsoft.com/office/powerpoint/2010/main" val="1592277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89247-24B1-96EA-6814-53E486531F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EF4F306-A362-CC61-902A-7ED9B428378D}"/>
              </a:ext>
            </a:extLst>
          </p:cNvPr>
          <p:cNvSpPr>
            <a:spLocks noGrp="1"/>
          </p:cNvSpPr>
          <p:nvPr>
            <p:ph type="title"/>
          </p:nvPr>
        </p:nvSpPr>
        <p:spPr>
          <a:xfrm>
            <a:off x="628650" y="2148942"/>
            <a:ext cx="7886700" cy="669131"/>
          </a:xfrm>
        </p:spPr>
        <p:txBody>
          <a:bodyPr>
            <a:noAutofit/>
          </a:bodyPr>
          <a:lstStyle/>
          <a:p>
            <a:pPr algn="ctr"/>
            <a:r>
              <a:rPr lang="en-US" altLang="zh-CN" sz="3600" dirty="0"/>
              <a:t>Thank</a:t>
            </a:r>
            <a:r>
              <a:rPr lang="zh-CN" altLang="en-US" sz="3600" dirty="0"/>
              <a:t> </a:t>
            </a:r>
            <a:r>
              <a:rPr lang="en-US" altLang="zh-CN" sz="3600" dirty="0"/>
              <a:t>you</a:t>
            </a:r>
            <a:endParaRPr lang="en-US" altLang="en-US" sz="2800" dirty="0"/>
          </a:p>
        </p:txBody>
      </p:sp>
      <p:sp>
        <p:nvSpPr>
          <p:cNvPr id="2" name="Slide Number Placeholder 1">
            <a:extLst>
              <a:ext uri="{FF2B5EF4-FFF2-40B4-BE49-F238E27FC236}">
                <a16:creationId xmlns:a16="http://schemas.microsoft.com/office/drawing/2014/main" id="{9112DC99-0EB0-A05B-19DD-0495D411EDAD}"/>
              </a:ext>
            </a:extLst>
          </p:cNvPr>
          <p:cNvSpPr>
            <a:spLocks noGrp="1"/>
          </p:cNvSpPr>
          <p:nvPr>
            <p:ph type="sldNum" sz="quarter" idx="12"/>
          </p:nvPr>
        </p:nvSpPr>
        <p:spPr/>
        <p:txBody>
          <a:bodyPr/>
          <a:lstStyle/>
          <a:p>
            <a:fld id="{80E9C1D4-69BA-4B09-8A24-1CCDDD1AB85B}" type="slidenum">
              <a:rPr lang="zh-CN" altLang="en-US" smtClean="0"/>
              <a:t>14</a:t>
            </a:fld>
            <a:endParaRPr lang="zh-CN" altLang="en-US"/>
          </a:p>
        </p:txBody>
      </p:sp>
    </p:spTree>
    <p:extLst>
      <p:ext uri="{BB962C8B-B14F-4D97-AF65-F5344CB8AC3E}">
        <p14:creationId xmlns:p14="http://schemas.microsoft.com/office/powerpoint/2010/main" val="526952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9B6A0-4343-03E1-D877-877E87E3B15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A68786-2808-1C96-AC37-AF114626A783}"/>
              </a:ext>
            </a:extLst>
          </p:cNvPr>
          <p:cNvSpPr>
            <a:spLocks noGrp="1"/>
          </p:cNvSpPr>
          <p:nvPr>
            <p:ph type="title"/>
          </p:nvPr>
        </p:nvSpPr>
        <p:spPr>
          <a:xfrm>
            <a:off x="628650" y="2148942"/>
            <a:ext cx="7886700" cy="669131"/>
          </a:xfrm>
        </p:spPr>
        <p:txBody>
          <a:bodyPr>
            <a:noAutofit/>
          </a:bodyPr>
          <a:lstStyle/>
          <a:p>
            <a:pPr algn="ctr"/>
            <a:r>
              <a:rPr lang="en-US" altLang="zh-CN" sz="3600" dirty="0"/>
              <a:t>Appendix</a:t>
            </a:r>
            <a:endParaRPr lang="en-US" altLang="en-US" sz="2800" dirty="0"/>
          </a:p>
        </p:txBody>
      </p:sp>
      <p:sp>
        <p:nvSpPr>
          <p:cNvPr id="2" name="Slide Number Placeholder 1">
            <a:extLst>
              <a:ext uri="{FF2B5EF4-FFF2-40B4-BE49-F238E27FC236}">
                <a16:creationId xmlns:a16="http://schemas.microsoft.com/office/drawing/2014/main" id="{12E4DBE9-F6CA-4EBA-115C-D297C09F2AA8}"/>
              </a:ext>
            </a:extLst>
          </p:cNvPr>
          <p:cNvSpPr>
            <a:spLocks noGrp="1"/>
          </p:cNvSpPr>
          <p:nvPr>
            <p:ph type="sldNum" sz="quarter" idx="12"/>
          </p:nvPr>
        </p:nvSpPr>
        <p:spPr/>
        <p:txBody>
          <a:bodyPr/>
          <a:lstStyle/>
          <a:p>
            <a:fld id="{80E9C1D4-69BA-4B09-8A24-1CCDDD1AB85B}" type="slidenum">
              <a:rPr lang="zh-CN" altLang="en-US" smtClean="0"/>
              <a:t>15</a:t>
            </a:fld>
            <a:endParaRPr lang="zh-CN" altLang="en-US"/>
          </a:p>
        </p:txBody>
      </p:sp>
    </p:spTree>
    <p:extLst>
      <p:ext uri="{BB962C8B-B14F-4D97-AF65-F5344CB8AC3E}">
        <p14:creationId xmlns:p14="http://schemas.microsoft.com/office/powerpoint/2010/main" val="2191861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67D84-BF4E-D4E4-79F0-9ED193A9125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4EC16F9-12D5-EF4E-4569-E7163EA84D16}"/>
              </a:ext>
            </a:extLst>
          </p:cNvPr>
          <p:cNvSpPr>
            <a:spLocks noGrp="1"/>
          </p:cNvSpPr>
          <p:nvPr>
            <p:ph type="title"/>
          </p:nvPr>
        </p:nvSpPr>
        <p:spPr/>
        <p:txBody>
          <a:bodyPr>
            <a:normAutofit/>
          </a:bodyPr>
          <a:lstStyle/>
          <a:p>
            <a:r>
              <a:rPr lang="en-US" altLang="zh-CN" dirty="0"/>
              <a:t>Our</a:t>
            </a:r>
            <a:r>
              <a:rPr lang="zh-CN" altLang="en-US" dirty="0"/>
              <a:t> </a:t>
            </a:r>
            <a:r>
              <a:rPr lang="en-US" altLang="zh-CN" dirty="0"/>
              <a:t>new</a:t>
            </a:r>
            <a:r>
              <a:rPr lang="zh-CN" altLang="en-US" dirty="0"/>
              <a:t> </a:t>
            </a:r>
            <a:r>
              <a:rPr lang="en-US" altLang="zh-CN" dirty="0"/>
              <a:t>main</a:t>
            </a:r>
            <a:r>
              <a:rPr lang="zh-CN" altLang="en-US" dirty="0"/>
              <a:t> </a:t>
            </a:r>
            <a:r>
              <a:rPr lang="en-US" altLang="zh-CN" dirty="0"/>
              <a:t>results</a:t>
            </a:r>
          </a:p>
        </p:txBody>
      </p:sp>
      <p:graphicFrame>
        <p:nvGraphicFramePr>
          <p:cNvPr id="2" name="Table 1">
            <a:extLst>
              <a:ext uri="{FF2B5EF4-FFF2-40B4-BE49-F238E27FC236}">
                <a16:creationId xmlns:a16="http://schemas.microsoft.com/office/drawing/2014/main" id="{6E125DA3-ED4B-962C-3017-C14DFEED806F}"/>
              </a:ext>
            </a:extLst>
          </p:cNvPr>
          <p:cNvGraphicFramePr>
            <a:graphicFrameLocks noGrp="1"/>
          </p:cNvGraphicFramePr>
          <p:nvPr>
            <p:extLst>
              <p:ext uri="{D42A27DB-BD31-4B8C-83A1-F6EECF244321}">
                <p14:modId xmlns:p14="http://schemas.microsoft.com/office/powerpoint/2010/main" val="1074936620"/>
              </p:ext>
            </p:extLst>
          </p:nvPr>
        </p:nvGraphicFramePr>
        <p:xfrm>
          <a:off x="628650" y="976874"/>
          <a:ext cx="7886700" cy="3668283"/>
        </p:xfrm>
        <a:graphic>
          <a:graphicData uri="http://schemas.openxmlformats.org/drawingml/2006/table">
            <a:tbl>
              <a:tblPr/>
              <a:tblGrid>
                <a:gridCol w="2162669">
                  <a:extLst>
                    <a:ext uri="{9D8B030D-6E8A-4147-A177-3AD203B41FA5}">
                      <a16:colId xmlns:a16="http://schemas.microsoft.com/office/drawing/2014/main" val="2194831079"/>
                    </a:ext>
                  </a:extLst>
                </a:gridCol>
                <a:gridCol w="1369663">
                  <a:extLst>
                    <a:ext uri="{9D8B030D-6E8A-4147-A177-3AD203B41FA5}">
                      <a16:colId xmlns:a16="http://schemas.microsoft.com/office/drawing/2014/main" val="3377069532"/>
                    </a:ext>
                  </a:extLst>
                </a:gridCol>
                <a:gridCol w="1695196">
                  <a:extLst>
                    <a:ext uri="{9D8B030D-6E8A-4147-A177-3AD203B41FA5}">
                      <a16:colId xmlns:a16="http://schemas.microsoft.com/office/drawing/2014/main" val="204925023"/>
                    </a:ext>
                  </a:extLst>
                </a:gridCol>
                <a:gridCol w="1239345">
                  <a:extLst>
                    <a:ext uri="{9D8B030D-6E8A-4147-A177-3AD203B41FA5}">
                      <a16:colId xmlns:a16="http://schemas.microsoft.com/office/drawing/2014/main" val="3863096390"/>
                    </a:ext>
                  </a:extLst>
                </a:gridCol>
                <a:gridCol w="1419827">
                  <a:extLst>
                    <a:ext uri="{9D8B030D-6E8A-4147-A177-3AD203B41FA5}">
                      <a16:colId xmlns:a16="http://schemas.microsoft.com/office/drawing/2014/main" val="67674783"/>
                    </a:ext>
                  </a:extLst>
                </a:gridCol>
              </a:tblGrid>
              <a:tr h="297147">
                <a:tc>
                  <a:txBody>
                    <a:bodyPr/>
                    <a:lstStyle/>
                    <a:p>
                      <a:pPr algn="l" fontAlgn="t">
                        <a:buNone/>
                      </a:pPr>
                      <a:r>
                        <a:rPr lang="en-US" sz="1800" b="0" i="0" u="none" strike="noStrike">
                          <a:solidFill>
                            <a:srgbClr val="000000"/>
                          </a:solidFill>
                          <a:effectLst/>
                          <a:latin typeface="Georgia" panose="02040502050405020303" pitchFamily="18" charset="0"/>
                        </a:rPr>
                        <a:t> </a:t>
                      </a:r>
                    </a:p>
                  </a:txBody>
                  <a:tcPr marL="6825" marR="6825" marT="68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(1)</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(2)</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(3)</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(4)</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8002163"/>
                  </a:ext>
                </a:extLst>
              </a:tr>
              <a:tr h="399666">
                <a:tc>
                  <a:txBody>
                    <a:bodyPr/>
                    <a:lstStyle/>
                    <a:p>
                      <a:pPr marL="0" algn="l" defTabSz="685800" rtl="0" eaLnBrk="1" fontAlgn="ctr" latinLnBrk="0" hangingPunct="1">
                        <a:buNone/>
                      </a:pPr>
                      <a:r>
                        <a:rPr lang="zh-CN" altLang="en-US" sz="1800" b="0" i="0" u="none" strike="noStrike" kern="1200" dirty="0">
                          <a:solidFill>
                            <a:srgbClr val="000000"/>
                          </a:solidFill>
                          <a:effectLst/>
                          <a:latin typeface="Times New Roman" panose="02020603050405020304" pitchFamily="18" charset="0"/>
                          <a:ea typeface="+mn-ea"/>
                          <a:cs typeface="+mn-cs"/>
                        </a:rPr>
                        <a:t> </a:t>
                      </a:r>
                      <a:r>
                        <a:rPr lang="en-US" sz="1800" b="0" i="0" u="none" strike="noStrike" kern="1200" dirty="0">
                          <a:solidFill>
                            <a:srgbClr val="000000"/>
                          </a:solidFill>
                          <a:effectLst/>
                          <a:latin typeface="Times New Roman" panose="02020603050405020304" pitchFamily="18" charset="0"/>
                          <a:ea typeface="+mn-ea"/>
                          <a:cs typeface="+mn-cs"/>
                        </a:rPr>
                        <a:t>DV</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fontAlgn="ctr">
                        <a:buNone/>
                      </a:pPr>
                      <a:r>
                        <a:rPr lang="en-US" altLang="zh-CN" sz="1800" b="0" i="0" u="none" strike="noStrike" dirty="0">
                          <a:solidFill>
                            <a:srgbClr val="000000"/>
                          </a:solidFill>
                          <a:effectLst/>
                          <a:latin typeface="Times New Roman" panose="02020603050405020304" pitchFamily="18" charset="0"/>
                        </a:rPr>
                        <a:t>Log(answer</a:t>
                      </a:r>
                      <a:r>
                        <a:rPr lang="zh-CN" altLang="en-US" sz="1800" b="0" i="0" u="none" strike="noStrike" dirty="0">
                          <a:solidFill>
                            <a:srgbClr val="000000"/>
                          </a:solidFill>
                          <a:effectLst/>
                          <a:latin typeface="Times New Roman" panose="02020603050405020304" pitchFamily="18" charset="0"/>
                        </a:rPr>
                        <a:t> </a:t>
                      </a:r>
                      <a:r>
                        <a:rPr lang="en-US" altLang="zh-CN" sz="1800" b="0" i="0" u="none" strike="noStrike" dirty="0">
                          <a:solidFill>
                            <a:srgbClr val="000000"/>
                          </a:solidFill>
                          <a:effectLst/>
                          <a:latin typeface="Times New Roman" panose="02020603050405020304" pitchFamily="18" charset="0"/>
                        </a:rPr>
                        <a:t>number</a:t>
                      </a:r>
                      <a:r>
                        <a:rPr lang="zh-CN" altLang="en-US" sz="1800" b="0" i="0" u="none" strike="noStrike" dirty="0">
                          <a:solidFill>
                            <a:srgbClr val="000000"/>
                          </a:solidFill>
                          <a:effectLst/>
                          <a:latin typeface="Times New Roman" panose="02020603050405020304" pitchFamily="18" charset="0"/>
                        </a:rPr>
                        <a:t> </a:t>
                      </a:r>
                      <a:r>
                        <a:rPr lang="en-US" altLang="zh-CN" sz="1800" b="0" i="0" u="none" strike="noStrike" dirty="0">
                          <a:solidFill>
                            <a:srgbClr val="000000"/>
                          </a:solidFill>
                          <a:effectLst/>
                          <a:latin typeface="Times New Roman" panose="02020603050405020304" pitchFamily="18" charset="0"/>
                        </a:rPr>
                        <a:t>in</a:t>
                      </a:r>
                      <a:r>
                        <a:rPr lang="zh-CN" altLang="en-US" sz="1800" b="0" i="0" u="none" strike="noStrike" dirty="0">
                          <a:solidFill>
                            <a:srgbClr val="000000"/>
                          </a:solidFill>
                          <a:effectLst/>
                          <a:latin typeface="Times New Roman" panose="02020603050405020304" pitchFamily="18" charset="0"/>
                        </a:rPr>
                        <a:t> </a:t>
                      </a:r>
                      <a:r>
                        <a:rPr lang="en-US" altLang="zh-CN" sz="1800" b="0" i="0" u="none" strike="noStrike" dirty="0">
                          <a:solidFill>
                            <a:srgbClr val="000000"/>
                          </a:solidFill>
                          <a:effectLst/>
                          <a:latin typeface="Times New Roman" panose="02020603050405020304" pitchFamily="18" charset="0"/>
                        </a:rPr>
                        <a:t>7</a:t>
                      </a:r>
                      <a:r>
                        <a:rPr lang="zh-CN" altLang="en-US" sz="1800" b="0" i="0" u="none" strike="noStrike" dirty="0">
                          <a:solidFill>
                            <a:srgbClr val="000000"/>
                          </a:solidFill>
                          <a:effectLst/>
                          <a:latin typeface="Times New Roman" panose="02020603050405020304" pitchFamily="18" charset="0"/>
                        </a:rPr>
                        <a:t> </a:t>
                      </a:r>
                      <a:r>
                        <a:rPr lang="en-US" altLang="zh-CN" sz="1800" b="0" i="0" u="none" strike="noStrike" dirty="0">
                          <a:solidFill>
                            <a:srgbClr val="000000"/>
                          </a:solidFill>
                          <a:effectLst/>
                          <a:latin typeface="Times New Roman" panose="02020603050405020304" pitchFamily="18" charset="0"/>
                        </a:rPr>
                        <a:t>days)</a:t>
                      </a:r>
                      <a:endParaRPr lang="en-US" sz="1800" b="0" i="0" u="none" strike="noStrike" dirty="0">
                        <a:solidFill>
                          <a:srgbClr val="000000"/>
                        </a:solidFill>
                        <a:effectLst/>
                        <a:latin typeface="Times New Roman" panose="02020603050405020304" pitchFamily="18" charset="0"/>
                      </a:endParaRPr>
                    </a:p>
                  </a:txBody>
                  <a:tcPr marL="88049" marR="88049" marT="44025" marB="44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2">
                  <a:txBody>
                    <a:bodyPr/>
                    <a:lstStyle/>
                    <a:p>
                      <a:pPr algn="ctr" fontAlgn="ctr">
                        <a:buNone/>
                      </a:pPr>
                      <a:r>
                        <a:rPr lang="en-US" altLang="zh-CN" sz="1800" b="0" i="0" u="none" strike="noStrike" dirty="0">
                          <a:solidFill>
                            <a:srgbClr val="000000"/>
                          </a:solidFill>
                          <a:effectLst/>
                          <a:latin typeface="Times New Roman" panose="02020603050405020304" pitchFamily="18" charset="0"/>
                        </a:rPr>
                        <a:t>F</a:t>
                      </a:r>
                      <a:r>
                        <a:rPr lang="en-US" sz="1800" b="0" i="0" u="none" strike="noStrike" dirty="0">
                          <a:solidFill>
                            <a:srgbClr val="000000"/>
                          </a:solidFill>
                          <a:effectLst/>
                          <a:latin typeface="Times New Roman" panose="02020603050405020304" pitchFamily="18" charset="0"/>
                        </a:rPr>
                        <a:t>irst answer quality</a:t>
                      </a:r>
                      <a:r>
                        <a:rPr lang="zh-CN" altLang="en-US" sz="1800" b="0" i="0" u="none" strike="noStrike" dirty="0">
                          <a:solidFill>
                            <a:srgbClr val="000000"/>
                          </a:solidFill>
                          <a:effectLst/>
                          <a:latin typeface="Times New Roman" panose="02020603050405020304" pitchFamily="18" charset="0"/>
                        </a:rPr>
                        <a:t> </a:t>
                      </a:r>
                      <a:r>
                        <a:rPr lang="en-US" altLang="zh-CN" sz="1800" b="0" i="0" u="none" strike="noStrike" dirty="0">
                          <a:solidFill>
                            <a:srgbClr val="000000"/>
                          </a:solidFill>
                          <a:effectLst/>
                          <a:latin typeface="Times New Roman" panose="02020603050405020304" pitchFamily="18" charset="0"/>
                        </a:rPr>
                        <a:t>(LLM)</a:t>
                      </a:r>
                      <a:endParaRPr lang="en-US" sz="1800" b="0" i="0" u="none" strike="noStrike" dirty="0">
                        <a:solidFill>
                          <a:srgbClr val="000000"/>
                        </a:solidFill>
                        <a:effectLst/>
                        <a:latin typeface="Times New Roman" panose="02020603050405020304" pitchFamily="18" charset="0"/>
                      </a:endParaRPr>
                    </a:p>
                  </a:txBody>
                  <a:tcPr marL="88049" marR="88049" marT="44025" marB="44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933944480"/>
                  </a:ext>
                </a:extLst>
              </a:tr>
              <a:tr h="297147">
                <a:tc rowSpan="2">
                  <a:txBody>
                    <a:bodyPr/>
                    <a:lstStyle/>
                    <a:p>
                      <a:pPr algn="l" fontAlgn="ctr">
                        <a:buNone/>
                      </a:pPr>
                      <a:r>
                        <a:rPr lang="en-US" sz="1800" b="0" i="1" u="none" strike="noStrike" dirty="0">
                          <a:solidFill>
                            <a:srgbClr val="000000"/>
                          </a:solidFill>
                          <a:effectLst/>
                          <a:latin typeface="Times New Roman" panose="02020603050405020304" pitchFamily="18" charset="0"/>
                        </a:rPr>
                        <a:t>AI</a:t>
                      </a:r>
                    </a:p>
                  </a:txBody>
                  <a:tcPr marL="88049" marR="88049" marT="44025" marB="44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-0.046 ***</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FF0000"/>
                          </a:solidFill>
                          <a:effectLst/>
                          <a:latin typeface="Times New Roman" panose="02020603050405020304" pitchFamily="18" charset="0"/>
                        </a:rPr>
                        <a:t>0.226 **</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0.000</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FF0000"/>
                          </a:solidFill>
                          <a:effectLst/>
                          <a:latin typeface="Times New Roman" panose="02020603050405020304" pitchFamily="18" charset="0"/>
                        </a:rPr>
                        <a:t>-0.120 </a:t>
                      </a:r>
                      <a:r>
                        <a:rPr lang="en-US" altLang="zh-CN" sz="1800" b="0" i="0" u="none" strike="noStrike" dirty="0">
                          <a:solidFill>
                            <a:srgbClr val="FF0000"/>
                          </a:solidFill>
                          <a:effectLst/>
                          <a:latin typeface="Times New Roman" panose="02020603050405020304" pitchFamily="18" charset="0"/>
                        </a:rPr>
                        <a:t>#</a:t>
                      </a:r>
                      <a:endParaRPr lang="en-US" sz="1800" b="0" i="0" u="none" strike="noStrike" dirty="0">
                        <a:solidFill>
                          <a:srgbClr val="FF0000"/>
                        </a:solidFill>
                        <a:effectLst/>
                        <a:latin typeface="Times New Roman" panose="02020603050405020304" pitchFamily="18" charset="0"/>
                      </a:endParaRP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5373219"/>
                  </a:ext>
                </a:extLst>
              </a:tr>
              <a:tr h="297147">
                <a:tc vMerge="1">
                  <a:txBody>
                    <a:bodyPr/>
                    <a:lstStyle/>
                    <a:p>
                      <a:endParaRPr lang="en-US"/>
                    </a:p>
                  </a:txBody>
                  <a:tcPr/>
                </a:tc>
                <a:tc>
                  <a:txBody>
                    <a:bodyPr/>
                    <a:lstStyle/>
                    <a:p>
                      <a:pPr algn="ctr" fontAlgn="ctr">
                        <a:buNone/>
                      </a:pPr>
                      <a:r>
                        <a:rPr lang="en-US" sz="1800" b="0" i="0" u="none" strike="noStrike">
                          <a:solidFill>
                            <a:srgbClr val="000000"/>
                          </a:solidFill>
                          <a:effectLst/>
                          <a:latin typeface="Times New Roman" panose="02020603050405020304" pitchFamily="18" charset="0"/>
                        </a:rPr>
                        <a:t>(0.011)</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FF0000"/>
                          </a:solidFill>
                          <a:effectLst/>
                          <a:latin typeface="Times New Roman" panose="02020603050405020304" pitchFamily="18" charset="0"/>
                        </a:rPr>
                        <a:t>(0.085)</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(0.007)</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FF0000"/>
                          </a:solidFill>
                          <a:effectLst/>
                          <a:latin typeface="Times New Roman" panose="02020603050405020304" pitchFamily="18" charset="0"/>
                        </a:rPr>
                        <a:t>(0.067)</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5601719"/>
                  </a:ext>
                </a:extLst>
              </a:tr>
              <a:tr h="297147">
                <a:tc rowSpan="2">
                  <a:txBody>
                    <a:bodyPr/>
                    <a:lstStyle/>
                    <a:p>
                      <a:pPr algn="l" fontAlgn="ctr">
                        <a:buNone/>
                      </a:pPr>
                      <a:r>
                        <a:rPr lang="en-US" sz="1800" b="0" i="1" u="none" strike="noStrike" dirty="0">
                          <a:solidFill>
                            <a:srgbClr val="000000"/>
                          </a:solidFill>
                          <a:effectLst/>
                          <a:latin typeface="Times New Roman" panose="02020603050405020304" pitchFamily="18" charset="0"/>
                        </a:rPr>
                        <a:t>AI * </a:t>
                      </a:r>
                      <a:r>
                        <a:rPr lang="en-US" altLang="zh-CN" sz="1800" b="0" i="1" u="none" strike="noStrike" dirty="0" err="1">
                          <a:solidFill>
                            <a:srgbClr val="000000"/>
                          </a:solidFill>
                          <a:effectLst/>
                          <a:latin typeface="Times New Roman" panose="02020603050405020304" pitchFamily="18" charset="0"/>
                        </a:rPr>
                        <a:t>Answer</a:t>
                      </a:r>
                      <a:r>
                        <a:rPr lang="en-US" sz="1800" b="0" i="1" u="none" strike="noStrike" dirty="0" err="1">
                          <a:solidFill>
                            <a:srgbClr val="000000"/>
                          </a:solidFill>
                          <a:effectLst/>
                          <a:latin typeface="Times New Roman" panose="02020603050405020304" pitchFamily="18" charset="0"/>
                        </a:rPr>
                        <a:t>Length</a:t>
                      </a:r>
                      <a:endParaRPr lang="en-US" sz="1800" b="0" i="1" u="none" strike="noStrike" dirty="0">
                        <a:solidFill>
                          <a:srgbClr val="000000"/>
                        </a:solidFill>
                        <a:effectLst/>
                        <a:latin typeface="Times New Roman" panose="02020603050405020304" pitchFamily="18" charset="0"/>
                      </a:endParaRPr>
                    </a:p>
                  </a:txBody>
                  <a:tcPr marL="88049" marR="88049" marT="44025" marB="44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sz="1800" b="0" i="0" u="none" strike="noStrike">
                        <a:solidFill>
                          <a:srgbClr val="000000"/>
                        </a:solidFill>
                        <a:effectLst/>
                        <a:latin typeface="Times New Roman" panose="02020603050405020304" pitchFamily="18" charset="0"/>
                      </a:endParaRP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FF0000"/>
                          </a:solidFill>
                          <a:effectLst/>
                          <a:latin typeface="Times New Roman" panose="02020603050405020304" pitchFamily="18" charset="0"/>
                        </a:rPr>
                        <a:t>-0.045 **</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sz="1800" b="0" i="0" u="none" strike="noStrike">
                        <a:solidFill>
                          <a:srgbClr val="000000"/>
                        </a:solidFill>
                        <a:effectLst/>
                        <a:latin typeface="Times New Roman" panose="02020603050405020304" pitchFamily="18" charset="0"/>
                      </a:endParaRP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-0.013</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3967539"/>
                  </a:ext>
                </a:extLst>
              </a:tr>
              <a:tr h="297147">
                <a:tc vMerge="1">
                  <a:txBody>
                    <a:bodyPr/>
                    <a:lstStyle/>
                    <a:p>
                      <a:endParaRPr lang="en-US"/>
                    </a:p>
                  </a:txBody>
                  <a:tcPr/>
                </a:tc>
                <a:tc>
                  <a:txBody>
                    <a:bodyPr/>
                    <a:lstStyle/>
                    <a:p>
                      <a:pPr algn="ctr" fontAlgn="ctr">
                        <a:buNone/>
                      </a:pPr>
                      <a:endParaRPr lang="en-US" sz="1800" b="0" i="0" u="none" strike="noStrike">
                        <a:solidFill>
                          <a:srgbClr val="000000"/>
                        </a:solidFill>
                        <a:effectLst/>
                        <a:latin typeface="Times New Roman" panose="02020603050405020304" pitchFamily="18" charset="0"/>
                      </a:endParaRP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FF0000"/>
                          </a:solidFill>
                          <a:effectLst/>
                          <a:latin typeface="Times New Roman" panose="02020603050405020304" pitchFamily="18" charset="0"/>
                        </a:rPr>
                        <a:t>(0.014)</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sz="1800" b="0" i="0" u="none" strike="noStrike">
                        <a:solidFill>
                          <a:srgbClr val="000000"/>
                        </a:solidFill>
                        <a:effectLst/>
                        <a:latin typeface="Times New Roman" panose="02020603050405020304" pitchFamily="18" charset="0"/>
                      </a:endParaRP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(0.011)</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9395254"/>
                  </a:ext>
                </a:extLst>
              </a:tr>
              <a:tr h="297147">
                <a:tc rowSpan="2">
                  <a:txBody>
                    <a:bodyPr/>
                    <a:lstStyle/>
                    <a:p>
                      <a:pPr algn="l" fontAlgn="ctr">
                        <a:buNone/>
                      </a:pPr>
                      <a:r>
                        <a:rPr lang="en-US" sz="1800" b="0" i="1" u="none" strike="noStrike" dirty="0">
                          <a:solidFill>
                            <a:srgbClr val="000000"/>
                          </a:solidFill>
                          <a:effectLst/>
                          <a:latin typeface="Times New Roman" panose="02020603050405020304" pitchFamily="18" charset="0"/>
                        </a:rPr>
                        <a:t>AI * </a:t>
                      </a:r>
                      <a:r>
                        <a:rPr lang="en-US" sz="1800" b="0" i="1" u="none" strike="noStrike" dirty="0" err="1">
                          <a:solidFill>
                            <a:srgbClr val="000000"/>
                          </a:solidFill>
                          <a:effectLst/>
                          <a:latin typeface="Times New Roman" panose="02020603050405020304" pitchFamily="18" charset="0"/>
                        </a:rPr>
                        <a:t>A</a:t>
                      </a:r>
                      <a:r>
                        <a:rPr lang="en-US" altLang="zh-CN" sz="1800" b="0" i="1" u="none" strike="noStrike" dirty="0" err="1">
                          <a:solidFill>
                            <a:srgbClr val="000000"/>
                          </a:solidFill>
                          <a:effectLst/>
                          <a:latin typeface="Times New Roman" panose="02020603050405020304" pitchFamily="18" charset="0"/>
                        </a:rPr>
                        <a:t>nswerQuality</a:t>
                      </a:r>
                      <a:endParaRPr lang="en-US" sz="1800" b="0" i="1" u="none" strike="noStrike" dirty="0">
                        <a:solidFill>
                          <a:srgbClr val="000000"/>
                        </a:solidFill>
                        <a:effectLst/>
                        <a:latin typeface="Times New Roman" panose="02020603050405020304" pitchFamily="18" charset="0"/>
                      </a:endParaRPr>
                    </a:p>
                  </a:txBody>
                  <a:tcPr marL="88049" marR="88049" marT="44025" marB="44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sz="1800" b="0" i="0" u="none" strike="noStrike">
                        <a:solidFill>
                          <a:srgbClr val="000000"/>
                        </a:solidFill>
                        <a:effectLst/>
                        <a:latin typeface="Times New Roman" panose="02020603050405020304" pitchFamily="18" charset="0"/>
                      </a:endParaRP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-0.038</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sz="1800" b="0" i="0" u="none" strike="noStrike" dirty="0">
                        <a:solidFill>
                          <a:srgbClr val="000000"/>
                        </a:solidFill>
                        <a:effectLst/>
                        <a:latin typeface="Times New Roman" panose="02020603050405020304" pitchFamily="18" charset="0"/>
                      </a:endParaRP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FF0000"/>
                          </a:solidFill>
                          <a:effectLst/>
                          <a:latin typeface="Times New Roman" panose="02020603050405020304" pitchFamily="18" charset="0"/>
                        </a:rPr>
                        <a:t>0.350 ***</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5025830"/>
                  </a:ext>
                </a:extLst>
              </a:tr>
              <a:tr h="297147">
                <a:tc vMerge="1">
                  <a:txBody>
                    <a:bodyPr/>
                    <a:lstStyle/>
                    <a:p>
                      <a:endParaRPr lang="en-US"/>
                    </a:p>
                  </a:txBody>
                  <a:tcPr/>
                </a:tc>
                <a:tc>
                  <a:txBody>
                    <a:bodyPr/>
                    <a:lstStyle/>
                    <a:p>
                      <a:pPr algn="ctr" fontAlgn="ctr">
                        <a:buNone/>
                      </a:pPr>
                      <a:r>
                        <a:rPr lang="en-US" sz="1800" b="0" i="0" u="none" strike="noStrike">
                          <a:solidFill>
                            <a:srgbClr val="000000"/>
                          </a:solidFill>
                          <a:effectLst/>
                          <a:latin typeface="Times New Roman" panose="02020603050405020304" pitchFamily="18" charset="0"/>
                        </a:rPr>
                        <a:t> </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(0.051)</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000000"/>
                          </a:solidFill>
                          <a:effectLst/>
                          <a:latin typeface="Times New Roman" panose="02020603050405020304" pitchFamily="18" charset="0"/>
                        </a:rPr>
                        <a:t> </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FF0000"/>
                          </a:solidFill>
                          <a:effectLst/>
                          <a:latin typeface="Times New Roman" panose="02020603050405020304" pitchFamily="18" charset="0"/>
                        </a:rPr>
                        <a:t>(0.034)</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1975476"/>
                  </a:ext>
                </a:extLst>
              </a:tr>
              <a:tr h="297147">
                <a:tc>
                  <a:txBody>
                    <a:bodyPr/>
                    <a:lstStyle/>
                    <a:p>
                      <a:pPr algn="l" fontAlgn="ctr">
                        <a:buNone/>
                      </a:pPr>
                      <a:r>
                        <a:rPr lang="zh-CN" altLang="en-US" sz="1800" b="0" i="0" u="none" strike="noStrike" dirty="0">
                          <a:solidFill>
                            <a:srgbClr val="000000"/>
                          </a:solidFill>
                          <a:effectLst/>
                          <a:latin typeface="Times New Roman" panose="02020603050405020304" pitchFamily="18" charset="0"/>
                        </a:rPr>
                        <a:t> </a:t>
                      </a:r>
                      <a:r>
                        <a:rPr lang="en-US" sz="1800" b="0" i="0" u="none" strike="noStrike" dirty="0">
                          <a:solidFill>
                            <a:srgbClr val="000000"/>
                          </a:solidFill>
                          <a:effectLst/>
                          <a:latin typeface="Times New Roman" panose="02020603050405020304" pitchFamily="18" charset="0"/>
                        </a:rPr>
                        <a:t>question controls</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0207335"/>
                  </a:ext>
                </a:extLst>
              </a:tr>
              <a:tr h="297147">
                <a:tc>
                  <a:txBody>
                    <a:bodyPr/>
                    <a:lstStyle/>
                    <a:p>
                      <a:pPr algn="l" fontAlgn="ctr">
                        <a:buNone/>
                      </a:pPr>
                      <a:r>
                        <a:rPr lang="zh-CN" altLang="en-US" sz="1800" b="0" i="0" u="none" strike="noStrike" dirty="0">
                          <a:solidFill>
                            <a:srgbClr val="000000"/>
                          </a:solidFill>
                          <a:effectLst/>
                          <a:latin typeface="Times New Roman" panose="02020603050405020304" pitchFamily="18" charset="0"/>
                        </a:rPr>
                        <a:t> </a:t>
                      </a:r>
                      <a:r>
                        <a:rPr lang="en-US" sz="1800" b="0" i="0" u="none" strike="noStrike" dirty="0">
                          <a:solidFill>
                            <a:srgbClr val="000000"/>
                          </a:solidFill>
                          <a:effectLst/>
                          <a:latin typeface="Times New Roman" panose="02020603050405020304" pitchFamily="18" charset="0"/>
                        </a:rPr>
                        <a:t>questioner controls</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2989340"/>
                  </a:ext>
                </a:extLst>
              </a:tr>
              <a:tr h="297147">
                <a:tc>
                  <a:txBody>
                    <a:bodyPr/>
                    <a:lstStyle/>
                    <a:p>
                      <a:pPr algn="l" fontAlgn="ctr">
                        <a:buNone/>
                      </a:pPr>
                      <a:r>
                        <a:rPr lang="zh-CN" altLang="en-US" sz="1800" b="0" i="0" u="none" strike="noStrike" dirty="0">
                          <a:solidFill>
                            <a:srgbClr val="000000"/>
                          </a:solidFill>
                          <a:effectLst/>
                          <a:latin typeface="Times New Roman" panose="02020603050405020304" pitchFamily="18" charset="0"/>
                        </a:rPr>
                        <a:t> </a:t>
                      </a:r>
                      <a:r>
                        <a:rPr lang="en-US" sz="1800" b="0" i="0" u="none" strike="noStrike" dirty="0">
                          <a:solidFill>
                            <a:srgbClr val="000000"/>
                          </a:solidFill>
                          <a:effectLst/>
                          <a:latin typeface="Times New Roman" panose="02020603050405020304" pitchFamily="18" charset="0"/>
                        </a:rPr>
                        <a:t>question timing FE</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832091"/>
                  </a:ext>
                </a:extLst>
              </a:tr>
              <a:tr h="297147">
                <a:tc>
                  <a:txBody>
                    <a:bodyPr/>
                    <a:lstStyle/>
                    <a:p>
                      <a:pPr algn="l" fontAlgn="ctr">
                        <a:buNone/>
                      </a:pPr>
                      <a:r>
                        <a:rPr lang="zh-CN" altLang="en-US" sz="1800" b="0" i="0" u="none" strike="noStrike" dirty="0">
                          <a:solidFill>
                            <a:srgbClr val="000000"/>
                          </a:solidFill>
                          <a:effectLst/>
                          <a:latin typeface="Times New Roman" panose="02020603050405020304" pitchFamily="18" charset="0"/>
                        </a:rPr>
                        <a:t> </a:t>
                      </a:r>
                      <a:r>
                        <a:rPr lang="en-US" sz="1800" b="0" i="0" u="none" strike="noStrike" dirty="0">
                          <a:solidFill>
                            <a:srgbClr val="000000"/>
                          </a:solidFill>
                          <a:effectLst/>
                          <a:latin typeface="Times New Roman" panose="02020603050405020304" pitchFamily="18" charset="0"/>
                        </a:rPr>
                        <a:t>N</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3,613</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3,603</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000000"/>
                          </a:solidFill>
                          <a:effectLst/>
                          <a:latin typeface="Times New Roman" panose="02020603050405020304" pitchFamily="18" charset="0"/>
                        </a:rPr>
                        <a:t>2,685</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000000"/>
                          </a:solidFill>
                          <a:effectLst/>
                          <a:latin typeface="Times New Roman" panose="02020603050405020304" pitchFamily="18" charset="0"/>
                        </a:rPr>
                        <a:t>2,685</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4171558"/>
                  </a:ext>
                </a:extLst>
              </a:tr>
            </a:tbl>
          </a:graphicData>
        </a:graphic>
      </p:graphicFrame>
      <p:sp>
        <p:nvSpPr>
          <p:cNvPr id="3" name="Slide Number Placeholder 2">
            <a:extLst>
              <a:ext uri="{FF2B5EF4-FFF2-40B4-BE49-F238E27FC236}">
                <a16:creationId xmlns:a16="http://schemas.microsoft.com/office/drawing/2014/main" id="{FFC4745E-9629-A916-E06D-62DEB5270667}"/>
              </a:ext>
            </a:extLst>
          </p:cNvPr>
          <p:cNvSpPr>
            <a:spLocks noGrp="1"/>
          </p:cNvSpPr>
          <p:nvPr>
            <p:ph type="sldNum" sz="quarter" idx="12"/>
          </p:nvPr>
        </p:nvSpPr>
        <p:spPr/>
        <p:txBody>
          <a:bodyPr/>
          <a:lstStyle/>
          <a:p>
            <a:fld id="{80E9C1D4-69BA-4B09-8A24-1CCDDD1AB85B}" type="slidenum">
              <a:rPr lang="zh-CN" altLang="en-US" smtClean="0"/>
              <a:t>16</a:t>
            </a:fld>
            <a:endParaRPr lang="zh-CN" altLang="en-US"/>
          </a:p>
        </p:txBody>
      </p:sp>
      <p:sp>
        <p:nvSpPr>
          <p:cNvPr id="5" name="TextBox 4">
            <a:extLst>
              <a:ext uri="{FF2B5EF4-FFF2-40B4-BE49-F238E27FC236}">
                <a16:creationId xmlns:a16="http://schemas.microsoft.com/office/drawing/2014/main" id="{DC5EBC02-B170-E80B-AB28-04B8616088BD}"/>
              </a:ext>
            </a:extLst>
          </p:cNvPr>
          <p:cNvSpPr txBox="1"/>
          <p:nvPr/>
        </p:nvSpPr>
        <p:spPr>
          <a:xfrm>
            <a:off x="628650" y="4684990"/>
            <a:ext cx="4785990" cy="369332"/>
          </a:xfrm>
          <a:prstGeom prst="rect">
            <a:avLst/>
          </a:prstGeom>
          <a:noFill/>
        </p:spPr>
        <p:txBody>
          <a:bodyPr wrap="none" rtlCol="0">
            <a:spAutoFit/>
          </a:bodyPr>
          <a:lstStyle/>
          <a:p>
            <a:r>
              <a:rPr lang="en-US" altLang="zh-CN" dirty="0"/>
              <a:t>Notes:</a:t>
            </a:r>
            <a:r>
              <a:rPr lang="zh-CN" altLang="en-US" dirty="0"/>
              <a:t> </a:t>
            </a:r>
            <a:r>
              <a:rPr lang="en-US" altLang="zh-CN" dirty="0"/>
              <a:t>#</a:t>
            </a:r>
            <a:r>
              <a:rPr lang="zh-CN" altLang="en-US" dirty="0"/>
              <a:t> </a:t>
            </a:r>
            <a:r>
              <a:rPr lang="en-US" altLang="zh-CN" dirty="0"/>
              <a:t>p&lt;0.1,</a:t>
            </a:r>
            <a:r>
              <a:rPr lang="zh-CN" altLang="en-US" dirty="0"/>
              <a:t> * </a:t>
            </a:r>
            <a:r>
              <a:rPr lang="en-US" altLang="zh-CN" dirty="0"/>
              <a:t>p&lt;0.05,</a:t>
            </a:r>
            <a:r>
              <a:rPr lang="zh-CN" altLang="en-US" dirty="0"/>
              <a:t> ** </a:t>
            </a:r>
            <a:r>
              <a:rPr lang="en-US" altLang="zh-CN" dirty="0"/>
              <a:t>p&lt;0.01,</a:t>
            </a:r>
            <a:r>
              <a:rPr lang="zh-CN" altLang="en-US" dirty="0"/>
              <a:t> *** </a:t>
            </a:r>
            <a:r>
              <a:rPr lang="en-US" altLang="zh-CN" dirty="0"/>
              <a:t>p&lt;0.001</a:t>
            </a:r>
            <a:endParaRPr lang="en-US" dirty="0"/>
          </a:p>
        </p:txBody>
      </p:sp>
    </p:spTree>
    <p:extLst>
      <p:ext uri="{BB962C8B-B14F-4D97-AF65-F5344CB8AC3E}">
        <p14:creationId xmlns:p14="http://schemas.microsoft.com/office/powerpoint/2010/main" val="2150637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B8865-479E-020B-598B-4CC4C1DE098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BA42F86-65FF-EC54-3AA5-D3C035E41F8A}"/>
              </a:ext>
            </a:extLst>
          </p:cNvPr>
          <p:cNvSpPr>
            <a:spLocks noGrp="1"/>
          </p:cNvSpPr>
          <p:nvPr>
            <p:ph type="title"/>
          </p:nvPr>
        </p:nvSpPr>
        <p:spPr/>
        <p:txBody>
          <a:bodyPr>
            <a:noAutofit/>
          </a:bodyPr>
          <a:lstStyle/>
          <a:p>
            <a:r>
              <a:rPr lang="en-US" altLang="en-US" sz="2800" dirty="0"/>
              <a:t>Competition Effect on Contribution </a:t>
            </a:r>
            <a:br>
              <a:rPr lang="en-US" altLang="en-US" sz="2800" dirty="0"/>
            </a:br>
            <a:r>
              <a:rPr lang="en-US" altLang="en-US" sz="2400" dirty="0"/>
              <a:t>(Fast Processing — Length as Signal)</a:t>
            </a:r>
            <a:endParaRPr lang="en-US" altLang="en-US" sz="2800" dirty="0"/>
          </a:p>
        </p:txBody>
      </p:sp>
      <p:sp>
        <p:nvSpPr>
          <p:cNvPr id="17" name="Rectangle 16">
            <a:extLst>
              <a:ext uri="{FF2B5EF4-FFF2-40B4-BE49-F238E27FC236}">
                <a16:creationId xmlns:a16="http://schemas.microsoft.com/office/drawing/2014/main" id="{B208F7C9-4A9C-1F9F-BA57-4D49B0CC1856}"/>
              </a:ext>
            </a:extLst>
          </p:cNvPr>
          <p:cNvSpPr/>
          <p:nvPr/>
        </p:nvSpPr>
        <p:spPr>
          <a:xfrm>
            <a:off x="5657064" y="1260888"/>
            <a:ext cx="1252317" cy="478118"/>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Answer</a:t>
            </a:r>
            <a:r>
              <a:rPr lang="en-US" altLang="zh-CN" sz="1200" dirty="0"/>
              <a:t>er</a:t>
            </a:r>
            <a:r>
              <a:rPr lang="en-US" sz="1200" dirty="0"/>
              <a:t> Participation</a:t>
            </a:r>
          </a:p>
        </p:txBody>
      </p:sp>
      <p:sp>
        <p:nvSpPr>
          <p:cNvPr id="18" name="Rectangle 17">
            <a:extLst>
              <a:ext uri="{FF2B5EF4-FFF2-40B4-BE49-F238E27FC236}">
                <a16:creationId xmlns:a16="http://schemas.microsoft.com/office/drawing/2014/main" id="{7E946679-34AF-90CE-80B5-0ED9711DBCC3}"/>
              </a:ext>
            </a:extLst>
          </p:cNvPr>
          <p:cNvSpPr/>
          <p:nvPr/>
        </p:nvSpPr>
        <p:spPr>
          <a:xfrm>
            <a:off x="2385168" y="1273337"/>
            <a:ext cx="1161971" cy="461302"/>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Has AI Answer</a:t>
            </a:r>
          </a:p>
        </p:txBody>
      </p:sp>
      <p:cxnSp>
        <p:nvCxnSpPr>
          <p:cNvPr id="19" name="Straight Arrow Connector 18">
            <a:extLst>
              <a:ext uri="{FF2B5EF4-FFF2-40B4-BE49-F238E27FC236}">
                <a16:creationId xmlns:a16="http://schemas.microsoft.com/office/drawing/2014/main" id="{A0FBC2D5-E3EA-56C8-6ABC-47DD504C91A5}"/>
              </a:ext>
            </a:extLst>
          </p:cNvPr>
          <p:cNvCxnSpPr>
            <a:cxnSpLocks/>
            <a:stCxn id="18" idx="3"/>
            <a:endCxn id="17" idx="1"/>
          </p:cNvCxnSpPr>
          <p:nvPr/>
        </p:nvCxnSpPr>
        <p:spPr>
          <a:xfrm flipV="1">
            <a:off x="3547139" y="1499947"/>
            <a:ext cx="2109925" cy="4041"/>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BFA56E17-74DF-D9A6-7061-44E6249916BB}"/>
              </a:ext>
            </a:extLst>
          </p:cNvPr>
          <p:cNvCxnSpPr>
            <a:cxnSpLocks/>
            <a:stCxn id="21" idx="0"/>
          </p:cNvCxnSpPr>
          <p:nvPr/>
        </p:nvCxnSpPr>
        <p:spPr>
          <a:xfrm flipV="1">
            <a:off x="4609827" y="1508988"/>
            <a:ext cx="0" cy="293816"/>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05E8233C-584F-5A85-CF30-510DA440557A}"/>
              </a:ext>
            </a:extLst>
          </p:cNvPr>
          <p:cNvSpPr/>
          <p:nvPr/>
        </p:nvSpPr>
        <p:spPr>
          <a:xfrm>
            <a:off x="4160151" y="1802804"/>
            <a:ext cx="899352" cy="451032"/>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AI Answer Length</a:t>
            </a:r>
          </a:p>
        </p:txBody>
      </p:sp>
      <p:sp>
        <p:nvSpPr>
          <p:cNvPr id="26" name="Content Placeholder 2">
            <a:extLst>
              <a:ext uri="{FF2B5EF4-FFF2-40B4-BE49-F238E27FC236}">
                <a16:creationId xmlns:a16="http://schemas.microsoft.com/office/drawing/2014/main" id="{15F01599-37F9-F2BE-54CE-D513EFD0917D}"/>
              </a:ext>
            </a:extLst>
          </p:cNvPr>
          <p:cNvSpPr txBox="1">
            <a:spLocks/>
          </p:cNvSpPr>
          <p:nvPr/>
        </p:nvSpPr>
        <p:spPr>
          <a:xfrm>
            <a:off x="628650" y="2571750"/>
            <a:ext cx="7962457" cy="244277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en-US" sz="1600" dirty="0"/>
              <a:t>H1: AI presence increases human contribution.</a:t>
            </a:r>
          </a:p>
          <a:p>
            <a:pPr lvl="1"/>
            <a:r>
              <a:rPr lang="en-US" altLang="en-US" sz="1400" dirty="0"/>
              <a:t>Humans perceive AI as a</a:t>
            </a:r>
            <a:r>
              <a:rPr lang="zh-CN" altLang="en-US" sz="1400" dirty="0"/>
              <a:t> </a:t>
            </a:r>
            <a:r>
              <a:rPr lang="en-US" altLang="zh-CN" sz="1400" dirty="0"/>
              <a:t>“weak”</a:t>
            </a:r>
            <a:r>
              <a:rPr lang="zh-CN" altLang="en-US" sz="1400" dirty="0"/>
              <a:t> </a:t>
            </a:r>
            <a:r>
              <a:rPr lang="en-US" altLang="en-US" sz="1400" dirty="0"/>
              <a:t>competitor</a:t>
            </a:r>
            <a:r>
              <a:rPr lang="zh-CN" altLang="en-US" sz="1400" dirty="0"/>
              <a:t> </a:t>
            </a:r>
            <a:r>
              <a:rPr lang="en-US" altLang="zh-CN" sz="1400" dirty="0"/>
              <a:t>(because</a:t>
            </a:r>
            <a:r>
              <a:rPr lang="zh-CN" altLang="en-US" sz="1400" dirty="0"/>
              <a:t> </a:t>
            </a:r>
            <a:r>
              <a:rPr lang="en-US" altLang="zh-CN" sz="1400" dirty="0"/>
              <a:t>of</a:t>
            </a:r>
            <a:r>
              <a:rPr lang="zh-CN" altLang="en-US" sz="1400" dirty="0"/>
              <a:t> </a:t>
            </a:r>
            <a:r>
              <a:rPr lang="en-US" altLang="zh-CN" sz="1400" dirty="0"/>
              <a:t>competitive</a:t>
            </a:r>
            <a:r>
              <a:rPr lang="zh-CN" altLang="en-US" sz="1400" dirty="0"/>
              <a:t> </a:t>
            </a:r>
            <a:r>
              <a:rPr lang="en-US" altLang="zh-CN" sz="1400" dirty="0"/>
              <a:t>arousal</a:t>
            </a:r>
            <a:r>
              <a:rPr lang="zh-CN" altLang="en-US" sz="1400" dirty="0"/>
              <a:t> </a:t>
            </a:r>
            <a:r>
              <a:rPr lang="en-US" altLang="zh-CN" sz="1400" dirty="0"/>
              <a:t>–</a:t>
            </a:r>
            <a:r>
              <a:rPr lang="zh-CN" altLang="en-US" sz="1400" dirty="0"/>
              <a:t> </a:t>
            </a:r>
            <a:r>
              <a:rPr lang="en-US" altLang="zh-CN" sz="1400" dirty="0"/>
              <a:t>experts</a:t>
            </a:r>
            <a:r>
              <a:rPr lang="zh-CN" altLang="en-US" sz="1400" dirty="0"/>
              <a:t> </a:t>
            </a:r>
            <a:r>
              <a:rPr lang="en-US" altLang="zh-CN" sz="1400" dirty="0"/>
              <a:t>believe</a:t>
            </a:r>
            <a:r>
              <a:rPr lang="zh-CN" altLang="en-US" sz="1400" dirty="0"/>
              <a:t> </a:t>
            </a:r>
            <a:r>
              <a:rPr lang="en-US" altLang="zh-CN" sz="1400" i="1" dirty="0"/>
              <a:t>SegmentFault</a:t>
            </a:r>
            <a:r>
              <a:rPr lang="zh-CN" altLang="en-US" sz="1400" dirty="0"/>
              <a:t> </a:t>
            </a:r>
            <a:r>
              <a:rPr lang="en-US" altLang="zh-CN" sz="1400" dirty="0"/>
              <a:t>is</a:t>
            </a:r>
            <a:r>
              <a:rPr lang="zh-CN" altLang="en-US" sz="1400" dirty="0"/>
              <a:t> </a:t>
            </a:r>
            <a:r>
              <a:rPr lang="en-US" altLang="zh-CN" sz="1400" dirty="0"/>
              <a:t>their</a:t>
            </a:r>
            <a:r>
              <a:rPr lang="zh-CN" altLang="en-US" sz="1400" dirty="0"/>
              <a:t> </a:t>
            </a:r>
            <a:r>
              <a:rPr lang="en-US" altLang="zh-CN" sz="1400" dirty="0"/>
              <a:t>expert-specific</a:t>
            </a:r>
            <a:r>
              <a:rPr lang="zh-CN" altLang="en-US" sz="1400" dirty="0"/>
              <a:t> </a:t>
            </a:r>
            <a:r>
              <a:rPr lang="en-US" altLang="zh-CN" sz="1400" dirty="0"/>
              <a:t>area)</a:t>
            </a:r>
            <a:endParaRPr lang="en-US" altLang="en-US" sz="1400" dirty="0"/>
          </a:p>
          <a:p>
            <a:pPr lvl="1"/>
            <a:r>
              <a:rPr lang="en-US" altLang="en-US" sz="1400" b="1" i="1" dirty="0"/>
              <a:t>Regardless of AI answer length or quality, the competitive trigger stimulates a baseline impulse to respond.</a:t>
            </a:r>
          </a:p>
          <a:p>
            <a:pPr lvl="1"/>
            <a:endParaRPr lang="en-US" altLang="en-US" sz="1400" dirty="0"/>
          </a:p>
          <a:p>
            <a:r>
              <a:rPr lang="en-US" altLang="en-US" sz="1600" dirty="0"/>
              <a:t>H2: The competitive crowding-out is stronger when the AI answer is longer.</a:t>
            </a:r>
          </a:p>
          <a:p>
            <a:pPr lvl="1"/>
            <a:r>
              <a:rPr lang="en-US" altLang="en-US" sz="1400" dirty="0"/>
              <a:t>Length is a fast-processed heuristic for how </a:t>
            </a:r>
            <a:r>
              <a:rPr lang="en-US" altLang="zh-CN" sz="1400" dirty="0"/>
              <a:t>“comprehensive</a:t>
            </a:r>
            <a:r>
              <a:rPr lang="en-US" altLang="en-US" sz="1400" dirty="0"/>
              <a:t>" the competitive space is.</a:t>
            </a:r>
          </a:p>
          <a:p>
            <a:pPr lvl="1"/>
            <a:r>
              <a:rPr lang="en-US" altLang="en-US" sz="1400" b="1" dirty="0"/>
              <a:t>A longer AI answer signals a more formidable competitive barrier → the "easy win" perception erodes → the baseline positive contribution effect is attenuated or reversed.</a:t>
            </a:r>
          </a:p>
          <a:p>
            <a:pPr indent="0" defTabSz="761909">
              <a:lnSpc>
                <a:spcPct val="120000"/>
              </a:lnSpc>
              <a:buNone/>
            </a:pPr>
            <a:endParaRPr lang="en-US" altLang="zh-CN" sz="2400" b="1" dirty="0"/>
          </a:p>
          <a:p>
            <a:pPr defTabSz="761909">
              <a:lnSpc>
                <a:spcPct val="120000"/>
              </a:lnSpc>
            </a:pPr>
            <a:endParaRPr lang="en-US" altLang="en-US" sz="2400" dirty="0"/>
          </a:p>
        </p:txBody>
      </p:sp>
      <p:sp>
        <p:nvSpPr>
          <p:cNvPr id="2" name="Slide Number Placeholder 1">
            <a:extLst>
              <a:ext uri="{FF2B5EF4-FFF2-40B4-BE49-F238E27FC236}">
                <a16:creationId xmlns:a16="http://schemas.microsoft.com/office/drawing/2014/main" id="{244FE439-04A5-549B-C9BE-C45C9D9539C9}"/>
              </a:ext>
            </a:extLst>
          </p:cNvPr>
          <p:cNvSpPr>
            <a:spLocks noGrp="1"/>
          </p:cNvSpPr>
          <p:nvPr>
            <p:ph type="sldNum" sz="quarter" idx="12"/>
          </p:nvPr>
        </p:nvSpPr>
        <p:spPr/>
        <p:txBody>
          <a:bodyPr/>
          <a:lstStyle/>
          <a:p>
            <a:fld id="{80E9C1D4-69BA-4B09-8A24-1CCDDD1AB85B}" type="slidenum">
              <a:rPr lang="zh-CN" altLang="en-US" smtClean="0"/>
              <a:t>17</a:t>
            </a:fld>
            <a:endParaRPr lang="zh-CN" altLang="en-US"/>
          </a:p>
        </p:txBody>
      </p:sp>
    </p:spTree>
    <p:extLst>
      <p:ext uri="{BB962C8B-B14F-4D97-AF65-F5344CB8AC3E}">
        <p14:creationId xmlns:p14="http://schemas.microsoft.com/office/powerpoint/2010/main" val="3701123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1FAF9-E469-862E-3CAB-A18E4AE5FD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5653790-ABBD-D212-2A6A-5AF0AE86CFF6}"/>
              </a:ext>
            </a:extLst>
          </p:cNvPr>
          <p:cNvSpPr>
            <a:spLocks noGrp="1"/>
          </p:cNvSpPr>
          <p:nvPr>
            <p:ph type="title"/>
          </p:nvPr>
        </p:nvSpPr>
        <p:spPr/>
        <p:txBody>
          <a:bodyPr>
            <a:noAutofit/>
          </a:bodyPr>
          <a:lstStyle/>
          <a:p>
            <a:r>
              <a:rPr lang="en-US" altLang="en-US" sz="2800" dirty="0"/>
              <a:t>Competition Effect on Answer Quality </a:t>
            </a:r>
            <a:br>
              <a:rPr lang="en-US" altLang="en-US" sz="2800" dirty="0"/>
            </a:br>
            <a:r>
              <a:rPr lang="en-US" altLang="en-US" sz="2400" dirty="0"/>
              <a:t>(Slow Processing — Quality as Benchmark)</a:t>
            </a:r>
            <a:endParaRPr lang="en-US" altLang="en-US" sz="2000" dirty="0"/>
          </a:p>
        </p:txBody>
      </p:sp>
      <p:sp>
        <p:nvSpPr>
          <p:cNvPr id="26" name="Content Placeholder 2">
            <a:extLst>
              <a:ext uri="{FF2B5EF4-FFF2-40B4-BE49-F238E27FC236}">
                <a16:creationId xmlns:a16="http://schemas.microsoft.com/office/drawing/2014/main" id="{F930E884-9728-7412-F7E0-DD37B209E0CF}"/>
              </a:ext>
            </a:extLst>
          </p:cNvPr>
          <p:cNvSpPr txBox="1">
            <a:spLocks/>
          </p:cNvSpPr>
          <p:nvPr/>
        </p:nvSpPr>
        <p:spPr>
          <a:xfrm>
            <a:off x="628650" y="2513875"/>
            <a:ext cx="7962457" cy="244277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en-US" sz="1600" dirty="0"/>
              <a:t>H3: AI presence decreases human answer quality.</a:t>
            </a:r>
          </a:p>
          <a:p>
            <a:pPr lvl="1"/>
            <a:r>
              <a:rPr lang="en-US" altLang="en-US" sz="1400" dirty="0"/>
              <a:t>Facing a perceived weaker competitor, humans become complacent → reduced effort investment → "I don't need to try hard to beat this" → lower quality.</a:t>
            </a:r>
          </a:p>
          <a:p>
            <a:pPr lvl="1"/>
            <a:r>
              <a:rPr lang="en-US" altLang="en-US" sz="1400" b="1" i="1" dirty="0"/>
              <a:t>Regardless of AI answer length or quality, the baseline competitive posture toward a "weak" rival lowers the quality bar humans set for themselves.</a:t>
            </a:r>
            <a:endParaRPr lang="en-US" altLang="en-US" sz="1400" dirty="0"/>
          </a:p>
          <a:p>
            <a:r>
              <a:rPr lang="en-US" altLang="en-US" sz="1600" dirty="0"/>
              <a:t>H4: The negative quality effect reverses when AI answer quality is high.</a:t>
            </a:r>
          </a:p>
          <a:p>
            <a:pPr lvl="1"/>
            <a:r>
              <a:rPr lang="en-US" altLang="en-US" sz="1400" dirty="0"/>
              <a:t>High AI quality can only be assessed through slow, deliberate processing → once recognized, it shatters the "weak competitor" assumption.</a:t>
            </a:r>
          </a:p>
          <a:p>
            <a:pPr lvl="1"/>
            <a:r>
              <a:rPr lang="en-US" altLang="en-US" sz="1400" dirty="0"/>
              <a:t>A high-quality AI answer serves as a visible benchmark to surpass → triggers genuine competitive effort → humans invest more to demonstrate superiority → quality rises.</a:t>
            </a:r>
          </a:p>
          <a:p>
            <a:pPr lvl="1"/>
            <a:r>
              <a:rPr lang="en-US" altLang="en-US" sz="1400" b="1" i="1" dirty="0"/>
              <a:t>"The AI is actually good — I must prove I'm better."</a:t>
            </a:r>
            <a:endParaRPr lang="en-US" altLang="en-US" sz="1400" b="1" dirty="0"/>
          </a:p>
        </p:txBody>
      </p:sp>
      <p:sp>
        <p:nvSpPr>
          <p:cNvPr id="2" name="Rectangle 1">
            <a:extLst>
              <a:ext uri="{FF2B5EF4-FFF2-40B4-BE49-F238E27FC236}">
                <a16:creationId xmlns:a16="http://schemas.microsoft.com/office/drawing/2014/main" id="{737DE470-EC30-0ABA-A837-D0D08F949255}"/>
              </a:ext>
            </a:extLst>
          </p:cNvPr>
          <p:cNvSpPr/>
          <p:nvPr/>
        </p:nvSpPr>
        <p:spPr>
          <a:xfrm>
            <a:off x="5657064" y="1260888"/>
            <a:ext cx="1252317" cy="478118"/>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Answer </a:t>
            </a:r>
            <a:r>
              <a:rPr lang="en-US" altLang="zh-CN" sz="1200" dirty="0"/>
              <a:t>Quality</a:t>
            </a:r>
            <a:endParaRPr lang="en-US" sz="1200" dirty="0"/>
          </a:p>
        </p:txBody>
      </p:sp>
      <p:sp>
        <p:nvSpPr>
          <p:cNvPr id="3" name="Rectangle 2">
            <a:extLst>
              <a:ext uri="{FF2B5EF4-FFF2-40B4-BE49-F238E27FC236}">
                <a16:creationId xmlns:a16="http://schemas.microsoft.com/office/drawing/2014/main" id="{2B8E1A41-363D-9F46-97EA-13AAE170B262}"/>
              </a:ext>
            </a:extLst>
          </p:cNvPr>
          <p:cNvSpPr/>
          <p:nvPr/>
        </p:nvSpPr>
        <p:spPr>
          <a:xfrm>
            <a:off x="2385168" y="1273337"/>
            <a:ext cx="1161971" cy="461302"/>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Has AI Answer</a:t>
            </a:r>
          </a:p>
        </p:txBody>
      </p:sp>
      <p:cxnSp>
        <p:nvCxnSpPr>
          <p:cNvPr id="5" name="Straight Arrow Connector 4">
            <a:extLst>
              <a:ext uri="{FF2B5EF4-FFF2-40B4-BE49-F238E27FC236}">
                <a16:creationId xmlns:a16="http://schemas.microsoft.com/office/drawing/2014/main" id="{C67DD72D-D887-D931-A0D5-C475475C33C1}"/>
              </a:ext>
            </a:extLst>
          </p:cNvPr>
          <p:cNvCxnSpPr>
            <a:cxnSpLocks/>
            <a:stCxn id="3" idx="3"/>
            <a:endCxn id="2" idx="1"/>
          </p:cNvCxnSpPr>
          <p:nvPr/>
        </p:nvCxnSpPr>
        <p:spPr>
          <a:xfrm flipV="1">
            <a:off x="3547139" y="1499947"/>
            <a:ext cx="2109925" cy="4041"/>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FFE73F53-BDB1-14F8-5F06-CB62372E610C}"/>
              </a:ext>
            </a:extLst>
          </p:cNvPr>
          <p:cNvCxnSpPr>
            <a:cxnSpLocks/>
            <a:stCxn id="7" idx="0"/>
          </p:cNvCxnSpPr>
          <p:nvPr/>
        </p:nvCxnSpPr>
        <p:spPr>
          <a:xfrm flipV="1">
            <a:off x="4609827" y="1508988"/>
            <a:ext cx="0" cy="293816"/>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B105E9E7-5F4A-9AF3-0FF5-4EAEA7346675}"/>
              </a:ext>
            </a:extLst>
          </p:cNvPr>
          <p:cNvSpPr/>
          <p:nvPr/>
        </p:nvSpPr>
        <p:spPr>
          <a:xfrm>
            <a:off x="4160151" y="1802804"/>
            <a:ext cx="899352" cy="451032"/>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AI Answer </a:t>
            </a:r>
            <a:r>
              <a:rPr lang="en-US" altLang="zh-CN" sz="1200" dirty="0"/>
              <a:t>Quality</a:t>
            </a:r>
            <a:endParaRPr lang="en-US" sz="1200" dirty="0"/>
          </a:p>
        </p:txBody>
      </p:sp>
      <p:sp>
        <p:nvSpPr>
          <p:cNvPr id="8" name="Slide Number Placeholder 7">
            <a:extLst>
              <a:ext uri="{FF2B5EF4-FFF2-40B4-BE49-F238E27FC236}">
                <a16:creationId xmlns:a16="http://schemas.microsoft.com/office/drawing/2014/main" id="{9FA78C4F-BD07-61A5-BC2F-23B4B65A07CD}"/>
              </a:ext>
            </a:extLst>
          </p:cNvPr>
          <p:cNvSpPr>
            <a:spLocks noGrp="1"/>
          </p:cNvSpPr>
          <p:nvPr>
            <p:ph type="sldNum" sz="quarter" idx="12"/>
          </p:nvPr>
        </p:nvSpPr>
        <p:spPr/>
        <p:txBody>
          <a:bodyPr/>
          <a:lstStyle/>
          <a:p>
            <a:fld id="{80E9C1D4-69BA-4B09-8A24-1CCDDD1AB85B}" type="slidenum">
              <a:rPr lang="zh-CN" altLang="en-US" smtClean="0"/>
              <a:t>18</a:t>
            </a:fld>
            <a:endParaRPr lang="zh-CN" altLang="en-US"/>
          </a:p>
        </p:txBody>
      </p:sp>
    </p:spTree>
    <p:extLst>
      <p:ext uri="{BB962C8B-B14F-4D97-AF65-F5344CB8AC3E}">
        <p14:creationId xmlns:p14="http://schemas.microsoft.com/office/powerpoint/2010/main" val="153831729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95361</TotalTime>
  <Words>3442</Words>
  <Application>Microsoft Macintosh PowerPoint</Application>
  <PresentationFormat>On-screen Show (16:9)</PresentationFormat>
  <Paragraphs>310</Paragraphs>
  <Slides>19</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Calibri</vt:lpstr>
      <vt:lpstr>Georgia</vt:lpstr>
      <vt:lpstr>Times New Roman</vt:lpstr>
      <vt:lpstr>等线</vt:lpstr>
      <vt:lpstr>Arial</vt:lpstr>
      <vt:lpstr>Calibri Light</vt:lpstr>
      <vt:lpstr>Office 2013 - 2022 Theme</vt:lpstr>
      <vt:lpstr>MISQ Paper Revision Plan</vt:lpstr>
      <vt:lpstr>Outline</vt:lpstr>
      <vt:lpstr>Background</vt:lpstr>
      <vt:lpstr>A randomized field experiment on SegmentFault</vt:lpstr>
      <vt:lpstr>Original framing (not drawn in the paper)</vt:lpstr>
      <vt:lpstr>Review panel’s major concerns</vt:lpstr>
      <vt:lpstr>SE’s suggestions</vt:lpstr>
      <vt:lpstr>Simplify the model</vt:lpstr>
      <vt:lpstr>New framework</vt:lpstr>
      <vt:lpstr>AI’s two roles in competition</vt:lpstr>
      <vt:lpstr>Fast and slow: two different decisions</vt:lpstr>
      <vt:lpstr>Theoretical Development:  Competition with a "Weaker" Competitor</vt:lpstr>
      <vt:lpstr>New results</vt:lpstr>
      <vt:lpstr>Reconcile prior findings (Su et. al, 2023)</vt:lpstr>
      <vt:lpstr>Thank you</vt:lpstr>
      <vt:lpstr>Appendix</vt:lpstr>
      <vt:lpstr>Our new main results</vt:lpstr>
      <vt:lpstr>Competition Effect on Contribution  (Fast Processing — Length as Signal)</vt:lpstr>
      <vt:lpstr>Competition Effect on Answer Quality  (Slow Processing — Quality as Benchmark)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Zhang Siyu</dc:creator>
  <cp:keywords/>
  <dc:description/>
  <cp:lastModifiedBy>Dylan CHEN</cp:lastModifiedBy>
  <cp:revision>452</cp:revision>
  <dcterms:created xsi:type="dcterms:W3CDTF">2020-04-20T03:29:34Z</dcterms:created>
  <dcterms:modified xsi:type="dcterms:W3CDTF">2026-06-15T08:43:27Z</dcterms:modified>
  <cp:category/>
</cp:coreProperties>
</file>