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740" r:id="rId1"/>
  </p:sldMasterIdLst>
  <p:notesMasterIdLst>
    <p:notesMasterId r:id="rId16"/>
  </p:notesMasterIdLst>
  <p:sldIdLst>
    <p:sldId id="260" r:id="rId2"/>
    <p:sldId id="335" r:id="rId3"/>
    <p:sldId id="337" r:id="rId4"/>
    <p:sldId id="326" r:id="rId5"/>
    <p:sldId id="331" r:id="rId6"/>
    <p:sldId id="342" r:id="rId7"/>
    <p:sldId id="336" r:id="rId8"/>
    <p:sldId id="341" r:id="rId9"/>
    <p:sldId id="340" r:id="rId10"/>
    <p:sldId id="321" r:id="rId11"/>
    <p:sldId id="329" r:id="rId12"/>
    <p:sldId id="330" r:id="rId13"/>
    <p:sldId id="334" r:id="rId14"/>
    <p:sldId id="339" r:id="rId15"/>
  </p:sldIdLst>
  <p:sldSz cx="14630400" cy="6858000"/>
  <p:notesSz cx="6858000" cy="9144000"/>
  <p:embeddedFontLst>
    <p:embeddedFont>
      <p:font typeface="等线" panose="02010600030101010101" pitchFamily="2" charset="-122"/>
      <p:regular r:id="rId17"/>
      <p:bold r:id="rId18"/>
    </p:embeddedFont>
    <p:embeddedFont>
      <p:font typeface="微软雅黑" panose="020B0503020204020204" pitchFamily="34" charset="-122"/>
      <p:regular r:id="rId19"/>
      <p:bold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Lato Black" panose="020F0502020204030203" pitchFamily="34" charset="0"/>
      <p:bold r:id="rId25"/>
      <p:italic r:id="rId26"/>
      <p:boldItalic r:id="rId27"/>
    </p:embeddedFont>
    <p:embeddedFont>
      <p:font typeface="Lato Light" panose="020F0502020204030203" pitchFamily="34" charset="0"/>
      <p:regular r:id="rId28"/>
      <p:italic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mal" id="{BB674D8F-EA6E-4E7A-BB36-51CE4AEB7194}">
          <p14:sldIdLst>
            <p14:sldId id="260"/>
            <p14:sldId id="335"/>
            <p14:sldId id="337"/>
            <p14:sldId id="326"/>
            <p14:sldId id="331"/>
            <p14:sldId id="342"/>
            <p14:sldId id="336"/>
            <p14:sldId id="341"/>
            <p14:sldId id="340"/>
            <p14:sldId id="321"/>
            <p14:sldId id="329"/>
            <p14:sldId id="330"/>
            <p14:sldId id="334"/>
            <p14:sldId id="339"/>
          </p14:sldIdLst>
        </p14:section>
      </p14:sectionLst>
    </p:ext>
    <p:ext uri="{EFAFB233-063F-42B5-8137-9DF3F51BA10A}">
      <p15:sldGuideLst xmlns:p15="http://schemas.microsoft.com/office/powerpoint/2012/main">
        <p15:guide id="1" pos="498" userDrawn="1">
          <p15:clr>
            <a:srgbClr val="A4A3A4"/>
          </p15:clr>
        </p15:guide>
        <p15:guide id="2" pos="8718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7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7F7F7F"/>
    <a:srgbClr val="BFBFBF"/>
    <a:srgbClr val="FB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38" autoAdjust="0"/>
    <p:restoredTop sz="96031" autoAdjust="0"/>
  </p:normalViewPr>
  <p:slideViewPr>
    <p:cSldViewPr snapToGrid="0" showGuides="1">
      <p:cViewPr varScale="1">
        <p:scale>
          <a:sx n="132" d="100"/>
          <a:sy n="132" d="100"/>
        </p:scale>
        <p:origin x="1032" y="168"/>
      </p:cViewPr>
      <p:guideLst>
        <p:guide pos="498"/>
        <p:guide pos="8718"/>
        <p:guide orient="horz" pos="648"/>
        <p:guide orient="horz" pos="712"/>
        <p:guide orient="horz" pos="3928"/>
        <p:guide orient="horz" pos="7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8B4A-600B-4E47-A44F-5C9458F0BBB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143000"/>
            <a:ext cx="6581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172E2-DACC-4E2B-A3E0-ED1661E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4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61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B8F1-A9A5-2C1B-8098-E6BF945E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C726E-9A11-1613-FCE4-E0DD2C751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85594-CB23-EFE8-CC25-5DF97A00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F5529-D2A4-4203-E284-801120BFB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185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1BF6-7C46-07E7-5408-E38FEAA4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043A4-D004-CBAE-165E-6EDFBAFCB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CBF96-D8B3-0B47-C1F5-04FAA90DD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1E1D7-28DF-17AD-DD25-39D9BFFA4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749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0849-808F-F303-739E-4FB7F66A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B5E96-4181-4ED7-B70C-79EF81074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B1C80-B09D-2F98-2CB9-FA6563C4F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E9183-318F-982E-04BE-E75F0774A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624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A4D1-5D3E-8C30-E497-4899D002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8D3BE-95B6-39B8-2B4C-ABC592B0E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7FE23-92CF-256C-7CA3-EB1590EBB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C9878-7D4C-8457-FD88-F411B4CA0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490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893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353C-3E95-DB2D-850A-D808E1E4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1B557-FFA4-B5C4-FB49-F75FDBF49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6D649-44B7-360F-CAFC-A9A0F6323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B1544-80B8-8A80-4CEC-72C7093D9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940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084E-0204-4610-12AD-9AB9B7EA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D4669-A6F9-C791-A306-4D5D93FB0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CCDC9-7CA8-01C0-2067-021312862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8F67D-079F-B744-3D42-CEB836AEE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702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DA62-DBE9-751E-5142-AB810D27F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1DE41-7960-FC16-DE2D-F4D9FB74F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A6A4E-24BE-D679-9569-3C1174DF7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E8072-E2A3-4E78-2855-1B34EE6F7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601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6ECE8-0C77-5711-EBF4-987464F21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CB68C-9B7D-F751-CEF1-DE861A7C1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997D4-860A-D422-37FC-A447A9926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59736-899D-2CD2-A943-23419126B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756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122363"/>
            <a:ext cx="10972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602038"/>
            <a:ext cx="10972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06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44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1709738"/>
            <a:ext cx="1261872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4589464"/>
            <a:ext cx="1261872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90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22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365126"/>
            <a:ext cx="126187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1681163"/>
            <a:ext cx="618934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2505075"/>
            <a:ext cx="61893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1681163"/>
            <a:ext cx="62198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2505075"/>
            <a:ext cx="621982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54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91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987426"/>
            <a:ext cx="740664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01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987426"/>
            <a:ext cx="740664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4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78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365125"/>
            <a:ext cx="315468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365125"/>
            <a:ext cx="92811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48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959B3E-4FC4-4325-BC01-A43921DE8A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0" y="0"/>
            <a:ext cx="14629750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FE21AC-48CF-46F0-9943-0B377E0EE567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sp>
        <p:nvSpPr>
          <p:cNvPr id="31" name="文本占位符 20">
            <a:extLst>
              <a:ext uri="{FF2B5EF4-FFF2-40B4-BE49-F238E27FC236}">
                <a16:creationId xmlns:a16="http://schemas.microsoft.com/office/drawing/2014/main" id="{CA123307-9A5B-421F-847E-EF8BA63071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880" y="2597072"/>
            <a:ext cx="12448890" cy="147955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80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</a:p>
          <a:p>
            <a:pPr lvl="0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33" name="文本占位符 22">
            <a:extLst>
              <a:ext uri="{FF2B5EF4-FFF2-40B4-BE49-F238E27FC236}">
                <a16:creationId xmlns:a16="http://schemas.microsoft.com/office/drawing/2014/main" id="{97B7780D-5C6C-401C-9F98-045B138E98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9880" y="2023986"/>
            <a:ext cx="12448890" cy="52322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Department &amp; Major</a:t>
            </a:r>
            <a:endParaRPr lang="zh-CN" altLang="en-US" dirty="0"/>
          </a:p>
        </p:txBody>
      </p:sp>
      <p:sp>
        <p:nvSpPr>
          <p:cNvPr id="34" name="文本占位符 22">
            <a:extLst>
              <a:ext uri="{FF2B5EF4-FFF2-40B4-BE49-F238E27FC236}">
                <a16:creationId xmlns:a16="http://schemas.microsoft.com/office/drawing/2014/main" id="{FD2C7A5B-9327-40AD-9C83-47337D9D65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9881" y="4274122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Student ID</a:t>
            </a:r>
            <a:endParaRPr lang="zh-CN" altLang="en-US" dirty="0"/>
          </a:p>
        </p:txBody>
      </p:sp>
      <p:sp>
        <p:nvSpPr>
          <p:cNvPr id="36" name="文本占位符 22">
            <a:extLst>
              <a:ext uri="{FF2B5EF4-FFF2-40B4-BE49-F238E27FC236}">
                <a16:creationId xmlns:a16="http://schemas.microsoft.com/office/drawing/2014/main" id="{ABCA1AE7-3F46-43DB-88CB-0A27DE2291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9881" y="4584551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Name of </a:t>
            </a:r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Supervisor</a:t>
            </a:r>
            <a:endParaRPr lang="zh-CN" altLang="en-US" dirty="0"/>
          </a:p>
        </p:txBody>
      </p:sp>
      <p:sp>
        <p:nvSpPr>
          <p:cNvPr id="10" name="AutoShape 4" descr="City University of Hong Kong (CityU)">
            <a:extLst>
              <a:ext uri="{FF2B5EF4-FFF2-40B4-BE49-F238E27FC236}">
                <a16:creationId xmlns:a16="http://schemas.microsoft.com/office/drawing/2014/main" id="{F672805F-E5B0-58EC-8B2D-B131FEF987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132320" y="3276600"/>
            <a:ext cx="36576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19FC1882-DD3A-1FA3-28B0-DF5FA3E16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79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572D85CD-999C-4161-A085-290DE697D4CB}"/>
              </a:ext>
            </a:extLst>
          </p:cNvPr>
          <p:cNvSpPr/>
          <p:nvPr userDrawn="1"/>
        </p:nvSpPr>
        <p:spPr>
          <a:xfrm flipH="1" flipV="1">
            <a:off x="7398492" y="-6"/>
            <a:ext cx="7231908" cy="309886"/>
          </a:xfrm>
          <a:prstGeom prst="rtTriangle">
            <a:avLst/>
          </a:prstGeom>
          <a:gradFill flip="none" rotWithShape="1">
            <a:gsLst>
              <a:gs pos="20000">
                <a:srgbClr val="BA175E"/>
              </a:gs>
              <a:gs pos="62000">
                <a:srgbClr val="8A1D50"/>
              </a:gs>
              <a:gs pos="88000">
                <a:srgbClr val="5E21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63D48-9BD1-458B-BE8E-12874193FF99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CECDAC-CA98-4673-8B57-CE071FC7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8478" y="6284866"/>
            <a:ext cx="727039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978B942D-6D89-475E-B093-177478CA8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09880"/>
            <a:ext cx="13810490" cy="718820"/>
          </a:xfrm>
        </p:spPr>
        <p:txBody>
          <a:bodyPr anchor="b" anchorCtr="0">
            <a:normAutofit/>
          </a:bodyPr>
          <a:lstStyle>
            <a:lvl1pPr marL="0" indent="0">
              <a:buNone/>
              <a:defRPr lang="zh-CN" altLang="en-US" sz="32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AB70B51-E048-ABC7-9645-84F5A2AF56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3" y="1158181"/>
            <a:ext cx="13810489" cy="5446415"/>
          </a:xfrm>
          <a:prstGeom prst="rect">
            <a:avLst/>
          </a:prstGeom>
        </p:spPr>
        <p:txBody>
          <a:bodyPr/>
          <a:lstStyle>
            <a:lvl1pPr marL="0" indent="-251980" algn="just" defTabSz="914327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07" indent="-285728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19942" indent="-228582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1922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algn="just" defTabSz="914327" rtl="0" eaLnBrk="1" latinLnBrk="0" hangingPunct="1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en-US" altLang="zh-CN" dirty="0"/>
              <a:t>Heading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Heading 2</a:t>
            </a:r>
          </a:p>
          <a:p>
            <a:pPr lvl="2"/>
            <a:r>
              <a:rPr lang="en-US" altLang="zh-CN" dirty="0"/>
              <a:t>Contents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5554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3F388A-1083-486D-81AD-98BC6BAC2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21"/>
          <a:stretch/>
        </p:blipFill>
        <p:spPr>
          <a:xfrm flipH="1">
            <a:off x="-6" y="0"/>
            <a:ext cx="9107603" cy="6858000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60CB1F5-964F-4E93-97FC-19BC7C5C29FA}"/>
              </a:ext>
            </a:extLst>
          </p:cNvPr>
          <p:cNvSpPr/>
          <p:nvPr userDrawn="1"/>
        </p:nvSpPr>
        <p:spPr>
          <a:xfrm rot="5400000" flipV="1">
            <a:off x="4135880" y="-3639814"/>
            <a:ext cx="6358649" cy="14630401"/>
          </a:xfrm>
          <a:custGeom>
            <a:avLst/>
            <a:gdLst>
              <a:gd name="connsiteX0" fmla="*/ 0 w 6358649"/>
              <a:gd name="connsiteY0" fmla="*/ 12192001 h 12192001"/>
              <a:gd name="connsiteX1" fmla="*/ 6358649 w 6358649"/>
              <a:gd name="connsiteY1" fmla="*/ 12192001 h 12192001"/>
              <a:gd name="connsiteX2" fmla="*/ 6358649 w 6358649"/>
              <a:gd name="connsiteY2" fmla="*/ 0 h 12192001"/>
              <a:gd name="connsiteX3" fmla="*/ 505886 w 6358649"/>
              <a:gd name="connsiteY3" fmla="*/ 0 h 12192001"/>
              <a:gd name="connsiteX4" fmla="*/ 0 w 6358649"/>
              <a:gd name="connsiteY4" fmla="*/ 12192001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8649" h="12192001">
                <a:moveTo>
                  <a:pt x="0" y="12192001"/>
                </a:moveTo>
                <a:lnTo>
                  <a:pt x="6358649" y="12192001"/>
                </a:lnTo>
                <a:lnTo>
                  <a:pt x="6358649" y="0"/>
                </a:lnTo>
                <a:lnTo>
                  <a:pt x="505886" y="0"/>
                </a:lnTo>
                <a:lnTo>
                  <a:pt x="0" y="12192001"/>
                </a:lnTo>
                <a:close/>
              </a:path>
            </a:pathLst>
          </a:custGeom>
          <a:solidFill>
            <a:srgbClr val="F2F2F2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6D3E323-03AE-41CF-8E4E-552146726118}"/>
              </a:ext>
            </a:extLst>
          </p:cNvPr>
          <p:cNvSpPr/>
          <p:nvPr userDrawn="1"/>
        </p:nvSpPr>
        <p:spPr>
          <a:xfrm rot="5400000" flipV="1">
            <a:off x="6812577" y="-6812579"/>
            <a:ext cx="1005238" cy="14630401"/>
          </a:xfrm>
          <a:custGeom>
            <a:avLst/>
            <a:gdLst>
              <a:gd name="connsiteX0" fmla="*/ 0 w 1005238"/>
              <a:gd name="connsiteY0" fmla="*/ 0 h 12192001"/>
              <a:gd name="connsiteX1" fmla="*/ 1 w 1005238"/>
              <a:gd name="connsiteY1" fmla="*/ 12192001 h 12192001"/>
              <a:gd name="connsiteX2" fmla="*/ 499352 w 1005238"/>
              <a:gd name="connsiteY2" fmla="*/ 12192001 h 12192001"/>
              <a:gd name="connsiteX3" fmla="*/ 1005238 w 1005238"/>
              <a:gd name="connsiteY3" fmla="*/ 0 h 12192001"/>
              <a:gd name="connsiteX4" fmla="*/ 0 w 1005238"/>
              <a:gd name="connsiteY4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238" h="12192001">
                <a:moveTo>
                  <a:pt x="0" y="0"/>
                </a:moveTo>
                <a:lnTo>
                  <a:pt x="1" y="12192001"/>
                </a:lnTo>
                <a:lnTo>
                  <a:pt x="499352" y="12192001"/>
                </a:lnTo>
                <a:lnTo>
                  <a:pt x="10052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951FE-7E53-4D35-80A5-C656F63E94C5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85254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D7010A-9787-452D-93B8-307D03BA8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>
          <a:xfrm>
            <a:off x="0" y="-3"/>
            <a:ext cx="14630400" cy="6858002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1A0E067-C0F2-4FB2-908C-E379BF0E6CB2}"/>
              </a:ext>
            </a:extLst>
          </p:cNvPr>
          <p:cNvSpPr/>
          <p:nvPr userDrawn="1"/>
        </p:nvSpPr>
        <p:spPr>
          <a:xfrm>
            <a:off x="0" y="-2"/>
            <a:ext cx="14630400" cy="6858002"/>
          </a:xfrm>
          <a:prstGeom prst="rect">
            <a:avLst/>
          </a:prstGeom>
          <a:solidFill>
            <a:srgbClr val="A92D61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E53E5883-9C79-47DD-ABF5-FEA2DFAF60A1}"/>
              </a:ext>
            </a:extLst>
          </p:cNvPr>
          <p:cNvSpPr/>
          <p:nvPr userDrawn="1"/>
        </p:nvSpPr>
        <p:spPr>
          <a:xfrm flipV="1">
            <a:off x="0" y="0"/>
            <a:ext cx="12994648" cy="141167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302A78D4-A77B-4826-81E5-F5A2B3869AE8}"/>
              </a:ext>
            </a:extLst>
          </p:cNvPr>
          <p:cNvSpPr/>
          <p:nvPr userDrawn="1"/>
        </p:nvSpPr>
        <p:spPr>
          <a:xfrm rot="5400000" flipH="1" flipV="1">
            <a:off x="10797543" y="3025144"/>
            <a:ext cx="6858001" cy="80771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80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504D8CB-E90B-4355-9C72-06A7348C4AA6}"/>
              </a:ext>
            </a:extLst>
          </p:cNvPr>
          <p:cNvGrpSpPr/>
          <p:nvPr userDrawn="1"/>
        </p:nvGrpSpPr>
        <p:grpSpPr>
          <a:xfrm>
            <a:off x="12091500" y="6312408"/>
            <a:ext cx="1596943" cy="233551"/>
            <a:chOff x="10076250" y="6312401"/>
            <a:chExt cx="1330786" cy="233551"/>
          </a:xfrm>
        </p:grpSpPr>
        <p:sp>
          <p:nvSpPr>
            <p:cNvPr id="31" name="facebook-logo-in-circular-shape_44646">
              <a:extLst>
                <a:ext uri="{FF2B5EF4-FFF2-40B4-BE49-F238E27FC236}">
                  <a16:creationId xmlns:a16="http://schemas.microsoft.com/office/drawing/2014/main" id="{CEEC6234-E82C-47A3-A940-B8B86D86E9C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076250" y="6314598"/>
              <a:ext cx="231353" cy="229434"/>
            </a:xfrm>
            <a:custGeom>
              <a:avLst/>
              <a:gdLst>
                <a:gd name="T0" fmla="*/ 561 w 561"/>
                <a:gd name="T1" fmla="*/ 280 h 557"/>
                <a:gd name="T2" fmla="*/ 343 w 561"/>
                <a:gd name="T3" fmla="*/ 553 h 557"/>
                <a:gd name="T4" fmla="*/ 343 w 561"/>
                <a:gd name="T5" fmla="*/ 320 h 557"/>
                <a:gd name="T6" fmla="*/ 410 w 561"/>
                <a:gd name="T7" fmla="*/ 320 h 557"/>
                <a:gd name="T8" fmla="*/ 410 w 561"/>
                <a:gd name="T9" fmla="*/ 243 h 557"/>
                <a:gd name="T10" fmla="*/ 342 w 561"/>
                <a:gd name="T11" fmla="*/ 243 h 557"/>
                <a:gd name="T12" fmla="*/ 342 w 561"/>
                <a:gd name="T13" fmla="*/ 225 h 557"/>
                <a:gd name="T14" fmla="*/ 391 w 561"/>
                <a:gd name="T15" fmla="*/ 165 h 557"/>
                <a:gd name="T16" fmla="*/ 425 w 561"/>
                <a:gd name="T17" fmla="*/ 170 h 557"/>
                <a:gd name="T18" fmla="*/ 430 w 561"/>
                <a:gd name="T19" fmla="*/ 89 h 557"/>
                <a:gd name="T20" fmla="*/ 373 w 561"/>
                <a:gd name="T21" fmla="*/ 82 h 557"/>
                <a:gd name="T22" fmla="*/ 280 w 561"/>
                <a:gd name="T23" fmla="*/ 116 h 557"/>
                <a:gd name="T24" fmla="*/ 237 w 561"/>
                <a:gd name="T25" fmla="*/ 229 h 557"/>
                <a:gd name="T26" fmla="*/ 237 w 561"/>
                <a:gd name="T27" fmla="*/ 243 h 557"/>
                <a:gd name="T28" fmla="*/ 192 w 561"/>
                <a:gd name="T29" fmla="*/ 243 h 557"/>
                <a:gd name="T30" fmla="*/ 192 w 561"/>
                <a:gd name="T31" fmla="*/ 320 h 557"/>
                <a:gd name="T32" fmla="*/ 237 w 561"/>
                <a:gd name="T33" fmla="*/ 320 h 557"/>
                <a:gd name="T34" fmla="*/ 237 w 561"/>
                <a:gd name="T35" fmla="*/ 557 h 557"/>
                <a:gd name="T36" fmla="*/ 0 w 561"/>
                <a:gd name="T37" fmla="*/ 280 h 557"/>
                <a:gd name="T38" fmla="*/ 280 w 561"/>
                <a:gd name="T39" fmla="*/ 0 h 557"/>
                <a:gd name="T40" fmla="*/ 561 w 561"/>
                <a:gd name="T41" fmla="*/ 28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1" h="557">
                  <a:moveTo>
                    <a:pt x="561" y="280"/>
                  </a:moveTo>
                  <a:cubicBezTo>
                    <a:pt x="561" y="414"/>
                    <a:pt x="468" y="525"/>
                    <a:pt x="343" y="553"/>
                  </a:cubicBezTo>
                  <a:lnTo>
                    <a:pt x="343" y="320"/>
                  </a:lnTo>
                  <a:lnTo>
                    <a:pt x="410" y="320"/>
                  </a:lnTo>
                  <a:lnTo>
                    <a:pt x="410" y="243"/>
                  </a:lnTo>
                  <a:lnTo>
                    <a:pt x="342" y="243"/>
                  </a:lnTo>
                  <a:lnTo>
                    <a:pt x="342" y="225"/>
                  </a:lnTo>
                  <a:cubicBezTo>
                    <a:pt x="342" y="192"/>
                    <a:pt x="357" y="165"/>
                    <a:pt x="391" y="165"/>
                  </a:cubicBezTo>
                  <a:cubicBezTo>
                    <a:pt x="405" y="165"/>
                    <a:pt x="416" y="167"/>
                    <a:pt x="425" y="170"/>
                  </a:cubicBezTo>
                  <a:lnTo>
                    <a:pt x="430" y="89"/>
                  </a:lnTo>
                  <a:cubicBezTo>
                    <a:pt x="415" y="84"/>
                    <a:pt x="397" y="82"/>
                    <a:pt x="373" y="82"/>
                  </a:cubicBezTo>
                  <a:cubicBezTo>
                    <a:pt x="343" y="82"/>
                    <a:pt x="306" y="91"/>
                    <a:pt x="280" y="116"/>
                  </a:cubicBezTo>
                  <a:cubicBezTo>
                    <a:pt x="249" y="143"/>
                    <a:pt x="237" y="189"/>
                    <a:pt x="237" y="229"/>
                  </a:cubicBezTo>
                  <a:lnTo>
                    <a:pt x="237" y="243"/>
                  </a:lnTo>
                  <a:lnTo>
                    <a:pt x="192" y="243"/>
                  </a:lnTo>
                  <a:lnTo>
                    <a:pt x="192" y="320"/>
                  </a:lnTo>
                  <a:lnTo>
                    <a:pt x="237" y="320"/>
                  </a:lnTo>
                  <a:lnTo>
                    <a:pt x="237" y="557"/>
                  </a:lnTo>
                  <a:cubicBezTo>
                    <a:pt x="103" y="536"/>
                    <a:pt x="0" y="420"/>
                    <a:pt x="0" y="280"/>
                  </a:cubicBezTo>
                  <a:cubicBezTo>
                    <a:pt x="0" y="125"/>
                    <a:pt x="126" y="0"/>
                    <a:pt x="280" y="0"/>
                  </a:cubicBezTo>
                  <a:cubicBezTo>
                    <a:pt x="435" y="0"/>
                    <a:pt x="561" y="125"/>
                    <a:pt x="561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2" name="iconfont-1177-866400">
              <a:extLst>
                <a:ext uri="{FF2B5EF4-FFF2-40B4-BE49-F238E27FC236}">
                  <a16:creationId xmlns:a16="http://schemas.microsoft.com/office/drawing/2014/main" id="{9F1768BB-D4A5-4C3D-98F9-FB981F6D4EF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442728" y="6314598"/>
              <a:ext cx="231353" cy="231354"/>
            </a:xfrm>
            <a:custGeom>
              <a:avLst/>
              <a:gdLst>
                <a:gd name="T0" fmla="*/ 12800 w 12800"/>
                <a:gd name="T1" fmla="*/ 6400 h 12800"/>
                <a:gd name="T2" fmla="*/ 6400 w 12800"/>
                <a:gd name="T3" fmla="*/ 0 h 12800"/>
                <a:gd name="T4" fmla="*/ 0 w 12800"/>
                <a:gd name="T5" fmla="*/ 6400 h 12800"/>
                <a:gd name="T6" fmla="*/ 6400 w 12800"/>
                <a:gd name="T7" fmla="*/ 12800 h 12800"/>
                <a:gd name="T8" fmla="*/ 12800 w 12800"/>
                <a:gd name="T9" fmla="*/ 6400 h 12800"/>
                <a:gd name="T10" fmla="*/ 2954 w 12800"/>
                <a:gd name="T11" fmla="*/ 8674 h 12800"/>
                <a:gd name="T12" fmla="*/ 3291 w 12800"/>
                <a:gd name="T13" fmla="*/ 8696 h 12800"/>
                <a:gd name="T14" fmla="*/ 5047 w 12800"/>
                <a:gd name="T15" fmla="*/ 8056 h 12800"/>
                <a:gd name="T16" fmla="*/ 3727 w 12800"/>
                <a:gd name="T17" fmla="*/ 7004 h 12800"/>
                <a:gd name="T18" fmla="*/ 3992 w 12800"/>
                <a:gd name="T19" fmla="*/ 7033 h 12800"/>
                <a:gd name="T20" fmla="*/ 4365 w 12800"/>
                <a:gd name="T21" fmla="*/ 6982 h 12800"/>
                <a:gd name="T22" fmla="*/ 3230 w 12800"/>
                <a:gd name="T23" fmla="*/ 5494 h 12800"/>
                <a:gd name="T24" fmla="*/ 3230 w 12800"/>
                <a:gd name="T25" fmla="*/ 5475 h 12800"/>
                <a:gd name="T26" fmla="*/ 3871 w 12800"/>
                <a:gd name="T27" fmla="*/ 5670 h 12800"/>
                <a:gd name="T28" fmla="*/ 3242 w 12800"/>
                <a:gd name="T29" fmla="*/ 4407 h 12800"/>
                <a:gd name="T30" fmla="*/ 3434 w 12800"/>
                <a:gd name="T31" fmla="*/ 3651 h 12800"/>
                <a:gd name="T32" fmla="*/ 6348 w 12800"/>
                <a:gd name="T33" fmla="*/ 5261 h 12800"/>
                <a:gd name="T34" fmla="*/ 6312 w 12800"/>
                <a:gd name="T35" fmla="*/ 4920 h 12800"/>
                <a:gd name="T36" fmla="*/ 7725 w 12800"/>
                <a:gd name="T37" fmla="*/ 3446 h 12800"/>
                <a:gd name="T38" fmla="*/ 8758 w 12800"/>
                <a:gd name="T39" fmla="*/ 3933 h 12800"/>
                <a:gd name="T40" fmla="*/ 9655 w 12800"/>
                <a:gd name="T41" fmla="*/ 3587 h 12800"/>
                <a:gd name="T42" fmla="*/ 9033 w 12800"/>
                <a:gd name="T43" fmla="*/ 4399 h 12800"/>
                <a:gd name="T44" fmla="*/ 9846 w 12800"/>
                <a:gd name="T45" fmla="*/ 4177 h 12800"/>
                <a:gd name="T46" fmla="*/ 9140 w 12800"/>
                <a:gd name="T47" fmla="*/ 4936 h 12800"/>
                <a:gd name="T48" fmla="*/ 9144 w 12800"/>
                <a:gd name="T49" fmla="*/ 5128 h 12800"/>
                <a:gd name="T50" fmla="*/ 5121 w 12800"/>
                <a:gd name="T51" fmla="*/ 9353 h 12800"/>
                <a:gd name="T52" fmla="*/ 2954 w 12800"/>
                <a:gd name="T53" fmla="*/ 8674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00" h="12800">
                  <a:moveTo>
                    <a:pt x="12800" y="6400"/>
                  </a:moveTo>
                  <a:cubicBezTo>
                    <a:pt x="12800" y="2865"/>
                    <a:pt x="9935" y="0"/>
                    <a:pt x="6400" y="0"/>
                  </a:cubicBez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lose/>
                  <a:moveTo>
                    <a:pt x="2954" y="8674"/>
                  </a:moveTo>
                  <a:cubicBezTo>
                    <a:pt x="3064" y="8688"/>
                    <a:pt x="3177" y="8696"/>
                    <a:pt x="3291" y="8696"/>
                  </a:cubicBezTo>
                  <a:cubicBezTo>
                    <a:pt x="3954" y="8697"/>
                    <a:pt x="4564" y="8458"/>
                    <a:pt x="5047" y="8056"/>
                  </a:cubicBezTo>
                  <a:cubicBezTo>
                    <a:pt x="4428" y="8042"/>
                    <a:pt x="3906" y="7604"/>
                    <a:pt x="3727" y="7004"/>
                  </a:cubicBezTo>
                  <a:cubicBezTo>
                    <a:pt x="3813" y="7022"/>
                    <a:pt x="3902" y="7032"/>
                    <a:pt x="3992" y="7033"/>
                  </a:cubicBezTo>
                  <a:cubicBezTo>
                    <a:pt x="4122" y="7034"/>
                    <a:pt x="4246" y="7016"/>
                    <a:pt x="4365" y="6982"/>
                  </a:cubicBezTo>
                  <a:cubicBezTo>
                    <a:pt x="3718" y="6839"/>
                    <a:pt x="3230" y="6225"/>
                    <a:pt x="3230" y="5494"/>
                  </a:cubicBezTo>
                  <a:lnTo>
                    <a:pt x="3230" y="5475"/>
                  </a:lnTo>
                  <a:cubicBezTo>
                    <a:pt x="3421" y="5590"/>
                    <a:pt x="3639" y="5660"/>
                    <a:pt x="3871" y="5670"/>
                  </a:cubicBezTo>
                  <a:cubicBezTo>
                    <a:pt x="3492" y="5396"/>
                    <a:pt x="3242" y="4931"/>
                    <a:pt x="3242" y="4407"/>
                  </a:cubicBezTo>
                  <a:cubicBezTo>
                    <a:pt x="3242" y="4130"/>
                    <a:pt x="3312" y="3872"/>
                    <a:pt x="3434" y="3651"/>
                  </a:cubicBezTo>
                  <a:cubicBezTo>
                    <a:pt x="4131" y="4573"/>
                    <a:pt x="5174" y="5185"/>
                    <a:pt x="6348" y="5261"/>
                  </a:cubicBezTo>
                  <a:cubicBezTo>
                    <a:pt x="6324" y="5151"/>
                    <a:pt x="6312" y="5037"/>
                    <a:pt x="6312" y="4920"/>
                  </a:cubicBezTo>
                  <a:cubicBezTo>
                    <a:pt x="6312" y="4093"/>
                    <a:pt x="6945" y="3433"/>
                    <a:pt x="7725" y="3446"/>
                  </a:cubicBezTo>
                  <a:cubicBezTo>
                    <a:pt x="8132" y="3453"/>
                    <a:pt x="8500" y="3640"/>
                    <a:pt x="8758" y="3933"/>
                  </a:cubicBezTo>
                  <a:cubicBezTo>
                    <a:pt x="9080" y="3871"/>
                    <a:pt x="9382" y="3753"/>
                    <a:pt x="9655" y="3587"/>
                  </a:cubicBezTo>
                  <a:cubicBezTo>
                    <a:pt x="9550" y="3932"/>
                    <a:pt x="9325" y="4219"/>
                    <a:pt x="9033" y="4399"/>
                  </a:cubicBezTo>
                  <a:cubicBezTo>
                    <a:pt x="9320" y="4367"/>
                    <a:pt x="9592" y="4291"/>
                    <a:pt x="9846" y="4177"/>
                  </a:cubicBezTo>
                  <a:cubicBezTo>
                    <a:pt x="9656" y="4472"/>
                    <a:pt x="9416" y="4730"/>
                    <a:pt x="9140" y="4936"/>
                  </a:cubicBezTo>
                  <a:cubicBezTo>
                    <a:pt x="9143" y="5000"/>
                    <a:pt x="9144" y="5064"/>
                    <a:pt x="9144" y="5128"/>
                  </a:cubicBezTo>
                  <a:cubicBezTo>
                    <a:pt x="9144" y="7091"/>
                    <a:pt x="7721" y="9354"/>
                    <a:pt x="5121" y="9353"/>
                  </a:cubicBezTo>
                  <a:cubicBezTo>
                    <a:pt x="4323" y="9354"/>
                    <a:pt x="3579" y="9104"/>
                    <a:pt x="2954" y="86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3" name="weibo-social-logo_49269">
              <a:extLst>
                <a:ext uri="{FF2B5EF4-FFF2-40B4-BE49-F238E27FC236}">
                  <a16:creationId xmlns:a16="http://schemas.microsoft.com/office/drawing/2014/main" id="{737B7D30-FF6A-4351-BAC7-348BB50420CD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809206" y="6312997"/>
              <a:ext cx="231353" cy="231040"/>
            </a:xfrm>
            <a:custGeom>
              <a:avLst/>
              <a:gdLst>
                <a:gd name="connsiteX0" fmla="*/ 223001 w 600727"/>
                <a:gd name="connsiteY0" fmla="*/ 363277 h 599913"/>
                <a:gd name="connsiteX1" fmla="*/ 240229 w 600727"/>
                <a:gd name="connsiteY1" fmla="*/ 363680 h 599913"/>
                <a:gd name="connsiteX2" fmla="*/ 248066 w 600727"/>
                <a:gd name="connsiteY2" fmla="*/ 391776 h 599913"/>
                <a:gd name="connsiteX3" fmla="*/ 215799 w 600727"/>
                <a:gd name="connsiteY3" fmla="*/ 402369 h 599913"/>
                <a:gd name="connsiteX4" fmla="*/ 208884 w 600727"/>
                <a:gd name="connsiteY4" fmla="*/ 374274 h 599913"/>
                <a:gd name="connsiteX5" fmla="*/ 223001 w 600727"/>
                <a:gd name="connsiteY5" fmla="*/ 363277 h 599913"/>
                <a:gd name="connsiteX6" fmla="*/ 266976 w 600727"/>
                <a:gd name="connsiteY6" fmla="*/ 352625 h 599913"/>
                <a:gd name="connsiteX7" fmla="*/ 270665 w 600727"/>
                <a:gd name="connsiteY7" fmla="*/ 362765 h 599913"/>
                <a:gd name="connsiteX8" fmla="*/ 258217 w 600727"/>
                <a:gd name="connsiteY8" fmla="*/ 367374 h 599913"/>
                <a:gd name="connsiteX9" fmla="*/ 255450 w 600727"/>
                <a:gd name="connsiteY9" fmla="*/ 356773 h 599913"/>
                <a:gd name="connsiteX10" fmla="*/ 266976 w 600727"/>
                <a:gd name="connsiteY10" fmla="*/ 352625 h 599913"/>
                <a:gd name="connsiteX11" fmla="*/ 248086 w 600727"/>
                <a:gd name="connsiteY11" fmla="*/ 313386 h 599913"/>
                <a:gd name="connsiteX12" fmla="*/ 188128 w 600727"/>
                <a:gd name="connsiteY12" fmla="*/ 352677 h 599913"/>
                <a:gd name="connsiteX13" fmla="*/ 221316 w 600727"/>
                <a:gd name="connsiteY13" fmla="*/ 426327 h 599913"/>
                <a:gd name="connsiteX14" fmla="*/ 311660 w 600727"/>
                <a:gd name="connsiteY14" fmla="*/ 388122 h 599913"/>
                <a:gd name="connsiteX15" fmla="*/ 273402 w 600727"/>
                <a:gd name="connsiteY15" fmla="*/ 315392 h 599913"/>
                <a:gd name="connsiteX16" fmla="*/ 248086 w 600727"/>
                <a:gd name="connsiteY16" fmla="*/ 313386 h 599913"/>
                <a:gd name="connsiteX17" fmla="*/ 250355 w 600727"/>
                <a:gd name="connsiteY17" fmla="*/ 279948 h 599913"/>
                <a:gd name="connsiteX18" fmla="*/ 385411 w 600727"/>
                <a:gd name="connsiteY18" fmla="*/ 350376 h 599913"/>
                <a:gd name="connsiteX19" fmla="*/ 266488 w 600727"/>
                <a:gd name="connsiteY19" fmla="*/ 446121 h 599913"/>
                <a:gd name="connsiteX20" fmla="*/ 131432 w 600727"/>
                <a:gd name="connsiteY20" fmla="*/ 375693 h 599913"/>
                <a:gd name="connsiteX21" fmla="*/ 250355 w 600727"/>
                <a:gd name="connsiteY21" fmla="*/ 279948 h 599913"/>
                <a:gd name="connsiteX22" fmla="*/ 388651 w 600727"/>
                <a:gd name="connsiteY22" fmla="*/ 187386 h 599913"/>
                <a:gd name="connsiteX23" fmla="*/ 378048 w 600727"/>
                <a:gd name="connsiteY23" fmla="*/ 203961 h 599913"/>
                <a:gd name="connsiteX24" fmla="*/ 394645 w 600727"/>
                <a:gd name="connsiteY24" fmla="*/ 214550 h 599913"/>
                <a:gd name="connsiteX25" fmla="*/ 420002 w 600727"/>
                <a:gd name="connsiteY25" fmla="*/ 222838 h 599913"/>
                <a:gd name="connsiteX26" fmla="*/ 425534 w 600727"/>
                <a:gd name="connsiteY26" fmla="*/ 249081 h 599913"/>
                <a:gd name="connsiteX27" fmla="*/ 434294 w 600727"/>
                <a:gd name="connsiteY27" fmla="*/ 266577 h 599913"/>
                <a:gd name="connsiteX28" fmla="*/ 451813 w 600727"/>
                <a:gd name="connsiteY28" fmla="*/ 257368 h 599913"/>
                <a:gd name="connsiteX29" fmla="*/ 440748 w 600727"/>
                <a:gd name="connsiteY29" fmla="*/ 203961 h 599913"/>
                <a:gd name="connsiteX30" fmla="*/ 388651 w 600727"/>
                <a:gd name="connsiteY30" fmla="*/ 187386 h 599913"/>
                <a:gd name="connsiteX31" fmla="*/ 266759 w 600727"/>
                <a:gd name="connsiteY31" fmla="*/ 177078 h 599913"/>
                <a:gd name="connsiteX32" fmla="*/ 151680 w 600727"/>
                <a:gd name="connsiteY32" fmla="*/ 240333 h 599913"/>
                <a:gd name="connsiteX33" fmla="*/ 88518 w 600727"/>
                <a:gd name="connsiteY33" fmla="*/ 358658 h 599913"/>
                <a:gd name="connsiteX34" fmla="*/ 266478 w 600727"/>
                <a:gd name="connsiteY34" fmla="*/ 471459 h 599913"/>
                <a:gd name="connsiteX35" fmla="*/ 458268 w 600727"/>
                <a:gd name="connsiteY35" fmla="*/ 351292 h 599913"/>
                <a:gd name="connsiteX36" fmla="*/ 406632 w 600727"/>
                <a:gd name="connsiteY36" fmla="*/ 293741 h 599913"/>
                <a:gd name="connsiteX37" fmla="*/ 399716 w 600727"/>
                <a:gd name="connsiteY37" fmla="*/ 282691 h 599913"/>
                <a:gd name="connsiteX38" fmla="*/ 400177 w 600727"/>
                <a:gd name="connsiteY38" fmla="*/ 240794 h 599913"/>
                <a:gd name="connsiteX39" fmla="*/ 305665 w 600727"/>
                <a:gd name="connsiteY39" fmla="*/ 240333 h 599913"/>
                <a:gd name="connsiteX40" fmla="*/ 295523 w 600727"/>
                <a:gd name="connsiteY40" fmla="*/ 235269 h 599913"/>
                <a:gd name="connsiteX41" fmla="*/ 290912 w 600727"/>
                <a:gd name="connsiteY41" fmla="*/ 186005 h 599913"/>
                <a:gd name="connsiteX42" fmla="*/ 266759 w 600727"/>
                <a:gd name="connsiteY42" fmla="*/ 177078 h 599913"/>
                <a:gd name="connsiteX43" fmla="*/ 405364 w 600727"/>
                <a:gd name="connsiteY43" fmla="*/ 128778 h 599913"/>
                <a:gd name="connsiteX44" fmla="*/ 376665 w 600727"/>
                <a:gd name="connsiteY44" fmla="*/ 131216 h 599913"/>
                <a:gd name="connsiteX45" fmla="*/ 364217 w 600727"/>
                <a:gd name="connsiteY45" fmla="*/ 150554 h 599913"/>
                <a:gd name="connsiteX46" fmla="*/ 383580 w 600727"/>
                <a:gd name="connsiteY46" fmla="*/ 162985 h 599913"/>
                <a:gd name="connsiteX47" fmla="*/ 459190 w 600727"/>
                <a:gd name="connsiteY47" fmla="*/ 187386 h 599913"/>
                <a:gd name="connsiteX48" fmla="*/ 475787 w 600727"/>
                <a:gd name="connsiteY48" fmla="*/ 265195 h 599913"/>
                <a:gd name="connsiteX49" fmla="*/ 486391 w 600727"/>
                <a:gd name="connsiteY49" fmla="*/ 285453 h 599913"/>
                <a:gd name="connsiteX50" fmla="*/ 506676 w 600727"/>
                <a:gd name="connsiteY50" fmla="*/ 275324 h 599913"/>
                <a:gd name="connsiteX51" fmla="*/ 483163 w 600727"/>
                <a:gd name="connsiteY51" fmla="*/ 165747 h 599913"/>
                <a:gd name="connsiteX52" fmla="*/ 405364 w 600727"/>
                <a:gd name="connsiteY52" fmla="*/ 128778 h 599913"/>
                <a:gd name="connsiteX53" fmla="*/ 300594 w 600727"/>
                <a:gd name="connsiteY53" fmla="*/ 0 h 599913"/>
                <a:gd name="connsiteX54" fmla="*/ 600727 w 600727"/>
                <a:gd name="connsiteY54" fmla="*/ 300186 h 599913"/>
                <a:gd name="connsiteX55" fmla="*/ 300594 w 600727"/>
                <a:gd name="connsiteY55" fmla="*/ 599913 h 599913"/>
                <a:gd name="connsiteX56" fmla="*/ 0 w 600727"/>
                <a:gd name="connsiteY56" fmla="*/ 300186 h 599913"/>
                <a:gd name="connsiteX57" fmla="*/ 300594 w 600727"/>
                <a:gd name="connsiteY57" fmla="*/ 0 h 59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0727" h="599913">
                  <a:moveTo>
                    <a:pt x="223001" y="363277"/>
                  </a:moveTo>
                  <a:cubicBezTo>
                    <a:pt x="228705" y="361377"/>
                    <a:pt x="234928" y="361377"/>
                    <a:pt x="240229" y="363680"/>
                  </a:cubicBezTo>
                  <a:cubicBezTo>
                    <a:pt x="251292" y="368286"/>
                    <a:pt x="254980" y="380722"/>
                    <a:pt x="248066" y="391776"/>
                  </a:cubicBezTo>
                  <a:cubicBezTo>
                    <a:pt x="241151" y="402369"/>
                    <a:pt x="226862" y="406975"/>
                    <a:pt x="215799" y="402369"/>
                  </a:cubicBezTo>
                  <a:cubicBezTo>
                    <a:pt x="205197" y="397303"/>
                    <a:pt x="201970" y="384867"/>
                    <a:pt x="208884" y="374274"/>
                  </a:cubicBezTo>
                  <a:cubicBezTo>
                    <a:pt x="212111" y="368977"/>
                    <a:pt x="217297" y="365177"/>
                    <a:pt x="223001" y="363277"/>
                  </a:cubicBezTo>
                  <a:close/>
                  <a:moveTo>
                    <a:pt x="266976" y="352625"/>
                  </a:moveTo>
                  <a:cubicBezTo>
                    <a:pt x="271126" y="354008"/>
                    <a:pt x="272970" y="358617"/>
                    <a:pt x="270665" y="362765"/>
                  </a:cubicBezTo>
                  <a:cubicBezTo>
                    <a:pt x="267898" y="367374"/>
                    <a:pt x="262827" y="369217"/>
                    <a:pt x="258217" y="367374"/>
                  </a:cubicBezTo>
                  <a:cubicBezTo>
                    <a:pt x="254067" y="365530"/>
                    <a:pt x="252684" y="360921"/>
                    <a:pt x="255450" y="356773"/>
                  </a:cubicBezTo>
                  <a:cubicBezTo>
                    <a:pt x="257756" y="352625"/>
                    <a:pt x="262827" y="350782"/>
                    <a:pt x="266976" y="352625"/>
                  </a:cubicBezTo>
                  <a:close/>
                  <a:moveTo>
                    <a:pt x="248086" y="313386"/>
                  </a:moveTo>
                  <a:cubicBezTo>
                    <a:pt x="222785" y="315737"/>
                    <a:pt x="198845" y="330582"/>
                    <a:pt x="188128" y="352677"/>
                  </a:cubicBezTo>
                  <a:cubicBezTo>
                    <a:pt x="173378" y="382598"/>
                    <a:pt x="187667" y="415740"/>
                    <a:pt x="221316" y="426327"/>
                  </a:cubicBezTo>
                  <a:cubicBezTo>
                    <a:pt x="256347" y="437835"/>
                    <a:pt x="297371" y="420343"/>
                    <a:pt x="311660" y="388122"/>
                  </a:cubicBezTo>
                  <a:cubicBezTo>
                    <a:pt x="325949" y="356820"/>
                    <a:pt x="307973" y="324138"/>
                    <a:pt x="273402" y="315392"/>
                  </a:cubicBezTo>
                  <a:cubicBezTo>
                    <a:pt x="265105" y="313206"/>
                    <a:pt x="256520" y="312602"/>
                    <a:pt x="248086" y="313386"/>
                  </a:cubicBezTo>
                  <a:close/>
                  <a:moveTo>
                    <a:pt x="250355" y="279948"/>
                  </a:moveTo>
                  <a:cubicBezTo>
                    <a:pt x="320418" y="273044"/>
                    <a:pt x="380801" y="304345"/>
                    <a:pt x="385411" y="350376"/>
                  </a:cubicBezTo>
                  <a:cubicBezTo>
                    <a:pt x="390020" y="396407"/>
                    <a:pt x="336551" y="439216"/>
                    <a:pt x="266488" y="446121"/>
                  </a:cubicBezTo>
                  <a:cubicBezTo>
                    <a:pt x="196425" y="453025"/>
                    <a:pt x="136042" y="421724"/>
                    <a:pt x="131432" y="375693"/>
                  </a:cubicBezTo>
                  <a:cubicBezTo>
                    <a:pt x="126823" y="329662"/>
                    <a:pt x="179831" y="286853"/>
                    <a:pt x="250355" y="279948"/>
                  </a:cubicBezTo>
                  <a:close/>
                  <a:moveTo>
                    <a:pt x="388651" y="187386"/>
                  </a:moveTo>
                  <a:cubicBezTo>
                    <a:pt x="381275" y="189228"/>
                    <a:pt x="376204" y="196594"/>
                    <a:pt x="378048" y="203961"/>
                  </a:cubicBezTo>
                  <a:cubicBezTo>
                    <a:pt x="379431" y="211328"/>
                    <a:pt x="386807" y="216392"/>
                    <a:pt x="394645" y="214550"/>
                  </a:cubicBezTo>
                  <a:cubicBezTo>
                    <a:pt x="403405" y="212709"/>
                    <a:pt x="413086" y="215471"/>
                    <a:pt x="420002" y="222838"/>
                  </a:cubicBezTo>
                  <a:cubicBezTo>
                    <a:pt x="426456" y="230204"/>
                    <a:pt x="428300" y="240333"/>
                    <a:pt x="425534" y="249081"/>
                  </a:cubicBezTo>
                  <a:cubicBezTo>
                    <a:pt x="423229" y="256448"/>
                    <a:pt x="426917" y="264275"/>
                    <a:pt x="434294" y="266577"/>
                  </a:cubicBezTo>
                  <a:cubicBezTo>
                    <a:pt x="441670" y="268879"/>
                    <a:pt x="449508" y="264735"/>
                    <a:pt x="451813" y="257368"/>
                  </a:cubicBezTo>
                  <a:cubicBezTo>
                    <a:pt x="457807" y="239412"/>
                    <a:pt x="454118" y="219154"/>
                    <a:pt x="440748" y="203961"/>
                  </a:cubicBezTo>
                  <a:cubicBezTo>
                    <a:pt x="426917" y="189228"/>
                    <a:pt x="407093" y="183703"/>
                    <a:pt x="388651" y="187386"/>
                  </a:cubicBezTo>
                  <a:close/>
                  <a:moveTo>
                    <a:pt x="266759" y="177078"/>
                  </a:moveTo>
                  <a:cubicBezTo>
                    <a:pt x="236828" y="176538"/>
                    <a:pt x="191790" y="200278"/>
                    <a:pt x="151680" y="240333"/>
                  </a:cubicBezTo>
                  <a:cubicBezTo>
                    <a:pt x="112031" y="279928"/>
                    <a:pt x="88518" y="322286"/>
                    <a:pt x="88518" y="358658"/>
                  </a:cubicBezTo>
                  <a:cubicBezTo>
                    <a:pt x="88518" y="428641"/>
                    <a:pt x="178420" y="471459"/>
                    <a:pt x="266478" y="471459"/>
                  </a:cubicBezTo>
                  <a:cubicBezTo>
                    <a:pt x="381736" y="471459"/>
                    <a:pt x="458268" y="404700"/>
                    <a:pt x="458268" y="351292"/>
                  </a:cubicBezTo>
                  <a:cubicBezTo>
                    <a:pt x="458268" y="319524"/>
                    <a:pt x="431067" y="301107"/>
                    <a:pt x="406632" y="293741"/>
                  </a:cubicBezTo>
                  <a:cubicBezTo>
                    <a:pt x="400638" y="291899"/>
                    <a:pt x="396950" y="290518"/>
                    <a:pt x="399716" y="282691"/>
                  </a:cubicBezTo>
                  <a:cubicBezTo>
                    <a:pt x="406632" y="265656"/>
                    <a:pt x="407554" y="251383"/>
                    <a:pt x="400177" y="240794"/>
                  </a:cubicBezTo>
                  <a:cubicBezTo>
                    <a:pt x="386346" y="220996"/>
                    <a:pt x="348542" y="222377"/>
                    <a:pt x="305665" y="240333"/>
                  </a:cubicBezTo>
                  <a:cubicBezTo>
                    <a:pt x="305665" y="240333"/>
                    <a:pt x="291834" y="246319"/>
                    <a:pt x="295523" y="235269"/>
                  </a:cubicBezTo>
                  <a:cubicBezTo>
                    <a:pt x="301977" y="214090"/>
                    <a:pt x="301055" y="196134"/>
                    <a:pt x="290912" y="186005"/>
                  </a:cubicBezTo>
                  <a:cubicBezTo>
                    <a:pt x="285034" y="180135"/>
                    <a:pt x="276736" y="177257"/>
                    <a:pt x="266759" y="177078"/>
                  </a:cubicBezTo>
                  <a:close/>
                  <a:moveTo>
                    <a:pt x="405364" y="128778"/>
                  </a:moveTo>
                  <a:cubicBezTo>
                    <a:pt x="395769" y="128339"/>
                    <a:pt x="386116" y="129144"/>
                    <a:pt x="376665" y="131216"/>
                  </a:cubicBezTo>
                  <a:cubicBezTo>
                    <a:pt x="367905" y="133058"/>
                    <a:pt x="362373" y="141806"/>
                    <a:pt x="364217" y="150554"/>
                  </a:cubicBezTo>
                  <a:cubicBezTo>
                    <a:pt x="366061" y="159301"/>
                    <a:pt x="374820" y="164826"/>
                    <a:pt x="383580" y="162985"/>
                  </a:cubicBezTo>
                  <a:cubicBezTo>
                    <a:pt x="410320" y="156999"/>
                    <a:pt x="439365" y="165287"/>
                    <a:pt x="459190" y="187386"/>
                  </a:cubicBezTo>
                  <a:cubicBezTo>
                    <a:pt x="479014" y="209486"/>
                    <a:pt x="484546" y="238952"/>
                    <a:pt x="475787" y="265195"/>
                  </a:cubicBezTo>
                  <a:cubicBezTo>
                    <a:pt x="473021" y="273943"/>
                    <a:pt x="477631" y="282691"/>
                    <a:pt x="486391" y="285453"/>
                  </a:cubicBezTo>
                  <a:cubicBezTo>
                    <a:pt x="494689" y="288216"/>
                    <a:pt x="503910" y="283612"/>
                    <a:pt x="506676" y="275324"/>
                  </a:cubicBezTo>
                  <a:cubicBezTo>
                    <a:pt x="518663" y="238492"/>
                    <a:pt x="511286" y="196594"/>
                    <a:pt x="483163" y="165747"/>
                  </a:cubicBezTo>
                  <a:cubicBezTo>
                    <a:pt x="462416" y="142612"/>
                    <a:pt x="434149" y="130094"/>
                    <a:pt x="405364" y="128778"/>
                  </a:cubicBezTo>
                  <a:close/>
                  <a:moveTo>
                    <a:pt x="300594" y="0"/>
                  </a:moveTo>
                  <a:cubicBezTo>
                    <a:pt x="466566" y="0"/>
                    <a:pt x="600727" y="134439"/>
                    <a:pt x="600727" y="300186"/>
                  </a:cubicBezTo>
                  <a:cubicBezTo>
                    <a:pt x="600727" y="465934"/>
                    <a:pt x="466566" y="599913"/>
                    <a:pt x="300594" y="599913"/>
                  </a:cubicBezTo>
                  <a:cubicBezTo>
                    <a:pt x="134622" y="599913"/>
                    <a:pt x="0" y="465934"/>
                    <a:pt x="0" y="300186"/>
                  </a:cubicBezTo>
                  <a:cubicBezTo>
                    <a:pt x="0" y="134439"/>
                    <a:pt x="134622" y="0"/>
                    <a:pt x="300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4" name="iconfont-1142-850723">
              <a:extLst>
                <a:ext uri="{FF2B5EF4-FFF2-40B4-BE49-F238E27FC236}">
                  <a16:creationId xmlns:a16="http://schemas.microsoft.com/office/drawing/2014/main" id="{461A95A2-A550-4240-A817-B9C9BC80FFA4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1175683" y="6312401"/>
              <a:ext cx="231353" cy="231354"/>
            </a:xfrm>
            <a:custGeom>
              <a:avLst/>
              <a:gdLst>
                <a:gd name="T0" fmla="*/ 7268 w 10474"/>
                <a:gd name="T1" fmla="*/ 5233 h 10474"/>
                <a:gd name="T2" fmla="*/ 7029 w 10474"/>
                <a:gd name="T3" fmla="*/ 5480 h 10474"/>
                <a:gd name="T4" fmla="*/ 7268 w 10474"/>
                <a:gd name="T5" fmla="*/ 5702 h 10474"/>
                <a:gd name="T6" fmla="*/ 7566 w 10474"/>
                <a:gd name="T7" fmla="*/ 5480 h 10474"/>
                <a:gd name="T8" fmla="*/ 7268 w 10474"/>
                <a:gd name="T9" fmla="*/ 5233 h 10474"/>
                <a:gd name="T10" fmla="*/ 3454 w 10474"/>
                <a:gd name="T11" fmla="*/ 3484 h 10474"/>
                <a:gd name="T12" fmla="*/ 3087 w 10474"/>
                <a:gd name="T13" fmla="*/ 3782 h 10474"/>
                <a:gd name="T14" fmla="*/ 3454 w 10474"/>
                <a:gd name="T15" fmla="*/ 4081 h 10474"/>
                <a:gd name="T16" fmla="*/ 3761 w 10474"/>
                <a:gd name="T17" fmla="*/ 3782 h 10474"/>
                <a:gd name="T18" fmla="*/ 3454 w 10474"/>
                <a:gd name="T19" fmla="*/ 3484 h 10474"/>
                <a:gd name="T20" fmla="*/ 7805 w 10474"/>
                <a:gd name="T21" fmla="*/ 7400 h 10474"/>
                <a:gd name="T22" fmla="*/ 7976 w 10474"/>
                <a:gd name="T23" fmla="*/ 8014 h 10474"/>
                <a:gd name="T24" fmla="*/ 7328 w 10474"/>
                <a:gd name="T25" fmla="*/ 7648 h 10474"/>
                <a:gd name="T26" fmla="*/ 6594 w 10474"/>
                <a:gd name="T27" fmla="*/ 7775 h 10474"/>
                <a:gd name="T28" fmla="*/ 4546 w 10474"/>
                <a:gd name="T29" fmla="*/ 6018 h 10474"/>
                <a:gd name="T30" fmla="*/ 6594 w 10474"/>
                <a:gd name="T31" fmla="*/ 4260 h 10474"/>
                <a:gd name="T32" fmla="*/ 8650 w 10474"/>
                <a:gd name="T33" fmla="*/ 6018 h 10474"/>
                <a:gd name="T34" fmla="*/ 7805 w 10474"/>
                <a:gd name="T35" fmla="*/ 7400 h 10474"/>
                <a:gd name="T36" fmla="*/ 4247 w 10474"/>
                <a:gd name="T37" fmla="*/ 6564 h 10474"/>
                <a:gd name="T38" fmla="*/ 3402 w 10474"/>
                <a:gd name="T39" fmla="*/ 6427 h 10474"/>
                <a:gd name="T40" fmla="*/ 2541 w 10474"/>
                <a:gd name="T41" fmla="*/ 6863 h 10474"/>
                <a:gd name="T42" fmla="*/ 2788 w 10474"/>
                <a:gd name="T43" fmla="*/ 6129 h 10474"/>
                <a:gd name="T44" fmla="*/ 1824 w 10474"/>
                <a:gd name="T45" fmla="*/ 4507 h 10474"/>
                <a:gd name="T46" fmla="*/ 4247 w 10474"/>
                <a:gd name="T47" fmla="*/ 2460 h 10474"/>
                <a:gd name="T48" fmla="*/ 6679 w 10474"/>
                <a:gd name="T49" fmla="*/ 4149 h 10474"/>
                <a:gd name="T50" fmla="*/ 6449 w 10474"/>
                <a:gd name="T51" fmla="*/ 4124 h 10474"/>
                <a:gd name="T52" fmla="*/ 4392 w 10474"/>
                <a:gd name="T53" fmla="*/ 6043 h 10474"/>
                <a:gd name="T54" fmla="*/ 4461 w 10474"/>
                <a:gd name="T55" fmla="*/ 6555 h 10474"/>
                <a:gd name="T56" fmla="*/ 4247 w 10474"/>
                <a:gd name="T57" fmla="*/ 6564 h 10474"/>
                <a:gd name="T58" fmla="*/ 5237 w 10474"/>
                <a:gd name="T59" fmla="*/ 0 h 10474"/>
                <a:gd name="T60" fmla="*/ 0 w 10474"/>
                <a:gd name="T61" fmla="*/ 5237 h 10474"/>
                <a:gd name="T62" fmla="*/ 5237 w 10474"/>
                <a:gd name="T63" fmla="*/ 10474 h 10474"/>
                <a:gd name="T64" fmla="*/ 10474 w 10474"/>
                <a:gd name="T65" fmla="*/ 5237 h 10474"/>
                <a:gd name="T66" fmla="*/ 5237 w 10474"/>
                <a:gd name="T67" fmla="*/ 0 h 10474"/>
                <a:gd name="T68" fmla="*/ 5143 w 10474"/>
                <a:gd name="T69" fmla="*/ 4081 h 10474"/>
                <a:gd name="T70" fmla="*/ 5450 w 10474"/>
                <a:gd name="T71" fmla="*/ 3782 h 10474"/>
                <a:gd name="T72" fmla="*/ 5143 w 10474"/>
                <a:gd name="T73" fmla="*/ 3484 h 10474"/>
                <a:gd name="T74" fmla="*/ 4793 w 10474"/>
                <a:gd name="T75" fmla="*/ 3782 h 10474"/>
                <a:gd name="T76" fmla="*/ 5143 w 10474"/>
                <a:gd name="T77" fmla="*/ 4081 h 10474"/>
                <a:gd name="T78" fmla="*/ 5928 w 10474"/>
                <a:gd name="T79" fmla="*/ 5233 h 10474"/>
                <a:gd name="T80" fmla="*/ 5689 w 10474"/>
                <a:gd name="T81" fmla="*/ 5480 h 10474"/>
                <a:gd name="T82" fmla="*/ 5928 w 10474"/>
                <a:gd name="T83" fmla="*/ 5702 h 10474"/>
                <a:gd name="T84" fmla="*/ 6235 w 10474"/>
                <a:gd name="T85" fmla="*/ 5480 h 10474"/>
                <a:gd name="T86" fmla="*/ 5928 w 10474"/>
                <a:gd name="T87" fmla="*/ 5233 h 10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74" h="10474">
                  <a:moveTo>
                    <a:pt x="7268" y="5233"/>
                  </a:moveTo>
                  <a:cubicBezTo>
                    <a:pt x="7140" y="5233"/>
                    <a:pt x="7029" y="5344"/>
                    <a:pt x="7029" y="5480"/>
                  </a:cubicBezTo>
                  <a:cubicBezTo>
                    <a:pt x="7029" y="5591"/>
                    <a:pt x="7140" y="5702"/>
                    <a:pt x="7268" y="5702"/>
                  </a:cubicBezTo>
                  <a:cubicBezTo>
                    <a:pt x="7438" y="5702"/>
                    <a:pt x="7566" y="5591"/>
                    <a:pt x="7566" y="5480"/>
                  </a:cubicBezTo>
                  <a:cubicBezTo>
                    <a:pt x="7566" y="5344"/>
                    <a:pt x="7438" y="5233"/>
                    <a:pt x="7268" y="5233"/>
                  </a:cubicBezTo>
                  <a:close/>
                  <a:moveTo>
                    <a:pt x="3454" y="3484"/>
                  </a:moveTo>
                  <a:cubicBezTo>
                    <a:pt x="3274" y="3484"/>
                    <a:pt x="3087" y="3594"/>
                    <a:pt x="3087" y="3782"/>
                  </a:cubicBezTo>
                  <a:cubicBezTo>
                    <a:pt x="3087" y="3961"/>
                    <a:pt x="3274" y="4081"/>
                    <a:pt x="3454" y="4081"/>
                  </a:cubicBezTo>
                  <a:cubicBezTo>
                    <a:pt x="3624" y="4081"/>
                    <a:pt x="3761" y="3961"/>
                    <a:pt x="3761" y="3782"/>
                  </a:cubicBezTo>
                  <a:cubicBezTo>
                    <a:pt x="3761" y="3594"/>
                    <a:pt x="3624" y="3484"/>
                    <a:pt x="3454" y="3484"/>
                  </a:cubicBezTo>
                  <a:close/>
                  <a:moveTo>
                    <a:pt x="7805" y="7400"/>
                  </a:moveTo>
                  <a:lnTo>
                    <a:pt x="7976" y="8014"/>
                  </a:lnTo>
                  <a:lnTo>
                    <a:pt x="7328" y="7648"/>
                  </a:lnTo>
                  <a:cubicBezTo>
                    <a:pt x="7080" y="7699"/>
                    <a:pt x="6841" y="7775"/>
                    <a:pt x="6594" y="7775"/>
                  </a:cubicBezTo>
                  <a:cubicBezTo>
                    <a:pt x="5450" y="7775"/>
                    <a:pt x="4546" y="6990"/>
                    <a:pt x="4546" y="6018"/>
                  </a:cubicBezTo>
                  <a:cubicBezTo>
                    <a:pt x="4546" y="5045"/>
                    <a:pt x="5450" y="4260"/>
                    <a:pt x="6594" y="4260"/>
                  </a:cubicBezTo>
                  <a:cubicBezTo>
                    <a:pt x="7677" y="4260"/>
                    <a:pt x="8650" y="5045"/>
                    <a:pt x="8650" y="6018"/>
                  </a:cubicBezTo>
                  <a:cubicBezTo>
                    <a:pt x="8650" y="6564"/>
                    <a:pt x="8283" y="7050"/>
                    <a:pt x="7805" y="7400"/>
                  </a:cubicBezTo>
                  <a:close/>
                  <a:moveTo>
                    <a:pt x="4247" y="6564"/>
                  </a:moveTo>
                  <a:cubicBezTo>
                    <a:pt x="3931" y="6564"/>
                    <a:pt x="3701" y="6513"/>
                    <a:pt x="3402" y="6427"/>
                  </a:cubicBezTo>
                  <a:lnTo>
                    <a:pt x="2541" y="6863"/>
                  </a:lnTo>
                  <a:lnTo>
                    <a:pt x="2788" y="6129"/>
                  </a:lnTo>
                  <a:cubicBezTo>
                    <a:pt x="2182" y="5702"/>
                    <a:pt x="1824" y="5165"/>
                    <a:pt x="1824" y="4507"/>
                  </a:cubicBezTo>
                  <a:cubicBezTo>
                    <a:pt x="1824" y="3347"/>
                    <a:pt x="2916" y="2460"/>
                    <a:pt x="4247" y="2460"/>
                  </a:cubicBezTo>
                  <a:cubicBezTo>
                    <a:pt x="5425" y="2460"/>
                    <a:pt x="6474" y="3159"/>
                    <a:pt x="6679" y="4149"/>
                  </a:cubicBezTo>
                  <a:cubicBezTo>
                    <a:pt x="6594" y="4132"/>
                    <a:pt x="6517" y="4124"/>
                    <a:pt x="6449" y="4124"/>
                  </a:cubicBezTo>
                  <a:cubicBezTo>
                    <a:pt x="5288" y="4124"/>
                    <a:pt x="4392" y="4994"/>
                    <a:pt x="4392" y="6043"/>
                  </a:cubicBezTo>
                  <a:cubicBezTo>
                    <a:pt x="4392" y="6223"/>
                    <a:pt x="4418" y="6385"/>
                    <a:pt x="4461" y="6555"/>
                  </a:cubicBezTo>
                  <a:cubicBezTo>
                    <a:pt x="4392" y="6564"/>
                    <a:pt x="4315" y="6564"/>
                    <a:pt x="4247" y="6564"/>
                  </a:cubicBezTo>
                  <a:close/>
                  <a:moveTo>
                    <a:pt x="5237" y="0"/>
                  </a:moveTo>
                  <a:cubicBezTo>
                    <a:pt x="2345" y="0"/>
                    <a:pt x="0" y="2345"/>
                    <a:pt x="0" y="5237"/>
                  </a:cubicBezTo>
                  <a:cubicBezTo>
                    <a:pt x="0" y="8129"/>
                    <a:pt x="2345" y="10474"/>
                    <a:pt x="5237" y="10474"/>
                  </a:cubicBezTo>
                  <a:cubicBezTo>
                    <a:pt x="8129" y="10474"/>
                    <a:pt x="10474" y="8129"/>
                    <a:pt x="10474" y="5237"/>
                  </a:cubicBezTo>
                  <a:cubicBezTo>
                    <a:pt x="10474" y="2345"/>
                    <a:pt x="8129" y="0"/>
                    <a:pt x="5237" y="0"/>
                  </a:cubicBezTo>
                  <a:close/>
                  <a:moveTo>
                    <a:pt x="5143" y="4081"/>
                  </a:moveTo>
                  <a:cubicBezTo>
                    <a:pt x="5331" y="4081"/>
                    <a:pt x="5450" y="3961"/>
                    <a:pt x="5450" y="3782"/>
                  </a:cubicBezTo>
                  <a:cubicBezTo>
                    <a:pt x="5450" y="3594"/>
                    <a:pt x="5331" y="3484"/>
                    <a:pt x="5143" y="3484"/>
                  </a:cubicBezTo>
                  <a:cubicBezTo>
                    <a:pt x="4964" y="3484"/>
                    <a:pt x="4793" y="3594"/>
                    <a:pt x="4793" y="3782"/>
                  </a:cubicBezTo>
                  <a:cubicBezTo>
                    <a:pt x="4793" y="3961"/>
                    <a:pt x="4964" y="4081"/>
                    <a:pt x="5143" y="4081"/>
                  </a:cubicBezTo>
                  <a:close/>
                  <a:moveTo>
                    <a:pt x="5928" y="5233"/>
                  </a:moveTo>
                  <a:cubicBezTo>
                    <a:pt x="5809" y="5233"/>
                    <a:pt x="5689" y="5344"/>
                    <a:pt x="5689" y="5480"/>
                  </a:cubicBezTo>
                  <a:cubicBezTo>
                    <a:pt x="5689" y="5591"/>
                    <a:pt x="5809" y="5702"/>
                    <a:pt x="5928" y="5702"/>
                  </a:cubicBezTo>
                  <a:cubicBezTo>
                    <a:pt x="6107" y="5702"/>
                    <a:pt x="6235" y="5591"/>
                    <a:pt x="6235" y="5480"/>
                  </a:cubicBezTo>
                  <a:cubicBezTo>
                    <a:pt x="6235" y="5344"/>
                    <a:pt x="6107" y="5233"/>
                    <a:pt x="5928" y="52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910F46C-BD48-4F31-B697-C42CF1ABDF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091" y="4005891"/>
            <a:ext cx="7228398" cy="808696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4000" b="1" kern="1200" dirty="0" smtClean="0">
                <a:solidFill>
                  <a:schemeClr val="bg1"/>
                </a:solidFill>
                <a:effectLst>
                  <a:outerShdw blurRad="127000" dist="63500" dir="2700000" algn="tl" rotWithShape="0">
                    <a:schemeClr val="tx1">
                      <a:alpha val="10000"/>
                    </a:schemeClr>
                  </a:outerShdw>
                </a:effectLst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</a:t>
            </a:r>
            <a:endParaRPr lang="zh-CN" altLang="en-US" dirty="0"/>
          </a:p>
        </p:txBody>
      </p:sp>
      <p:sp>
        <p:nvSpPr>
          <p:cNvPr id="41" name="文本占位符 39">
            <a:extLst>
              <a:ext uri="{FF2B5EF4-FFF2-40B4-BE49-F238E27FC236}">
                <a16:creationId xmlns:a16="http://schemas.microsoft.com/office/drawing/2014/main" id="{D3331EF5-BE4E-46AC-B330-C3E3A32A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091" y="4771380"/>
            <a:ext cx="7228398" cy="343760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1800" b="0" kern="1200" dirty="0" smtClean="0">
                <a:solidFill>
                  <a:schemeClr val="bg1"/>
                </a:solidFill>
                <a:effectLst/>
                <a:latin typeface="Lato Light" panose="020F04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8A375-2067-45CA-BA47-6E052AB51E86}"/>
              </a:ext>
            </a:extLst>
          </p:cNvPr>
          <p:cNvSpPr/>
          <p:nvPr userDrawn="1"/>
        </p:nvSpPr>
        <p:spPr>
          <a:xfrm>
            <a:off x="845820" y="6253507"/>
            <a:ext cx="4739640" cy="274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2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b="1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+mn-ea"/>
                <a:cs typeface="Lato Light" panose="020F0402020204030203" pitchFamily="34" charset="0"/>
              </a:rPr>
              <a:t>City University of Hong Kong </a:t>
            </a:r>
            <a:r>
              <a:rPr lang="en-US" altLang="zh-CN" sz="1100" b="0" i="0" baseline="0" dirty="0">
                <a:solidFill>
                  <a:schemeClr val="bg1"/>
                </a:solidFill>
                <a:latin typeface="Lato Light" panose="020F0402020204030203" pitchFamily="34" charset="0"/>
                <a:ea typeface="Lato Light" charset="0"/>
                <a:cs typeface="Lato Light" panose="020F0402020204030203" pitchFamily="34" charset="0"/>
              </a:rPr>
              <a:t>|  </a:t>
            </a:r>
            <a:r>
              <a:rPr lang="en-US" altLang="zh-CN" sz="1100" b="0" i="0" kern="1200" baseline="0" dirty="0">
                <a:solidFill>
                  <a:schemeClr val="bg1"/>
                </a:solidFill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t>www.cityu.edu.hk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FC3E3A74-F351-CFCE-3F7D-62BDD1137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34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F8318-8799-4D0F-B91E-E303FA5569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1" y="-2977"/>
            <a:ext cx="14629748" cy="68580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13A082D5-6CF6-4905-9BE3-622716D49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9879" y="2523291"/>
            <a:ext cx="10531784" cy="93331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 Thanks for your attention.</a:t>
            </a:r>
            <a:endParaRPr lang="zh-CN" altLang="en-US" dirty="0"/>
          </a:p>
        </p:txBody>
      </p:sp>
      <p:sp>
        <p:nvSpPr>
          <p:cNvPr id="12" name="文本占位符 8">
            <a:extLst>
              <a:ext uri="{FF2B5EF4-FFF2-40B4-BE49-F238E27FC236}">
                <a16:creationId xmlns:a16="http://schemas.microsoft.com/office/drawing/2014/main" id="{4783FE10-2CAC-4096-B7BB-C45D748CA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883" y="3699996"/>
            <a:ext cx="6213781" cy="3112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Signature</a:t>
            </a:r>
          </a:p>
        </p:txBody>
      </p:sp>
      <p:sp>
        <p:nvSpPr>
          <p:cNvPr id="14" name="文本占位符 8">
            <a:extLst>
              <a:ext uri="{FF2B5EF4-FFF2-40B4-BE49-F238E27FC236}">
                <a16:creationId xmlns:a16="http://schemas.microsoft.com/office/drawing/2014/main" id="{A3B75950-C6FA-431A-A533-17D6A0513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9883" y="4053213"/>
            <a:ext cx="6213781" cy="313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Date</a:t>
            </a:r>
            <a:endParaRPr lang="zh-CN" altLang="en-US" sz="1600" b="0" dirty="0">
              <a:solidFill>
                <a:schemeClr val="bg1"/>
              </a:solidFill>
              <a:latin typeface="Lato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B7980C-64B9-4684-823C-10D4A312E0EF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EE97FFC-2028-1E16-6D6D-F8BF4EB954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8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6E9015-E6DE-45E4-8091-B8909CC6991C}"/>
              </a:ext>
            </a:extLst>
          </p:cNvPr>
          <p:cNvSpPr/>
          <p:nvPr userDrawn="1"/>
        </p:nvSpPr>
        <p:spPr>
          <a:xfrm>
            <a:off x="0" y="0"/>
            <a:ext cx="14630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6C3BF-8923-4A17-9091-23133505852B}"/>
              </a:ext>
            </a:extLst>
          </p:cNvPr>
          <p:cNvSpPr/>
          <p:nvPr userDrawn="1"/>
        </p:nvSpPr>
        <p:spPr>
          <a:xfrm>
            <a:off x="125634" y="91159"/>
            <a:ext cx="14379137" cy="66756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77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9A64A6B-5FFA-FDB5-9FE1-7285A189C2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3439" y="325087"/>
            <a:ext cx="1955488" cy="91430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F5E4A-5DD0-8C82-1E31-78017908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9042" y="6284866"/>
            <a:ext cx="672323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06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365126"/>
            <a:ext cx="12618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1825625"/>
            <a:ext cx="126187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6356351"/>
            <a:ext cx="4937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8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668" r:id="rId14"/>
    <p:sldLayoutId id="2147483662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BC74D01-02AC-40DE-89FB-F02D0CE3F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7438" y="2103198"/>
            <a:ext cx="10374075" cy="1479552"/>
          </a:xfrm>
        </p:spPr>
        <p:txBody>
          <a:bodyPr>
            <a:normAutofit/>
          </a:bodyPr>
          <a:lstStyle/>
          <a:p>
            <a:pPr lvl="0"/>
            <a:r>
              <a:rPr lang="en-US" altLang="zh-CN" sz="6000" b="1" dirty="0"/>
              <a:t>260509 Meeting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F33473-6FC5-481D-AF7A-136DBDC0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7435" y="3780248"/>
            <a:ext cx="5104733" cy="29707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Dylan Junluo CHEN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7D012C-6AD2-43C7-8A11-57F4111F59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77435" y="4090677"/>
            <a:ext cx="5104733" cy="297070"/>
          </a:xfrm>
        </p:spPr>
        <p:txBody>
          <a:bodyPr/>
          <a:lstStyle/>
          <a:p>
            <a:r>
              <a:rPr lang="en-US" altLang="zh-CN" dirty="0"/>
              <a:t>Supervisor: Ben LIU &amp; Xin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85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764C-E9BD-6BA6-160D-979CE5DA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9747D-6D8E-0190-463D-960F54C7BB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AEEC6F-59BA-0FBB-4F2F-505BB9666E25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928889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CN" sz="1500" dirty="0"/>
              <a:t>competition</a:t>
            </a:r>
            <a:r>
              <a:rPr lang="zh-CN" altLang="en-US" sz="1500" dirty="0"/>
              <a:t> </a:t>
            </a:r>
            <a:r>
              <a:rPr lang="en-US" altLang="zh-CN" sz="1500" dirty="0"/>
              <a:t>logic</a:t>
            </a:r>
            <a:r>
              <a:rPr lang="zh-CN" altLang="en-US" sz="1500" dirty="0"/>
              <a:t> </a:t>
            </a:r>
            <a:r>
              <a:rPr lang="en-US" altLang="zh-CN" sz="1500" dirty="0"/>
              <a:t>results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 err="1">
                <a:ea typeface="微软雅黑" panose="020B0503020204020204" pitchFamily="34" charset="-122"/>
                <a:cs typeface="+mn-cs"/>
              </a:rPr>
              <a:t>answerNum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&amp;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timeliness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innovation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interaction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results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exploration</a:t>
            </a:r>
            <a:endParaRPr lang="en-US" altLang="en-US" sz="1500" dirty="0"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02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66BA-FF90-440B-16CF-AC7A4367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657462-BB33-A5D4-AF61-D17A61A612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 err="1"/>
              <a:t>answerNum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timeliness (interaction with quality(</a:t>
            </a:r>
            <a:r>
              <a:rPr lang="en-US" altLang="zh-CN" dirty="0" err="1"/>
              <a:t>fillna</a:t>
            </a:r>
            <a:r>
              <a:rPr lang="en-US" altLang="zh-CN" dirty="0"/>
              <a:t>))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572483-9538-D152-3377-9506CAAEB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561822"/>
              </p:ext>
            </p:extLst>
          </p:nvPr>
        </p:nvGraphicFramePr>
        <p:xfrm>
          <a:off x="1677569" y="1230176"/>
          <a:ext cx="11052911" cy="376638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231674">
                  <a:extLst>
                    <a:ext uri="{9D8B030D-6E8A-4147-A177-3AD203B41FA5}">
                      <a16:colId xmlns:a16="http://schemas.microsoft.com/office/drawing/2014/main" val="978875921"/>
                    </a:ext>
                  </a:extLst>
                </a:gridCol>
                <a:gridCol w="1711645">
                  <a:extLst>
                    <a:ext uri="{9D8B030D-6E8A-4147-A177-3AD203B41FA5}">
                      <a16:colId xmlns:a16="http://schemas.microsoft.com/office/drawing/2014/main" val="3752669367"/>
                    </a:ext>
                  </a:extLst>
                </a:gridCol>
                <a:gridCol w="1688428">
                  <a:extLst>
                    <a:ext uri="{9D8B030D-6E8A-4147-A177-3AD203B41FA5}">
                      <a16:colId xmlns:a16="http://schemas.microsoft.com/office/drawing/2014/main" val="2453766552"/>
                    </a:ext>
                  </a:extLst>
                </a:gridCol>
                <a:gridCol w="2210582">
                  <a:extLst>
                    <a:ext uri="{9D8B030D-6E8A-4147-A177-3AD203B41FA5}">
                      <a16:colId xmlns:a16="http://schemas.microsoft.com/office/drawing/2014/main" val="3858272777"/>
                    </a:ext>
                  </a:extLst>
                </a:gridCol>
                <a:gridCol w="2210582">
                  <a:extLst>
                    <a:ext uri="{9D8B030D-6E8A-4147-A177-3AD203B41FA5}">
                      <a16:colId xmlns:a16="http://schemas.microsoft.com/office/drawing/2014/main" val="3085101977"/>
                    </a:ext>
                  </a:extLst>
                </a:gridCol>
              </a:tblGrid>
              <a:tr h="24850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DV: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#answers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DV: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#answers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DV: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answer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event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DV: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answer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event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875346094"/>
                  </a:ext>
                </a:extLst>
              </a:tr>
              <a:tr h="4292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OLS: No Interaction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OLS: With Interaction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Cox: No Interaction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Cox: With Interaction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994545380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treatment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-0.046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0.188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-0.145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1.126</a:t>
                      </a:r>
                      <a:r>
                        <a:rPr lang="en-US" sz="1800" baseline="300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185221226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(0.011)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(0.080)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(0.042)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(0.303)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4052825184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treatment:</a:t>
                      </a:r>
                      <a:r>
                        <a:rPr lang="en-US" altLang="zh-CN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AILength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altLang="zh-CN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fillna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-0.046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-0.230</a:t>
                      </a:r>
                      <a:r>
                        <a:rPr lang="en-US" sz="1800" baseline="300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733555031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(0.014)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(0.054)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489769280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treatment:</a:t>
                      </a:r>
                      <a:r>
                        <a:rPr lang="en-US" altLang="zh-CN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quality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fillna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697641699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(0.004)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(0.019)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946786354"/>
                  </a:ext>
                </a:extLst>
              </a:tr>
              <a:tr h="3259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98403954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410470575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678747543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3347819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1D8E49A-21AE-B53C-76E3-571F09A42DB4}"/>
              </a:ext>
            </a:extLst>
          </p:cNvPr>
          <p:cNvSpPr txBox="1"/>
          <p:nvPr/>
        </p:nvSpPr>
        <p:spPr>
          <a:xfrm>
            <a:off x="9168712" y="6224954"/>
            <a:ext cx="5461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Reason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no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interaction: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 err="1">
                <a:solidFill>
                  <a:srgbClr val="FF0000"/>
                </a:solidFill>
              </a:rPr>
              <a:t>treatment:AIquality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fillna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treatment</a:t>
            </a:r>
            <a:r>
              <a:rPr lang="zh-CN" altLang="en-US" dirty="0">
                <a:solidFill>
                  <a:srgbClr val="FF0000"/>
                </a:solidFill>
              </a:rPr>
              <a:t> *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AIquality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fillna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40F34D-0C63-8E82-DE5C-E8A20DDDE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08" y="4157424"/>
            <a:ext cx="13376951" cy="179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53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2BF1-E83C-E91F-07F2-04A650B8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857EF-E714-DA2D-6D45-E057ED7551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3FE39E-FC48-4DF6-2D73-88A942E7CC6B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810490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CN" sz="1500" dirty="0">
                <a:cs typeface="Times New Roman" panose="02020603050405020304" pitchFamily="18" charset="0"/>
              </a:rPr>
              <a:t>competition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logic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results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ea typeface="微软雅黑" panose="020B0503020204020204" pitchFamily="34" charset="-122"/>
              </a:rPr>
              <a:t>answerNum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&amp;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timeliness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endParaRPr lang="en-US" altLang="zh-CN" sz="1500" dirty="0">
              <a:ea typeface="微软雅黑" panose="020B0503020204020204" pitchFamily="34" charset="-122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innovation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TW" sz="1600" b="1" dirty="0"/>
              <a:t>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AI" vs 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Human"</a:t>
            </a:r>
          </a:p>
          <a:p>
            <a:pPr lvl="2" defTabSz="914327">
              <a:lnSpc>
                <a:spcPct val="120000"/>
              </a:lnSpc>
            </a:pPr>
            <a:r>
              <a:rPr lang="en-US" sz="1600" b="1" dirty="0"/>
              <a:t>AI </a:t>
            </a:r>
            <a:r>
              <a:rPr lang="zh-TW" altLang="en-US" sz="1600" b="1" dirty="0"/>
              <a:t>在场如何影响 </a:t>
            </a:r>
            <a:r>
              <a:rPr lang="en-US" sz="1600" b="1" dirty="0"/>
              <a:t>Human2 vs Human1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0CA8E-E766-43C4-3339-C759CADDAB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599" b="61121"/>
          <a:stretch>
            <a:fillRect/>
          </a:stretch>
        </p:blipFill>
        <p:spPr bwMode="auto">
          <a:xfrm>
            <a:off x="5714429" y="3760037"/>
            <a:ext cx="7662706" cy="1627833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55E52-EE68-79EA-1E45-CC7E58023AE8}"/>
              </a:ext>
            </a:extLst>
          </p:cNvPr>
          <p:cNvSpPr txBox="1"/>
          <p:nvPr/>
        </p:nvSpPr>
        <p:spPr>
          <a:xfrm>
            <a:off x="8575698" y="35882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FC800-46BA-02A4-D050-2CA18CDC6F55}"/>
              </a:ext>
            </a:extLst>
          </p:cNvPr>
          <p:cNvSpPr txBox="1"/>
          <p:nvPr/>
        </p:nvSpPr>
        <p:spPr>
          <a:xfrm>
            <a:off x="9886589" y="43892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E1413-608B-7EE9-7F54-C9A84E2B17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1320" r="-5862"/>
          <a:stretch>
            <a:fillRect/>
          </a:stretch>
        </p:blipFill>
        <p:spPr bwMode="auto">
          <a:xfrm>
            <a:off x="5894463" y="5387870"/>
            <a:ext cx="7984253" cy="120079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24079D-40FA-B5FB-898D-8FDCAE5EB4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82"/>
          <a:stretch>
            <a:fillRect/>
          </a:stretch>
        </p:blipFill>
        <p:spPr bwMode="auto">
          <a:xfrm>
            <a:off x="5714429" y="269335"/>
            <a:ext cx="7542125" cy="299440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47B1F4-F77A-3873-5FFF-54339CB5910C}"/>
              </a:ext>
            </a:extLst>
          </p:cNvPr>
          <p:cNvSpPr txBox="1"/>
          <p:nvPr/>
        </p:nvSpPr>
        <p:spPr>
          <a:xfrm>
            <a:off x="8525456" y="1100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10560E-442F-8A53-53EC-EB9D374F311E}"/>
              </a:ext>
            </a:extLst>
          </p:cNvPr>
          <p:cNvSpPr txBox="1"/>
          <p:nvPr/>
        </p:nvSpPr>
        <p:spPr>
          <a:xfrm>
            <a:off x="8525456" y="9110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302602-3E9B-AB3F-B486-634E32545F3C}"/>
              </a:ext>
            </a:extLst>
          </p:cNvPr>
          <p:cNvCxnSpPr/>
          <p:nvPr/>
        </p:nvCxnSpPr>
        <p:spPr>
          <a:xfrm flipV="1">
            <a:off x="4696691" y="1475509"/>
            <a:ext cx="852054" cy="997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AC6D23-55E4-FCB4-B5F0-47F025F9FA80}"/>
              </a:ext>
            </a:extLst>
          </p:cNvPr>
          <p:cNvCxnSpPr>
            <a:cxnSpLocks/>
          </p:cNvCxnSpPr>
          <p:nvPr/>
        </p:nvCxnSpPr>
        <p:spPr>
          <a:xfrm>
            <a:off x="4696691" y="3034145"/>
            <a:ext cx="852054" cy="1724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09C8ABC-A99D-E116-B4BB-9D5B3EEF92DC}"/>
              </a:ext>
            </a:extLst>
          </p:cNvPr>
          <p:cNvSpPr txBox="1"/>
          <p:nvPr/>
        </p:nvSpPr>
        <p:spPr>
          <a:xfrm>
            <a:off x="603315" y="5526602"/>
            <a:ext cx="28437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DV:</a:t>
            </a:r>
            <a:r>
              <a:rPr lang="zh-CN" altLang="en-US" dirty="0"/>
              <a:t> </a:t>
            </a:r>
            <a:r>
              <a:rPr lang="en-US" altLang="zh-CN" dirty="0"/>
              <a:t>2ndAnsInnovation</a:t>
            </a:r>
          </a:p>
          <a:p>
            <a:r>
              <a:rPr lang="en-US" altLang="zh-CN" dirty="0"/>
              <a:t>IV:</a:t>
            </a:r>
            <a:r>
              <a:rPr lang="zh-CN" altLang="en-US" dirty="0"/>
              <a:t> </a:t>
            </a:r>
            <a:r>
              <a:rPr lang="en-US" altLang="zh-CN" dirty="0" err="1"/>
              <a:t>firstAnsSimWithAccept</a:t>
            </a:r>
            <a:endParaRPr lang="en-US" altLang="zh-CN" dirty="0"/>
          </a:p>
          <a:p>
            <a:r>
              <a:rPr lang="en-US" altLang="zh-CN" dirty="0"/>
              <a:t>Sample: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B5F276-DED0-11D9-36C3-28AA87DDB670}"/>
              </a:ext>
            </a:extLst>
          </p:cNvPr>
          <p:cNvSpPr txBox="1"/>
          <p:nvPr/>
        </p:nvSpPr>
        <p:spPr>
          <a:xfrm>
            <a:off x="3926214" y="6080600"/>
            <a:ext cx="306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Alternative</a:t>
            </a:r>
            <a:r>
              <a:rPr lang="zh-CN" altLang="en-US" dirty="0"/>
              <a:t> </a:t>
            </a:r>
            <a:r>
              <a:rPr lang="en-US" altLang="zh-CN" dirty="0"/>
              <a:t>become</a:t>
            </a:r>
            <a:r>
              <a:rPr lang="zh-CN" altLang="en-US" dirty="0"/>
              <a:t> </a:t>
            </a:r>
            <a:r>
              <a:rPr lang="en-US" altLang="zh-CN" dirty="0"/>
              <a:t>Column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05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B93C4-1883-FEE9-4025-A084F5837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4B4A91-D2B7-BE94-2D3E-257792D83E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9437F8-BB74-3F0C-6F21-9C755CA01B84}"/>
              </a:ext>
            </a:extLst>
          </p:cNvPr>
          <p:cNvGraphicFramePr>
            <a:graphicFrameLocks noGrp="1"/>
          </p:cNvGraphicFramePr>
          <p:nvPr/>
        </p:nvGraphicFramePr>
        <p:xfrm>
          <a:off x="7406261" y="2339692"/>
          <a:ext cx="6785229" cy="2970439"/>
        </p:xfrm>
        <a:graphic>
          <a:graphicData uri="http://schemas.openxmlformats.org/drawingml/2006/table">
            <a:tbl>
              <a:tblPr/>
              <a:tblGrid>
                <a:gridCol w="2261743">
                  <a:extLst>
                    <a:ext uri="{9D8B030D-6E8A-4147-A177-3AD203B41FA5}">
                      <a16:colId xmlns:a16="http://schemas.microsoft.com/office/drawing/2014/main" val="972055225"/>
                    </a:ext>
                  </a:extLst>
                </a:gridCol>
                <a:gridCol w="2261743">
                  <a:extLst>
                    <a:ext uri="{9D8B030D-6E8A-4147-A177-3AD203B41FA5}">
                      <a16:colId xmlns:a16="http://schemas.microsoft.com/office/drawing/2014/main" val="1956397290"/>
                    </a:ext>
                  </a:extLst>
                </a:gridCol>
                <a:gridCol w="2261743">
                  <a:extLst>
                    <a:ext uri="{9D8B030D-6E8A-4147-A177-3AD203B41FA5}">
                      <a16:colId xmlns:a16="http://schemas.microsoft.com/office/drawing/2014/main" val="2433444766"/>
                    </a:ext>
                  </a:extLst>
                </a:gridCol>
              </a:tblGrid>
              <a:tr h="5638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Variable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DV: human</a:t>
                      </a:r>
                      <a:r>
                        <a:rPr lang="en-US" sz="1400" baseline="-25000" dirty="0">
                          <a:effectLst/>
                        </a:rPr>
                        <a:t>1</a:t>
                      </a:r>
                      <a:r>
                        <a:rPr lang="en-US" sz="1400" dirty="0">
                          <a:effectLst/>
                        </a:rPr>
                        <a:t>–human</a:t>
                      </a:r>
                      <a:r>
                        <a:rPr lang="en-US" sz="1400" baseline="-25000" dirty="0">
                          <a:effectLst/>
                        </a:rPr>
                        <a:t>2</a:t>
                      </a:r>
                      <a:r>
                        <a:rPr lang="en-US" sz="1400" dirty="0">
                          <a:effectLst/>
                        </a:rPr>
                        <a:t> similarity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(Sentence-BERT)</a:t>
                      </a:r>
                      <a:endParaRPr lang="en-US" sz="14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</a:rPr>
                        <a:t>DV: deviation_score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(LLM-rated)</a:t>
                      </a: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75433"/>
                  </a:ext>
                </a:extLst>
              </a:tr>
              <a:tr h="33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49361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effectLst/>
                        </a:rPr>
                        <a:t>treatment (AI present)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-0.024*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1.106***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28443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(0.012)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(0.264)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132205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1,162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1,157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846181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Day-of-year FE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26335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Controls (question / asker)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3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F-stat (</a:t>
                      </a:r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</a:rPr>
                        <a:t>proj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. model)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2.154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3.151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29691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2BE1AB-93D3-1952-0902-BB1FCE42C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290743"/>
              </p:ext>
            </p:extLst>
          </p:nvPr>
        </p:nvGraphicFramePr>
        <p:xfrm>
          <a:off x="381000" y="2300438"/>
          <a:ext cx="6452937" cy="3063427"/>
        </p:xfrm>
        <a:graphic>
          <a:graphicData uri="http://schemas.openxmlformats.org/drawingml/2006/table">
            <a:tbl>
              <a:tblPr/>
              <a:tblGrid>
                <a:gridCol w="2150979">
                  <a:extLst>
                    <a:ext uri="{9D8B030D-6E8A-4147-A177-3AD203B41FA5}">
                      <a16:colId xmlns:a16="http://schemas.microsoft.com/office/drawing/2014/main" val="4044616951"/>
                    </a:ext>
                  </a:extLst>
                </a:gridCol>
                <a:gridCol w="2150979">
                  <a:extLst>
                    <a:ext uri="{9D8B030D-6E8A-4147-A177-3AD203B41FA5}">
                      <a16:colId xmlns:a16="http://schemas.microsoft.com/office/drawing/2014/main" val="1528930971"/>
                    </a:ext>
                  </a:extLst>
                </a:gridCol>
                <a:gridCol w="2150979">
                  <a:extLst>
                    <a:ext uri="{9D8B030D-6E8A-4147-A177-3AD203B41FA5}">
                      <a16:colId xmlns:a16="http://schemas.microsoft.com/office/drawing/2014/main" val="53805414"/>
                    </a:ext>
                  </a:extLst>
                </a:gridCol>
              </a:tblGrid>
              <a:tr h="603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effectLst/>
                        </a:rPr>
                        <a:t>Variable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DV: ans1–ans2 similarity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(Sentence-BERT)</a:t>
                      </a:r>
                      <a:endParaRPr lang="en-US" sz="14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DV: </a:t>
                      </a:r>
                      <a:r>
                        <a:rPr lang="en-US" sz="1400" dirty="0" err="1">
                          <a:effectLst/>
                        </a:rPr>
                        <a:t>deviation_score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(LLM-rated)</a:t>
                      </a:r>
                      <a:endParaRPr lang="en-US" sz="14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885396"/>
                  </a:ext>
                </a:extLst>
              </a:tr>
              <a:tr h="33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154954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treatment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(AI as first answerer)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0.029**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1.225***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444610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(0.009)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(0.214)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555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1,913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1,904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10629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Day-of-year FE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247373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Controls (question / asker)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39276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F-stat (</a:t>
                      </a:r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</a:rPr>
                        <a:t>proj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. model)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3.218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2.972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1594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FC3ED5-F2EB-8FFA-1568-262D5B3B0843}"/>
              </a:ext>
            </a:extLst>
          </p:cNvPr>
          <p:cNvSpPr txBox="1"/>
          <p:nvPr/>
        </p:nvSpPr>
        <p:spPr>
          <a:xfrm>
            <a:off x="2348564" y="5842535"/>
            <a:ext cx="253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Interact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quality1Ans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26313-B7CF-008F-EEE3-568C9913870B}"/>
              </a:ext>
            </a:extLst>
          </p:cNvPr>
          <p:cNvSpPr txBox="1"/>
          <p:nvPr/>
        </p:nvSpPr>
        <p:spPr>
          <a:xfrm>
            <a:off x="9296400" y="5842535"/>
            <a:ext cx="28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Interact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 err="1"/>
              <a:t>qualityAI_fillna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196048-287E-4029-CF88-22A5E41EE000}"/>
              </a:ext>
            </a:extLst>
          </p:cNvPr>
          <p:cNvSpPr txBox="1">
            <a:spLocks/>
          </p:cNvSpPr>
          <p:nvPr/>
        </p:nvSpPr>
        <p:spPr>
          <a:xfrm>
            <a:off x="7406261" y="1561104"/>
            <a:ext cx="6293177" cy="518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en-US" sz="1400" dirty="0">
                <a:solidFill>
                  <a:srgbClr val="FF0000"/>
                </a:solidFill>
              </a:rPr>
              <a:t>AI </a:t>
            </a:r>
            <a:r>
              <a:rPr lang="zh-TW" altLang="en-US" sz="1400" dirty="0">
                <a:solidFill>
                  <a:srgbClr val="FF0000"/>
                </a:solidFill>
              </a:rPr>
              <a:t>在场如何影响 </a:t>
            </a:r>
            <a:r>
              <a:rPr lang="en-US" altLang="en-US" sz="1400" dirty="0">
                <a:solidFill>
                  <a:srgbClr val="FF0000"/>
                </a:solidFill>
              </a:rPr>
              <a:t>Human2 vs Human1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CC0AC3-156E-3CF8-0D74-11E77E72EF1B}"/>
              </a:ext>
            </a:extLst>
          </p:cNvPr>
          <p:cNvSpPr txBox="1">
            <a:spLocks/>
          </p:cNvSpPr>
          <p:nvPr/>
        </p:nvSpPr>
        <p:spPr>
          <a:xfrm>
            <a:off x="381000" y="1561104"/>
            <a:ext cx="6293177" cy="598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TW" sz="1400" b="1" dirty="0">
                <a:solidFill>
                  <a:srgbClr val="FF0000"/>
                </a:solidFill>
              </a:rPr>
              <a:t>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AI" vs 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Human"</a:t>
            </a:r>
          </a:p>
          <a:p>
            <a:pPr lvl="1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7979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2B409C-E400-C887-BEA0-0A870F6668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80EF-94B0-4DA5-ED0B-769BF4396E6D}"/>
              </a:ext>
            </a:extLst>
          </p:cNvPr>
          <p:cNvSpPr txBox="1">
            <a:spLocks/>
          </p:cNvSpPr>
          <p:nvPr/>
        </p:nvSpPr>
        <p:spPr>
          <a:xfrm>
            <a:off x="7286245" y="2308022"/>
            <a:ext cx="3508787" cy="431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en-US" sz="1400" dirty="0">
                <a:solidFill>
                  <a:srgbClr val="FF0000"/>
                </a:solidFill>
              </a:rPr>
              <a:t>AI </a:t>
            </a:r>
            <a:r>
              <a:rPr lang="zh-TW" altLang="en-US" sz="1400" dirty="0">
                <a:solidFill>
                  <a:srgbClr val="FF0000"/>
                </a:solidFill>
              </a:rPr>
              <a:t>在场如何影响 </a:t>
            </a:r>
            <a:r>
              <a:rPr lang="en-US" altLang="en-US" sz="1400" dirty="0">
                <a:solidFill>
                  <a:srgbClr val="FF0000"/>
                </a:solidFill>
              </a:rPr>
              <a:t>Human2 vs Human1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889994-7F48-8414-C5B3-65C06B43AD17}"/>
              </a:ext>
            </a:extLst>
          </p:cNvPr>
          <p:cNvSpPr txBox="1">
            <a:spLocks/>
          </p:cNvSpPr>
          <p:nvPr/>
        </p:nvSpPr>
        <p:spPr>
          <a:xfrm>
            <a:off x="3711341" y="2308022"/>
            <a:ext cx="3469105" cy="518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TW" sz="1400" b="1" dirty="0">
                <a:solidFill>
                  <a:srgbClr val="FF0000"/>
                </a:solidFill>
              </a:rPr>
              <a:t>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AI" vs 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Human"</a:t>
            </a:r>
          </a:p>
          <a:p>
            <a:pPr lvl="1"/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977475-D2F1-9442-2AFF-3A2FD362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673" y="2995997"/>
            <a:ext cx="77470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830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4BF3CD-4E76-0613-9F08-44E9DBFC9E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439" y="2779703"/>
            <a:ext cx="13810490" cy="718820"/>
          </a:xfrm>
        </p:spPr>
        <p:txBody>
          <a:bodyPr/>
          <a:lstStyle/>
          <a:p>
            <a:pPr algn="ctr"/>
            <a:r>
              <a:rPr lang="en-US" altLang="zh-CN" dirty="0"/>
              <a:t>Mark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14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F813-3AC2-EDC0-86E7-B873DEF8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262CBA-7D3E-5590-BD0D-7F93C2487C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DV</a:t>
            </a:r>
            <a:r>
              <a:rPr lang="zh-CN" altLang="en-US" dirty="0"/>
              <a:t> </a:t>
            </a:r>
            <a:r>
              <a:rPr lang="en-US" altLang="zh-CN" dirty="0"/>
              <a:t>continuous,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sample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1268A-283B-DD5A-4C74-ABFA1B1D7FCF}"/>
              </a:ext>
            </a:extLst>
          </p:cNvPr>
          <p:cNvSpPr txBox="1"/>
          <p:nvPr/>
        </p:nvSpPr>
        <p:spPr>
          <a:xfrm>
            <a:off x="1007806" y="1443841"/>
            <a:ext cx="126147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experience_m2               insight_m2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                             -0.020         -0.846 **    -0.001      -1.074 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(0.041)        (0.276)      (0.055)     (0.459)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log_textLengthCNAI_fillna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0.115 *                  0.154 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(0.049)                  (0.082)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qualityAI_fillna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0.025                    0.029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(0.015)                  (0.023)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treatment:log_textLengthCNAI_fillna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treatment:qualityAI_fillna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Num. obs.                            2729           2728         2729        2728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statistic (full model)                1.501          1.531        1.939       1.960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(full model): p-value                 0.000          0.000        0.000       0.000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statistic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model)                2.842          2.809        4.420       4.135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model): p-value                 0.000          0.000        0.000       0.000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*** p &lt; 0.001; ** p &lt; 0.01; * p &lt; 0.05; . p &lt; 0.1</a:t>
            </a:r>
          </a:p>
        </p:txBody>
      </p:sp>
    </p:spTree>
    <p:extLst>
      <p:ext uri="{BB962C8B-B14F-4D97-AF65-F5344CB8AC3E}">
        <p14:creationId xmlns:p14="http://schemas.microsoft.com/office/powerpoint/2010/main" val="1814867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171BD5-DA25-B45B-A6FF-86869E3E09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DV</a:t>
            </a:r>
            <a:r>
              <a:rPr lang="zh-CN" altLang="en-US" dirty="0"/>
              <a:t> </a:t>
            </a:r>
            <a:r>
              <a:rPr lang="en-US" altLang="zh-CN" dirty="0"/>
              <a:t>continuous,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sample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57A78-D67F-E98D-52AC-6FDFF3BBF1A1}"/>
              </a:ext>
            </a:extLst>
          </p:cNvPr>
          <p:cNvSpPr txBox="1"/>
          <p:nvPr/>
        </p:nvSpPr>
        <p:spPr>
          <a:xfrm>
            <a:off x="1317523" y="1598971"/>
            <a:ext cx="1261478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=====================================================================================================================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experience_m2                insight_m2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---------------------------------------------------------------------------------------------------------------------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                              0.003         -0.993 ***     0.042      -1.300 ***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(0.033)        (0.214)       (0.043)     (0.334)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log_textLengthCNAI_fillna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0.139 ***                 0.184 **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(0.038)                   (0.059)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qualityAI_fillna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0.030 *                   0.042 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(0.012)                   (0.018)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treatment:log_textLengthCNAI_fillna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                             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treatment:qualityAI_fillna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---------------------------------------------------------------------------------------------------------------------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Num. obs.                            4634           4633          4634        4633          4634            4633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statistic (full model)                1.754          1.842         2.576       2.666         2.277           2.257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(full model): p-value                 0.000          0.000         0.000       0.000         0.000           0.000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statistic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model)                3.985          4.090         7.900       7.440         6.225           5.660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model): p-value                 0.000          0.000         0.000       0.000         0.000           0.000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=====================================================================================================================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*** p &lt; 0.001; ** p &lt; 0.01; * p &lt; 0.05; . p &lt; 0.1</a:t>
            </a:r>
          </a:p>
        </p:txBody>
      </p:sp>
    </p:spTree>
    <p:extLst>
      <p:ext uri="{BB962C8B-B14F-4D97-AF65-F5344CB8AC3E}">
        <p14:creationId xmlns:p14="http://schemas.microsoft.com/office/powerpoint/2010/main" val="3425166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F116-19A0-2D55-5E21-1ABE579A7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A8B9D9-A8AB-9C86-BBC5-652351D88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178874-9EA5-254C-71E0-6728BB420BD5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6293177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“</a:t>
            </a:r>
            <a:r>
              <a:rPr lang="en-US" altLang="en-US" sz="1400" dirty="0" err="1">
                <a:solidFill>
                  <a:srgbClr val="FF0000"/>
                </a:solidFill>
              </a:rPr>
              <a:t>四个圆圈</a:t>
            </a:r>
            <a:r>
              <a:rPr lang="zh-CN" altLang="en-US" sz="1400" dirty="0">
                <a:solidFill>
                  <a:srgbClr val="FF0000"/>
                </a:solidFill>
              </a:rPr>
              <a:t>”</a:t>
            </a:r>
            <a:endParaRPr lang="en-US" altLang="en-US" sz="1400" dirty="0">
              <a:solidFill>
                <a:srgbClr val="FF0000"/>
              </a:solidFill>
            </a:endParaRPr>
          </a:p>
          <a:p>
            <a:pPr lvl="1"/>
            <a:endParaRPr lang="en-US" altLang="zh-CN" sz="1200" dirty="0"/>
          </a:p>
          <a:p>
            <a:pPr lvl="1"/>
            <a:endParaRPr lang="en-US" altLang="zh-CN" sz="1200" dirty="0"/>
          </a:p>
          <a:p>
            <a:pPr marL="252000" lvl="1" indent="0">
              <a:buNone/>
            </a:pPr>
            <a:endParaRPr lang="en-US" altLang="zh-CN" sz="1200" dirty="0"/>
          </a:p>
          <a:p>
            <a:pPr lvl="1"/>
            <a:endParaRPr lang="en-US" altLang="zh-CN" sz="1200" dirty="0"/>
          </a:p>
          <a:p>
            <a:r>
              <a:rPr lang="en-US" altLang="zh-CN" sz="1400" dirty="0"/>
              <a:t>Results</a:t>
            </a:r>
            <a:endParaRPr lang="en-US" altLang="en-US" sz="1400" dirty="0"/>
          </a:p>
          <a:p>
            <a:pPr lvl="1" algn="l"/>
            <a:r>
              <a:rPr lang="en-US" sz="1200" dirty="0"/>
              <a:t>AI </a:t>
            </a:r>
            <a:r>
              <a:rPr lang="zh-TW" altLang="en-US" sz="1200" dirty="0"/>
              <a:t>的存在让</a:t>
            </a:r>
            <a:endParaRPr lang="en-US" altLang="zh-TW" sz="1200" dirty="0"/>
          </a:p>
          <a:p>
            <a:pPr lvl="2" algn="l"/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的内容都向 </a:t>
            </a:r>
            <a:r>
              <a:rPr lang="en-US" sz="1200" dirty="0"/>
              <a:t>AI </a:t>
            </a:r>
            <a:r>
              <a:rPr lang="zh-TW" altLang="en-US" sz="1200" dirty="0"/>
              <a:t>靠拢（</a:t>
            </a:r>
            <a:r>
              <a:rPr lang="en-US" sz="1200" dirty="0"/>
              <a:t>c</a:t>
            </a:r>
            <a:r>
              <a:rPr lang="zh-CN" altLang="en-US" sz="1200" dirty="0"/>
              <a:t> </a:t>
            </a:r>
            <a:r>
              <a:rPr lang="en-US" altLang="zh-CN" sz="1200" dirty="0"/>
              <a:t>=</a:t>
            </a:r>
            <a:r>
              <a:rPr lang="zh-CN" altLang="en-US" sz="1200" dirty="0"/>
              <a:t> </a:t>
            </a:r>
            <a:r>
              <a:rPr lang="en-US" sz="1200" dirty="0"/>
              <a:t>d &gt; a）</a:t>
            </a:r>
            <a:br>
              <a:rPr lang="en-US" sz="1200" dirty="0"/>
            </a:br>
            <a:r>
              <a:rPr lang="en-US" altLang="zh-CN" sz="1200" dirty="0"/>
              <a:t>——</a:t>
            </a:r>
            <a:r>
              <a:rPr lang="zh-TW" altLang="en-US" sz="1200" dirty="0"/>
              <a:t>一句话总结：</a:t>
            </a:r>
            <a:r>
              <a:rPr lang="en-US" altLang="en-US" sz="1200" dirty="0"/>
              <a:t>AI </a:t>
            </a:r>
            <a:r>
              <a:rPr lang="zh-TW" altLang="en-US" sz="1200" dirty="0"/>
              <a:t>充当了</a:t>
            </a:r>
            <a:r>
              <a:rPr lang="en-US" altLang="zh-TW" sz="1200" dirty="0"/>
              <a:t>”</a:t>
            </a:r>
            <a:r>
              <a:rPr lang="zh-TW" altLang="en-US" sz="1200" dirty="0"/>
              <a:t>词汇锚 </a:t>
            </a:r>
            <a:r>
              <a:rPr lang="en-US" altLang="zh-TW" sz="1200" dirty="0"/>
              <a:t>+ </a:t>
            </a:r>
            <a:r>
              <a:rPr lang="zh-TW" altLang="en-US" sz="1200" dirty="0"/>
              <a:t>路径占位者</a:t>
            </a:r>
            <a:r>
              <a:rPr lang="en-US" altLang="zh-TW" sz="1200" dirty="0"/>
              <a:t>”</a:t>
            </a:r>
            <a:br>
              <a:rPr lang="en-US" altLang="zh-TW" sz="1200" dirty="0"/>
            </a:br>
            <a:r>
              <a:rPr lang="en-US" altLang="zh-TW" sz="1200" dirty="0"/>
              <a:t>——</a:t>
            </a:r>
            <a:r>
              <a:rPr lang="zh-TW" altLang="en-US" sz="1200" dirty="0"/>
              <a:t>它把后续人类锁进自己的语言体系，同时把人类挤出自己的解决路径。</a:t>
            </a:r>
          </a:p>
          <a:p>
            <a:pPr marL="491400" lvl="2" indent="0" algn="l">
              <a:buNone/>
            </a:pPr>
            <a:endParaRPr lang="en-US" altLang="zh-TW" sz="1200" dirty="0"/>
          </a:p>
          <a:p>
            <a:pPr lvl="2" algn="l"/>
            <a:r>
              <a:rPr lang="zh-TW" altLang="en-US" sz="1200" dirty="0"/>
              <a:t>但 </a:t>
            </a:r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彼此之间更分化（</a:t>
            </a:r>
            <a:r>
              <a:rPr lang="en-US" sz="1200" dirty="0"/>
              <a:t>b &lt; a）</a:t>
            </a:r>
          </a:p>
          <a:p>
            <a:pPr lvl="2" algn="l"/>
            <a:r>
              <a:rPr lang="en-US" altLang="zh-CN" sz="1200" dirty="0"/>
              <a:t>——</a:t>
            </a:r>
            <a:r>
              <a:rPr lang="zh-TW" altLang="en-US" sz="1200" dirty="0"/>
              <a:t>每个人都试图找一个</a:t>
            </a:r>
            <a:r>
              <a:rPr lang="en-US" altLang="zh-TW" sz="1200" dirty="0"/>
              <a:t>"</a:t>
            </a:r>
            <a:r>
              <a:rPr lang="en-US" altLang="en-US" sz="1200" dirty="0"/>
              <a:t>AI </a:t>
            </a:r>
            <a:r>
              <a:rPr lang="zh-TW" altLang="en-US" sz="1200" dirty="0"/>
              <a:t>没覆盖到的角度</a:t>
            </a:r>
            <a:r>
              <a:rPr lang="en-US" altLang="zh-TW" sz="1200" dirty="0"/>
              <a:t>"</a:t>
            </a:r>
            <a:r>
              <a:rPr lang="zh-TW" altLang="en-US" sz="1200" dirty="0"/>
              <a:t>来证明自己出现的价值；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7613D7-D749-92FC-E473-1BF8BC498CCD}"/>
              </a:ext>
            </a:extLst>
          </p:cNvPr>
          <p:cNvCxnSpPr>
            <a:cxnSpLocks/>
          </p:cNvCxnSpPr>
          <p:nvPr/>
        </p:nvCxnSpPr>
        <p:spPr>
          <a:xfrm>
            <a:off x="7627917" y="3390902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03315A-813E-31A9-2FB8-C407B5E2E898}"/>
              </a:ext>
            </a:extLst>
          </p:cNvPr>
          <p:cNvCxnSpPr>
            <a:cxnSpLocks/>
          </p:cNvCxnSpPr>
          <p:nvPr/>
        </p:nvCxnSpPr>
        <p:spPr>
          <a:xfrm flipV="1">
            <a:off x="7780317" y="715435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76BFDD-BF55-4B42-5E84-55F950FB853B}"/>
              </a:ext>
            </a:extLst>
          </p:cNvPr>
          <p:cNvSpPr txBox="1"/>
          <p:nvPr/>
        </p:nvSpPr>
        <p:spPr>
          <a:xfrm>
            <a:off x="7932718" y="1493337"/>
            <a:ext cx="117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treatment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B6481-6F36-4CB7-9595-5775938B14A4}"/>
              </a:ext>
            </a:extLst>
          </p:cNvPr>
          <p:cNvSpPr txBox="1"/>
          <p:nvPr/>
        </p:nvSpPr>
        <p:spPr>
          <a:xfrm>
            <a:off x="7932718" y="2493435"/>
            <a:ext cx="89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control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1ACC15-D0B0-D390-9DE8-77544AE01DA9}"/>
              </a:ext>
            </a:extLst>
          </p:cNvPr>
          <p:cNvSpPr txBox="1"/>
          <p:nvPr/>
        </p:nvSpPr>
        <p:spPr>
          <a:xfrm>
            <a:off x="9745352" y="1493337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773CE0-DF90-3B1A-BA2D-64F4D5B83DCA}"/>
              </a:ext>
            </a:extLst>
          </p:cNvPr>
          <p:cNvSpPr txBox="1"/>
          <p:nvPr/>
        </p:nvSpPr>
        <p:spPr>
          <a:xfrm>
            <a:off x="10659752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74910-99B1-03AD-B91B-80DE92537461}"/>
              </a:ext>
            </a:extLst>
          </p:cNvPr>
          <p:cNvSpPr txBox="1"/>
          <p:nvPr/>
        </p:nvSpPr>
        <p:spPr>
          <a:xfrm>
            <a:off x="12118144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6B5E99-80B8-B916-4F89-2D4ED9E56933}"/>
              </a:ext>
            </a:extLst>
          </p:cNvPr>
          <p:cNvSpPr txBox="1"/>
          <p:nvPr/>
        </p:nvSpPr>
        <p:spPr>
          <a:xfrm>
            <a:off x="10659752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8BD385-AF3B-6D53-79BA-3D166E23A945}"/>
              </a:ext>
            </a:extLst>
          </p:cNvPr>
          <p:cNvSpPr txBox="1"/>
          <p:nvPr/>
        </p:nvSpPr>
        <p:spPr>
          <a:xfrm>
            <a:off x="12118144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6" name="Curved Up Arrow 15">
            <a:extLst>
              <a:ext uri="{FF2B5EF4-FFF2-40B4-BE49-F238E27FC236}">
                <a16:creationId xmlns:a16="http://schemas.microsoft.com/office/drawing/2014/main" id="{A71C3301-8413-0CE6-9233-4AE395AA42F2}"/>
              </a:ext>
            </a:extLst>
          </p:cNvPr>
          <p:cNvSpPr/>
          <p:nvPr/>
        </p:nvSpPr>
        <p:spPr>
          <a:xfrm flipV="1">
            <a:off x="9935469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Up Arrow 16">
            <a:extLst>
              <a:ext uri="{FF2B5EF4-FFF2-40B4-BE49-F238E27FC236}">
                <a16:creationId xmlns:a16="http://schemas.microsoft.com/office/drawing/2014/main" id="{5731449E-6630-1E70-F321-5FE3292A4712}"/>
              </a:ext>
            </a:extLst>
          </p:cNvPr>
          <p:cNvSpPr/>
          <p:nvPr/>
        </p:nvSpPr>
        <p:spPr>
          <a:xfrm flipV="1">
            <a:off x="11472753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Up Arrow 17">
            <a:extLst>
              <a:ext uri="{FF2B5EF4-FFF2-40B4-BE49-F238E27FC236}">
                <a16:creationId xmlns:a16="http://schemas.microsoft.com/office/drawing/2014/main" id="{C1013008-E7E9-9F73-9BBA-0466E7E89C5B}"/>
              </a:ext>
            </a:extLst>
          </p:cNvPr>
          <p:cNvSpPr/>
          <p:nvPr/>
        </p:nvSpPr>
        <p:spPr>
          <a:xfrm flipV="1">
            <a:off x="9935467" y="583223"/>
            <a:ext cx="2828065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Up Arrow 18">
            <a:extLst>
              <a:ext uri="{FF2B5EF4-FFF2-40B4-BE49-F238E27FC236}">
                <a16:creationId xmlns:a16="http://schemas.microsoft.com/office/drawing/2014/main" id="{5DE9C535-90B2-1A1E-940D-333F92A94CB4}"/>
              </a:ext>
            </a:extLst>
          </p:cNvPr>
          <p:cNvSpPr/>
          <p:nvPr/>
        </p:nvSpPr>
        <p:spPr>
          <a:xfrm flipV="1">
            <a:off x="11472753" y="2129368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F2FAAE-61E1-7C99-CA02-FD3E85DCB48A}"/>
              </a:ext>
            </a:extLst>
          </p:cNvPr>
          <p:cNvSpPr txBox="1"/>
          <p:nvPr/>
        </p:nvSpPr>
        <p:spPr>
          <a:xfrm>
            <a:off x="11964095" y="18574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1B3F8B-F41B-8DB8-060E-EF4CABC1C3D1}"/>
              </a:ext>
            </a:extLst>
          </p:cNvPr>
          <p:cNvSpPr txBox="1"/>
          <p:nvPr/>
        </p:nvSpPr>
        <p:spPr>
          <a:xfrm>
            <a:off x="11964095" y="76474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0B5AC8-A432-F1B8-330B-97DE8A1CC134}"/>
              </a:ext>
            </a:extLst>
          </p:cNvPr>
          <p:cNvSpPr txBox="1"/>
          <p:nvPr/>
        </p:nvSpPr>
        <p:spPr>
          <a:xfrm>
            <a:off x="10387893" y="7478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750859-DD32-7A6E-4BCB-F6A324A6AB73}"/>
              </a:ext>
            </a:extLst>
          </p:cNvPr>
          <p:cNvSpPr txBox="1"/>
          <p:nvPr/>
        </p:nvSpPr>
        <p:spPr>
          <a:xfrm>
            <a:off x="11240696" y="30988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029C44-DCE4-F2BF-3DE1-BCA6D49232E2}"/>
              </a:ext>
            </a:extLst>
          </p:cNvPr>
          <p:cNvCxnSpPr>
            <a:cxnSpLocks/>
          </p:cNvCxnSpPr>
          <p:nvPr/>
        </p:nvCxnSpPr>
        <p:spPr>
          <a:xfrm>
            <a:off x="7627917" y="6709839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F94F4F-826E-04C9-9628-A901833754FE}"/>
              </a:ext>
            </a:extLst>
          </p:cNvPr>
          <p:cNvCxnSpPr>
            <a:cxnSpLocks/>
          </p:cNvCxnSpPr>
          <p:nvPr/>
        </p:nvCxnSpPr>
        <p:spPr>
          <a:xfrm flipV="1">
            <a:off x="7828769" y="4113996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C51BE9F-4637-2744-20CC-23D92BC33A94}"/>
              </a:ext>
            </a:extLst>
          </p:cNvPr>
          <p:cNvSpPr txBox="1"/>
          <p:nvPr/>
        </p:nvSpPr>
        <p:spPr>
          <a:xfrm>
            <a:off x="7404977" y="3804736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Similarity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726D46-C8EE-955F-DD05-9B87E1B2BC5A}"/>
              </a:ext>
            </a:extLst>
          </p:cNvPr>
          <p:cNvCxnSpPr/>
          <p:nvPr/>
        </p:nvCxnSpPr>
        <p:spPr>
          <a:xfrm>
            <a:off x="8316065" y="5300137"/>
            <a:ext cx="38862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21B659A-0482-BDEB-B318-B70FB631938A}"/>
              </a:ext>
            </a:extLst>
          </p:cNvPr>
          <p:cNvSpPr txBox="1"/>
          <p:nvPr/>
        </p:nvSpPr>
        <p:spPr>
          <a:xfrm>
            <a:off x="12278605" y="51281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A5B865-72BC-6ED2-33F7-B47995F8DD4C}"/>
              </a:ext>
            </a:extLst>
          </p:cNvPr>
          <p:cNvCxnSpPr>
            <a:cxnSpLocks/>
          </p:cNvCxnSpPr>
          <p:nvPr/>
        </p:nvCxnSpPr>
        <p:spPr>
          <a:xfrm>
            <a:off x="10864532" y="6052069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BFEB5DC-8F84-90B9-3FCF-5800FD756FC1}"/>
              </a:ext>
            </a:extLst>
          </p:cNvPr>
          <p:cNvSpPr txBox="1"/>
          <p:nvPr/>
        </p:nvSpPr>
        <p:spPr>
          <a:xfrm>
            <a:off x="12291806" y="585470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306105-B530-992C-C3BC-E91338FF599A}"/>
              </a:ext>
            </a:extLst>
          </p:cNvPr>
          <p:cNvCxnSpPr>
            <a:cxnSpLocks/>
          </p:cNvCxnSpPr>
          <p:nvPr/>
        </p:nvCxnSpPr>
        <p:spPr>
          <a:xfrm>
            <a:off x="10858468" y="4307184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14B9CF2-24B7-9A55-CB31-25A86D1CF5B1}"/>
              </a:ext>
            </a:extLst>
          </p:cNvPr>
          <p:cNvSpPr txBox="1"/>
          <p:nvPr/>
        </p:nvSpPr>
        <p:spPr>
          <a:xfrm>
            <a:off x="12280530" y="411725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c=d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3900A9-9939-4D89-C08B-51E3C1A5C387}"/>
              </a:ext>
            </a:extLst>
          </p:cNvPr>
          <p:cNvSpPr txBox="1"/>
          <p:nvPr/>
        </p:nvSpPr>
        <p:spPr>
          <a:xfrm>
            <a:off x="10807624" y="449957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+0.029</a:t>
            </a:r>
            <a:r>
              <a:rPr lang="zh-CN" altLang="en-US" dirty="0"/>
              <a:t> **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7FEFA-FEFD-4351-9302-0DD65CB478FA}"/>
              </a:ext>
            </a:extLst>
          </p:cNvPr>
          <p:cNvSpPr txBox="1"/>
          <p:nvPr/>
        </p:nvSpPr>
        <p:spPr>
          <a:xfrm>
            <a:off x="10856543" y="544830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-0.024</a:t>
            </a:r>
            <a:r>
              <a:rPr lang="zh-CN" altLang="en-US" dirty="0"/>
              <a:t> 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5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5CA15-2FE2-B21D-C9F7-3E53B0729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4A5B8E-77A8-C8EA-7ED0-523DC68E2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8A6FD7-2C7D-3521-19BB-44D7C1023AFC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6293177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“</a:t>
            </a:r>
            <a:r>
              <a:rPr lang="en-US" altLang="en-US" sz="1400" dirty="0" err="1">
                <a:solidFill>
                  <a:srgbClr val="FF0000"/>
                </a:solidFill>
              </a:rPr>
              <a:t>四个圆圈</a:t>
            </a:r>
            <a:r>
              <a:rPr lang="zh-CN" altLang="en-US" sz="1400" dirty="0">
                <a:solidFill>
                  <a:srgbClr val="FF0000"/>
                </a:solidFill>
              </a:rPr>
              <a:t>”</a:t>
            </a:r>
            <a:endParaRPr lang="en-US" altLang="zh-CN" sz="1200" dirty="0"/>
          </a:p>
          <a:p>
            <a:r>
              <a:rPr lang="en-US" altLang="zh-CN" sz="1400" dirty="0"/>
              <a:t>Results</a:t>
            </a:r>
            <a:endParaRPr lang="en-US" altLang="en-US" sz="1400" dirty="0"/>
          </a:p>
          <a:p>
            <a:pPr lvl="1" algn="l"/>
            <a:r>
              <a:rPr lang="en-US" sz="1200" dirty="0"/>
              <a:t>AI </a:t>
            </a:r>
            <a:r>
              <a:rPr lang="zh-TW" altLang="en-US" sz="1200" dirty="0"/>
              <a:t>的存在让</a:t>
            </a:r>
            <a:endParaRPr lang="en-US" altLang="zh-TW" sz="1200" dirty="0"/>
          </a:p>
          <a:p>
            <a:pPr lvl="2" algn="l"/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的内容都向 </a:t>
            </a:r>
            <a:r>
              <a:rPr lang="en-US" sz="1200" dirty="0"/>
              <a:t>AI </a:t>
            </a:r>
            <a:r>
              <a:rPr lang="zh-TW" altLang="en-US" sz="1200" dirty="0"/>
              <a:t>靠拢（</a:t>
            </a:r>
            <a:r>
              <a:rPr lang="en-US" sz="1200" dirty="0"/>
              <a:t>c</a:t>
            </a:r>
            <a:r>
              <a:rPr lang="zh-CN" altLang="en-US" sz="1200" dirty="0"/>
              <a:t> </a:t>
            </a:r>
            <a:r>
              <a:rPr lang="en-US" altLang="zh-CN" sz="1200" dirty="0"/>
              <a:t>=</a:t>
            </a:r>
            <a:r>
              <a:rPr lang="zh-CN" altLang="en-US" sz="1200" dirty="0"/>
              <a:t> </a:t>
            </a:r>
            <a:r>
              <a:rPr lang="en-US" sz="1200" dirty="0"/>
              <a:t>d &gt; a）</a:t>
            </a:r>
            <a:br>
              <a:rPr lang="en-US" sz="1200" dirty="0"/>
            </a:br>
            <a:r>
              <a:rPr lang="en-US" altLang="zh-CN" sz="1200" dirty="0"/>
              <a:t>——</a:t>
            </a:r>
            <a:r>
              <a:rPr lang="zh-TW" altLang="en-US" sz="1200" dirty="0"/>
              <a:t>一句话总结：</a:t>
            </a:r>
            <a:r>
              <a:rPr lang="en-US" altLang="en-US" sz="1200" dirty="0"/>
              <a:t>AI </a:t>
            </a:r>
            <a:r>
              <a:rPr lang="zh-TW" altLang="en-US" sz="1200" dirty="0"/>
              <a:t>充当了</a:t>
            </a:r>
            <a:r>
              <a:rPr lang="en-US" altLang="zh-TW" sz="1200" dirty="0"/>
              <a:t>”</a:t>
            </a:r>
            <a:r>
              <a:rPr lang="zh-TW" altLang="en-US" sz="1200" dirty="0"/>
              <a:t>词汇锚 </a:t>
            </a:r>
            <a:r>
              <a:rPr lang="en-US" altLang="zh-TW" sz="1200" dirty="0"/>
              <a:t>+ </a:t>
            </a:r>
            <a:r>
              <a:rPr lang="zh-TW" altLang="en-US" sz="1200" dirty="0"/>
              <a:t>路径占位者</a:t>
            </a:r>
            <a:r>
              <a:rPr lang="en-US" altLang="zh-TW" sz="1200" dirty="0"/>
              <a:t>”</a:t>
            </a:r>
            <a:br>
              <a:rPr lang="en-US" altLang="zh-TW" sz="1200" dirty="0"/>
            </a:br>
            <a:r>
              <a:rPr lang="en-US" altLang="zh-TW" sz="1200" dirty="0"/>
              <a:t>——</a:t>
            </a:r>
            <a:r>
              <a:rPr lang="zh-TW" altLang="en-US" sz="1200" dirty="0"/>
              <a:t>它把后续人类锁进自己的语言体系，同时把人类挤出自己的解决路径。</a:t>
            </a:r>
          </a:p>
          <a:p>
            <a:pPr marL="491400" lvl="2" indent="0" algn="l">
              <a:buNone/>
            </a:pPr>
            <a:endParaRPr lang="en-US" altLang="zh-TW" sz="1200" dirty="0"/>
          </a:p>
          <a:p>
            <a:pPr lvl="2" algn="l"/>
            <a:r>
              <a:rPr lang="zh-TW" altLang="en-US" sz="1200" dirty="0"/>
              <a:t>但 </a:t>
            </a:r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彼此之间更分化（</a:t>
            </a:r>
            <a:r>
              <a:rPr lang="en-US" sz="1200" dirty="0"/>
              <a:t>b &lt; a）</a:t>
            </a:r>
          </a:p>
          <a:p>
            <a:pPr lvl="2" algn="l"/>
            <a:r>
              <a:rPr lang="en-US" altLang="zh-CN" sz="1200" dirty="0"/>
              <a:t>——</a:t>
            </a:r>
            <a:r>
              <a:rPr lang="zh-TW" altLang="en-US" sz="1200" dirty="0"/>
              <a:t>每个人都试图找一个</a:t>
            </a:r>
            <a:r>
              <a:rPr lang="en-US" altLang="zh-TW" sz="1200" dirty="0"/>
              <a:t>"</a:t>
            </a:r>
            <a:r>
              <a:rPr lang="en-US" altLang="en-US" sz="1200" dirty="0"/>
              <a:t>AI </a:t>
            </a:r>
            <a:r>
              <a:rPr lang="zh-TW" altLang="en-US" sz="1200" dirty="0"/>
              <a:t>没覆盖到的角度</a:t>
            </a:r>
            <a:r>
              <a:rPr lang="en-US" altLang="zh-TW" sz="1200" dirty="0"/>
              <a:t>"</a:t>
            </a:r>
            <a:r>
              <a:rPr lang="zh-TW" altLang="en-US" sz="1200" dirty="0"/>
              <a:t>来证明自己出现的价值；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C053A1-C618-06BE-3BFB-6CDC3C32EF60}"/>
              </a:ext>
            </a:extLst>
          </p:cNvPr>
          <p:cNvCxnSpPr>
            <a:cxnSpLocks/>
          </p:cNvCxnSpPr>
          <p:nvPr/>
        </p:nvCxnSpPr>
        <p:spPr>
          <a:xfrm>
            <a:off x="7627917" y="3390902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75A70A-5EB5-0C2F-63B6-B5E58DAFA1FF}"/>
              </a:ext>
            </a:extLst>
          </p:cNvPr>
          <p:cNvCxnSpPr>
            <a:cxnSpLocks/>
          </p:cNvCxnSpPr>
          <p:nvPr/>
        </p:nvCxnSpPr>
        <p:spPr>
          <a:xfrm flipV="1">
            <a:off x="7780317" y="715435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019744-4B86-8CD1-3898-3330EDD1601F}"/>
              </a:ext>
            </a:extLst>
          </p:cNvPr>
          <p:cNvSpPr txBox="1"/>
          <p:nvPr/>
        </p:nvSpPr>
        <p:spPr>
          <a:xfrm>
            <a:off x="7932718" y="1493337"/>
            <a:ext cx="117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treatment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CB11A-3F62-F82C-4AF8-B632BB468FDF}"/>
              </a:ext>
            </a:extLst>
          </p:cNvPr>
          <p:cNvSpPr txBox="1"/>
          <p:nvPr/>
        </p:nvSpPr>
        <p:spPr>
          <a:xfrm>
            <a:off x="7932718" y="2493435"/>
            <a:ext cx="89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control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A5F1E-0932-AA72-ED8D-ACE73CEBD6D6}"/>
              </a:ext>
            </a:extLst>
          </p:cNvPr>
          <p:cNvSpPr txBox="1"/>
          <p:nvPr/>
        </p:nvSpPr>
        <p:spPr>
          <a:xfrm>
            <a:off x="9745352" y="1493337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7EDE0B-FF6D-D04C-FBC4-02D1E01E932F}"/>
              </a:ext>
            </a:extLst>
          </p:cNvPr>
          <p:cNvSpPr txBox="1"/>
          <p:nvPr/>
        </p:nvSpPr>
        <p:spPr>
          <a:xfrm>
            <a:off x="10659752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388509-2936-FAC5-1A49-21F27E19D5C8}"/>
              </a:ext>
            </a:extLst>
          </p:cNvPr>
          <p:cNvSpPr txBox="1"/>
          <p:nvPr/>
        </p:nvSpPr>
        <p:spPr>
          <a:xfrm>
            <a:off x="12118144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34F36-3D82-CAC3-3E13-B86BA1BF57C0}"/>
              </a:ext>
            </a:extLst>
          </p:cNvPr>
          <p:cNvSpPr txBox="1"/>
          <p:nvPr/>
        </p:nvSpPr>
        <p:spPr>
          <a:xfrm>
            <a:off x="10659752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3B1242-22C0-B7DA-015C-660762BE9D0C}"/>
              </a:ext>
            </a:extLst>
          </p:cNvPr>
          <p:cNvSpPr txBox="1"/>
          <p:nvPr/>
        </p:nvSpPr>
        <p:spPr>
          <a:xfrm>
            <a:off x="12118144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6" name="Curved Up Arrow 15">
            <a:extLst>
              <a:ext uri="{FF2B5EF4-FFF2-40B4-BE49-F238E27FC236}">
                <a16:creationId xmlns:a16="http://schemas.microsoft.com/office/drawing/2014/main" id="{8CF0881A-FB5E-1815-3C04-251EB3AE97DF}"/>
              </a:ext>
            </a:extLst>
          </p:cNvPr>
          <p:cNvSpPr/>
          <p:nvPr/>
        </p:nvSpPr>
        <p:spPr>
          <a:xfrm flipV="1">
            <a:off x="9935469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Up Arrow 16">
            <a:extLst>
              <a:ext uri="{FF2B5EF4-FFF2-40B4-BE49-F238E27FC236}">
                <a16:creationId xmlns:a16="http://schemas.microsoft.com/office/drawing/2014/main" id="{7827C98E-403D-81EC-A4A2-60CD53F4EBBB}"/>
              </a:ext>
            </a:extLst>
          </p:cNvPr>
          <p:cNvSpPr/>
          <p:nvPr/>
        </p:nvSpPr>
        <p:spPr>
          <a:xfrm flipV="1">
            <a:off x="11472753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Up Arrow 17">
            <a:extLst>
              <a:ext uri="{FF2B5EF4-FFF2-40B4-BE49-F238E27FC236}">
                <a16:creationId xmlns:a16="http://schemas.microsoft.com/office/drawing/2014/main" id="{28E11F72-F05E-19E6-D9D1-A39278CF697F}"/>
              </a:ext>
            </a:extLst>
          </p:cNvPr>
          <p:cNvSpPr/>
          <p:nvPr/>
        </p:nvSpPr>
        <p:spPr>
          <a:xfrm flipV="1">
            <a:off x="9935467" y="583223"/>
            <a:ext cx="2828065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Up Arrow 18">
            <a:extLst>
              <a:ext uri="{FF2B5EF4-FFF2-40B4-BE49-F238E27FC236}">
                <a16:creationId xmlns:a16="http://schemas.microsoft.com/office/drawing/2014/main" id="{CACDC69D-9387-E1AE-0343-C7967F8715C6}"/>
              </a:ext>
            </a:extLst>
          </p:cNvPr>
          <p:cNvSpPr/>
          <p:nvPr/>
        </p:nvSpPr>
        <p:spPr>
          <a:xfrm flipV="1">
            <a:off x="11472753" y="2129368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7B0DA9-5E07-9805-9C6D-BFA73318ADD8}"/>
              </a:ext>
            </a:extLst>
          </p:cNvPr>
          <p:cNvSpPr txBox="1"/>
          <p:nvPr/>
        </p:nvSpPr>
        <p:spPr>
          <a:xfrm>
            <a:off x="11964095" y="18574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FD280E-A461-B9E2-CEF7-302357F0107E}"/>
              </a:ext>
            </a:extLst>
          </p:cNvPr>
          <p:cNvSpPr txBox="1"/>
          <p:nvPr/>
        </p:nvSpPr>
        <p:spPr>
          <a:xfrm>
            <a:off x="11964095" y="76474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7C4FCF-8391-6680-C7E9-475F9D2A62B4}"/>
              </a:ext>
            </a:extLst>
          </p:cNvPr>
          <p:cNvSpPr txBox="1"/>
          <p:nvPr/>
        </p:nvSpPr>
        <p:spPr>
          <a:xfrm>
            <a:off x="10387893" y="7478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C98C64-0A4B-E47B-D0DA-C595B9F73DC7}"/>
              </a:ext>
            </a:extLst>
          </p:cNvPr>
          <p:cNvSpPr txBox="1"/>
          <p:nvPr/>
        </p:nvSpPr>
        <p:spPr>
          <a:xfrm>
            <a:off x="11240696" y="30988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7916484-1F62-9695-86D3-FFC61DFA9173}"/>
              </a:ext>
            </a:extLst>
          </p:cNvPr>
          <p:cNvCxnSpPr>
            <a:cxnSpLocks/>
          </p:cNvCxnSpPr>
          <p:nvPr/>
        </p:nvCxnSpPr>
        <p:spPr>
          <a:xfrm>
            <a:off x="7627917" y="6709839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4911B1-10A8-7412-6DB7-B9025E4778B4}"/>
              </a:ext>
            </a:extLst>
          </p:cNvPr>
          <p:cNvCxnSpPr>
            <a:cxnSpLocks/>
          </p:cNvCxnSpPr>
          <p:nvPr/>
        </p:nvCxnSpPr>
        <p:spPr>
          <a:xfrm flipV="1">
            <a:off x="7828769" y="4113996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B89BCE7-DAB7-1834-3799-72A040D0FACE}"/>
              </a:ext>
            </a:extLst>
          </p:cNvPr>
          <p:cNvSpPr txBox="1"/>
          <p:nvPr/>
        </p:nvSpPr>
        <p:spPr>
          <a:xfrm>
            <a:off x="7070713" y="3764191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Similarity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4D02F5-6575-268D-7ED9-9F651B0367C5}"/>
              </a:ext>
            </a:extLst>
          </p:cNvPr>
          <p:cNvCxnSpPr/>
          <p:nvPr/>
        </p:nvCxnSpPr>
        <p:spPr>
          <a:xfrm>
            <a:off x="8316065" y="5300137"/>
            <a:ext cx="38862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84FCEAD-8D71-D570-C8E0-1B91E1EA49B7}"/>
              </a:ext>
            </a:extLst>
          </p:cNvPr>
          <p:cNvSpPr txBox="1"/>
          <p:nvPr/>
        </p:nvSpPr>
        <p:spPr>
          <a:xfrm>
            <a:off x="12278605" y="51281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3F949A1-659D-C0EA-2E4C-899EFF1D89ED}"/>
              </a:ext>
            </a:extLst>
          </p:cNvPr>
          <p:cNvCxnSpPr>
            <a:cxnSpLocks/>
          </p:cNvCxnSpPr>
          <p:nvPr/>
        </p:nvCxnSpPr>
        <p:spPr>
          <a:xfrm>
            <a:off x="10864532" y="6052069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C9C3A3F-2034-04C1-2617-AA98371E5BEA}"/>
              </a:ext>
            </a:extLst>
          </p:cNvPr>
          <p:cNvSpPr txBox="1"/>
          <p:nvPr/>
        </p:nvSpPr>
        <p:spPr>
          <a:xfrm>
            <a:off x="12291806" y="585470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99CAD55-5010-4106-A117-3B4033572F89}"/>
              </a:ext>
            </a:extLst>
          </p:cNvPr>
          <p:cNvCxnSpPr>
            <a:cxnSpLocks/>
          </p:cNvCxnSpPr>
          <p:nvPr/>
        </p:nvCxnSpPr>
        <p:spPr>
          <a:xfrm>
            <a:off x="10858468" y="4307184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60C8E89-44A6-EA71-E8B6-4EE990ABC93E}"/>
              </a:ext>
            </a:extLst>
          </p:cNvPr>
          <p:cNvSpPr txBox="1"/>
          <p:nvPr/>
        </p:nvSpPr>
        <p:spPr>
          <a:xfrm>
            <a:off x="12280530" y="411725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c=d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CEAD50-8FE8-4AC1-0A59-65EC1C227DF9}"/>
              </a:ext>
            </a:extLst>
          </p:cNvPr>
          <p:cNvSpPr txBox="1"/>
          <p:nvPr/>
        </p:nvSpPr>
        <p:spPr>
          <a:xfrm>
            <a:off x="10807624" y="449957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+0.029</a:t>
            </a:r>
            <a:r>
              <a:rPr lang="zh-CN" altLang="en-US" dirty="0"/>
              <a:t> **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FF393C-E0D3-4AEC-961E-FC96BC02FC49}"/>
              </a:ext>
            </a:extLst>
          </p:cNvPr>
          <p:cNvSpPr txBox="1"/>
          <p:nvPr/>
        </p:nvSpPr>
        <p:spPr>
          <a:xfrm>
            <a:off x="10856543" y="544830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-0.024</a:t>
            </a:r>
            <a:r>
              <a:rPr lang="zh-CN" altLang="en-US" dirty="0"/>
              <a:t> *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D68973-A9BB-805C-9EC9-612084045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596" y="4047184"/>
            <a:ext cx="3850097" cy="260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83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01F0A7-D903-8FF0-0866-ED21FDE4E9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Appendix:</a:t>
            </a:r>
            <a:r>
              <a:rPr lang="zh-CN" altLang="en-US" dirty="0"/>
              <a:t> </a:t>
            </a:r>
            <a:r>
              <a:rPr lang="en-US" altLang="zh-CN" dirty="0"/>
              <a:t>Prompt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deviation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0E480-DC3F-5FDF-6D9D-A61D72BC7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indent="0">
              <a:buNone/>
            </a:pPr>
            <a:r>
              <a:rPr lang="zh-TW" altLang="en-US" sz="1100" b="0" dirty="0">
                <a:latin typeface="+mn-lt"/>
              </a:rPr>
              <a:t>你是一位中文技术问答社区的内容关系评估专家。请根据同一个问题下的两个答案，评估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相对于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的“</a:t>
            </a:r>
            <a:r>
              <a:rPr lang="en-US" altLang="en-US" sz="1100" b="0" dirty="0">
                <a:latin typeface="+mn-lt"/>
              </a:rPr>
              <a:t>technical-path deviation”（</a:t>
            </a:r>
            <a:r>
              <a:rPr lang="zh-TW" altLang="en-US" sz="1100" b="0" dirty="0">
                <a:latin typeface="+mn-lt"/>
              </a:rPr>
              <a:t>技术路径偏离）程度。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核心定义：</a:t>
            </a:r>
          </a:p>
          <a:p>
            <a:pPr indent="0">
              <a:buNone/>
            </a:pP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“技术路径偏离”指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是否偏离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的核心诊断、解释、方法或实现方案，转向另一条不同的技术路径。它衡量的是两个答案之间的关系，不是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本身的质量、正确性、长度、礼貌程度或可读性。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请先识别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的核心技术路径，再判断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与它的关系。核心技术路径包括：主要原因判断、主要技术方案、关键操作步骤、排查方向、代码实现思路、工具或框架选择、以及对问题机制的解释。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评分标准如下：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- 0 </a:t>
            </a:r>
            <a:r>
              <a:rPr lang="zh-TW" altLang="en-US" sz="1100" b="0" dirty="0">
                <a:latin typeface="+mn-lt"/>
              </a:rPr>
              <a:t>分：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基本仍沿着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的核心技术路径展开，只是在同一路径上补充细节、条件、代码、例子、边界情况或执行步骤，没有明显转向。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- 1-3 </a:t>
            </a:r>
            <a:r>
              <a:rPr lang="zh-TW" altLang="en-US" sz="1100" b="0" dirty="0">
                <a:latin typeface="+mn-lt"/>
              </a:rPr>
              <a:t>分：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只有轻微偏离。主体仍在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的原路径上，但加入了少量不同的补充方向、替代性细节或次要调整。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- 4-6 </a:t>
            </a:r>
            <a:r>
              <a:rPr lang="zh-TW" altLang="en-US" sz="1100" b="0" dirty="0">
                <a:latin typeface="+mn-lt"/>
              </a:rPr>
              <a:t>分：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有中等程度的偏离。它部分保留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的核心方向，但同时引入了新的主要方法、不同的排查重点、不同的实现方案，或把回答重心转向另一条也较重要的路径。</a:t>
            </a:r>
          </a:p>
          <a:p>
            <a:pPr indent="0">
              <a:buNone/>
            </a:pPr>
            <a:r>
              <a:rPr lang="en-US" altLang="zh-TW" sz="1100" b="0" dirty="0">
                <a:solidFill>
                  <a:srgbClr val="FF0000"/>
                </a:solidFill>
                <a:latin typeface="+mn-lt"/>
              </a:rPr>
              <a:t>- 7-9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分：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明显偏离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的核心技术路径。它主要提出另一套诊断、方案、工具</a:t>
            </a:r>
            <a:r>
              <a:rPr lang="en-US" altLang="zh-TW" sz="1100" b="0" dirty="0">
                <a:solidFill>
                  <a:srgbClr val="FF0000"/>
                </a:solidFill>
                <a:latin typeface="+mn-lt"/>
              </a:rPr>
              <a:t>/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框架、实现方式或排查路线，只保留很少的原路径痕迹，或仅在问题主题层面相关。</a:t>
            </a:r>
          </a:p>
          <a:p>
            <a:pPr indent="0">
              <a:buNone/>
            </a:pPr>
            <a:r>
              <a:rPr lang="en-US" altLang="zh-TW" sz="1100" b="0" dirty="0">
                <a:solidFill>
                  <a:srgbClr val="FF0000"/>
                </a:solidFill>
                <a:latin typeface="+mn-lt"/>
              </a:rPr>
              <a:t>- 10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分：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几乎完全脱离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的原本技术路径，转向完全不同的核心解决路径，或基本没有回应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所涉及的解决方向。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判断时请遵守以下规则：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1. </a:t>
            </a:r>
            <a:r>
              <a:rPr lang="zh-TW" altLang="en-US" sz="1100" b="0" dirty="0">
                <a:latin typeface="+mn-lt"/>
              </a:rPr>
              <a:t>必须结合 </a:t>
            </a:r>
            <a:r>
              <a:rPr lang="en-US" altLang="en-US" sz="1100" b="0" dirty="0">
                <a:latin typeface="+mn-lt"/>
              </a:rPr>
              <a:t>Question </a:t>
            </a:r>
            <a:r>
              <a:rPr lang="zh-TW" altLang="en-US" sz="1100" b="0" dirty="0">
                <a:latin typeface="+mn-lt"/>
              </a:rPr>
              <a:t>理解两个答案是否在解决同一个具体问题。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2. </a:t>
            </a:r>
            <a:r>
              <a:rPr lang="zh-TW" altLang="en-US" sz="1100" b="0" dirty="0">
                <a:latin typeface="+mn-lt"/>
              </a:rPr>
              <a:t>不要把答案质量当成评分对象。一个更正确或更详细的 </a:t>
            </a:r>
            <a:r>
              <a:rPr lang="en-US" altLang="en-US" sz="1100" b="0" dirty="0">
                <a:latin typeface="+mn-lt"/>
              </a:rPr>
              <a:t>later answer，</a:t>
            </a:r>
            <a:r>
              <a:rPr lang="zh-TW" altLang="en-US" sz="1100" b="0" dirty="0">
                <a:latin typeface="+mn-lt"/>
              </a:rPr>
              <a:t>如果仍然走的是同一路径，也不应给高分。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3. </a:t>
            </a:r>
            <a:r>
              <a:rPr lang="zh-TW" altLang="en-US" sz="1100" b="0" dirty="0">
                <a:latin typeface="+mn-lt"/>
              </a:rPr>
              <a:t>不要把文本相似度当成评分对象。措辞不同但核心路径一致，应给低分；措辞相似但核心方案转向了别的路径，也可以给高分。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4. </a:t>
            </a:r>
            <a:r>
              <a:rPr lang="zh-TW" altLang="en-US" sz="1100" b="0" dirty="0">
                <a:latin typeface="+mn-lt"/>
              </a:rPr>
              <a:t>不要因为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更长就自动给高分。只有当新增内容意味着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改变了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的核心诊断、方法、实现路径、工具选择或排查方向时，才提高分数。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5. </a:t>
            </a:r>
            <a:r>
              <a:rPr lang="zh-TW" altLang="en-US" sz="1100" b="0" dirty="0">
                <a:latin typeface="+mn-lt"/>
              </a:rPr>
              <a:t>如果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同时包含延续原路径和转向新路径的内容，请根据其主要贡献给分：主要仍在原路径上则偏低，主要转向新路径则偏高，二者接近则给 </a:t>
            </a:r>
            <a:r>
              <a:rPr lang="en-US" altLang="zh-TW" sz="1100" b="0" dirty="0">
                <a:latin typeface="+mn-lt"/>
              </a:rPr>
              <a:t>4-6 </a:t>
            </a:r>
            <a:r>
              <a:rPr lang="zh-TW" altLang="en-US" sz="1100" b="0" dirty="0">
                <a:latin typeface="+mn-lt"/>
              </a:rPr>
              <a:t>分。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6. </a:t>
            </a:r>
            <a:r>
              <a:rPr lang="zh-TW" altLang="en-US" sz="1100" b="0" dirty="0">
                <a:latin typeface="+mn-lt"/>
              </a:rPr>
              <a:t>如果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或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内容过短、含糊或缺乏实质解决方案，请根据可识别的路径信息谨慎评分，并在 </a:t>
            </a:r>
            <a:r>
              <a:rPr lang="en-US" altLang="en-US" sz="1100" b="0" dirty="0">
                <a:latin typeface="+mn-lt"/>
              </a:rPr>
              <a:t>justification </a:t>
            </a:r>
            <a:r>
              <a:rPr lang="zh-TW" altLang="en-US" sz="1100" b="0" dirty="0">
                <a:latin typeface="+mn-lt"/>
              </a:rPr>
              <a:t>中说明原因。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7. </a:t>
            </a:r>
            <a:r>
              <a:rPr lang="zh-TW" altLang="en-US" sz="1100" b="0" dirty="0">
                <a:latin typeface="+mn-lt"/>
              </a:rPr>
              <a:t>请给出一个 </a:t>
            </a:r>
            <a:r>
              <a:rPr lang="en-US" altLang="zh-TW" sz="1100" b="0" dirty="0">
                <a:latin typeface="+mn-lt"/>
              </a:rPr>
              <a:t>0-10 </a:t>
            </a:r>
            <a:r>
              <a:rPr lang="zh-TW" altLang="en-US" sz="1100" b="0" dirty="0">
                <a:latin typeface="+mn-lt"/>
              </a:rPr>
              <a:t>的整数分数。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8. </a:t>
            </a:r>
            <a:r>
              <a:rPr lang="en-US" altLang="en-US" sz="1100" b="0" dirty="0">
                <a:latin typeface="+mn-lt"/>
              </a:rPr>
              <a:t>justification </a:t>
            </a:r>
            <a:r>
              <a:rPr lang="zh-TW" altLang="en-US" sz="1100" b="0" dirty="0">
                <a:latin typeface="+mn-lt"/>
              </a:rPr>
              <a:t>必须是简单的一句中文说明，说明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是如何保持或偏离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的核心技术路径。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9. </a:t>
            </a:r>
            <a:r>
              <a:rPr lang="en-US" altLang="en-US" sz="1100" b="0" dirty="0">
                <a:latin typeface="+mn-lt"/>
              </a:rPr>
              <a:t>relationship_label </a:t>
            </a:r>
            <a:r>
              <a:rPr lang="zh-TW" altLang="en-US" sz="1100" b="0" dirty="0">
                <a:latin typeface="+mn-lt"/>
              </a:rPr>
              <a:t>必须返回，且只能是 </a:t>
            </a:r>
            <a:r>
              <a:rPr lang="en-US" altLang="en-US" sz="1100" b="0" dirty="0">
                <a:latin typeface="+mn-lt"/>
              </a:rPr>
              <a:t>same_path、different_path、mixed </a:t>
            </a:r>
            <a:r>
              <a:rPr lang="zh-TW" altLang="en-US" sz="1100" b="0" dirty="0">
                <a:latin typeface="+mn-lt"/>
              </a:rPr>
              <a:t>三者之一，不允许留空，不允许返回其他词。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10. </a:t>
            </a:r>
            <a:r>
              <a:rPr lang="zh-TW" altLang="en-US" sz="1100" b="0" dirty="0">
                <a:latin typeface="+mn-lt"/>
              </a:rPr>
              <a:t>评分和 </a:t>
            </a:r>
            <a:r>
              <a:rPr lang="en-US" altLang="en-US" sz="1100" b="0" dirty="0">
                <a:latin typeface="+mn-lt"/>
              </a:rPr>
              <a:t>relationship_label </a:t>
            </a:r>
            <a:r>
              <a:rPr lang="zh-TW" altLang="en-US" sz="1100" b="0" dirty="0">
                <a:latin typeface="+mn-lt"/>
              </a:rPr>
              <a:t>必须一致：</a:t>
            </a:r>
            <a:r>
              <a:rPr lang="en-US" altLang="zh-TW" sz="1100" b="0" dirty="0">
                <a:latin typeface="+mn-lt"/>
              </a:rPr>
              <a:t>0-3 </a:t>
            </a:r>
            <a:r>
              <a:rPr lang="zh-TW" altLang="en-US" sz="1100" b="0" dirty="0">
                <a:latin typeface="+mn-lt"/>
              </a:rPr>
              <a:t>分优先对应 </a:t>
            </a:r>
            <a:r>
              <a:rPr lang="en-US" altLang="en-US" sz="1100" b="0" dirty="0">
                <a:latin typeface="+mn-lt"/>
              </a:rPr>
              <a:t>same_path，4-6 </a:t>
            </a:r>
            <a:r>
              <a:rPr lang="zh-TW" altLang="en-US" sz="1100" b="0" dirty="0">
                <a:latin typeface="+mn-lt"/>
              </a:rPr>
              <a:t>分优先对应 </a:t>
            </a:r>
            <a:r>
              <a:rPr lang="en-US" altLang="en-US" sz="1100" b="0" dirty="0">
                <a:latin typeface="+mn-lt"/>
              </a:rPr>
              <a:t>mixed，7-10 </a:t>
            </a:r>
            <a:r>
              <a:rPr lang="zh-TW" altLang="en-US" sz="1100" b="0" dirty="0">
                <a:latin typeface="+mn-lt"/>
              </a:rPr>
              <a:t>分优先对应 </a:t>
            </a:r>
            <a:r>
              <a:rPr lang="en-US" altLang="en-US" sz="1100" b="0" dirty="0">
                <a:latin typeface="+mn-lt"/>
              </a:rPr>
              <a:t>different_path。</a:t>
            </a:r>
            <a:r>
              <a:rPr lang="zh-TW" altLang="en-US" sz="1100" b="0" dirty="0">
                <a:latin typeface="+mn-lt"/>
              </a:rPr>
              <a:t>如二者不一致，请以这个映射修正 </a:t>
            </a:r>
            <a:r>
              <a:rPr lang="en-US" altLang="en-US" sz="1100" b="0" dirty="0">
                <a:latin typeface="+mn-lt"/>
              </a:rPr>
              <a:t>relationship_label。</a:t>
            </a:r>
          </a:p>
          <a:p>
            <a:pPr indent="0">
              <a:buNone/>
            </a:pPr>
            <a:r>
              <a:rPr lang="en-US" altLang="en-US" sz="1100" b="0" dirty="0">
                <a:latin typeface="+mn-lt"/>
              </a:rPr>
              <a:t>11. </a:t>
            </a:r>
            <a:r>
              <a:rPr lang="zh-TW" altLang="en-US" sz="1100" b="0" dirty="0">
                <a:latin typeface="+mn-lt"/>
              </a:rPr>
              <a:t>只返回 </a:t>
            </a:r>
            <a:r>
              <a:rPr lang="en-US" altLang="en-US" sz="1100" b="0" dirty="0">
                <a:latin typeface="+mn-lt"/>
              </a:rPr>
              <a:t>JSON，</a:t>
            </a:r>
            <a:r>
              <a:rPr lang="zh-TW" altLang="en-US" sz="1100" b="0" dirty="0">
                <a:latin typeface="+mn-lt"/>
              </a:rPr>
              <a:t>不要输出任何额外文字，也不要使用 </a:t>
            </a:r>
            <a:r>
              <a:rPr lang="en-US" altLang="en-US" sz="1100" b="0" dirty="0">
                <a:latin typeface="+mn-lt"/>
              </a:rPr>
              <a:t>markdown </a:t>
            </a:r>
            <a:r>
              <a:rPr lang="zh-TW" altLang="en-US" sz="1100" b="0" dirty="0">
                <a:latin typeface="+mn-lt"/>
              </a:rPr>
              <a:t>代码块。</a:t>
            </a:r>
          </a:p>
          <a:p>
            <a:pPr indent="0">
              <a:buNone/>
            </a:pPr>
            <a:endParaRPr lang="en-US" altLang="en-US" sz="1100" dirty="0">
              <a:latin typeface="+mn-lt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469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0B07B-92EE-A18A-FCEA-70EC6E01E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FB9D52-30FD-1F9A-F432-BD1615964B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innovation: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exploration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BAD678B-1828-D58A-C7A2-E289FC7FDC7B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568464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“</a:t>
            </a:r>
            <a:r>
              <a:rPr lang="zh-TW" altLang="en-US" dirty="0"/>
              <a:t>前一个是 </a:t>
            </a:r>
            <a:r>
              <a:rPr lang="en-US" dirty="0"/>
              <a:t>AI” vs “</a:t>
            </a:r>
            <a:r>
              <a:rPr lang="zh-TW" altLang="en-US" dirty="0"/>
              <a:t>前一个是 </a:t>
            </a:r>
            <a:r>
              <a:rPr lang="en-US" dirty="0"/>
              <a:t>Human”</a:t>
            </a:r>
            <a:r>
              <a:rPr lang="zh-CN" altLang="en-US" dirty="0"/>
              <a:t>：人们</a:t>
            </a:r>
            <a:r>
              <a:rPr lang="en-US" altLang="zh-CN" dirty="0"/>
              <a:t>differentiate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</a:p>
          <a:p>
            <a:pPr lvl="1"/>
            <a:r>
              <a:rPr lang="en-US" altLang="zh-CN" dirty="0"/>
              <a:t>Token-set</a:t>
            </a:r>
            <a:r>
              <a:rPr lang="zh-CN" altLang="en-US" dirty="0"/>
              <a:t> </a:t>
            </a:r>
            <a:r>
              <a:rPr lang="en-US" altLang="zh-CN" dirty="0"/>
              <a:t>Jaccard</a:t>
            </a:r>
            <a:r>
              <a:rPr lang="zh-CN" altLang="en-US" dirty="0"/>
              <a:t> </a:t>
            </a:r>
            <a:r>
              <a:rPr lang="en-US" altLang="zh-CN" dirty="0"/>
              <a:t>overlap</a:t>
            </a:r>
            <a:r>
              <a:rPr lang="zh-CN" altLang="en-US" dirty="0"/>
              <a:t>：没有主效应也没有交互、样本数减少几百个</a:t>
            </a:r>
            <a:endParaRPr lang="en-US" altLang="zh-CN" dirty="0"/>
          </a:p>
          <a:p>
            <a:pPr lvl="2"/>
            <a:r>
              <a:rPr lang="en-US" altLang="zh-CN" dirty="0"/>
              <a:t>intersection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union</a:t>
            </a:r>
          </a:p>
          <a:p>
            <a:pPr lvl="2"/>
            <a:r>
              <a:rPr lang="zh-CN" altLang="en-US" dirty="0"/>
              <a:t>如何计算</a:t>
            </a:r>
            <a:r>
              <a:rPr lang="en-US" altLang="zh-CN" dirty="0"/>
              <a:t>token</a:t>
            </a:r>
            <a:r>
              <a:rPr lang="zh-CN" altLang="en-US" dirty="0"/>
              <a:t>：</a:t>
            </a:r>
            <a:r>
              <a:rPr lang="zh-TW" altLang="en-US" dirty="0"/>
              <a:t>先把文本 </a:t>
            </a:r>
            <a:r>
              <a:rPr lang="en-US" altLang="en-US" dirty="0"/>
              <a:t>lower-case、</a:t>
            </a:r>
            <a:r>
              <a:rPr lang="zh-TW" altLang="en-US" dirty="0"/>
              <a:t>抓英文单词抽取 </a:t>
            </a:r>
            <a:r>
              <a:rPr lang="en-US" altLang="en-US" dirty="0"/>
              <a:t>token、</a:t>
            </a:r>
            <a:r>
              <a:rPr lang="zh-TW" altLang="en-US" dirty="0"/>
              <a:t>去掉 </a:t>
            </a:r>
            <a:r>
              <a:rPr lang="en-US" altLang="en-US" dirty="0" err="1"/>
              <a:t>stopwords</a:t>
            </a:r>
            <a:r>
              <a:rPr lang="en-US" altLang="zh-CN" dirty="0"/>
              <a:t>——</a:t>
            </a:r>
            <a:r>
              <a:rPr lang="zh-CN" altLang="en-US" dirty="0"/>
              <a:t>捕捉技术词汇</a:t>
            </a:r>
            <a:endParaRPr lang="en-US" altLang="en-US" dirty="0"/>
          </a:p>
          <a:p>
            <a:pPr lvl="2"/>
            <a:r>
              <a:rPr lang="zh-TW" altLang="en-US" dirty="0"/>
              <a:t>测量两个答案在 </a:t>
            </a:r>
            <a:r>
              <a:rPr lang="zh-TW" altLang="en-US" b="1" dirty="0"/>
              <a:t>词项层面</a:t>
            </a:r>
            <a:r>
              <a:rPr lang="zh-TW" altLang="en-US" dirty="0"/>
              <a:t> 的 </a:t>
            </a:r>
            <a:r>
              <a:rPr lang="en-US" altLang="en-US" dirty="0"/>
              <a:t>overlap </a:t>
            </a:r>
            <a:r>
              <a:rPr lang="zh-TW" altLang="en-US" dirty="0"/>
              <a:t>程度</a:t>
            </a:r>
            <a:r>
              <a:rPr lang="zh-CN" altLang="en-US" dirty="0"/>
              <a:t>（越大用词越重合）</a:t>
            </a:r>
            <a:endParaRPr lang="en-US" altLang="zh-CN" dirty="0"/>
          </a:p>
          <a:p>
            <a:pPr lvl="2"/>
            <a:r>
              <a:rPr lang="zh-TW" altLang="en-US" dirty="0"/>
              <a:t>缺失值</a:t>
            </a:r>
            <a:r>
              <a:rPr lang="zh-CN" altLang="en-US" dirty="0"/>
              <a:t>：对于大部分中文的答案基本会导致变量值为空</a:t>
            </a:r>
            <a:endParaRPr lang="en-US" altLang="zh-CN" dirty="0"/>
          </a:p>
          <a:p>
            <a:pPr lvl="1"/>
            <a:r>
              <a:rPr lang="en-US" altLang="en-US" dirty="0" err="1"/>
              <a:t>code_similarity</a:t>
            </a:r>
            <a:r>
              <a:rPr lang="zh-CN" altLang="en-US" dirty="0"/>
              <a:t>：没有主效应也没有交互、样本数减少几百个</a:t>
            </a:r>
            <a:endParaRPr lang="en-US" altLang="zh-CN" dirty="0"/>
          </a:p>
          <a:p>
            <a:pPr lvl="2"/>
            <a:r>
              <a:rPr lang="zh-TW" altLang="en-US" dirty="0"/>
              <a:t>之前的</a:t>
            </a:r>
            <a:r>
              <a:rPr lang="en-US" altLang="zh-TW" dirty="0"/>
              <a:t>similarity</a:t>
            </a:r>
            <a:r>
              <a:rPr lang="zh-TW" altLang="en-US" dirty="0"/>
              <a:t>是</a:t>
            </a:r>
            <a:r>
              <a:rPr lang="en-US" altLang="zh-TW" dirty="0"/>
              <a:t>full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altLang="zh-CN" dirty="0"/>
              <a:t>similarity</a:t>
            </a:r>
            <a:r>
              <a:rPr lang="zh-CN" altLang="en-US" dirty="0"/>
              <a:t>，这个</a:t>
            </a:r>
            <a:r>
              <a:rPr lang="en-US" altLang="zh-CN" dirty="0"/>
              <a:t>similarity</a:t>
            </a:r>
            <a:r>
              <a:rPr lang="zh-CN" altLang="en-US" dirty="0"/>
              <a:t>是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snippets</a:t>
            </a:r>
            <a:r>
              <a:rPr lang="zh-CN" altLang="en-US" dirty="0"/>
              <a:t> </a:t>
            </a:r>
            <a:r>
              <a:rPr lang="en-US" altLang="zh-CN" dirty="0"/>
              <a:t>similarity</a:t>
            </a:r>
            <a:endParaRPr lang="en-US" altLang="zh-TW" dirty="0"/>
          </a:p>
          <a:p>
            <a:pPr lvl="2"/>
            <a:r>
              <a:rPr lang="zh-TW" altLang="en-US" dirty="0"/>
              <a:t>缺失值</a:t>
            </a:r>
            <a:r>
              <a:rPr lang="zh-CN" altLang="en-US" dirty="0"/>
              <a:t>：</a:t>
            </a:r>
            <a:r>
              <a:rPr lang="zh-TW" altLang="en-US" dirty="0"/>
              <a:t>某些答案有自然语言解释，但没有抽出的 </a:t>
            </a:r>
            <a:r>
              <a:rPr lang="en-US" altLang="en-US" dirty="0"/>
              <a:t>code segment，</a:t>
            </a:r>
            <a:r>
              <a:rPr lang="zh-TW" altLang="en-US" dirty="0"/>
              <a:t>所以 </a:t>
            </a:r>
            <a:r>
              <a:rPr lang="en-US" altLang="en-US" dirty="0"/>
              <a:t>code similarity </a:t>
            </a:r>
            <a:r>
              <a:rPr lang="zh-TW" altLang="en-US" dirty="0"/>
              <a:t>会缺失</a:t>
            </a:r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r>
              <a:rPr lang="en-US" dirty="0"/>
              <a:t>AI </a:t>
            </a:r>
            <a:r>
              <a:rPr lang="zh-TW" altLang="en-US" dirty="0"/>
              <a:t>在场如何影响 </a:t>
            </a:r>
            <a:r>
              <a:rPr lang="en-US" dirty="0"/>
              <a:t>Human2 vs Human1</a:t>
            </a:r>
            <a:r>
              <a:rPr lang="zh-CN" altLang="en-US" dirty="0"/>
              <a:t>：</a:t>
            </a:r>
            <a:r>
              <a:rPr lang="zh-TW" altLang="en-US" dirty="0"/>
              <a:t>人们会互相</a:t>
            </a:r>
            <a:r>
              <a:rPr lang="en-US" altLang="zh-TW" dirty="0"/>
              <a:t>differentiate</a:t>
            </a:r>
            <a:endParaRPr lang="zh-TW" altLang="en-US" dirty="0"/>
          </a:p>
          <a:p>
            <a:pPr lvl="1"/>
            <a:r>
              <a:rPr lang="en-US" altLang="en-US" dirty="0" err="1"/>
              <a:t>Human_pairwise_similarity_mean</a:t>
            </a:r>
            <a:r>
              <a:rPr lang="zh-CN" altLang="en-US" dirty="0"/>
              <a:t>：还在做</a:t>
            </a:r>
            <a:endParaRPr lang="en-US" altLang="zh-CN" dirty="0"/>
          </a:p>
          <a:p>
            <a:pPr lvl="2"/>
            <a:r>
              <a:rPr lang="zh-TW" altLang="en-US" b="0" dirty="0"/>
              <a:t>计算所有 </a:t>
            </a:r>
            <a:r>
              <a:rPr lang="en-US" altLang="en-US" b="0" dirty="0"/>
              <a:t>human answers </a:t>
            </a:r>
            <a:r>
              <a:rPr lang="zh-TW" altLang="en-US" b="0" dirty="0"/>
              <a:t>两两之间的 </a:t>
            </a:r>
            <a:r>
              <a:rPr lang="en-US" altLang="en-US" dirty="0"/>
              <a:t>cosine similarity</a:t>
            </a:r>
            <a:r>
              <a:rPr lang="en-US" altLang="en-US" b="0" dirty="0"/>
              <a:t>，</a:t>
            </a:r>
            <a:r>
              <a:rPr lang="zh-TW" altLang="en-US" b="0" dirty="0"/>
              <a:t>再取 </a:t>
            </a:r>
            <a:r>
              <a:rPr lang="en-US" altLang="en-US" b="0" dirty="0"/>
              <a:t>mean</a:t>
            </a:r>
          </a:p>
        </p:txBody>
      </p:sp>
    </p:spTree>
    <p:extLst>
      <p:ext uri="{BB962C8B-B14F-4D97-AF65-F5344CB8AC3E}">
        <p14:creationId xmlns:p14="http://schemas.microsoft.com/office/powerpoint/2010/main" val="412417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9BC9F-8684-0129-E639-2FAD03924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89B29D-AE4A-DE32-BF1B-0FB3FCB987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innovation: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exploration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A23C17-C457-3863-87EB-9CD386865575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568464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“</a:t>
            </a:r>
            <a:r>
              <a:rPr lang="zh-TW" altLang="en-US" dirty="0"/>
              <a:t>前一个是 </a:t>
            </a:r>
            <a:r>
              <a:rPr lang="en-US" dirty="0"/>
              <a:t>AI” vs “</a:t>
            </a:r>
            <a:r>
              <a:rPr lang="zh-TW" altLang="en-US" dirty="0"/>
              <a:t>前一个是 </a:t>
            </a:r>
            <a:r>
              <a:rPr lang="en-US" dirty="0"/>
              <a:t>Human”</a:t>
            </a:r>
            <a:r>
              <a:rPr lang="zh-CN" altLang="en-US" dirty="0"/>
              <a:t>：人们</a:t>
            </a:r>
            <a:r>
              <a:rPr lang="en-US" altLang="zh-CN" dirty="0"/>
              <a:t>differentiate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</a:p>
          <a:p>
            <a:pPr lvl="1"/>
            <a:r>
              <a:rPr lang="en-US" altLang="zh-CN" dirty="0"/>
              <a:t>Token-set</a:t>
            </a:r>
            <a:r>
              <a:rPr lang="zh-CN" altLang="en-US" dirty="0"/>
              <a:t> </a:t>
            </a:r>
            <a:r>
              <a:rPr lang="en-US" altLang="zh-CN" dirty="0"/>
              <a:t>Jaccard</a:t>
            </a:r>
            <a:r>
              <a:rPr lang="zh-CN" altLang="en-US" dirty="0"/>
              <a:t> </a:t>
            </a:r>
            <a:r>
              <a:rPr lang="en-US" altLang="zh-CN" dirty="0"/>
              <a:t>overlap</a:t>
            </a:r>
            <a:r>
              <a:rPr lang="zh-CN" altLang="en-US" dirty="0"/>
              <a:t>：没有主效应也没有交互、样本数减少几百个</a:t>
            </a:r>
            <a:endParaRPr lang="en-US" altLang="zh-CN" dirty="0"/>
          </a:p>
          <a:p>
            <a:pPr lvl="2"/>
            <a:r>
              <a:rPr lang="en-US" altLang="zh-CN" dirty="0"/>
              <a:t>intersection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union</a:t>
            </a:r>
          </a:p>
          <a:p>
            <a:pPr lvl="2"/>
            <a:r>
              <a:rPr lang="zh-CN" altLang="en-US" dirty="0"/>
              <a:t>如何计算</a:t>
            </a:r>
            <a:r>
              <a:rPr lang="en-US" altLang="zh-CN" dirty="0"/>
              <a:t>token</a:t>
            </a:r>
            <a:r>
              <a:rPr lang="zh-CN" altLang="en-US" dirty="0"/>
              <a:t>：</a:t>
            </a:r>
            <a:r>
              <a:rPr lang="zh-TW" altLang="en-US" dirty="0"/>
              <a:t>先把文本 </a:t>
            </a:r>
            <a:r>
              <a:rPr lang="en-US" altLang="en-US" dirty="0"/>
              <a:t>lower-case、</a:t>
            </a:r>
            <a:r>
              <a:rPr lang="zh-TW" altLang="en-US" dirty="0"/>
              <a:t>抓英文单词抽取 </a:t>
            </a:r>
            <a:r>
              <a:rPr lang="en-US" altLang="en-US" dirty="0"/>
              <a:t>token、</a:t>
            </a:r>
            <a:r>
              <a:rPr lang="zh-TW" altLang="en-US" dirty="0"/>
              <a:t>去掉 </a:t>
            </a:r>
            <a:r>
              <a:rPr lang="en-US" altLang="en-US" dirty="0" err="1"/>
              <a:t>stopwords</a:t>
            </a:r>
            <a:r>
              <a:rPr lang="en-US" altLang="zh-CN" dirty="0"/>
              <a:t>——</a:t>
            </a:r>
            <a:r>
              <a:rPr lang="zh-CN" altLang="en-US" dirty="0"/>
              <a:t>捕捉技术词汇</a:t>
            </a:r>
            <a:endParaRPr lang="en-US" altLang="en-US" dirty="0"/>
          </a:p>
          <a:p>
            <a:pPr lvl="2"/>
            <a:r>
              <a:rPr lang="zh-TW" altLang="en-US" dirty="0"/>
              <a:t>测量两个答案在 </a:t>
            </a:r>
            <a:r>
              <a:rPr lang="zh-TW" altLang="en-US" b="1" dirty="0"/>
              <a:t>词项层面</a:t>
            </a:r>
            <a:r>
              <a:rPr lang="zh-TW" altLang="en-US" dirty="0"/>
              <a:t> 的 </a:t>
            </a:r>
            <a:r>
              <a:rPr lang="en-US" altLang="en-US" dirty="0"/>
              <a:t>overlap </a:t>
            </a:r>
            <a:r>
              <a:rPr lang="zh-TW" altLang="en-US" dirty="0"/>
              <a:t>程度</a:t>
            </a:r>
            <a:r>
              <a:rPr lang="zh-CN" altLang="en-US" dirty="0"/>
              <a:t>（越大用词越重合）</a:t>
            </a:r>
            <a:endParaRPr lang="en-US" altLang="zh-CN" dirty="0"/>
          </a:p>
          <a:p>
            <a:pPr lvl="2"/>
            <a:r>
              <a:rPr lang="zh-TW" altLang="en-US" dirty="0"/>
              <a:t>缺失值</a:t>
            </a:r>
            <a:r>
              <a:rPr lang="zh-CN" altLang="en-US" dirty="0"/>
              <a:t>：对于大部分中文的答案基本会导致变量值为空</a:t>
            </a:r>
            <a:endParaRPr lang="en-US" altLang="zh-CN" dirty="0"/>
          </a:p>
          <a:p>
            <a:pPr lvl="1"/>
            <a:r>
              <a:rPr lang="en-US" altLang="en-US" dirty="0" err="1"/>
              <a:t>code_similarity</a:t>
            </a:r>
            <a:r>
              <a:rPr lang="zh-CN" altLang="en-US" dirty="0"/>
              <a:t>：没有主效应也没有交互、样本数减少几百个</a:t>
            </a:r>
            <a:endParaRPr lang="en-US" altLang="zh-CN" dirty="0"/>
          </a:p>
          <a:p>
            <a:pPr lvl="2"/>
            <a:r>
              <a:rPr lang="zh-TW" altLang="en-US" dirty="0"/>
              <a:t>之前的</a:t>
            </a:r>
            <a:r>
              <a:rPr lang="en-US" altLang="zh-TW" dirty="0"/>
              <a:t>similarity</a:t>
            </a:r>
            <a:r>
              <a:rPr lang="zh-TW" altLang="en-US" dirty="0"/>
              <a:t>是</a:t>
            </a:r>
            <a:r>
              <a:rPr lang="en-US" altLang="zh-TW" dirty="0"/>
              <a:t>full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altLang="zh-CN" dirty="0"/>
              <a:t>similarity</a:t>
            </a:r>
            <a:r>
              <a:rPr lang="zh-CN" altLang="en-US" dirty="0"/>
              <a:t>，这个</a:t>
            </a:r>
            <a:r>
              <a:rPr lang="en-US" altLang="zh-CN" dirty="0"/>
              <a:t>similarity</a:t>
            </a:r>
            <a:r>
              <a:rPr lang="zh-CN" altLang="en-US" dirty="0"/>
              <a:t>是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snippets</a:t>
            </a:r>
            <a:r>
              <a:rPr lang="zh-CN" altLang="en-US" dirty="0"/>
              <a:t> </a:t>
            </a:r>
            <a:r>
              <a:rPr lang="en-US" altLang="zh-CN" dirty="0"/>
              <a:t>similarity</a:t>
            </a:r>
            <a:endParaRPr lang="en-US" altLang="zh-TW" dirty="0"/>
          </a:p>
          <a:p>
            <a:pPr lvl="2"/>
            <a:r>
              <a:rPr lang="zh-TW" altLang="en-US" dirty="0"/>
              <a:t>缺失值</a:t>
            </a:r>
            <a:r>
              <a:rPr lang="zh-CN" altLang="en-US" dirty="0"/>
              <a:t>：</a:t>
            </a:r>
            <a:r>
              <a:rPr lang="zh-TW" altLang="en-US" dirty="0"/>
              <a:t>某些答案有自然语言解释，但没有抽出的 </a:t>
            </a:r>
            <a:r>
              <a:rPr lang="en-US" altLang="en-US" dirty="0"/>
              <a:t>code segment，</a:t>
            </a:r>
            <a:r>
              <a:rPr lang="zh-TW" altLang="en-US" dirty="0"/>
              <a:t>所以 </a:t>
            </a:r>
            <a:r>
              <a:rPr lang="en-US" altLang="en-US" dirty="0"/>
              <a:t>code similarity </a:t>
            </a:r>
            <a:r>
              <a:rPr lang="zh-TW" altLang="en-US" dirty="0"/>
              <a:t>会缺失</a:t>
            </a:r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r>
              <a:rPr lang="en-US" dirty="0"/>
              <a:t>AI </a:t>
            </a:r>
            <a:r>
              <a:rPr lang="zh-TW" altLang="en-US" dirty="0"/>
              <a:t>在场如何影响 </a:t>
            </a:r>
            <a:r>
              <a:rPr lang="en-US" dirty="0"/>
              <a:t>Human2 vs Human1</a:t>
            </a:r>
            <a:r>
              <a:rPr lang="zh-CN" altLang="en-US" dirty="0"/>
              <a:t>：</a:t>
            </a:r>
            <a:r>
              <a:rPr lang="zh-TW" altLang="en-US" dirty="0"/>
              <a:t>人们会互相</a:t>
            </a:r>
            <a:r>
              <a:rPr lang="en-US" altLang="zh-TW" dirty="0"/>
              <a:t>differentiate</a:t>
            </a:r>
            <a:endParaRPr lang="zh-TW" altLang="en-US" dirty="0"/>
          </a:p>
          <a:p>
            <a:pPr lvl="1"/>
            <a:r>
              <a:rPr lang="en-US" altLang="en-US" dirty="0" err="1"/>
              <a:t>Human_pairwise_similarity_mean</a:t>
            </a:r>
            <a:r>
              <a:rPr lang="zh-CN" altLang="en-US" dirty="0"/>
              <a:t>：还在做</a:t>
            </a:r>
            <a:endParaRPr lang="en-US" altLang="zh-CN" dirty="0"/>
          </a:p>
          <a:p>
            <a:pPr lvl="2"/>
            <a:r>
              <a:rPr lang="zh-TW" altLang="en-US" b="0" dirty="0"/>
              <a:t>计算所有 </a:t>
            </a:r>
            <a:r>
              <a:rPr lang="en-US" altLang="en-US" b="0" dirty="0"/>
              <a:t>human answers </a:t>
            </a:r>
            <a:r>
              <a:rPr lang="zh-TW" altLang="en-US" b="0" dirty="0"/>
              <a:t>两两之间的 </a:t>
            </a:r>
            <a:r>
              <a:rPr lang="en-US" altLang="en-US" dirty="0"/>
              <a:t>cosine similarity</a:t>
            </a:r>
            <a:r>
              <a:rPr lang="en-US" altLang="en-US" b="0" dirty="0"/>
              <a:t>，</a:t>
            </a:r>
            <a:r>
              <a:rPr lang="zh-TW" altLang="en-US" b="0" dirty="0"/>
              <a:t>再取 </a:t>
            </a:r>
            <a:r>
              <a:rPr lang="en-US" altLang="en-US" b="0" dirty="0"/>
              <a:t>mean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172EC-B034-C96F-FEE5-D7DB97A03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2863" y="3536669"/>
            <a:ext cx="5029200" cy="274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DCE201-8721-48DD-17E1-514EC493E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840" y="698500"/>
            <a:ext cx="5892223" cy="262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023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99729</TotalTime>
  <Words>2183</Words>
  <Application>Microsoft Macintosh PowerPoint</Application>
  <PresentationFormat>Custom</PresentationFormat>
  <Paragraphs>296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Calibri Light</vt:lpstr>
      <vt:lpstr>Lato Black</vt:lpstr>
      <vt:lpstr>Arial</vt:lpstr>
      <vt:lpstr>微软雅黑</vt:lpstr>
      <vt:lpstr>Lato</vt:lpstr>
      <vt:lpstr>等线</vt:lpstr>
      <vt:lpstr>Calibri</vt:lpstr>
      <vt:lpstr>Lato Light</vt:lpstr>
      <vt:lpstr>Times New Roman</vt:lpstr>
      <vt:lpstr>Courier New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Zhang Siyu</dc:creator>
  <cp:keywords/>
  <dc:description/>
  <cp:lastModifiedBy>Dylan CHEN</cp:lastModifiedBy>
  <cp:revision>422</cp:revision>
  <dcterms:created xsi:type="dcterms:W3CDTF">2020-04-20T03:29:34Z</dcterms:created>
  <dcterms:modified xsi:type="dcterms:W3CDTF">2026-05-20T07:45:04Z</dcterms:modified>
  <cp:category/>
</cp:coreProperties>
</file>