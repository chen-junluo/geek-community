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740" r:id="rId1"/>
  </p:sldMasterIdLst>
  <p:notesMasterIdLst>
    <p:notesMasterId r:id="rId9"/>
  </p:notesMasterIdLst>
  <p:sldIdLst>
    <p:sldId id="260" r:id="rId2"/>
    <p:sldId id="335" r:id="rId3"/>
    <p:sldId id="337" r:id="rId4"/>
    <p:sldId id="344" r:id="rId5"/>
    <p:sldId id="343" r:id="rId6"/>
    <p:sldId id="342" r:id="rId7"/>
    <p:sldId id="326" r:id="rId8"/>
  </p:sldIdLst>
  <p:sldSz cx="14630400" cy="6858000"/>
  <p:notesSz cx="6858000" cy="9144000"/>
  <p:embeddedFontLst>
    <p:embeddedFont>
      <p:font typeface="等线" panose="02010600030101010101" pitchFamily="2" charset="-122"/>
      <p:regular r:id="rId10"/>
      <p:bold r:id="rId11"/>
    </p:embeddedFont>
    <p:embeddedFont>
      <p:font typeface="微软雅黑" panose="020B0503020204020204" pitchFamily="34" charset="-122"/>
      <p:regular r:id="rId12"/>
      <p:bold r:id="rId13"/>
    </p:embeddedFon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Lato Black" panose="020F0502020204030203" pitchFamily="34" charset="0"/>
      <p:bold r:id="rId22"/>
      <p:italic r:id="rId23"/>
      <p:boldItalic r:id="rId24"/>
    </p:embeddedFont>
    <p:embeddedFont>
      <p:font typeface="Lato Light" panose="020F0502020204030203" pitchFamily="34" charset="0"/>
      <p:regular r:id="rId25"/>
      <p: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mal" id="{BB674D8F-EA6E-4E7A-BB36-51CE4AEB7194}">
          <p14:sldIdLst>
            <p14:sldId id="260"/>
            <p14:sldId id="335"/>
            <p14:sldId id="337"/>
            <p14:sldId id="344"/>
            <p14:sldId id="343"/>
            <p14:sldId id="342"/>
            <p14:sldId id="326"/>
          </p14:sldIdLst>
        </p14:section>
      </p14:sectionLst>
    </p:ext>
    <p:ext uri="{EFAFB233-063F-42B5-8137-9DF3F51BA10A}">
      <p15:sldGuideLst xmlns:p15="http://schemas.microsoft.com/office/powerpoint/2012/main">
        <p15:guide id="1" pos="498" userDrawn="1">
          <p15:clr>
            <a:srgbClr val="A4A3A4"/>
          </p15:clr>
        </p15:guide>
        <p15:guide id="2" pos="8718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7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7F7F7F"/>
    <a:srgbClr val="BFBFBF"/>
    <a:srgbClr val="FB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15" autoAdjust="0"/>
    <p:restoredTop sz="96650" autoAdjust="0"/>
  </p:normalViewPr>
  <p:slideViewPr>
    <p:cSldViewPr snapToGrid="0" showGuides="1">
      <p:cViewPr>
        <p:scale>
          <a:sx n="140" d="100"/>
          <a:sy n="140" d="100"/>
        </p:scale>
        <p:origin x="864" y="48"/>
      </p:cViewPr>
      <p:guideLst>
        <p:guide pos="498"/>
        <p:guide pos="8718"/>
        <p:guide orient="horz" pos="648"/>
        <p:guide orient="horz" pos="712"/>
        <p:guide orient="horz" pos="3928"/>
        <p:guide orient="horz" pos="7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46:43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46:44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8191,'6'0'0,"-3"0"0,-1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8B4A-600B-4E47-A44F-5C9458F0BBBB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143000"/>
            <a:ext cx="6581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172E2-DACC-4E2B-A3E0-ED1661E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4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61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B8F1-A9A5-2C1B-8098-E6BF945E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C726E-9A11-1613-FCE4-E0DD2C751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85594-CB23-EFE8-CC25-5DF97A00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F5529-D2A4-4203-E284-801120BFB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185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1BF6-7C46-07E7-5408-E38FEAA4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043A4-D004-CBAE-165E-6EDFBAFCB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CBF96-D8B3-0B47-C1F5-04FAA90DD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1E1D7-28DF-17AD-DD25-39D9BFFA4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749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B00AF-4398-F48E-97F9-5D65C3FC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34AEB-5D18-6ACB-A146-6C99EFF1F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E91A9-3840-AFCD-AE75-F7597870A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21006-B077-28F4-44E6-3546CD1ED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150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C3D99-E8C6-A196-312C-35B8D0041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2A422-A109-C776-3803-5DBBD2DD5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D0801-79E4-CB4E-5663-18598E32D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5005B-D2DD-1897-3EF4-01910B680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289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365B1-1216-E664-9EF8-D25123B4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9869D-5C07-7DEA-AD6F-348BBBCA9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9CDD4-FE53-A15C-86D8-374E86494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219E5-CA21-CEBC-918D-E93762C46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418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0849-808F-F303-739E-4FB7F66A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B5E96-4181-4ED7-B70C-79EF81074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B1C80-B09D-2F98-2CB9-FA6563C4F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E9183-318F-982E-04BE-E75F0774A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624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122363"/>
            <a:ext cx="10972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602038"/>
            <a:ext cx="10972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06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44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1709738"/>
            <a:ext cx="1261872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4589464"/>
            <a:ext cx="1261872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90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22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365126"/>
            <a:ext cx="126187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1681163"/>
            <a:ext cx="618934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2505075"/>
            <a:ext cx="61893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1681163"/>
            <a:ext cx="62198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2505075"/>
            <a:ext cx="621982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54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91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987426"/>
            <a:ext cx="740664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01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987426"/>
            <a:ext cx="740664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4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78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365125"/>
            <a:ext cx="315468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365125"/>
            <a:ext cx="92811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48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959B3E-4FC4-4325-BC01-A43921DE8A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0" y="0"/>
            <a:ext cx="14629750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FE21AC-48CF-46F0-9943-0B377E0EE567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sp>
        <p:nvSpPr>
          <p:cNvPr id="31" name="文本占位符 20">
            <a:extLst>
              <a:ext uri="{FF2B5EF4-FFF2-40B4-BE49-F238E27FC236}">
                <a16:creationId xmlns:a16="http://schemas.microsoft.com/office/drawing/2014/main" id="{CA123307-9A5B-421F-847E-EF8BA63071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880" y="2597072"/>
            <a:ext cx="12448890" cy="147955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80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</a:p>
          <a:p>
            <a:pPr lvl="0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33" name="文本占位符 22">
            <a:extLst>
              <a:ext uri="{FF2B5EF4-FFF2-40B4-BE49-F238E27FC236}">
                <a16:creationId xmlns:a16="http://schemas.microsoft.com/office/drawing/2014/main" id="{97B7780D-5C6C-401C-9F98-045B138E98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9880" y="2023986"/>
            <a:ext cx="12448890" cy="52322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Department &amp; Major</a:t>
            </a:r>
            <a:endParaRPr lang="zh-CN" altLang="en-US" dirty="0"/>
          </a:p>
        </p:txBody>
      </p:sp>
      <p:sp>
        <p:nvSpPr>
          <p:cNvPr id="34" name="文本占位符 22">
            <a:extLst>
              <a:ext uri="{FF2B5EF4-FFF2-40B4-BE49-F238E27FC236}">
                <a16:creationId xmlns:a16="http://schemas.microsoft.com/office/drawing/2014/main" id="{FD2C7A5B-9327-40AD-9C83-47337D9D65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9881" y="4274122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Student ID</a:t>
            </a:r>
            <a:endParaRPr lang="zh-CN" altLang="en-US" dirty="0"/>
          </a:p>
        </p:txBody>
      </p:sp>
      <p:sp>
        <p:nvSpPr>
          <p:cNvPr id="36" name="文本占位符 22">
            <a:extLst>
              <a:ext uri="{FF2B5EF4-FFF2-40B4-BE49-F238E27FC236}">
                <a16:creationId xmlns:a16="http://schemas.microsoft.com/office/drawing/2014/main" id="{ABCA1AE7-3F46-43DB-88CB-0A27DE2291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9881" y="4584551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Name of </a:t>
            </a:r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Supervisor</a:t>
            </a:r>
            <a:endParaRPr lang="zh-CN" altLang="en-US" dirty="0"/>
          </a:p>
        </p:txBody>
      </p:sp>
      <p:sp>
        <p:nvSpPr>
          <p:cNvPr id="10" name="AutoShape 4" descr="City University of Hong Kong (CityU)">
            <a:extLst>
              <a:ext uri="{FF2B5EF4-FFF2-40B4-BE49-F238E27FC236}">
                <a16:creationId xmlns:a16="http://schemas.microsoft.com/office/drawing/2014/main" id="{F672805F-E5B0-58EC-8B2D-B131FEF987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132320" y="3276600"/>
            <a:ext cx="36576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19FC1882-DD3A-1FA3-28B0-DF5FA3E16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79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572D85CD-999C-4161-A085-290DE697D4CB}"/>
              </a:ext>
            </a:extLst>
          </p:cNvPr>
          <p:cNvSpPr/>
          <p:nvPr userDrawn="1"/>
        </p:nvSpPr>
        <p:spPr>
          <a:xfrm flipH="1" flipV="1">
            <a:off x="7398492" y="-6"/>
            <a:ext cx="7231908" cy="309886"/>
          </a:xfrm>
          <a:prstGeom prst="rtTriangle">
            <a:avLst/>
          </a:prstGeom>
          <a:gradFill flip="none" rotWithShape="1">
            <a:gsLst>
              <a:gs pos="20000">
                <a:srgbClr val="BA175E"/>
              </a:gs>
              <a:gs pos="62000">
                <a:srgbClr val="8A1D50"/>
              </a:gs>
              <a:gs pos="88000">
                <a:srgbClr val="5E21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63D48-9BD1-458B-BE8E-12874193FF99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CECDAC-CA98-4673-8B57-CE071FC7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8478" y="6284866"/>
            <a:ext cx="727039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978B942D-6D89-475E-B093-177478CA8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09880"/>
            <a:ext cx="13810490" cy="718820"/>
          </a:xfrm>
        </p:spPr>
        <p:txBody>
          <a:bodyPr anchor="b" anchorCtr="0">
            <a:normAutofit/>
          </a:bodyPr>
          <a:lstStyle>
            <a:lvl1pPr marL="0" indent="0">
              <a:buNone/>
              <a:defRPr lang="zh-CN" altLang="en-US" sz="32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AB70B51-E048-ABC7-9645-84F5A2AF56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3" y="1158181"/>
            <a:ext cx="13810489" cy="5446415"/>
          </a:xfrm>
          <a:prstGeom prst="rect">
            <a:avLst/>
          </a:prstGeom>
        </p:spPr>
        <p:txBody>
          <a:bodyPr/>
          <a:lstStyle>
            <a:lvl1pPr marL="0" indent="-251980" algn="just" defTabSz="914327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07" indent="-285728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19942" indent="-228582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1922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algn="just" defTabSz="914327" rtl="0" eaLnBrk="1" latinLnBrk="0" hangingPunct="1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en-US" altLang="zh-CN" dirty="0"/>
              <a:t>Heading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Heading 2</a:t>
            </a:r>
          </a:p>
          <a:p>
            <a:pPr lvl="2"/>
            <a:r>
              <a:rPr lang="en-US" altLang="zh-CN" dirty="0"/>
              <a:t>Contents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5554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3F388A-1083-486D-81AD-98BC6BAC2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21"/>
          <a:stretch/>
        </p:blipFill>
        <p:spPr>
          <a:xfrm flipH="1">
            <a:off x="-6" y="0"/>
            <a:ext cx="9107603" cy="6858000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60CB1F5-964F-4E93-97FC-19BC7C5C29FA}"/>
              </a:ext>
            </a:extLst>
          </p:cNvPr>
          <p:cNvSpPr/>
          <p:nvPr userDrawn="1"/>
        </p:nvSpPr>
        <p:spPr>
          <a:xfrm rot="5400000" flipV="1">
            <a:off x="4135880" y="-3639814"/>
            <a:ext cx="6358649" cy="14630401"/>
          </a:xfrm>
          <a:custGeom>
            <a:avLst/>
            <a:gdLst>
              <a:gd name="connsiteX0" fmla="*/ 0 w 6358649"/>
              <a:gd name="connsiteY0" fmla="*/ 12192001 h 12192001"/>
              <a:gd name="connsiteX1" fmla="*/ 6358649 w 6358649"/>
              <a:gd name="connsiteY1" fmla="*/ 12192001 h 12192001"/>
              <a:gd name="connsiteX2" fmla="*/ 6358649 w 6358649"/>
              <a:gd name="connsiteY2" fmla="*/ 0 h 12192001"/>
              <a:gd name="connsiteX3" fmla="*/ 505886 w 6358649"/>
              <a:gd name="connsiteY3" fmla="*/ 0 h 12192001"/>
              <a:gd name="connsiteX4" fmla="*/ 0 w 6358649"/>
              <a:gd name="connsiteY4" fmla="*/ 12192001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8649" h="12192001">
                <a:moveTo>
                  <a:pt x="0" y="12192001"/>
                </a:moveTo>
                <a:lnTo>
                  <a:pt x="6358649" y="12192001"/>
                </a:lnTo>
                <a:lnTo>
                  <a:pt x="6358649" y="0"/>
                </a:lnTo>
                <a:lnTo>
                  <a:pt x="505886" y="0"/>
                </a:lnTo>
                <a:lnTo>
                  <a:pt x="0" y="12192001"/>
                </a:lnTo>
                <a:close/>
              </a:path>
            </a:pathLst>
          </a:custGeom>
          <a:solidFill>
            <a:srgbClr val="F2F2F2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6D3E323-03AE-41CF-8E4E-552146726118}"/>
              </a:ext>
            </a:extLst>
          </p:cNvPr>
          <p:cNvSpPr/>
          <p:nvPr userDrawn="1"/>
        </p:nvSpPr>
        <p:spPr>
          <a:xfrm rot="5400000" flipV="1">
            <a:off x="6812577" y="-6812579"/>
            <a:ext cx="1005238" cy="14630401"/>
          </a:xfrm>
          <a:custGeom>
            <a:avLst/>
            <a:gdLst>
              <a:gd name="connsiteX0" fmla="*/ 0 w 1005238"/>
              <a:gd name="connsiteY0" fmla="*/ 0 h 12192001"/>
              <a:gd name="connsiteX1" fmla="*/ 1 w 1005238"/>
              <a:gd name="connsiteY1" fmla="*/ 12192001 h 12192001"/>
              <a:gd name="connsiteX2" fmla="*/ 499352 w 1005238"/>
              <a:gd name="connsiteY2" fmla="*/ 12192001 h 12192001"/>
              <a:gd name="connsiteX3" fmla="*/ 1005238 w 1005238"/>
              <a:gd name="connsiteY3" fmla="*/ 0 h 12192001"/>
              <a:gd name="connsiteX4" fmla="*/ 0 w 1005238"/>
              <a:gd name="connsiteY4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238" h="12192001">
                <a:moveTo>
                  <a:pt x="0" y="0"/>
                </a:moveTo>
                <a:lnTo>
                  <a:pt x="1" y="12192001"/>
                </a:lnTo>
                <a:lnTo>
                  <a:pt x="499352" y="12192001"/>
                </a:lnTo>
                <a:lnTo>
                  <a:pt x="10052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951FE-7E53-4D35-80A5-C656F63E94C5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85254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D7010A-9787-452D-93B8-307D03BA8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>
          <a:xfrm>
            <a:off x="0" y="-3"/>
            <a:ext cx="14630400" cy="6858002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1A0E067-C0F2-4FB2-908C-E379BF0E6CB2}"/>
              </a:ext>
            </a:extLst>
          </p:cNvPr>
          <p:cNvSpPr/>
          <p:nvPr userDrawn="1"/>
        </p:nvSpPr>
        <p:spPr>
          <a:xfrm>
            <a:off x="0" y="-2"/>
            <a:ext cx="14630400" cy="6858002"/>
          </a:xfrm>
          <a:prstGeom prst="rect">
            <a:avLst/>
          </a:prstGeom>
          <a:solidFill>
            <a:srgbClr val="A92D61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E53E5883-9C79-47DD-ABF5-FEA2DFAF60A1}"/>
              </a:ext>
            </a:extLst>
          </p:cNvPr>
          <p:cNvSpPr/>
          <p:nvPr userDrawn="1"/>
        </p:nvSpPr>
        <p:spPr>
          <a:xfrm flipV="1">
            <a:off x="0" y="0"/>
            <a:ext cx="12994648" cy="141167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302A78D4-A77B-4826-81E5-F5A2B3869AE8}"/>
              </a:ext>
            </a:extLst>
          </p:cNvPr>
          <p:cNvSpPr/>
          <p:nvPr userDrawn="1"/>
        </p:nvSpPr>
        <p:spPr>
          <a:xfrm rot="5400000" flipH="1" flipV="1">
            <a:off x="10797543" y="3025144"/>
            <a:ext cx="6858001" cy="80771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80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504D8CB-E90B-4355-9C72-06A7348C4AA6}"/>
              </a:ext>
            </a:extLst>
          </p:cNvPr>
          <p:cNvGrpSpPr/>
          <p:nvPr userDrawn="1"/>
        </p:nvGrpSpPr>
        <p:grpSpPr>
          <a:xfrm>
            <a:off x="12091500" y="6312408"/>
            <a:ext cx="1596943" cy="233551"/>
            <a:chOff x="10076250" y="6312401"/>
            <a:chExt cx="1330786" cy="233551"/>
          </a:xfrm>
        </p:grpSpPr>
        <p:sp>
          <p:nvSpPr>
            <p:cNvPr id="31" name="facebook-logo-in-circular-shape_44646">
              <a:extLst>
                <a:ext uri="{FF2B5EF4-FFF2-40B4-BE49-F238E27FC236}">
                  <a16:creationId xmlns:a16="http://schemas.microsoft.com/office/drawing/2014/main" id="{CEEC6234-E82C-47A3-A940-B8B86D86E9C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076250" y="6314598"/>
              <a:ext cx="231353" cy="229434"/>
            </a:xfrm>
            <a:custGeom>
              <a:avLst/>
              <a:gdLst>
                <a:gd name="T0" fmla="*/ 561 w 561"/>
                <a:gd name="T1" fmla="*/ 280 h 557"/>
                <a:gd name="T2" fmla="*/ 343 w 561"/>
                <a:gd name="T3" fmla="*/ 553 h 557"/>
                <a:gd name="T4" fmla="*/ 343 w 561"/>
                <a:gd name="T5" fmla="*/ 320 h 557"/>
                <a:gd name="T6" fmla="*/ 410 w 561"/>
                <a:gd name="T7" fmla="*/ 320 h 557"/>
                <a:gd name="T8" fmla="*/ 410 w 561"/>
                <a:gd name="T9" fmla="*/ 243 h 557"/>
                <a:gd name="T10" fmla="*/ 342 w 561"/>
                <a:gd name="T11" fmla="*/ 243 h 557"/>
                <a:gd name="T12" fmla="*/ 342 w 561"/>
                <a:gd name="T13" fmla="*/ 225 h 557"/>
                <a:gd name="T14" fmla="*/ 391 w 561"/>
                <a:gd name="T15" fmla="*/ 165 h 557"/>
                <a:gd name="T16" fmla="*/ 425 w 561"/>
                <a:gd name="T17" fmla="*/ 170 h 557"/>
                <a:gd name="T18" fmla="*/ 430 w 561"/>
                <a:gd name="T19" fmla="*/ 89 h 557"/>
                <a:gd name="T20" fmla="*/ 373 w 561"/>
                <a:gd name="T21" fmla="*/ 82 h 557"/>
                <a:gd name="T22" fmla="*/ 280 w 561"/>
                <a:gd name="T23" fmla="*/ 116 h 557"/>
                <a:gd name="T24" fmla="*/ 237 w 561"/>
                <a:gd name="T25" fmla="*/ 229 h 557"/>
                <a:gd name="T26" fmla="*/ 237 w 561"/>
                <a:gd name="T27" fmla="*/ 243 h 557"/>
                <a:gd name="T28" fmla="*/ 192 w 561"/>
                <a:gd name="T29" fmla="*/ 243 h 557"/>
                <a:gd name="T30" fmla="*/ 192 w 561"/>
                <a:gd name="T31" fmla="*/ 320 h 557"/>
                <a:gd name="T32" fmla="*/ 237 w 561"/>
                <a:gd name="T33" fmla="*/ 320 h 557"/>
                <a:gd name="T34" fmla="*/ 237 w 561"/>
                <a:gd name="T35" fmla="*/ 557 h 557"/>
                <a:gd name="T36" fmla="*/ 0 w 561"/>
                <a:gd name="T37" fmla="*/ 280 h 557"/>
                <a:gd name="T38" fmla="*/ 280 w 561"/>
                <a:gd name="T39" fmla="*/ 0 h 557"/>
                <a:gd name="T40" fmla="*/ 561 w 561"/>
                <a:gd name="T41" fmla="*/ 28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1" h="557">
                  <a:moveTo>
                    <a:pt x="561" y="280"/>
                  </a:moveTo>
                  <a:cubicBezTo>
                    <a:pt x="561" y="414"/>
                    <a:pt x="468" y="525"/>
                    <a:pt x="343" y="553"/>
                  </a:cubicBezTo>
                  <a:lnTo>
                    <a:pt x="343" y="320"/>
                  </a:lnTo>
                  <a:lnTo>
                    <a:pt x="410" y="320"/>
                  </a:lnTo>
                  <a:lnTo>
                    <a:pt x="410" y="243"/>
                  </a:lnTo>
                  <a:lnTo>
                    <a:pt x="342" y="243"/>
                  </a:lnTo>
                  <a:lnTo>
                    <a:pt x="342" y="225"/>
                  </a:lnTo>
                  <a:cubicBezTo>
                    <a:pt x="342" y="192"/>
                    <a:pt x="357" y="165"/>
                    <a:pt x="391" y="165"/>
                  </a:cubicBezTo>
                  <a:cubicBezTo>
                    <a:pt x="405" y="165"/>
                    <a:pt x="416" y="167"/>
                    <a:pt x="425" y="170"/>
                  </a:cubicBezTo>
                  <a:lnTo>
                    <a:pt x="430" y="89"/>
                  </a:lnTo>
                  <a:cubicBezTo>
                    <a:pt x="415" y="84"/>
                    <a:pt x="397" y="82"/>
                    <a:pt x="373" y="82"/>
                  </a:cubicBezTo>
                  <a:cubicBezTo>
                    <a:pt x="343" y="82"/>
                    <a:pt x="306" y="91"/>
                    <a:pt x="280" y="116"/>
                  </a:cubicBezTo>
                  <a:cubicBezTo>
                    <a:pt x="249" y="143"/>
                    <a:pt x="237" y="189"/>
                    <a:pt x="237" y="229"/>
                  </a:cubicBezTo>
                  <a:lnTo>
                    <a:pt x="237" y="243"/>
                  </a:lnTo>
                  <a:lnTo>
                    <a:pt x="192" y="243"/>
                  </a:lnTo>
                  <a:lnTo>
                    <a:pt x="192" y="320"/>
                  </a:lnTo>
                  <a:lnTo>
                    <a:pt x="237" y="320"/>
                  </a:lnTo>
                  <a:lnTo>
                    <a:pt x="237" y="557"/>
                  </a:lnTo>
                  <a:cubicBezTo>
                    <a:pt x="103" y="536"/>
                    <a:pt x="0" y="420"/>
                    <a:pt x="0" y="280"/>
                  </a:cubicBezTo>
                  <a:cubicBezTo>
                    <a:pt x="0" y="125"/>
                    <a:pt x="126" y="0"/>
                    <a:pt x="280" y="0"/>
                  </a:cubicBezTo>
                  <a:cubicBezTo>
                    <a:pt x="435" y="0"/>
                    <a:pt x="561" y="125"/>
                    <a:pt x="561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2" name="iconfont-1177-866400">
              <a:extLst>
                <a:ext uri="{FF2B5EF4-FFF2-40B4-BE49-F238E27FC236}">
                  <a16:creationId xmlns:a16="http://schemas.microsoft.com/office/drawing/2014/main" id="{9F1768BB-D4A5-4C3D-98F9-FB981F6D4EF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442728" y="6314598"/>
              <a:ext cx="231353" cy="231354"/>
            </a:xfrm>
            <a:custGeom>
              <a:avLst/>
              <a:gdLst>
                <a:gd name="T0" fmla="*/ 12800 w 12800"/>
                <a:gd name="T1" fmla="*/ 6400 h 12800"/>
                <a:gd name="T2" fmla="*/ 6400 w 12800"/>
                <a:gd name="T3" fmla="*/ 0 h 12800"/>
                <a:gd name="T4" fmla="*/ 0 w 12800"/>
                <a:gd name="T5" fmla="*/ 6400 h 12800"/>
                <a:gd name="T6" fmla="*/ 6400 w 12800"/>
                <a:gd name="T7" fmla="*/ 12800 h 12800"/>
                <a:gd name="T8" fmla="*/ 12800 w 12800"/>
                <a:gd name="T9" fmla="*/ 6400 h 12800"/>
                <a:gd name="T10" fmla="*/ 2954 w 12800"/>
                <a:gd name="T11" fmla="*/ 8674 h 12800"/>
                <a:gd name="T12" fmla="*/ 3291 w 12800"/>
                <a:gd name="T13" fmla="*/ 8696 h 12800"/>
                <a:gd name="T14" fmla="*/ 5047 w 12800"/>
                <a:gd name="T15" fmla="*/ 8056 h 12800"/>
                <a:gd name="T16" fmla="*/ 3727 w 12800"/>
                <a:gd name="T17" fmla="*/ 7004 h 12800"/>
                <a:gd name="T18" fmla="*/ 3992 w 12800"/>
                <a:gd name="T19" fmla="*/ 7033 h 12800"/>
                <a:gd name="T20" fmla="*/ 4365 w 12800"/>
                <a:gd name="T21" fmla="*/ 6982 h 12800"/>
                <a:gd name="T22" fmla="*/ 3230 w 12800"/>
                <a:gd name="T23" fmla="*/ 5494 h 12800"/>
                <a:gd name="T24" fmla="*/ 3230 w 12800"/>
                <a:gd name="T25" fmla="*/ 5475 h 12800"/>
                <a:gd name="T26" fmla="*/ 3871 w 12800"/>
                <a:gd name="T27" fmla="*/ 5670 h 12800"/>
                <a:gd name="T28" fmla="*/ 3242 w 12800"/>
                <a:gd name="T29" fmla="*/ 4407 h 12800"/>
                <a:gd name="T30" fmla="*/ 3434 w 12800"/>
                <a:gd name="T31" fmla="*/ 3651 h 12800"/>
                <a:gd name="T32" fmla="*/ 6348 w 12800"/>
                <a:gd name="T33" fmla="*/ 5261 h 12800"/>
                <a:gd name="T34" fmla="*/ 6312 w 12800"/>
                <a:gd name="T35" fmla="*/ 4920 h 12800"/>
                <a:gd name="T36" fmla="*/ 7725 w 12800"/>
                <a:gd name="T37" fmla="*/ 3446 h 12800"/>
                <a:gd name="T38" fmla="*/ 8758 w 12800"/>
                <a:gd name="T39" fmla="*/ 3933 h 12800"/>
                <a:gd name="T40" fmla="*/ 9655 w 12800"/>
                <a:gd name="T41" fmla="*/ 3587 h 12800"/>
                <a:gd name="T42" fmla="*/ 9033 w 12800"/>
                <a:gd name="T43" fmla="*/ 4399 h 12800"/>
                <a:gd name="T44" fmla="*/ 9846 w 12800"/>
                <a:gd name="T45" fmla="*/ 4177 h 12800"/>
                <a:gd name="T46" fmla="*/ 9140 w 12800"/>
                <a:gd name="T47" fmla="*/ 4936 h 12800"/>
                <a:gd name="T48" fmla="*/ 9144 w 12800"/>
                <a:gd name="T49" fmla="*/ 5128 h 12800"/>
                <a:gd name="T50" fmla="*/ 5121 w 12800"/>
                <a:gd name="T51" fmla="*/ 9353 h 12800"/>
                <a:gd name="T52" fmla="*/ 2954 w 12800"/>
                <a:gd name="T53" fmla="*/ 8674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00" h="12800">
                  <a:moveTo>
                    <a:pt x="12800" y="6400"/>
                  </a:moveTo>
                  <a:cubicBezTo>
                    <a:pt x="12800" y="2865"/>
                    <a:pt x="9935" y="0"/>
                    <a:pt x="6400" y="0"/>
                  </a:cubicBez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lose/>
                  <a:moveTo>
                    <a:pt x="2954" y="8674"/>
                  </a:moveTo>
                  <a:cubicBezTo>
                    <a:pt x="3064" y="8688"/>
                    <a:pt x="3177" y="8696"/>
                    <a:pt x="3291" y="8696"/>
                  </a:cubicBezTo>
                  <a:cubicBezTo>
                    <a:pt x="3954" y="8697"/>
                    <a:pt x="4564" y="8458"/>
                    <a:pt x="5047" y="8056"/>
                  </a:cubicBezTo>
                  <a:cubicBezTo>
                    <a:pt x="4428" y="8042"/>
                    <a:pt x="3906" y="7604"/>
                    <a:pt x="3727" y="7004"/>
                  </a:cubicBezTo>
                  <a:cubicBezTo>
                    <a:pt x="3813" y="7022"/>
                    <a:pt x="3902" y="7032"/>
                    <a:pt x="3992" y="7033"/>
                  </a:cubicBezTo>
                  <a:cubicBezTo>
                    <a:pt x="4122" y="7034"/>
                    <a:pt x="4246" y="7016"/>
                    <a:pt x="4365" y="6982"/>
                  </a:cubicBezTo>
                  <a:cubicBezTo>
                    <a:pt x="3718" y="6839"/>
                    <a:pt x="3230" y="6225"/>
                    <a:pt x="3230" y="5494"/>
                  </a:cubicBezTo>
                  <a:lnTo>
                    <a:pt x="3230" y="5475"/>
                  </a:lnTo>
                  <a:cubicBezTo>
                    <a:pt x="3421" y="5590"/>
                    <a:pt x="3639" y="5660"/>
                    <a:pt x="3871" y="5670"/>
                  </a:cubicBezTo>
                  <a:cubicBezTo>
                    <a:pt x="3492" y="5396"/>
                    <a:pt x="3242" y="4931"/>
                    <a:pt x="3242" y="4407"/>
                  </a:cubicBezTo>
                  <a:cubicBezTo>
                    <a:pt x="3242" y="4130"/>
                    <a:pt x="3312" y="3872"/>
                    <a:pt x="3434" y="3651"/>
                  </a:cubicBezTo>
                  <a:cubicBezTo>
                    <a:pt x="4131" y="4573"/>
                    <a:pt x="5174" y="5185"/>
                    <a:pt x="6348" y="5261"/>
                  </a:cubicBezTo>
                  <a:cubicBezTo>
                    <a:pt x="6324" y="5151"/>
                    <a:pt x="6312" y="5037"/>
                    <a:pt x="6312" y="4920"/>
                  </a:cubicBezTo>
                  <a:cubicBezTo>
                    <a:pt x="6312" y="4093"/>
                    <a:pt x="6945" y="3433"/>
                    <a:pt x="7725" y="3446"/>
                  </a:cubicBezTo>
                  <a:cubicBezTo>
                    <a:pt x="8132" y="3453"/>
                    <a:pt x="8500" y="3640"/>
                    <a:pt x="8758" y="3933"/>
                  </a:cubicBezTo>
                  <a:cubicBezTo>
                    <a:pt x="9080" y="3871"/>
                    <a:pt x="9382" y="3753"/>
                    <a:pt x="9655" y="3587"/>
                  </a:cubicBezTo>
                  <a:cubicBezTo>
                    <a:pt x="9550" y="3932"/>
                    <a:pt x="9325" y="4219"/>
                    <a:pt x="9033" y="4399"/>
                  </a:cubicBezTo>
                  <a:cubicBezTo>
                    <a:pt x="9320" y="4367"/>
                    <a:pt x="9592" y="4291"/>
                    <a:pt x="9846" y="4177"/>
                  </a:cubicBezTo>
                  <a:cubicBezTo>
                    <a:pt x="9656" y="4472"/>
                    <a:pt x="9416" y="4730"/>
                    <a:pt x="9140" y="4936"/>
                  </a:cubicBezTo>
                  <a:cubicBezTo>
                    <a:pt x="9143" y="5000"/>
                    <a:pt x="9144" y="5064"/>
                    <a:pt x="9144" y="5128"/>
                  </a:cubicBezTo>
                  <a:cubicBezTo>
                    <a:pt x="9144" y="7091"/>
                    <a:pt x="7721" y="9354"/>
                    <a:pt x="5121" y="9353"/>
                  </a:cubicBezTo>
                  <a:cubicBezTo>
                    <a:pt x="4323" y="9354"/>
                    <a:pt x="3579" y="9104"/>
                    <a:pt x="2954" y="86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3" name="weibo-social-logo_49269">
              <a:extLst>
                <a:ext uri="{FF2B5EF4-FFF2-40B4-BE49-F238E27FC236}">
                  <a16:creationId xmlns:a16="http://schemas.microsoft.com/office/drawing/2014/main" id="{737B7D30-FF6A-4351-BAC7-348BB50420CD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809206" y="6312997"/>
              <a:ext cx="231353" cy="231040"/>
            </a:xfrm>
            <a:custGeom>
              <a:avLst/>
              <a:gdLst>
                <a:gd name="connsiteX0" fmla="*/ 223001 w 600727"/>
                <a:gd name="connsiteY0" fmla="*/ 363277 h 599913"/>
                <a:gd name="connsiteX1" fmla="*/ 240229 w 600727"/>
                <a:gd name="connsiteY1" fmla="*/ 363680 h 599913"/>
                <a:gd name="connsiteX2" fmla="*/ 248066 w 600727"/>
                <a:gd name="connsiteY2" fmla="*/ 391776 h 599913"/>
                <a:gd name="connsiteX3" fmla="*/ 215799 w 600727"/>
                <a:gd name="connsiteY3" fmla="*/ 402369 h 599913"/>
                <a:gd name="connsiteX4" fmla="*/ 208884 w 600727"/>
                <a:gd name="connsiteY4" fmla="*/ 374274 h 599913"/>
                <a:gd name="connsiteX5" fmla="*/ 223001 w 600727"/>
                <a:gd name="connsiteY5" fmla="*/ 363277 h 599913"/>
                <a:gd name="connsiteX6" fmla="*/ 266976 w 600727"/>
                <a:gd name="connsiteY6" fmla="*/ 352625 h 599913"/>
                <a:gd name="connsiteX7" fmla="*/ 270665 w 600727"/>
                <a:gd name="connsiteY7" fmla="*/ 362765 h 599913"/>
                <a:gd name="connsiteX8" fmla="*/ 258217 w 600727"/>
                <a:gd name="connsiteY8" fmla="*/ 367374 h 599913"/>
                <a:gd name="connsiteX9" fmla="*/ 255450 w 600727"/>
                <a:gd name="connsiteY9" fmla="*/ 356773 h 599913"/>
                <a:gd name="connsiteX10" fmla="*/ 266976 w 600727"/>
                <a:gd name="connsiteY10" fmla="*/ 352625 h 599913"/>
                <a:gd name="connsiteX11" fmla="*/ 248086 w 600727"/>
                <a:gd name="connsiteY11" fmla="*/ 313386 h 599913"/>
                <a:gd name="connsiteX12" fmla="*/ 188128 w 600727"/>
                <a:gd name="connsiteY12" fmla="*/ 352677 h 599913"/>
                <a:gd name="connsiteX13" fmla="*/ 221316 w 600727"/>
                <a:gd name="connsiteY13" fmla="*/ 426327 h 599913"/>
                <a:gd name="connsiteX14" fmla="*/ 311660 w 600727"/>
                <a:gd name="connsiteY14" fmla="*/ 388122 h 599913"/>
                <a:gd name="connsiteX15" fmla="*/ 273402 w 600727"/>
                <a:gd name="connsiteY15" fmla="*/ 315392 h 599913"/>
                <a:gd name="connsiteX16" fmla="*/ 248086 w 600727"/>
                <a:gd name="connsiteY16" fmla="*/ 313386 h 599913"/>
                <a:gd name="connsiteX17" fmla="*/ 250355 w 600727"/>
                <a:gd name="connsiteY17" fmla="*/ 279948 h 599913"/>
                <a:gd name="connsiteX18" fmla="*/ 385411 w 600727"/>
                <a:gd name="connsiteY18" fmla="*/ 350376 h 599913"/>
                <a:gd name="connsiteX19" fmla="*/ 266488 w 600727"/>
                <a:gd name="connsiteY19" fmla="*/ 446121 h 599913"/>
                <a:gd name="connsiteX20" fmla="*/ 131432 w 600727"/>
                <a:gd name="connsiteY20" fmla="*/ 375693 h 599913"/>
                <a:gd name="connsiteX21" fmla="*/ 250355 w 600727"/>
                <a:gd name="connsiteY21" fmla="*/ 279948 h 599913"/>
                <a:gd name="connsiteX22" fmla="*/ 388651 w 600727"/>
                <a:gd name="connsiteY22" fmla="*/ 187386 h 599913"/>
                <a:gd name="connsiteX23" fmla="*/ 378048 w 600727"/>
                <a:gd name="connsiteY23" fmla="*/ 203961 h 599913"/>
                <a:gd name="connsiteX24" fmla="*/ 394645 w 600727"/>
                <a:gd name="connsiteY24" fmla="*/ 214550 h 599913"/>
                <a:gd name="connsiteX25" fmla="*/ 420002 w 600727"/>
                <a:gd name="connsiteY25" fmla="*/ 222838 h 599913"/>
                <a:gd name="connsiteX26" fmla="*/ 425534 w 600727"/>
                <a:gd name="connsiteY26" fmla="*/ 249081 h 599913"/>
                <a:gd name="connsiteX27" fmla="*/ 434294 w 600727"/>
                <a:gd name="connsiteY27" fmla="*/ 266577 h 599913"/>
                <a:gd name="connsiteX28" fmla="*/ 451813 w 600727"/>
                <a:gd name="connsiteY28" fmla="*/ 257368 h 599913"/>
                <a:gd name="connsiteX29" fmla="*/ 440748 w 600727"/>
                <a:gd name="connsiteY29" fmla="*/ 203961 h 599913"/>
                <a:gd name="connsiteX30" fmla="*/ 388651 w 600727"/>
                <a:gd name="connsiteY30" fmla="*/ 187386 h 599913"/>
                <a:gd name="connsiteX31" fmla="*/ 266759 w 600727"/>
                <a:gd name="connsiteY31" fmla="*/ 177078 h 599913"/>
                <a:gd name="connsiteX32" fmla="*/ 151680 w 600727"/>
                <a:gd name="connsiteY32" fmla="*/ 240333 h 599913"/>
                <a:gd name="connsiteX33" fmla="*/ 88518 w 600727"/>
                <a:gd name="connsiteY33" fmla="*/ 358658 h 599913"/>
                <a:gd name="connsiteX34" fmla="*/ 266478 w 600727"/>
                <a:gd name="connsiteY34" fmla="*/ 471459 h 599913"/>
                <a:gd name="connsiteX35" fmla="*/ 458268 w 600727"/>
                <a:gd name="connsiteY35" fmla="*/ 351292 h 599913"/>
                <a:gd name="connsiteX36" fmla="*/ 406632 w 600727"/>
                <a:gd name="connsiteY36" fmla="*/ 293741 h 599913"/>
                <a:gd name="connsiteX37" fmla="*/ 399716 w 600727"/>
                <a:gd name="connsiteY37" fmla="*/ 282691 h 599913"/>
                <a:gd name="connsiteX38" fmla="*/ 400177 w 600727"/>
                <a:gd name="connsiteY38" fmla="*/ 240794 h 599913"/>
                <a:gd name="connsiteX39" fmla="*/ 305665 w 600727"/>
                <a:gd name="connsiteY39" fmla="*/ 240333 h 599913"/>
                <a:gd name="connsiteX40" fmla="*/ 295523 w 600727"/>
                <a:gd name="connsiteY40" fmla="*/ 235269 h 599913"/>
                <a:gd name="connsiteX41" fmla="*/ 290912 w 600727"/>
                <a:gd name="connsiteY41" fmla="*/ 186005 h 599913"/>
                <a:gd name="connsiteX42" fmla="*/ 266759 w 600727"/>
                <a:gd name="connsiteY42" fmla="*/ 177078 h 599913"/>
                <a:gd name="connsiteX43" fmla="*/ 405364 w 600727"/>
                <a:gd name="connsiteY43" fmla="*/ 128778 h 599913"/>
                <a:gd name="connsiteX44" fmla="*/ 376665 w 600727"/>
                <a:gd name="connsiteY44" fmla="*/ 131216 h 599913"/>
                <a:gd name="connsiteX45" fmla="*/ 364217 w 600727"/>
                <a:gd name="connsiteY45" fmla="*/ 150554 h 599913"/>
                <a:gd name="connsiteX46" fmla="*/ 383580 w 600727"/>
                <a:gd name="connsiteY46" fmla="*/ 162985 h 599913"/>
                <a:gd name="connsiteX47" fmla="*/ 459190 w 600727"/>
                <a:gd name="connsiteY47" fmla="*/ 187386 h 599913"/>
                <a:gd name="connsiteX48" fmla="*/ 475787 w 600727"/>
                <a:gd name="connsiteY48" fmla="*/ 265195 h 599913"/>
                <a:gd name="connsiteX49" fmla="*/ 486391 w 600727"/>
                <a:gd name="connsiteY49" fmla="*/ 285453 h 599913"/>
                <a:gd name="connsiteX50" fmla="*/ 506676 w 600727"/>
                <a:gd name="connsiteY50" fmla="*/ 275324 h 599913"/>
                <a:gd name="connsiteX51" fmla="*/ 483163 w 600727"/>
                <a:gd name="connsiteY51" fmla="*/ 165747 h 599913"/>
                <a:gd name="connsiteX52" fmla="*/ 405364 w 600727"/>
                <a:gd name="connsiteY52" fmla="*/ 128778 h 599913"/>
                <a:gd name="connsiteX53" fmla="*/ 300594 w 600727"/>
                <a:gd name="connsiteY53" fmla="*/ 0 h 599913"/>
                <a:gd name="connsiteX54" fmla="*/ 600727 w 600727"/>
                <a:gd name="connsiteY54" fmla="*/ 300186 h 599913"/>
                <a:gd name="connsiteX55" fmla="*/ 300594 w 600727"/>
                <a:gd name="connsiteY55" fmla="*/ 599913 h 599913"/>
                <a:gd name="connsiteX56" fmla="*/ 0 w 600727"/>
                <a:gd name="connsiteY56" fmla="*/ 300186 h 599913"/>
                <a:gd name="connsiteX57" fmla="*/ 300594 w 600727"/>
                <a:gd name="connsiteY57" fmla="*/ 0 h 59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0727" h="599913">
                  <a:moveTo>
                    <a:pt x="223001" y="363277"/>
                  </a:moveTo>
                  <a:cubicBezTo>
                    <a:pt x="228705" y="361377"/>
                    <a:pt x="234928" y="361377"/>
                    <a:pt x="240229" y="363680"/>
                  </a:cubicBezTo>
                  <a:cubicBezTo>
                    <a:pt x="251292" y="368286"/>
                    <a:pt x="254980" y="380722"/>
                    <a:pt x="248066" y="391776"/>
                  </a:cubicBezTo>
                  <a:cubicBezTo>
                    <a:pt x="241151" y="402369"/>
                    <a:pt x="226862" y="406975"/>
                    <a:pt x="215799" y="402369"/>
                  </a:cubicBezTo>
                  <a:cubicBezTo>
                    <a:pt x="205197" y="397303"/>
                    <a:pt x="201970" y="384867"/>
                    <a:pt x="208884" y="374274"/>
                  </a:cubicBezTo>
                  <a:cubicBezTo>
                    <a:pt x="212111" y="368977"/>
                    <a:pt x="217297" y="365177"/>
                    <a:pt x="223001" y="363277"/>
                  </a:cubicBezTo>
                  <a:close/>
                  <a:moveTo>
                    <a:pt x="266976" y="352625"/>
                  </a:moveTo>
                  <a:cubicBezTo>
                    <a:pt x="271126" y="354008"/>
                    <a:pt x="272970" y="358617"/>
                    <a:pt x="270665" y="362765"/>
                  </a:cubicBezTo>
                  <a:cubicBezTo>
                    <a:pt x="267898" y="367374"/>
                    <a:pt x="262827" y="369217"/>
                    <a:pt x="258217" y="367374"/>
                  </a:cubicBezTo>
                  <a:cubicBezTo>
                    <a:pt x="254067" y="365530"/>
                    <a:pt x="252684" y="360921"/>
                    <a:pt x="255450" y="356773"/>
                  </a:cubicBezTo>
                  <a:cubicBezTo>
                    <a:pt x="257756" y="352625"/>
                    <a:pt x="262827" y="350782"/>
                    <a:pt x="266976" y="352625"/>
                  </a:cubicBezTo>
                  <a:close/>
                  <a:moveTo>
                    <a:pt x="248086" y="313386"/>
                  </a:moveTo>
                  <a:cubicBezTo>
                    <a:pt x="222785" y="315737"/>
                    <a:pt x="198845" y="330582"/>
                    <a:pt x="188128" y="352677"/>
                  </a:cubicBezTo>
                  <a:cubicBezTo>
                    <a:pt x="173378" y="382598"/>
                    <a:pt x="187667" y="415740"/>
                    <a:pt x="221316" y="426327"/>
                  </a:cubicBezTo>
                  <a:cubicBezTo>
                    <a:pt x="256347" y="437835"/>
                    <a:pt x="297371" y="420343"/>
                    <a:pt x="311660" y="388122"/>
                  </a:cubicBezTo>
                  <a:cubicBezTo>
                    <a:pt x="325949" y="356820"/>
                    <a:pt x="307973" y="324138"/>
                    <a:pt x="273402" y="315392"/>
                  </a:cubicBezTo>
                  <a:cubicBezTo>
                    <a:pt x="265105" y="313206"/>
                    <a:pt x="256520" y="312602"/>
                    <a:pt x="248086" y="313386"/>
                  </a:cubicBezTo>
                  <a:close/>
                  <a:moveTo>
                    <a:pt x="250355" y="279948"/>
                  </a:moveTo>
                  <a:cubicBezTo>
                    <a:pt x="320418" y="273044"/>
                    <a:pt x="380801" y="304345"/>
                    <a:pt x="385411" y="350376"/>
                  </a:cubicBezTo>
                  <a:cubicBezTo>
                    <a:pt x="390020" y="396407"/>
                    <a:pt x="336551" y="439216"/>
                    <a:pt x="266488" y="446121"/>
                  </a:cubicBezTo>
                  <a:cubicBezTo>
                    <a:pt x="196425" y="453025"/>
                    <a:pt x="136042" y="421724"/>
                    <a:pt x="131432" y="375693"/>
                  </a:cubicBezTo>
                  <a:cubicBezTo>
                    <a:pt x="126823" y="329662"/>
                    <a:pt x="179831" y="286853"/>
                    <a:pt x="250355" y="279948"/>
                  </a:cubicBezTo>
                  <a:close/>
                  <a:moveTo>
                    <a:pt x="388651" y="187386"/>
                  </a:moveTo>
                  <a:cubicBezTo>
                    <a:pt x="381275" y="189228"/>
                    <a:pt x="376204" y="196594"/>
                    <a:pt x="378048" y="203961"/>
                  </a:cubicBezTo>
                  <a:cubicBezTo>
                    <a:pt x="379431" y="211328"/>
                    <a:pt x="386807" y="216392"/>
                    <a:pt x="394645" y="214550"/>
                  </a:cubicBezTo>
                  <a:cubicBezTo>
                    <a:pt x="403405" y="212709"/>
                    <a:pt x="413086" y="215471"/>
                    <a:pt x="420002" y="222838"/>
                  </a:cubicBezTo>
                  <a:cubicBezTo>
                    <a:pt x="426456" y="230204"/>
                    <a:pt x="428300" y="240333"/>
                    <a:pt x="425534" y="249081"/>
                  </a:cubicBezTo>
                  <a:cubicBezTo>
                    <a:pt x="423229" y="256448"/>
                    <a:pt x="426917" y="264275"/>
                    <a:pt x="434294" y="266577"/>
                  </a:cubicBezTo>
                  <a:cubicBezTo>
                    <a:pt x="441670" y="268879"/>
                    <a:pt x="449508" y="264735"/>
                    <a:pt x="451813" y="257368"/>
                  </a:cubicBezTo>
                  <a:cubicBezTo>
                    <a:pt x="457807" y="239412"/>
                    <a:pt x="454118" y="219154"/>
                    <a:pt x="440748" y="203961"/>
                  </a:cubicBezTo>
                  <a:cubicBezTo>
                    <a:pt x="426917" y="189228"/>
                    <a:pt x="407093" y="183703"/>
                    <a:pt x="388651" y="187386"/>
                  </a:cubicBezTo>
                  <a:close/>
                  <a:moveTo>
                    <a:pt x="266759" y="177078"/>
                  </a:moveTo>
                  <a:cubicBezTo>
                    <a:pt x="236828" y="176538"/>
                    <a:pt x="191790" y="200278"/>
                    <a:pt x="151680" y="240333"/>
                  </a:cubicBezTo>
                  <a:cubicBezTo>
                    <a:pt x="112031" y="279928"/>
                    <a:pt x="88518" y="322286"/>
                    <a:pt x="88518" y="358658"/>
                  </a:cubicBezTo>
                  <a:cubicBezTo>
                    <a:pt x="88518" y="428641"/>
                    <a:pt x="178420" y="471459"/>
                    <a:pt x="266478" y="471459"/>
                  </a:cubicBezTo>
                  <a:cubicBezTo>
                    <a:pt x="381736" y="471459"/>
                    <a:pt x="458268" y="404700"/>
                    <a:pt x="458268" y="351292"/>
                  </a:cubicBezTo>
                  <a:cubicBezTo>
                    <a:pt x="458268" y="319524"/>
                    <a:pt x="431067" y="301107"/>
                    <a:pt x="406632" y="293741"/>
                  </a:cubicBezTo>
                  <a:cubicBezTo>
                    <a:pt x="400638" y="291899"/>
                    <a:pt x="396950" y="290518"/>
                    <a:pt x="399716" y="282691"/>
                  </a:cubicBezTo>
                  <a:cubicBezTo>
                    <a:pt x="406632" y="265656"/>
                    <a:pt x="407554" y="251383"/>
                    <a:pt x="400177" y="240794"/>
                  </a:cubicBezTo>
                  <a:cubicBezTo>
                    <a:pt x="386346" y="220996"/>
                    <a:pt x="348542" y="222377"/>
                    <a:pt x="305665" y="240333"/>
                  </a:cubicBezTo>
                  <a:cubicBezTo>
                    <a:pt x="305665" y="240333"/>
                    <a:pt x="291834" y="246319"/>
                    <a:pt x="295523" y="235269"/>
                  </a:cubicBezTo>
                  <a:cubicBezTo>
                    <a:pt x="301977" y="214090"/>
                    <a:pt x="301055" y="196134"/>
                    <a:pt x="290912" y="186005"/>
                  </a:cubicBezTo>
                  <a:cubicBezTo>
                    <a:pt x="285034" y="180135"/>
                    <a:pt x="276736" y="177257"/>
                    <a:pt x="266759" y="177078"/>
                  </a:cubicBezTo>
                  <a:close/>
                  <a:moveTo>
                    <a:pt x="405364" y="128778"/>
                  </a:moveTo>
                  <a:cubicBezTo>
                    <a:pt x="395769" y="128339"/>
                    <a:pt x="386116" y="129144"/>
                    <a:pt x="376665" y="131216"/>
                  </a:cubicBezTo>
                  <a:cubicBezTo>
                    <a:pt x="367905" y="133058"/>
                    <a:pt x="362373" y="141806"/>
                    <a:pt x="364217" y="150554"/>
                  </a:cubicBezTo>
                  <a:cubicBezTo>
                    <a:pt x="366061" y="159301"/>
                    <a:pt x="374820" y="164826"/>
                    <a:pt x="383580" y="162985"/>
                  </a:cubicBezTo>
                  <a:cubicBezTo>
                    <a:pt x="410320" y="156999"/>
                    <a:pt x="439365" y="165287"/>
                    <a:pt x="459190" y="187386"/>
                  </a:cubicBezTo>
                  <a:cubicBezTo>
                    <a:pt x="479014" y="209486"/>
                    <a:pt x="484546" y="238952"/>
                    <a:pt x="475787" y="265195"/>
                  </a:cubicBezTo>
                  <a:cubicBezTo>
                    <a:pt x="473021" y="273943"/>
                    <a:pt x="477631" y="282691"/>
                    <a:pt x="486391" y="285453"/>
                  </a:cubicBezTo>
                  <a:cubicBezTo>
                    <a:pt x="494689" y="288216"/>
                    <a:pt x="503910" y="283612"/>
                    <a:pt x="506676" y="275324"/>
                  </a:cubicBezTo>
                  <a:cubicBezTo>
                    <a:pt x="518663" y="238492"/>
                    <a:pt x="511286" y="196594"/>
                    <a:pt x="483163" y="165747"/>
                  </a:cubicBezTo>
                  <a:cubicBezTo>
                    <a:pt x="462416" y="142612"/>
                    <a:pt x="434149" y="130094"/>
                    <a:pt x="405364" y="128778"/>
                  </a:cubicBezTo>
                  <a:close/>
                  <a:moveTo>
                    <a:pt x="300594" y="0"/>
                  </a:moveTo>
                  <a:cubicBezTo>
                    <a:pt x="466566" y="0"/>
                    <a:pt x="600727" y="134439"/>
                    <a:pt x="600727" y="300186"/>
                  </a:cubicBezTo>
                  <a:cubicBezTo>
                    <a:pt x="600727" y="465934"/>
                    <a:pt x="466566" y="599913"/>
                    <a:pt x="300594" y="599913"/>
                  </a:cubicBezTo>
                  <a:cubicBezTo>
                    <a:pt x="134622" y="599913"/>
                    <a:pt x="0" y="465934"/>
                    <a:pt x="0" y="300186"/>
                  </a:cubicBezTo>
                  <a:cubicBezTo>
                    <a:pt x="0" y="134439"/>
                    <a:pt x="134622" y="0"/>
                    <a:pt x="300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4" name="iconfont-1142-850723">
              <a:extLst>
                <a:ext uri="{FF2B5EF4-FFF2-40B4-BE49-F238E27FC236}">
                  <a16:creationId xmlns:a16="http://schemas.microsoft.com/office/drawing/2014/main" id="{461A95A2-A550-4240-A817-B9C9BC80FFA4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1175683" y="6312401"/>
              <a:ext cx="231353" cy="231354"/>
            </a:xfrm>
            <a:custGeom>
              <a:avLst/>
              <a:gdLst>
                <a:gd name="T0" fmla="*/ 7268 w 10474"/>
                <a:gd name="T1" fmla="*/ 5233 h 10474"/>
                <a:gd name="T2" fmla="*/ 7029 w 10474"/>
                <a:gd name="T3" fmla="*/ 5480 h 10474"/>
                <a:gd name="T4" fmla="*/ 7268 w 10474"/>
                <a:gd name="T5" fmla="*/ 5702 h 10474"/>
                <a:gd name="T6" fmla="*/ 7566 w 10474"/>
                <a:gd name="T7" fmla="*/ 5480 h 10474"/>
                <a:gd name="T8" fmla="*/ 7268 w 10474"/>
                <a:gd name="T9" fmla="*/ 5233 h 10474"/>
                <a:gd name="T10" fmla="*/ 3454 w 10474"/>
                <a:gd name="T11" fmla="*/ 3484 h 10474"/>
                <a:gd name="T12" fmla="*/ 3087 w 10474"/>
                <a:gd name="T13" fmla="*/ 3782 h 10474"/>
                <a:gd name="T14" fmla="*/ 3454 w 10474"/>
                <a:gd name="T15" fmla="*/ 4081 h 10474"/>
                <a:gd name="T16" fmla="*/ 3761 w 10474"/>
                <a:gd name="T17" fmla="*/ 3782 h 10474"/>
                <a:gd name="T18" fmla="*/ 3454 w 10474"/>
                <a:gd name="T19" fmla="*/ 3484 h 10474"/>
                <a:gd name="T20" fmla="*/ 7805 w 10474"/>
                <a:gd name="T21" fmla="*/ 7400 h 10474"/>
                <a:gd name="T22" fmla="*/ 7976 w 10474"/>
                <a:gd name="T23" fmla="*/ 8014 h 10474"/>
                <a:gd name="T24" fmla="*/ 7328 w 10474"/>
                <a:gd name="T25" fmla="*/ 7648 h 10474"/>
                <a:gd name="T26" fmla="*/ 6594 w 10474"/>
                <a:gd name="T27" fmla="*/ 7775 h 10474"/>
                <a:gd name="T28" fmla="*/ 4546 w 10474"/>
                <a:gd name="T29" fmla="*/ 6018 h 10474"/>
                <a:gd name="T30" fmla="*/ 6594 w 10474"/>
                <a:gd name="T31" fmla="*/ 4260 h 10474"/>
                <a:gd name="T32" fmla="*/ 8650 w 10474"/>
                <a:gd name="T33" fmla="*/ 6018 h 10474"/>
                <a:gd name="T34" fmla="*/ 7805 w 10474"/>
                <a:gd name="T35" fmla="*/ 7400 h 10474"/>
                <a:gd name="T36" fmla="*/ 4247 w 10474"/>
                <a:gd name="T37" fmla="*/ 6564 h 10474"/>
                <a:gd name="T38" fmla="*/ 3402 w 10474"/>
                <a:gd name="T39" fmla="*/ 6427 h 10474"/>
                <a:gd name="T40" fmla="*/ 2541 w 10474"/>
                <a:gd name="T41" fmla="*/ 6863 h 10474"/>
                <a:gd name="T42" fmla="*/ 2788 w 10474"/>
                <a:gd name="T43" fmla="*/ 6129 h 10474"/>
                <a:gd name="T44" fmla="*/ 1824 w 10474"/>
                <a:gd name="T45" fmla="*/ 4507 h 10474"/>
                <a:gd name="T46" fmla="*/ 4247 w 10474"/>
                <a:gd name="T47" fmla="*/ 2460 h 10474"/>
                <a:gd name="T48" fmla="*/ 6679 w 10474"/>
                <a:gd name="T49" fmla="*/ 4149 h 10474"/>
                <a:gd name="T50" fmla="*/ 6449 w 10474"/>
                <a:gd name="T51" fmla="*/ 4124 h 10474"/>
                <a:gd name="T52" fmla="*/ 4392 w 10474"/>
                <a:gd name="T53" fmla="*/ 6043 h 10474"/>
                <a:gd name="T54" fmla="*/ 4461 w 10474"/>
                <a:gd name="T55" fmla="*/ 6555 h 10474"/>
                <a:gd name="T56" fmla="*/ 4247 w 10474"/>
                <a:gd name="T57" fmla="*/ 6564 h 10474"/>
                <a:gd name="T58" fmla="*/ 5237 w 10474"/>
                <a:gd name="T59" fmla="*/ 0 h 10474"/>
                <a:gd name="T60" fmla="*/ 0 w 10474"/>
                <a:gd name="T61" fmla="*/ 5237 h 10474"/>
                <a:gd name="T62" fmla="*/ 5237 w 10474"/>
                <a:gd name="T63" fmla="*/ 10474 h 10474"/>
                <a:gd name="T64" fmla="*/ 10474 w 10474"/>
                <a:gd name="T65" fmla="*/ 5237 h 10474"/>
                <a:gd name="T66" fmla="*/ 5237 w 10474"/>
                <a:gd name="T67" fmla="*/ 0 h 10474"/>
                <a:gd name="T68" fmla="*/ 5143 w 10474"/>
                <a:gd name="T69" fmla="*/ 4081 h 10474"/>
                <a:gd name="T70" fmla="*/ 5450 w 10474"/>
                <a:gd name="T71" fmla="*/ 3782 h 10474"/>
                <a:gd name="T72" fmla="*/ 5143 w 10474"/>
                <a:gd name="T73" fmla="*/ 3484 h 10474"/>
                <a:gd name="T74" fmla="*/ 4793 w 10474"/>
                <a:gd name="T75" fmla="*/ 3782 h 10474"/>
                <a:gd name="T76" fmla="*/ 5143 w 10474"/>
                <a:gd name="T77" fmla="*/ 4081 h 10474"/>
                <a:gd name="T78" fmla="*/ 5928 w 10474"/>
                <a:gd name="T79" fmla="*/ 5233 h 10474"/>
                <a:gd name="T80" fmla="*/ 5689 w 10474"/>
                <a:gd name="T81" fmla="*/ 5480 h 10474"/>
                <a:gd name="T82" fmla="*/ 5928 w 10474"/>
                <a:gd name="T83" fmla="*/ 5702 h 10474"/>
                <a:gd name="T84" fmla="*/ 6235 w 10474"/>
                <a:gd name="T85" fmla="*/ 5480 h 10474"/>
                <a:gd name="T86" fmla="*/ 5928 w 10474"/>
                <a:gd name="T87" fmla="*/ 5233 h 10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74" h="10474">
                  <a:moveTo>
                    <a:pt x="7268" y="5233"/>
                  </a:moveTo>
                  <a:cubicBezTo>
                    <a:pt x="7140" y="5233"/>
                    <a:pt x="7029" y="5344"/>
                    <a:pt x="7029" y="5480"/>
                  </a:cubicBezTo>
                  <a:cubicBezTo>
                    <a:pt x="7029" y="5591"/>
                    <a:pt x="7140" y="5702"/>
                    <a:pt x="7268" y="5702"/>
                  </a:cubicBezTo>
                  <a:cubicBezTo>
                    <a:pt x="7438" y="5702"/>
                    <a:pt x="7566" y="5591"/>
                    <a:pt x="7566" y="5480"/>
                  </a:cubicBezTo>
                  <a:cubicBezTo>
                    <a:pt x="7566" y="5344"/>
                    <a:pt x="7438" y="5233"/>
                    <a:pt x="7268" y="5233"/>
                  </a:cubicBezTo>
                  <a:close/>
                  <a:moveTo>
                    <a:pt x="3454" y="3484"/>
                  </a:moveTo>
                  <a:cubicBezTo>
                    <a:pt x="3274" y="3484"/>
                    <a:pt x="3087" y="3594"/>
                    <a:pt x="3087" y="3782"/>
                  </a:cubicBezTo>
                  <a:cubicBezTo>
                    <a:pt x="3087" y="3961"/>
                    <a:pt x="3274" y="4081"/>
                    <a:pt x="3454" y="4081"/>
                  </a:cubicBezTo>
                  <a:cubicBezTo>
                    <a:pt x="3624" y="4081"/>
                    <a:pt x="3761" y="3961"/>
                    <a:pt x="3761" y="3782"/>
                  </a:cubicBezTo>
                  <a:cubicBezTo>
                    <a:pt x="3761" y="3594"/>
                    <a:pt x="3624" y="3484"/>
                    <a:pt x="3454" y="3484"/>
                  </a:cubicBezTo>
                  <a:close/>
                  <a:moveTo>
                    <a:pt x="7805" y="7400"/>
                  </a:moveTo>
                  <a:lnTo>
                    <a:pt x="7976" y="8014"/>
                  </a:lnTo>
                  <a:lnTo>
                    <a:pt x="7328" y="7648"/>
                  </a:lnTo>
                  <a:cubicBezTo>
                    <a:pt x="7080" y="7699"/>
                    <a:pt x="6841" y="7775"/>
                    <a:pt x="6594" y="7775"/>
                  </a:cubicBezTo>
                  <a:cubicBezTo>
                    <a:pt x="5450" y="7775"/>
                    <a:pt x="4546" y="6990"/>
                    <a:pt x="4546" y="6018"/>
                  </a:cubicBezTo>
                  <a:cubicBezTo>
                    <a:pt x="4546" y="5045"/>
                    <a:pt x="5450" y="4260"/>
                    <a:pt x="6594" y="4260"/>
                  </a:cubicBezTo>
                  <a:cubicBezTo>
                    <a:pt x="7677" y="4260"/>
                    <a:pt x="8650" y="5045"/>
                    <a:pt x="8650" y="6018"/>
                  </a:cubicBezTo>
                  <a:cubicBezTo>
                    <a:pt x="8650" y="6564"/>
                    <a:pt x="8283" y="7050"/>
                    <a:pt x="7805" y="7400"/>
                  </a:cubicBezTo>
                  <a:close/>
                  <a:moveTo>
                    <a:pt x="4247" y="6564"/>
                  </a:moveTo>
                  <a:cubicBezTo>
                    <a:pt x="3931" y="6564"/>
                    <a:pt x="3701" y="6513"/>
                    <a:pt x="3402" y="6427"/>
                  </a:cubicBezTo>
                  <a:lnTo>
                    <a:pt x="2541" y="6863"/>
                  </a:lnTo>
                  <a:lnTo>
                    <a:pt x="2788" y="6129"/>
                  </a:lnTo>
                  <a:cubicBezTo>
                    <a:pt x="2182" y="5702"/>
                    <a:pt x="1824" y="5165"/>
                    <a:pt x="1824" y="4507"/>
                  </a:cubicBezTo>
                  <a:cubicBezTo>
                    <a:pt x="1824" y="3347"/>
                    <a:pt x="2916" y="2460"/>
                    <a:pt x="4247" y="2460"/>
                  </a:cubicBezTo>
                  <a:cubicBezTo>
                    <a:pt x="5425" y="2460"/>
                    <a:pt x="6474" y="3159"/>
                    <a:pt x="6679" y="4149"/>
                  </a:cubicBezTo>
                  <a:cubicBezTo>
                    <a:pt x="6594" y="4132"/>
                    <a:pt x="6517" y="4124"/>
                    <a:pt x="6449" y="4124"/>
                  </a:cubicBezTo>
                  <a:cubicBezTo>
                    <a:pt x="5288" y="4124"/>
                    <a:pt x="4392" y="4994"/>
                    <a:pt x="4392" y="6043"/>
                  </a:cubicBezTo>
                  <a:cubicBezTo>
                    <a:pt x="4392" y="6223"/>
                    <a:pt x="4418" y="6385"/>
                    <a:pt x="4461" y="6555"/>
                  </a:cubicBezTo>
                  <a:cubicBezTo>
                    <a:pt x="4392" y="6564"/>
                    <a:pt x="4315" y="6564"/>
                    <a:pt x="4247" y="6564"/>
                  </a:cubicBezTo>
                  <a:close/>
                  <a:moveTo>
                    <a:pt x="5237" y="0"/>
                  </a:moveTo>
                  <a:cubicBezTo>
                    <a:pt x="2345" y="0"/>
                    <a:pt x="0" y="2345"/>
                    <a:pt x="0" y="5237"/>
                  </a:cubicBezTo>
                  <a:cubicBezTo>
                    <a:pt x="0" y="8129"/>
                    <a:pt x="2345" y="10474"/>
                    <a:pt x="5237" y="10474"/>
                  </a:cubicBezTo>
                  <a:cubicBezTo>
                    <a:pt x="8129" y="10474"/>
                    <a:pt x="10474" y="8129"/>
                    <a:pt x="10474" y="5237"/>
                  </a:cubicBezTo>
                  <a:cubicBezTo>
                    <a:pt x="10474" y="2345"/>
                    <a:pt x="8129" y="0"/>
                    <a:pt x="5237" y="0"/>
                  </a:cubicBezTo>
                  <a:close/>
                  <a:moveTo>
                    <a:pt x="5143" y="4081"/>
                  </a:moveTo>
                  <a:cubicBezTo>
                    <a:pt x="5331" y="4081"/>
                    <a:pt x="5450" y="3961"/>
                    <a:pt x="5450" y="3782"/>
                  </a:cubicBezTo>
                  <a:cubicBezTo>
                    <a:pt x="5450" y="3594"/>
                    <a:pt x="5331" y="3484"/>
                    <a:pt x="5143" y="3484"/>
                  </a:cubicBezTo>
                  <a:cubicBezTo>
                    <a:pt x="4964" y="3484"/>
                    <a:pt x="4793" y="3594"/>
                    <a:pt x="4793" y="3782"/>
                  </a:cubicBezTo>
                  <a:cubicBezTo>
                    <a:pt x="4793" y="3961"/>
                    <a:pt x="4964" y="4081"/>
                    <a:pt x="5143" y="4081"/>
                  </a:cubicBezTo>
                  <a:close/>
                  <a:moveTo>
                    <a:pt x="5928" y="5233"/>
                  </a:moveTo>
                  <a:cubicBezTo>
                    <a:pt x="5809" y="5233"/>
                    <a:pt x="5689" y="5344"/>
                    <a:pt x="5689" y="5480"/>
                  </a:cubicBezTo>
                  <a:cubicBezTo>
                    <a:pt x="5689" y="5591"/>
                    <a:pt x="5809" y="5702"/>
                    <a:pt x="5928" y="5702"/>
                  </a:cubicBezTo>
                  <a:cubicBezTo>
                    <a:pt x="6107" y="5702"/>
                    <a:pt x="6235" y="5591"/>
                    <a:pt x="6235" y="5480"/>
                  </a:cubicBezTo>
                  <a:cubicBezTo>
                    <a:pt x="6235" y="5344"/>
                    <a:pt x="6107" y="5233"/>
                    <a:pt x="5928" y="52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910F46C-BD48-4F31-B697-C42CF1ABDF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091" y="4005891"/>
            <a:ext cx="7228398" cy="808696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4000" b="1" kern="1200" dirty="0" smtClean="0">
                <a:solidFill>
                  <a:schemeClr val="bg1"/>
                </a:solidFill>
                <a:effectLst>
                  <a:outerShdw blurRad="127000" dist="63500" dir="2700000" algn="tl" rotWithShape="0">
                    <a:schemeClr val="tx1">
                      <a:alpha val="10000"/>
                    </a:schemeClr>
                  </a:outerShdw>
                </a:effectLst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</a:t>
            </a:r>
            <a:endParaRPr lang="zh-CN" altLang="en-US" dirty="0"/>
          </a:p>
        </p:txBody>
      </p:sp>
      <p:sp>
        <p:nvSpPr>
          <p:cNvPr id="41" name="文本占位符 39">
            <a:extLst>
              <a:ext uri="{FF2B5EF4-FFF2-40B4-BE49-F238E27FC236}">
                <a16:creationId xmlns:a16="http://schemas.microsoft.com/office/drawing/2014/main" id="{D3331EF5-BE4E-46AC-B330-C3E3A32A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091" y="4771380"/>
            <a:ext cx="7228398" cy="343760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1800" b="0" kern="1200" dirty="0" smtClean="0">
                <a:solidFill>
                  <a:schemeClr val="bg1"/>
                </a:solidFill>
                <a:effectLst/>
                <a:latin typeface="Lato Light" panose="020F04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8A375-2067-45CA-BA47-6E052AB51E86}"/>
              </a:ext>
            </a:extLst>
          </p:cNvPr>
          <p:cNvSpPr/>
          <p:nvPr userDrawn="1"/>
        </p:nvSpPr>
        <p:spPr>
          <a:xfrm>
            <a:off x="845820" y="6253507"/>
            <a:ext cx="4739640" cy="274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2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b="1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+mn-ea"/>
                <a:cs typeface="Lato Light" panose="020F0402020204030203" pitchFamily="34" charset="0"/>
              </a:rPr>
              <a:t>City University of Hong Kong </a:t>
            </a:r>
            <a:r>
              <a:rPr lang="en-US" altLang="zh-CN" sz="1100" b="0" i="0" baseline="0" dirty="0">
                <a:solidFill>
                  <a:schemeClr val="bg1"/>
                </a:solidFill>
                <a:latin typeface="Lato Light" panose="020F0402020204030203" pitchFamily="34" charset="0"/>
                <a:ea typeface="Lato Light" charset="0"/>
                <a:cs typeface="Lato Light" panose="020F0402020204030203" pitchFamily="34" charset="0"/>
              </a:rPr>
              <a:t>|  </a:t>
            </a:r>
            <a:r>
              <a:rPr lang="en-US" altLang="zh-CN" sz="1100" b="0" i="0" kern="1200" baseline="0" dirty="0">
                <a:solidFill>
                  <a:schemeClr val="bg1"/>
                </a:solidFill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t>www.cityu.edu.hk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FC3E3A74-F351-CFCE-3F7D-62BDD1137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34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F8318-8799-4D0F-B91E-E303FA5569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1" y="-2977"/>
            <a:ext cx="14629748" cy="68580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13A082D5-6CF6-4905-9BE3-622716D49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9879" y="2523291"/>
            <a:ext cx="10531784" cy="93331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 Thanks for your attention.</a:t>
            </a:r>
            <a:endParaRPr lang="zh-CN" altLang="en-US" dirty="0"/>
          </a:p>
        </p:txBody>
      </p:sp>
      <p:sp>
        <p:nvSpPr>
          <p:cNvPr id="12" name="文本占位符 8">
            <a:extLst>
              <a:ext uri="{FF2B5EF4-FFF2-40B4-BE49-F238E27FC236}">
                <a16:creationId xmlns:a16="http://schemas.microsoft.com/office/drawing/2014/main" id="{4783FE10-2CAC-4096-B7BB-C45D748CA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883" y="3699996"/>
            <a:ext cx="6213781" cy="3112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Signature</a:t>
            </a:r>
          </a:p>
        </p:txBody>
      </p:sp>
      <p:sp>
        <p:nvSpPr>
          <p:cNvPr id="14" name="文本占位符 8">
            <a:extLst>
              <a:ext uri="{FF2B5EF4-FFF2-40B4-BE49-F238E27FC236}">
                <a16:creationId xmlns:a16="http://schemas.microsoft.com/office/drawing/2014/main" id="{A3B75950-C6FA-431A-A533-17D6A0513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9883" y="4053213"/>
            <a:ext cx="6213781" cy="313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Date</a:t>
            </a:r>
            <a:endParaRPr lang="zh-CN" altLang="en-US" sz="1600" b="0" dirty="0">
              <a:solidFill>
                <a:schemeClr val="bg1"/>
              </a:solidFill>
              <a:latin typeface="Lato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B7980C-64B9-4684-823C-10D4A312E0EF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EE97FFC-2028-1E16-6D6D-F8BF4EB954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8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6E9015-E6DE-45E4-8091-B8909CC6991C}"/>
              </a:ext>
            </a:extLst>
          </p:cNvPr>
          <p:cNvSpPr/>
          <p:nvPr userDrawn="1"/>
        </p:nvSpPr>
        <p:spPr>
          <a:xfrm>
            <a:off x="0" y="0"/>
            <a:ext cx="14630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6C3BF-8923-4A17-9091-23133505852B}"/>
              </a:ext>
            </a:extLst>
          </p:cNvPr>
          <p:cNvSpPr/>
          <p:nvPr userDrawn="1"/>
        </p:nvSpPr>
        <p:spPr>
          <a:xfrm>
            <a:off x="125634" y="91159"/>
            <a:ext cx="14379137" cy="66756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77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9A64A6B-5FFA-FDB5-9FE1-7285A189C2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3439" y="325087"/>
            <a:ext cx="1955488" cy="91430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F5E4A-5DD0-8C82-1E31-78017908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9042" y="6284866"/>
            <a:ext cx="672323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06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365126"/>
            <a:ext cx="12618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1825625"/>
            <a:ext cx="126187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81897-A220-4663-9F0C-5A621E680842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6356351"/>
            <a:ext cx="4937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8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668" r:id="rId14"/>
    <p:sldLayoutId id="2147483662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BC74D01-02AC-40DE-89FB-F02D0CE3F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7438" y="2103198"/>
            <a:ext cx="10374075" cy="1479552"/>
          </a:xfrm>
        </p:spPr>
        <p:txBody>
          <a:bodyPr>
            <a:normAutofit/>
          </a:bodyPr>
          <a:lstStyle/>
          <a:p>
            <a:pPr lvl="0"/>
            <a:r>
              <a:rPr lang="en-US" altLang="zh-CN" sz="6000" b="1" dirty="0"/>
              <a:t>260520 Meeting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F33473-6FC5-481D-AF7A-136DBDC0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7435" y="3780248"/>
            <a:ext cx="5104733" cy="29707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Dylan Junluo CHEN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7D012C-6AD2-43C7-8A11-57F4111F59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77435" y="4090677"/>
            <a:ext cx="5104733" cy="297070"/>
          </a:xfrm>
        </p:spPr>
        <p:txBody>
          <a:bodyPr/>
          <a:lstStyle/>
          <a:p>
            <a:r>
              <a:rPr lang="en-US" altLang="zh-CN" dirty="0"/>
              <a:t>Supervisor: Ben LIU &amp; Xin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85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764C-E9BD-6BA6-160D-979CE5DA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9747D-6D8E-0190-463D-960F54C7BB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AEEC6F-59BA-0FBB-4F2F-505BB9666E25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928889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围绕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competition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逻辑的两个</a:t>
            </a:r>
            <a:r>
              <a:rPr lang="zh-CN" altLang="en-US" sz="1500" dirty="0"/>
              <a:t>故事</a:t>
            </a:r>
            <a:r>
              <a:rPr lang="en-US" altLang="zh-CN" sz="1500" dirty="0"/>
              <a:t>(contribution</a:t>
            </a:r>
            <a:r>
              <a:rPr lang="zh-CN" altLang="en-US" sz="1500" dirty="0"/>
              <a:t>和</a:t>
            </a:r>
            <a:r>
              <a:rPr lang="en-US" altLang="zh-CN" sz="1500" dirty="0"/>
              <a:t>innovation)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，寻找可行的交互结果</a:t>
            </a:r>
            <a:endParaRPr lang="en-US" altLang="en-US" sz="1300" dirty="0">
              <a:ea typeface="微软雅黑" panose="020B0503020204020204" pitchFamily="34" charset="-122"/>
              <a:cs typeface="+mn-cs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en-US" sz="1500" dirty="0" err="1">
                <a:ea typeface="微软雅黑" panose="020B0503020204020204" pitchFamily="34" charset="-122"/>
                <a:cs typeface="+mn-cs"/>
              </a:rPr>
              <a:t>做了基于</a:t>
            </a:r>
            <a:r>
              <a:rPr lang="en-US" altLang="zh-CN" sz="1500" dirty="0" err="1">
                <a:ea typeface="微软雅黑" panose="020B0503020204020204" pitchFamily="34" charset="-122"/>
                <a:cs typeface="+mn-cs"/>
              </a:rPr>
              <a:t>opus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4.7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以及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deepseek-v4-pro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的质量度量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整理了当前的可用的结果</a:t>
            </a:r>
            <a:endParaRPr lang="en-US" altLang="zh-CN" sz="1500" dirty="0">
              <a:ea typeface="微软雅黑" panose="020B0503020204020204" pitchFamily="34" charset="-122"/>
              <a:cs typeface="+mn-cs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en-US" sz="1500" dirty="0" err="1">
                <a:ea typeface="微软雅黑" panose="020B0503020204020204" pitchFamily="34" charset="-122"/>
                <a:cs typeface="+mn-cs"/>
              </a:rPr>
              <a:t>做了之前提到的lexicon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-based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DV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，没有显著结果。</a:t>
            </a:r>
            <a:endParaRPr lang="en-US" altLang="en-US" sz="1500" dirty="0"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02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66BA-FF90-440B-16CF-AC7A4367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8CE4908-CD15-2245-AA63-B415C1805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238" y="460609"/>
            <a:ext cx="8590176" cy="6238398"/>
          </a:xfrm>
          <a:prstGeom prst="rect">
            <a:avLst/>
          </a:prstGeom>
        </p:spPr>
      </p:pic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09FAFBB-FDB5-3975-E20B-A7ADAF122E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3810490" cy="718820"/>
          </a:xfrm>
        </p:spPr>
        <p:txBody>
          <a:bodyPr/>
          <a:lstStyle/>
          <a:p>
            <a:r>
              <a:rPr lang="en-US" altLang="zh-CN" dirty="0"/>
              <a:t>Opus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 err="1"/>
              <a:t>Deepseek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91F958F-B66E-3385-AFDD-49D0FB146D4D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810490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zh-CN" altLang="en-US" sz="1500" dirty="0">
                <a:cs typeface="Times New Roman" panose="02020603050405020304" pitchFamily="18" charset="0"/>
              </a:rPr>
              <a:t>所有的分析都是</a:t>
            </a:r>
            <a:endParaRPr lang="en-US" altLang="zh-CN" sz="1500" dirty="0">
              <a:cs typeface="Times New Roman" panose="02020603050405020304" pitchFamily="18" charset="0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zh-CN" sz="1050" b="1" dirty="0" err="1"/>
              <a:t>Treament</a:t>
            </a:r>
            <a:r>
              <a:rPr lang="zh-CN" altLang="en-US" sz="1050" b="1" dirty="0"/>
              <a:t> </a:t>
            </a:r>
            <a:r>
              <a:rPr lang="en-US" altLang="zh-CN" sz="1050" b="1" dirty="0"/>
              <a:t>+</a:t>
            </a:r>
            <a:r>
              <a:rPr lang="zh-CN" altLang="en-US" sz="1050" b="1" dirty="0"/>
              <a:t> </a:t>
            </a:r>
            <a:r>
              <a:rPr lang="en-US" altLang="zh-CN" sz="1050" b="1" dirty="0" err="1"/>
              <a:t>treatment:AILength</a:t>
            </a:r>
            <a:r>
              <a:rPr lang="zh-CN" altLang="en-US" sz="1050" b="1" dirty="0"/>
              <a:t> </a:t>
            </a:r>
            <a:r>
              <a:rPr lang="en-US" altLang="zh-CN" sz="1050" b="1" dirty="0"/>
              <a:t>+</a:t>
            </a:r>
            <a:r>
              <a:rPr lang="zh-CN" altLang="en-US" sz="1050" b="1" dirty="0"/>
              <a:t> </a:t>
            </a:r>
            <a:r>
              <a:rPr lang="en-US" altLang="zh-CN" sz="1050" b="1" dirty="0" err="1"/>
              <a:t>treatment:Sim</a:t>
            </a:r>
            <a:r>
              <a:rPr lang="zh-CN" altLang="en-US" sz="1050" b="1" dirty="0"/>
              <a:t> </a:t>
            </a:r>
            <a:r>
              <a:rPr lang="en-US" altLang="zh-CN" sz="1050" b="1" dirty="0"/>
              <a:t>w/</a:t>
            </a:r>
            <a:r>
              <a:rPr lang="zh-CN" altLang="en-US" sz="1050" b="1" dirty="0"/>
              <a:t> </a:t>
            </a:r>
            <a:r>
              <a:rPr lang="en-US" altLang="zh-CN" sz="1050" b="1" dirty="0"/>
              <a:t>XXX</a:t>
            </a:r>
          </a:p>
          <a:p>
            <a:pPr marL="252000" lvl="1" indent="0" defTabSz="914327">
              <a:lnSpc>
                <a:spcPct val="120000"/>
              </a:lnSpc>
              <a:buNone/>
            </a:pPr>
            <a:endParaRPr 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3578953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7E3D-D584-F701-7E5D-8D482A27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4D22BD3-F819-225E-ACE9-7E63D88370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091"/>
          <a:stretch>
            <a:fillRect/>
          </a:stretch>
        </p:blipFill>
        <p:spPr>
          <a:xfrm>
            <a:off x="3020112" y="1064113"/>
            <a:ext cx="8590176" cy="2364887"/>
          </a:xfrm>
          <a:prstGeom prst="rect">
            <a:avLst/>
          </a:prstGeom>
        </p:spPr>
      </p:pic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548A1F89-7511-6799-F53C-560FACB790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3810490" cy="718820"/>
          </a:xfrm>
        </p:spPr>
        <p:txBody>
          <a:bodyPr/>
          <a:lstStyle/>
          <a:p>
            <a:r>
              <a:rPr lang="en-US" altLang="zh-CN" dirty="0"/>
              <a:t>Opus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 err="1"/>
              <a:t>Deepseek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CB6346-4542-3417-B25E-0EC0A3508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620443"/>
            <a:ext cx="7772400" cy="214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2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8118F-C603-2BA6-A9FE-9D8E5BD68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AC5F4E78-CA3D-58C0-AADE-5299A0309C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3810490" cy="718820"/>
          </a:xfrm>
        </p:spPr>
        <p:txBody>
          <a:bodyPr/>
          <a:lstStyle/>
          <a:p>
            <a:r>
              <a:rPr lang="en-US" altLang="zh-CN" dirty="0"/>
              <a:t>Opus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 err="1"/>
              <a:t>Deepseek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E3442D-D6AB-EEAA-B5AE-3DB22E36A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890190"/>
              </p:ext>
            </p:extLst>
          </p:nvPr>
        </p:nvGraphicFramePr>
        <p:xfrm>
          <a:off x="1089977" y="2540726"/>
          <a:ext cx="5501005" cy="3945264"/>
        </p:xfrm>
        <a:graphic>
          <a:graphicData uri="http://schemas.openxmlformats.org/drawingml/2006/table">
            <a:tbl>
              <a:tblPr firstRow="1" firstCol="1" bandRow="1"/>
              <a:tblGrid>
                <a:gridCol w="1497330">
                  <a:extLst>
                    <a:ext uri="{9D8B030D-6E8A-4147-A177-3AD203B41FA5}">
                      <a16:colId xmlns:a16="http://schemas.microsoft.com/office/drawing/2014/main" val="4135568713"/>
                    </a:ext>
                  </a:extLst>
                </a:gridCol>
                <a:gridCol w="711835">
                  <a:extLst>
                    <a:ext uri="{9D8B030D-6E8A-4147-A177-3AD203B41FA5}">
                      <a16:colId xmlns:a16="http://schemas.microsoft.com/office/drawing/2014/main" val="92700847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21363991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405541110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309282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DV: # human answers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DV: first human answer harzard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792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(3)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73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-0.046***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0.223**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-0.145***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1.158***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14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(0.084)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(0.042)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(0.313)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160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Length (log, fillNA)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-0.042**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-0.230***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388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(0.053)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752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Sim w/ DeepSeek (fillNA)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-0.050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0.028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453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(0.049)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(0.192)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776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Num. obs.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3613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3559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3613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3559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08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(full model)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2.963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2.942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937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(full model): p-value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181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(proj model)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10.572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10.166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73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(proj model): p-value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052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14406.318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14143.352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53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Max. R2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0.983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0.982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17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Num. events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2748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444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Missings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961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PH test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39694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04FA4D-E7A1-26C4-32F7-E105C8CCA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151652"/>
              </p:ext>
            </p:extLst>
          </p:nvPr>
        </p:nvGraphicFramePr>
        <p:xfrm>
          <a:off x="8324090" y="2981576"/>
          <a:ext cx="5486400" cy="3063564"/>
        </p:xfrm>
        <a:graphic>
          <a:graphicData uri="http://schemas.openxmlformats.org/drawingml/2006/table">
            <a:tbl>
              <a:tblPr firstRow="1" firstCol="1" bandRow="1"/>
              <a:tblGrid>
                <a:gridCol w="1497330">
                  <a:extLst>
                    <a:ext uri="{9D8B030D-6E8A-4147-A177-3AD203B41FA5}">
                      <a16:colId xmlns:a16="http://schemas.microsoft.com/office/drawing/2014/main" val="2812359330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3545338219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88079785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64632876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571891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DV: Answer 1–2 Similarity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DV: Human 1–2 Similarity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886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(3)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(4)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088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0.029**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-0.182**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-0.024*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-0.046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68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(0.009)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(0.060)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(0.112)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555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Length (log, fillNA)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72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(0.019)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502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Sim w/ DeepSeek (fillNA)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0.348***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0.023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964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(0.034)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(0.064)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528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Num. obs.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1913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1884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1162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1146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054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(full model)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1.451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2.079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1.170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1.130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861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(full model): p-value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0.076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0.133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410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(proj model)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3.218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6.385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2.154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2.048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665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(proj model): p-value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92508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13CF5CC-E514-6FCA-D8DF-E9B1BA48B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663956"/>
            <a:ext cx="7772400" cy="182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3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62AA4-11CF-3347-320E-D6F5A89FD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4BE02DA-B4C2-FD63-76A0-67C2D3498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309880"/>
            <a:ext cx="13810490" cy="718820"/>
          </a:xfrm>
        </p:spPr>
        <p:txBody>
          <a:bodyPr/>
          <a:lstStyle/>
          <a:p>
            <a:r>
              <a:rPr lang="en-US" altLang="zh-CN" dirty="0"/>
              <a:t>Lexicon-based</a:t>
            </a:r>
            <a:r>
              <a:rPr lang="zh-CN" altLang="en-US" dirty="0"/>
              <a:t> </a:t>
            </a:r>
            <a:r>
              <a:rPr lang="en-US" altLang="zh-CN" dirty="0"/>
              <a:t>DV</a:t>
            </a:r>
            <a:r>
              <a:rPr lang="zh-CN" altLang="en-US" dirty="0"/>
              <a:t> </a:t>
            </a:r>
            <a:r>
              <a:rPr lang="en-US" altLang="zh-CN" sz="2000" dirty="0"/>
              <a:t>(answer</a:t>
            </a:r>
            <a:r>
              <a:rPr lang="zh-CN" altLang="en-US" sz="2000" dirty="0"/>
              <a:t> </a:t>
            </a:r>
            <a:r>
              <a:rPr lang="en-US" altLang="zh-CN" sz="2000" dirty="0"/>
              <a:t>level</a:t>
            </a:r>
            <a:r>
              <a:rPr lang="zh-CN" altLang="en-US" sz="2000" dirty="0"/>
              <a:t> </a:t>
            </a:r>
            <a:r>
              <a:rPr lang="en-US" altLang="zh-CN" sz="2000" dirty="0"/>
              <a:t>analysis</a:t>
            </a:r>
            <a:r>
              <a:rPr lang="zh-CN" altLang="en-US" sz="2000" dirty="0"/>
              <a:t> </a:t>
            </a:r>
            <a:r>
              <a:rPr lang="en-US" altLang="zh-CN" sz="2000" dirty="0"/>
              <a:t>like</a:t>
            </a:r>
            <a:r>
              <a:rPr lang="zh-CN" altLang="en-US" sz="2000" dirty="0"/>
              <a:t> </a:t>
            </a:r>
            <a:r>
              <a:rPr lang="en-US" altLang="zh-CN" sz="2000" dirty="0"/>
              <a:t>innovation)</a:t>
            </a:r>
            <a:endParaRPr lang="en-US" altLang="zh-C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28213E-EF82-8DF1-0250-7053D2E8D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382159"/>
              </p:ext>
            </p:extLst>
          </p:nvPr>
        </p:nvGraphicFramePr>
        <p:xfrm>
          <a:off x="8235819" y="1957601"/>
          <a:ext cx="4762245" cy="4351335"/>
        </p:xfrm>
        <a:graphic>
          <a:graphicData uri="http://schemas.openxmlformats.org/drawingml/2006/table">
            <a:tbl>
              <a:tblPr firstRow="1" firstCol="1" bandRow="1"/>
              <a:tblGrid>
                <a:gridCol w="1232262">
                  <a:extLst>
                    <a:ext uri="{9D8B030D-6E8A-4147-A177-3AD203B41FA5}">
                      <a16:colId xmlns:a16="http://schemas.microsoft.com/office/drawing/2014/main" val="1620609150"/>
                    </a:ext>
                  </a:extLst>
                </a:gridCol>
                <a:gridCol w="586791">
                  <a:extLst>
                    <a:ext uri="{9D8B030D-6E8A-4147-A177-3AD203B41FA5}">
                      <a16:colId xmlns:a16="http://schemas.microsoft.com/office/drawing/2014/main" val="2499341763"/>
                    </a:ext>
                  </a:extLst>
                </a:gridCol>
                <a:gridCol w="733489">
                  <a:extLst>
                    <a:ext uri="{9D8B030D-6E8A-4147-A177-3AD203B41FA5}">
                      <a16:colId xmlns:a16="http://schemas.microsoft.com/office/drawing/2014/main" val="3978340669"/>
                    </a:ext>
                  </a:extLst>
                </a:gridCol>
                <a:gridCol w="644927">
                  <a:extLst>
                    <a:ext uri="{9D8B030D-6E8A-4147-A177-3AD203B41FA5}">
                      <a16:colId xmlns:a16="http://schemas.microsoft.com/office/drawing/2014/main" val="1629443314"/>
                    </a:ext>
                  </a:extLst>
                </a:gridCol>
                <a:gridCol w="782388">
                  <a:extLst>
                    <a:ext uri="{9D8B030D-6E8A-4147-A177-3AD203B41FA5}">
                      <a16:colId xmlns:a16="http://schemas.microsoft.com/office/drawing/2014/main" val="810952468"/>
                    </a:ext>
                  </a:extLst>
                </a:gridCol>
                <a:gridCol w="782388">
                  <a:extLst>
                    <a:ext uri="{9D8B030D-6E8A-4147-A177-3AD203B41FA5}">
                      <a16:colId xmlns:a16="http://schemas.microsoft.com/office/drawing/2014/main" val="500350777"/>
                    </a:ext>
                  </a:extLst>
                </a:gridCol>
              </a:tblGrid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DV: Lexicon Personal Experience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126350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(1)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(2)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(4)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(5)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957716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0.002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-0.028·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-0.024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-0.016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-0.015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581049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(0.015)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(0.016)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(0.016)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(0.016)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543489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Length (log, fillNA)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0.004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0.005·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0.005·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0.005·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529446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249716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Quality (fillNA)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0.001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672925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(0.001)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957299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Sim w/ Accept (fillNA)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0.001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510828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(0.013)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508758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Sim w/ Opus 4.7 (fillNA)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-0.014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533926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(0.019)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520562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Sim w/ DeepSeek (fillNA)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-0.016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149998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(0.018)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219397"/>
                  </a:ext>
                </a:extLst>
              </a:tr>
              <a:tr h="1508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Num. obs.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4670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4668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4663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4652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4612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332077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(full model)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0.853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0.855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0.852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0.854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0.855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170992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(full model): p-value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0.924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0.922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0.926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0.923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0.921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906306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(proj model)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0.866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0.855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0.831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0.850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0.817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379743"/>
                  </a:ext>
                </a:extLst>
              </a:tr>
              <a:tr h="3158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(proj model): p-value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0.701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0.725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0.763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0.733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0.784</a:t>
                      </a:r>
                    </a:p>
                  </a:txBody>
                  <a:tcPr marL="58679" marR="586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19271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519A54-3869-3B23-E756-553CDE62670B}"/>
                  </a:ext>
                </a:extLst>
              </p14:cNvPr>
              <p14:cNvContentPartPr/>
              <p14:nvPr/>
            </p14:nvContentPartPr>
            <p14:xfrm>
              <a:off x="9815582" y="2503344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519A54-3869-3B23-E756-553CDE6267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09462" y="249722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ADBE4F0-6A47-4985-21B3-9481F6AFC9FB}"/>
                  </a:ext>
                </a:extLst>
              </p14:cNvPr>
              <p14:cNvContentPartPr/>
              <p14:nvPr/>
            </p14:nvContentPartPr>
            <p14:xfrm>
              <a:off x="10616942" y="2197704"/>
              <a:ext cx="468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ADBE4F0-6A47-4985-21B3-9481F6AFC9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10822" y="2191584"/>
                <a:ext cx="16920" cy="126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DFB2C3-2154-02B2-AA9D-65AEB1B96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5896"/>
              </p:ext>
            </p:extLst>
          </p:nvPr>
        </p:nvGraphicFramePr>
        <p:xfrm>
          <a:off x="1632336" y="1957597"/>
          <a:ext cx="4762245" cy="4351339"/>
        </p:xfrm>
        <a:graphic>
          <a:graphicData uri="http://schemas.openxmlformats.org/drawingml/2006/table">
            <a:tbl>
              <a:tblPr firstRow="1" firstCol="1" bandRow="1"/>
              <a:tblGrid>
                <a:gridCol w="1244185">
                  <a:extLst>
                    <a:ext uri="{9D8B030D-6E8A-4147-A177-3AD203B41FA5}">
                      <a16:colId xmlns:a16="http://schemas.microsoft.com/office/drawing/2014/main" val="4278064489"/>
                    </a:ext>
                  </a:extLst>
                </a:gridCol>
                <a:gridCol w="498439">
                  <a:extLst>
                    <a:ext uri="{9D8B030D-6E8A-4147-A177-3AD203B41FA5}">
                      <a16:colId xmlns:a16="http://schemas.microsoft.com/office/drawing/2014/main" val="2143742234"/>
                    </a:ext>
                  </a:extLst>
                </a:gridCol>
                <a:gridCol w="649744">
                  <a:extLst>
                    <a:ext uri="{9D8B030D-6E8A-4147-A177-3AD203B41FA5}">
                      <a16:colId xmlns:a16="http://schemas.microsoft.com/office/drawing/2014/main" val="4106839217"/>
                    </a:ext>
                  </a:extLst>
                </a:gridCol>
                <a:gridCol w="789959">
                  <a:extLst>
                    <a:ext uri="{9D8B030D-6E8A-4147-A177-3AD203B41FA5}">
                      <a16:colId xmlns:a16="http://schemas.microsoft.com/office/drawing/2014/main" val="435764017"/>
                    </a:ext>
                  </a:extLst>
                </a:gridCol>
                <a:gridCol w="789959">
                  <a:extLst>
                    <a:ext uri="{9D8B030D-6E8A-4147-A177-3AD203B41FA5}">
                      <a16:colId xmlns:a16="http://schemas.microsoft.com/office/drawing/2014/main" val="1095844696"/>
                    </a:ext>
                  </a:extLst>
                </a:gridCol>
                <a:gridCol w="789959">
                  <a:extLst>
                    <a:ext uri="{9D8B030D-6E8A-4147-A177-3AD203B41FA5}">
                      <a16:colId xmlns:a16="http://schemas.microsoft.com/office/drawing/2014/main" val="1853325941"/>
                    </a:ext>
                  </a:extLst>
                </a:gridCol>
              </a:tblGrid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DV: Lexicon Personal Experience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198494"/>
                  </a:ext>
                </a:extLst>
              </a:tr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(1)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(2)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(3)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(4)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(5)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616046"/>
                  </a:ext>
                </a:extLst>
              </a:tr>
              <a:tr h="4174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-0.002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-0.026·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-0.022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-0.029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-0.021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519488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(0.015)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(0.016)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(0.019)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(0.017)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738763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 Length (log, fillNA)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0.003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0.004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0.004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0.004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382618"/>
                  </a:ext>
                </a:extLst>
              </a:tr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(0.003)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418950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Quality (</a:t>
                      </a: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fillNA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0.001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26861"/>
                  </a:ext>
                </a:extLst>
              </a:tr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(0.001)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459801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Sim w/ Accept (</a:t>
                      </a: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fillNA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-0.003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183937"/>
                  </a:ext>
                </a:extLst>
              </a:tr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(0.013)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094711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Sim w/ Opus 4.7 (</a:t>
                      </a: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fillNA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0.012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222224"/>
                  </a:ext>
                </a:extLst>
              </a:tr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(0.018)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95164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Treatment:AI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Sim w/ DeepSeek (</a:t>
                      </a:r>
                      <a:r>
                        <a:rPr lang="en-US" sz="8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fillNA</a:t>
                      </a: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-0.005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350864"/>
                  </a:ext>
                </a:extLst>
              </a:tr>
              <a:tr h="1310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highlight>
                            <a:srgbClr val="FFFF00"/>
                          </a:highlight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(0.021)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956761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Num. obs.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2748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2747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2745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2739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2719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950656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(full model)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1.107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1.101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1.098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1.100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1.097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655600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(full model): p-value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0.160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0.174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0.180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0.175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0.182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557214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statistic (proj model)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0.606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0.574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0.575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0.576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0.575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116801"/>
                  </a:ext>
                </a:extLst>
              </a:tr>
              <a:tr h="2742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 (proj model): p-value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0.972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0.985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0.985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0.984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0.985</a:t>
                      </a:r>
                    </a:p>
                  </a:txBody>
                  <a:tcPr marL="50953" marR="509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01499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9A848AD-9D8E-76D5-F766-D2ADB58A2AE4}"/>
              </a:ext>
            </a:extLst>
          </p:cNvPr>
          <p:cNvSpPr txBox="1"/>
          <p:nvPr/>
        </p:nvSpPr>
        <p:spPr>
          <a:xfrm>
            <a:off x="2378908" y="1308482"/>
            <a:ext cx="3269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2: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sample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BAE27C-0B87-4567-25A6-9CFF97835C30}"/>
              </a:ext>
            </a:extLst>
          </p:cNvPr>
          <p:cNvSpPr txBox="1"/>
          <p:nvPr/>
        </p:nvSpPr>
        <p:spPr>
          <a:xfrm>
            <a:off x="8687011" y="1308482"/>
            <a:ext cx="2668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sample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942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2BF1-E83C-E91F-07F2-04A650B8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857EF-E714-DA2D-6D45-E057ED7551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3FE39E-FC48-4DF6-2D73-88A942E7CC6B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810490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CN" sz="1500" dirty="0">
                <a:cs typeface="Times New Roman" panose="02020603050405020304" pitchFamily="18" charset="0"/>
              </a:rPr>
              <a:t>competition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logic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results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ea typeface="微软雅黑" panose="020B0503020204020204" pitchFamily="34" charset="-122"/>
              </a:rPr>
              <a:t>answerNum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&amp;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timeliness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endParaRPr lang="en-US" altLang="zh-CN" sz="1500" dirty="0">
              <a:ea typeface="微软雅黑" panose="020B0503020204020204" pitchFamily="34" charset="-122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innovation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TW" sz="1600" b="1" dirty="0"/>
              <a:t>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AI" vs 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Human"</a:t>
            </a:r>
          </a:p>
          <a:p>
            <a:pPr lvl="2" defTabSz="914327">
              <a:lnSpc>
                <a:spcPct val="120000"/>
              </a:lnSpc>
            </a:pPr>
            <a:r>
              <a:rPr lang="en-US" sz="1600" b="1" dirty="0"/>
              <a:t>AI </a:t>
            </a:r>
            <a:r>
              <a:rPr lang="zh-TW" altLang="en-US" sz="1600" b="1" dirty="0"/>
              <a:t>在场如何影响 </a:t>
            </a:r>
            <a:r>
              <a:rPr lang="en-US" sz="1600" b="1" dirty="0"/>
              <a:t>Human2 vs Human1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0CA8E-E766-43C4-3339-C759CADDAB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599" b="61121"/>
          <a:stretch>
            <a:fillRect/>
          </a:stretch>
        </p:blipFill>
        <p:spPr bwMode="auto">
          <a:xfrm>
            <a:off x="5714429" y="3760037"/>
            <a:ext cx="7662706" cy="1627833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55E52-EE68-79EA-1E45-CC7E58023AE8}"/>
              </a:ext>
            </a:extLst>
          </p:cNvPr>
          <p:cNvSpPr txBox="1"/>
          <p:nvPr/>
        </p:nvSpPr>
        <p:spPr>
          <a:xfrm>
            <a:off x="8575698" y="35882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FC800-46BA-02A4-D050-2CA18CDC6F55}"/>
              </a:ext>
            </a:extLst>
          </p:cNvPr>
          <p:cNvSpPr txBox="1"/>
          <p:nvPr/>
        </p:nvSpPr>
        <p:spPr>
          <a:xfrm>
            <a:off x="9886589" y="43892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E1413-608B-7EE9-7F54-C9A84E2B17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1320" r="-5862"/>
          <a:stretch>
            <a:fillRect/>
          </a:stretch>
        </p:blipFill>
        <p:spPr bwMode="auto">
          <a:xfrm>
            <a:off x="5894463" y="5387870"/>
            <a:ext cx="7984253" cy="120079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24079D-40FA-B5FB-898D-8FDCAE5EB4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82"/>
          <a:stretch>
            <a:fillRect/>
          </a:stretch>
        </p:blipFill>
        <p:spPr bwMode="auto">
          <a:xfrm>
            <a:off x="5714429" y="269335"/>
            <a:ext cx="7542125" cy="299440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47B1F4-F77A-3873-5FFF-54339CB5910C}"/>
              </a:ext>
            </a:extLst>
          </p:cNvPr>
          <p:cNvSpPr txBox="1"/>
          <p:nvPr/>
        </p:nvSpPr>
        <p:spPr>
          <a:xfrm>
            <a:off x="8525456" y="1100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10560E-442F-8A53-53EC-EB9D374F311E}"/>
              </a:ext>
            </a:extLst>
          </p:cNvPr>
          <p:cNvSpPr txBox="1"/>
          <p:nvPr/>
        </p:nvSpPr>
        <p:spPr>
          <a:xfrm>
            <a:off x="8525456" y="9110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302602-3E9B-AB3F-B486-634E32545F3C}"/>
              </a:ext>
            </a:extLst>
          </p:cNvPr>
          <p:cNvCxnSpPr/>
          <p:nvPr/>
        </p:nvCxnSpPr>
        <p:spPr>
          <a:xfrm flipV="1">
            <a:off x="4696691" y="1475509"/>
            <a:ext cx="852054" cy="997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AC6D23-55E4-FCB4-B5F0-47F025F9FA80}"/>
              </a:ext>
            </a:extLst>
          </p:cNvPr>
          <p:cNvCxnSpPr>
            <a:cxnSpLocks/>
          </p:cNvCxnSpPr>
          <p:nvPr/>
        </p:nvCxnSpPr>
        <p:spPr>
          <a:xfrm>
            <a:off x="4696691" y="3034145"/>
            <a:ext cx="852054" cy="1724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09C8ABC-A99D-E116-B4BB-9D5B3EEF92DC}"/>
              </a:ext>
            </a:extLst>
          </p:cNvPr>
          <p:cNvSpPr txBox="1"/>
          <p:nvPr/>
        </p:nvSpPr>
        <p:spPr>
          <a:xfrm>
            <a:off x="603315" y="5526602"/>
            <a:ext cx="28437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DV:</a:t>
            </a:r>
            <a:r>
              <a:rPr lang="zh-CN" altLang="en-US" dirty="0"/>
              <a:t> </a:t>
            </a:r>
            <a:r>
              <a:rPr lang="en-US" altLang="zh-CN" dirty="0"/>
              <a:t>2ndAnsInnovation</a:t>
            </a:r>
          </a:p>
          <a:p>
            <a:r>
              <a:rPr lang="en-US" altLang="zh-CN" dirty="0"/>
              <a:t>IV:</a:t>
            </a:r>
            <a:r>
              <a:rPr lang="zh-CN" altLang="en-US" dirty="0"/>
              <a:t> </a:t>
            </a:r>
            <a:r>
              <a:rPr lang="en-US" altLang="zh-CN" dirty="0" err="1"/>
              <a:t>firstAnsSimWithAccept</a:t>
            </a:r>
            <a:endParaRPr lang="en-US" altLang="zh-CN" dirty="0"/>
          </a:p>
          <a:p>
            <a:r>
              <a:rPr lang="en-US" altLang="zh-CN" dirty="0"/>
              <a:t>Sample: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B5F276-DED0-11D9-36C3-28AA87DDB670}"/>
              </a:ext>
            </a:extLst>
          </p:cNvPr>
          <p:cNvSpPr txBox="1"/>
          <p:nvPr/>
        </p:nvSpPr>
        <p:spPr>
          <a:xfrm>
            <a:off x="3926214" y="6080600"/>
            <a:ext cx="306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Alternative</a:t>
            </a:r>
            <a:r>
              <a:rPr lang="zh-CN" altLang="en-US" dirty="0"/>
              <a:t> </a:t>
            </a:r>
            <a:r>
              <a:rPr lang="en-US" altLang="zh-CN" dirty="0"/>
              <a:t>become</a:t>
            </a:r>
            <a:r>
              <a:rPr lang="zh-CN" altLang="en-US" dirty="0"/>
              <a:t> </a:t>
            </a:r>
            <a:r>
              <a:rPr lang="en-US" altLang="zh-CN" dirty="0"/>
              <a:t>Column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059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99693</TotalTime>
  <Words>935</Words>
  <Application>Microsoft Macintosh PowerPoint</Application>
  <PresentationFormat>Custom</PresentationFormat>
  <Paragraphs>407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Calibri Light</vt:lpstr>
      <vt:lpstr>Cambria</vt:lpstr>
      <vt:lpstr>Calibri</vt:lpstr>
      <vt:lpstr>Wingdings</vt:lpstr>
      <vt:lpstr>微软雅黑</vt:lpstr>
      <vt:lpstr>Lato Black</vt:lpstr>
      <vt:lpstr>Lato Light</vt:lpstr>
      <vt:lpstr>Lato</vt:lpstr>
      <vt:lpstr>Times New Roman</vt:lpstr>
      <vt:lpstr>等线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Zhang Siyu</dc:creator>
  <cp:keywords/>
  <dc:description/>
  <cp:lastModifiedBy>Dylan CHEN</cp:lastModifiedBy>
  <cp:revision>425</cp:revision>
  <dcterms:created xsi:type="dcterms:W3CDTF">2020-04-20T03:29:34Z</dcterms:created>
  <dcterms:modified xsi:type="dcterms:W3CDTF">2026-05-20T08:01:05Z</dcterms:modified>
  <cp:category/>
</cp:coreProperties>
</file>