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40" r:id="rId1"/>
  </p:sldMasterIdLst>
  <p:notesMasterIdLst>
    <p:notesMasterId r:id="rId8"/>
  </p:notesMasterIdLst>
  <p:sldIdLst>
    <p:sldId id="260" r:id="rId2"/>
    <p:sldId id="335" r:id="rId3"/>
    <p:sldId id="345" r:id="rId4"/>
    <p:sldId id="337" r:id="rId5"/>
    <p:sldId id="344" r:id="rId6"/>
    <p:sldId id="326" r:id="rId7"/>
  </p:sldIdLst>
  <p:sldSz cx="14630400" cy="6858000"/>
  <p:notesSz cx="6858000" cy="9144000"/>
  <p:embeddedFontLst>
    <p:embeddedFont>
      <p:font typeface="等线" panose="02010600030101010101" pitchFamily="2" charset="-122"/>
      <p:regular r:id="rId9"/>
      <p:bold r:id="rId10"/>
    </p:embeddedFont>
    <p:embeddedFont>
      <p:font typeface="微软雅黑" panose="020B0503020204020204" pitchFamily="34" charset="-122"/>
      <p:regular r:id="rId11"/>
      <p:bold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Lato Black" panose="020F0502020204030203" pitchFamily="34" charset="0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35"/>
            <p14:sldId id="345"/>
            <p14:sldId id="337"/>
            <p14:sldId id="344"/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pos="498" userDrawn="1">
          <p15:clr>
            <a:srgbClr val="A4A3A4"/>
          </p15:clr>
        </p15:guide>
        <p15:guide id="2" pos="8718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96" autoAdjust="0"/>
    <p:restoredTop sz="96283" autoAdjust="0"/>
  </p:normalViewPr>
  <p:slideViewPr>
    <p:cSldViewPr snapToGrid="0" showGuides="1">
      <p:cViewPr varScale="1">
        <p:scale>
          <a:sx n="136" d="100"/>
          <a:sy n="136" d="100"/>
        </p:scale>
        <p:origin x="1112" y="192"/>
      </p:cViewPr>
      <p:guideLst>
        <p:guide pos="498"/>
        <p:guide pos="8718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F3D60-875C-498B-0BFC-9496D71C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5C820-0EF0-99D0-D529-86ACE87BC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4D5B5-ADDD-41C0-56B5-A2EBBAD66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33144-D257-9AE0-197A-D2F137594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68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1BF6-7C46-07E7-5408-E38FEAA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043A4-D004-CBAE-165E-6EDFBAFC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CBF96-D8B3-0B47-C1F5-04FAA90D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1E1D7-28DF-17AD-DD25-39D9BFFA4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49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00AF-4398-F48E-97F9-5D65C3FC0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34AEB-5D18-6ACB-A146-6C99EFF1F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E91A9-3840-AFCD-AE75-F7597870A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21006-B077-28F4-44E6-3546CD1ED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150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0849-808F-F303-739E-4FB7F66A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5E96-4181-4ED7-B70C-79EF8107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B1C80-B09D-2F98-2CB9-FA6563C4F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E9183-318F-982E-04BE-E75F0774A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624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122363"/>
            <a:ext cx="10972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602038"/>
            <a:ext cx="10972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0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4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1709738"/>
            <a:ext cx="1261872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4589464"/>
            <a:ext cx="1261872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90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1825625"/>
            <a:ext cx="6217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22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365126"/>
            <a:ext cx="126187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1681163"/>
            <a:ext cx="61893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2505075"/>
            <a:ext cx="61893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1681163"/>
            <a:ext cx="62198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2505075"/>
            <a:ext cx="62198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4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1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987426"/>
            <a:ext cx="74066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1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57200"/>
            <a:ext cx="471868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987426"/>
            <a:ext cx="74066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057400"/>
            <a:ext cx="471868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2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8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365125"/>
            <a:ext cx="315468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365125"/>
            <a:ext cx="928116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48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0" y="0"/>
            <a:ext cx="1462975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880" y="2597072"/>
            <a:ext cx="12448890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8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9880" y="2023986"/>
            <a:ext cx="12448890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9881" y="4274122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9881" y="4584551"/>
            <a:ext cx="6125680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132320" y="3276600"/>
            <a:ext cx="36576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79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7398492" y="-6"/>
            <a:ext cx="7231908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8478" y="6284866"/>
            <a:ext cx="727039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09880"/>
            <a:ext cx="13810490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3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3" y="1158181"/>
            <a:ext cx="13810489" cy="5446415"/>
          </a:xfrm>
          <a:prstGeom prst="rect">
            <a:avLst/>
          </a:prstGeom>
        </p:spPr>
        <p:txBody>
          <a:bodyPr/>
          <a:lstStyle>
            <a:lvl1pPr marL="0" indent="-251980" algn="just" defTabSz="914327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07" indent="-285728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19942" indent="-228582" algn="just" defTabSz="914327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1922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914327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971922" lvl="3" indent="-230382" algn="just" defTabSz="914327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5554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6" y="0"/>
            <a:ext cx="9107603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4135880" y="-3639814"/>
            <a:ext cx="6358649" cy="146304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6812577" y="-6812579"/>
            <a:ext cx="1005238" cy="146304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4630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46304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46304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2994648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10797543" y="3025144"/>
            <a:ext cx="6858001" cy="80771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8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2091500" y="6312408"/>
            <a:ext cx="1596943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091" y="4005891"/>
            <a:ext cx="7228398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4000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091" y="4771380"/>
            <a:ext cx="7228398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8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845820" y="6253507"/>
            <a:ext cx="4739640" cy="274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32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1100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1100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651" y="-2977"/>
            <a:ext cx="14629748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46304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69"/>
            <a:ext cx="10995983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9879" y="2523291"/>
            <a:ext cx="10531784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883" y="3699996"/>
            <a:ext cx="621378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9883" y="4053213"/>
            <a:ext cx="621378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600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600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600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334674" y="6196307"/>
            <a:ext cx="3539695" cy="512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2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516" y="211658"/>
            <a:ext cx="2328745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4630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25634" y="91159"/>
            <a:ext cx="14379137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8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83439" y="325087"/>
            <a:ext cx="1955488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9042" y="6284866"/>
            <a:ext cx="672323" cy="213048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365126"/>
            <a:ext cx="12618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1825625"/>
            <a:ext cx="12618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6356351"/>
            <a:ext cx="4937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6356351"/>
            <a:ext cx="3291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8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7438" y="2103198"/>
            <a:ext cx="10374075" cy="1479552"/>
          </a:xfrm>
        </p:spPr>
        <p:txBody>
          <a:bodyPr>
            <a:normAutofit/>
          </a:bodyPr>
          <a:lstStyle/>
          <a:p>
            <a:pPr lvl="0"/>
            <a:r>
              <a:rPr lang="en-US" altLang="zh-CN" sz="6000" b="1" dirty="0"/>
              <a:t>260527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7435" y="3780248"/>
            <a:ext cx="5104733" cy="29707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77435" y="4090677"/>
            <a:ext cx="5104733" cy="297070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928889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围绕</a:t>
            </a:r>
            <a:r>
              <a:rPr lang="en-US" altLang="zh-CN" sz="1500" dirty="0">
                <a:ea typeface="微软雅黑" panose="020B0503020204020204" pitchFamily="34" charset="-122"/>
                <a:cs typeface="+mn-cs"/>
              </a:rPr>
              <a:t>competition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逻辑的两个</a:t>
            </a:r>
            <a:r>
              <a:rPr lang="zh-CN" altLang="en-US" sz="1500" dirty="0"/>
              <a:t>故事</a:t>
            </a:r>
            <a:r>
              <a:rPr lang="en-US" altLang="zh-CN" sz="1500" dirty="0"/>
              <a:t>(contribution</a:t>
            </a:r>
            <a:r>
              <a:rPr lang="zh-CN" altLang="en-US" sz="1500" dirty="0"/>
              <a:t>和</a:t>
            </a:r>
            <a:r>
              <a:rPr lang="en-US" altLang="zh-CN" sz="1500" dirty="0"/>
              <a:t>innovation)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，寻找可行的交互结果</a:t>
            </a:r>
            <a:endParaRPr lang="en-US" altLang="en-US" sz="1300" dirty="0">
              <a:ea typeface="微软雅黑" panose="020B0503020204020204" pitchFamily="34" charset="-122"/>
              <a:cs typeface="+mn-cs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en-US" sz="1500" dirty="0" err="1">
                <a:ea typeface="微软雅黑" panose="020B0503020204020204" pitchFamily="34" charset="-122"/>
                <a:cs typeface="+mn-cs"/>
              </a:rPr>
              <a:t>李老师敲定了最终选择的结果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en-US" sz="1500" dirty="0" err="1">
                <a:ea typeface="微软雅黑" panose="020B0503020204020204" pitchFamily="34" charset="-122"/>
                <a:cs typeface="+mn-cs"/>
              </a:rPr>
              <a:t>我绘制了交互效应的图</a:t>
            </a:r>
            <a:r>
              <a:rPr lang="zh-CN" altLang="en-US" sz="1500" dirty="0">
                <a:ea typeface="微软雅黑" panose="020B0503020204020204" pitchFamily="34" charset="-122"/>
                <a:cs typeface="+mn-cs"/>
              </a:rPr>
              <a:t>，但是置信区间有一些问题</a:t>
            </a:r>
            <a:endParaRPr lang="en-US" altLang="en-US" sz="1500" dirty="0"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AC5C-B8BC-307C-2067-4CA4F6DE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1361C0E-591E-1037-EA28-75AA51E65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Selected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B0185-037E-60BE-FAB4-B4E788B88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806"/>
          <a:stretch>
            <a:fillRect/>
          </a:stretch>
        </p:blipFill>
        <p:spPr>
          <a:xfrm>
            <a:off x="1044202" y="1405329"/>
            <a:ext cx="12108546" cy="15358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25C37C-336F-5B12-AD05-D6D9E6915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989" y="3243560"/>
            <a:ext cx="3886200" cy="3108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B852A4-1DCA-79BF-5474-624046369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062" y="3243560"/>
            <a:ext cx="38862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4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66BA-FF90-440B-16CF-AC7A4367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09FAFBB-FDB5-3975-E20B-A7ADAF122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Selected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78ADB-C5AE-D8F2-AEDC-EAF9B65E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40"/>
          <a:stretch>
            <a:fillRect/>
          </a:stretch>
        </p:blipFill>
        <p:spPr>
          <a:xfrm>
            <a:off x="1260927" y="1046374"/>
            <a:ext cx="12108546" cy="2275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C6C12F-8B06-2297-C504-E68E52E43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140" y="3535790"/>
            <a:ext cx="3886200" cy="3108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D598B-159F-4029-10D2-76E8B8561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3535790"/>
            <a:ext cx="3886200" cy="3108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D19FB5-4525-FC68-B43F-0847C0219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2157" y="3535790"/>
            <a:ext cx="388620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5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7E3D-D584-F701-7E5D-8D482A27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48A1F89-7511-6799-F53C-560FACB790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3810490" cy="718820"/>
          </a:xfrm>
        </p:spPr>
        <p:txBody>
          <a:bodyPr/>
          <a:lstStyle/>
          <a:p>
            <a:r>
              <a:rPr lang="en-US" altLang="zh-CN" dirty="0"/>
              <a:t>Opus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97292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2BF1-E83C-E91F-07F2-04A650B8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1857EF-E714-DA2D-6D45-E057ED755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3FE39E-FC48-4DF6-2D73-88A942E7CC6B}"/>
              </a:ext>
            </a:extLst>
          </p:cNvPr>
          <p:cNvSpPr txBox="1">
            <a:spLocks/>
          </p:cNvSpPr>
          <p:nvPr/>
        </p:nvSpPr>
        <p:spPr>
          <a:xfrm>
            <a:off x="381000" y="1101705"/>
            <a:ext cx="13810490" cy="5446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27">
              <a:lnSpc>
                <a:spcPct val="120000"/>
              </a:lnSpc>
            </a:pPr>
            <a:r>
              <a:rPr lang="en-US" altLang="zh-CN" sz="1500" dirty="0">
                <a:cs typeface="Times New Roman" panose="02020603050405020304" pitchFamily="18" charset="0"/>
              </a:rPr>
              <a:t>competition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logic</a:t>
            </a:r>
            <a:r>
              <a:rPr lang="zh-CN" altLang="en-US" sz="1500" dirty="0"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cs typeface="Times New Roman" panose="02020603050405020304" pitchFamily="18" charset="0"/>
              </a:rPr>
              <a:t>results</a:t>
            </a: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ea typeface="微软雅黑" panose="020B0503020204020204" pitchFamily="34" charset="-122"/>
              </a:rPr>
              <a:t>answerNum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ea typeface="微软雅黑" panose="020B0503020204020204" pitchFamily="34" charset="-122"/>
              </a:rPr>
              <a:t>timeliness</a:t>
            </a:r>
            <a:r>
              <a:rPr lang="zh-CN" altLang="en-US" sz="1500" dirty="0">
                <a:ea typeface="微软雅黑" panose="020B0503020204020204" pitchFamily="34" charset="-122"/>
              </a:rPr>
              <a:t> </a:t>
            </a:r>
            <a:endParaRPr lang="en-US" altLang="zh-CN" sz="1500" dirty="0">
              <a:ea typeface="微软雅黑" panose="020B0503020204020204" pitchFamily="34" charset="-122"/>
            </a:endParaRPr>
          </a:p>
          <a:p>
            <a:pPr lvl="1" defTabSz="914327">
              <a:lnSpc>
                <a:spcPct val="120000"/>
              </a:lnSpc>
            </a:pP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AI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→</a:t>
            </a:r>
            <a:r>
              <a:rPr lang="zh-CN" altLang="en-US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ea typeface="微软雅黑" panose="020B0503020204020204" pitchFamily="34" charset="-122"/>
              </a:rPr>
              <a:t>innovation</a:t>
            </a:r>
          </a:p>
          <a:p>
            <a:pPr lvl="2" defTabSz="914327">
              <a:lnSpc>
                <a:spcPct val="120000"/>
              </a:lnSpc>
            </a:pPr>
            <a:r>
              <a:rPr lang="en-US" altLang="zh-TW" sz="1600" b="1" dirty="0"/>
              <a:t>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AI" vs "</a:t>
            </a:r>
            <a:r>
              <a:rPr lang="zh-TW" altLang="en-US" sz="1600" b="1" dirty="0"/>
              <a:t>前一个是 </a:t>
            </a:r>
            <a:r>
              <a:rPr lang="en-US" sz="1600" b="1" dirty="0"/>
              <a:t>Human"</a:t>
            </a:r>
          </a:p>
          <a:p>
            <a:pPr lvl="2" defTabSz="914327">
              <a:lnSpc>
                <a:spcPct val="120000"/>
              </a:lnSpc>
            </a:pPr>
            <a:r>
              <a:rPr lang="en-US" sz="1600" b="1" dirty="0"/>
              <a:t>AI </a:t>
            </a:r>
            <a:r>
              <a:rPr lang="zh-TW" altLang="en-US" sz="1600" b="1" dirty="0"/>
              <a:t>在场如何影响 </a:t>
            </a:r>
            <a:r>
              <a:rPr lang="en-US" sz="1600" b="1" dirty="0"/>
              <a:t>Human2 vs Human1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0CA8E-E766-43C4-3339-C759CADDA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99" b="61121"/>
          <a:stretch>
            <a:fillRect/>
          </a:stretch>
        </p:blipFill>
        <p:spPr bwMode="auto">
          <a:xfrm>
            <a:off x="5714429" y="3760037"/>
            <a:ext cx="7662706" cy="1627833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55E52-EE68-79EA-1E45-CC7E58023AE8}"/>
              </a:ext>
            </a:extLst>
          </p:cNvPr>
          <p:cNvSpPr txBox="1"/>
          <p:nvPr/>
        </p:nvSpPr>
        <p:spPr>
          <a:xfrm>
            <a:off x="8575698" y="35882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FC800-46BA-02A4-D050-2CA18CDC6F55}"/>
              </a:ext>
            </a:extLst>
          </p:cNvPr>
          <p:cNvSpPr txBox="1"/>
          <p:nvPr/>
        </p:nvSpPr>
        <p:spPr>
          <a:xfrm>
            <a:off x="9886589" y="43892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1413-608B-7EE9-7F54-C9A84E2B17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71320" r="-5862"/>
          <a:stretch>
            <a:fillRect/>
          </a:stretch>
        </p:blipFill>
        <p:spPr bwMode="auto">
          <a:xfrm>
            <a:off x="5894463" y="5387870"/>
            <a:ext cx="7984253" cy="120079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24079D-40FA-B5FB-898D-8FDCAE5EB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82"/>
          <a:stretch>
            <a:fillRect/>
          </a:stretch>
        </p:blipFill>
        <p:spPr bwMode="auto">
          <a:xfrm>
            <a:off x="5714429" y="269335"/>
            <a:ext cx="7542125" cy="2994409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47B1F4-F77A-3873-5FFF-54339CB5910C}"/>
              </a:ext>
            </a:extLst>
          </p:cNvPr>
          <p:cNvSpPr txBox="1"/>
          <p:nvPr/>
        </p:nvSpPr>
        <p:spPr>
          <a:xfrm>
            <a:off x="8525456" y="110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0560E-442F-8A53-53EC-EB9D374F311E}"/>
              </a:ext>
            </a:extLst>
          </p:cNvPr>
          <p:cNvSpPr txBox="1"/>
          <p:nvPr/>
        </p:nvSpPr>
        <p:spPr>
          <a:xfrm>
            <a:off x="8525456" y="9110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✅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302602-3E9B-AB3F-B486-634E32545F3C}"/>
              </a:ext>
            </a:extLst>
          </p:cNvPr>
          <p:cNvCxnSpPr/>
          <p:nvPr/>
        </p:nvCxnSpPr>
        <p:spPr>
          <a:xfrm flipV="1">
            <a:off x="4696691" y="1475509"/>
            <a:ext cx="85205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AC6D23-55E4-FCB4-B5F0-47F025F9FA80}"/>
              </a:ext>
            </a:extLst>
          </p:cNvPr>
          <p:cNvCxnSpPr>
            <a:cxnSpLocks/>
          </p:cNvCxnSpPr>
          <p:nvPr/>
        </p:nvCxnSpPr>
        <p:spPr>
          <a:xfrm>
            <a:off x="4696691" y="3034145"/>
            <a:ext cx="852054" cy="1724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9C8ABC-A99D-E116-B4BB-9D5B3EEF92DC}"/>
              </a:ext>
            </a:extLst>
          </p:cNvPr>
          <p:cNvSpPr txBox="1"/>
          <p:nvPr/>
        </p:nvSpPr>
        <p:spPr>
          <a:xfrm>
            <a:off x="603315" y="5526602"/>
            <a:ext cx="2843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DV:</a:t>
            </a:r>
            <a:r>
              <a:rPr lang="zh-CN" altLang="en-US" dirty="0"/>
              <a:t> </a:t>
            </a:r>
            <a:r>
              <a:rPr lang="en-US" altLang="zh-CN" dirty="0"/>
              <a:t>2ndAnsInnovation</a:t>
            </a:r>
          </a:p>
          <a:p>
            <a:r>
              <a:rPr lang="en-US" altLang="zh-CN" dirty="0"/>
              <a:t>IV:</a:t>
            </a:r>
            <a:r>
              <a:rPr lang="zh-CN" altLang="en-US" dirty="0"/>
              <a:t> </a:t>
            </a:r>
            <a:r>
              <a:rPr lang="en-US" altLang="zh-CN" dirty="0" err="1"/>
              <a:t>firstAnsSimWithAccept</a:t>
            </a:r>
            <a:endParaRPr lang="en-US" altLang="zh-CN" dirty="0"/>
          </a:p>
          <a:p>
            <a:r>
              <a:rPr lang="en-US" altLang="zh-CN" dirty="0"/>
              <a:t>Sample: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5F276-DED0-11D9-36C3-28AA87DDB670}"/>
              </a:ext>
            </a:extLst>
          </p:cNvPr>
          <p:cNvSpPr txBox="1"/>
          <p:nvPr/>
        </p:nvSpPr>
        <p:spPr>
          <a:xfrm>
            <a:off x="3926214" y="6080600"/>
            <a:ext cx="306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Alternative</a:t>
            </a:r>
            <a:r>
              <a:rPr lang="zh-CN" altLang="en-US" dirty="0"/>
              <a:t> </a:t>
            </a:r>
            <a:r>
              <a:rPr lang="en-US" altLang="zh-CN" dirty="0"/>
              <a:t>become</a:t>
            </a:r>
            <a:r>
              <a:rPr lang="zh-CN" altLang="en-US" dirty="0"/>
              <a:t> </a:t>
            </a:r>
            <a:r>
              <a:rPr lang="en-US" altLang="zh-CN" dirty="0"/>
              <a:t>Column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59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99697</TotalTime>
  <Words>113</Words>
  <Application>Microsoft Macintosh PowerPoint</Application>
  <PresentationFormat>Custom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Lato</vt:lpstr>
      <vt:lpstr>Lato Black</vt:lpstr>
      <vt:lpstr>Lato Light</vt:lpstr>
      <vt:lpstr>等线</vt:lpstr>
      <vt:lpstr>微软雅黑</vt:lpstr>
      <vt:lpstr>Calibri Light</vt:lpstr>
      <vt:lpstr>Times New Roman</vt:lpstr>
      <vt:lpstr>Calibri</vt:lpstr>
      <vt:lpstr>Arial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426</cp:revision>
  <dcterms:created xsi:type="dcterms:W3CDTF">2020-04-20T03:29:34Z</dcterms:created>
  <dcterms:modified xsi:type="dcterms:W3CDTF">2026-05-27T07:28:35Z</dcterms:modified>
  <cp:category/>
</cp:coreProperties>
</file>