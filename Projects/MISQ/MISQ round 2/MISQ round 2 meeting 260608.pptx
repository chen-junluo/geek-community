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5"/>
  </p:notesMasterIdLst>
  <p:sldIdLst>
    <p:sldId id="260" r:id="rId2"/>
    <p:sldId id="335" r:id="rId3"/>
    <p:sldId id="282" r:id="rId4"/>
    <p:sldId id="280" r:id="rId5"/>
    <p:sldId id="281" r:id="rId6"/>
    <p:sldId id="336" r:id="rId7"/>
    <p:sldId id="337" r:id="rId8"/>
    <p:sldId id="286" r:id="rId9"/>
    <p:sldId id="287" r:id="rId10"/>
    <p:sldId id="338" r:id="rId11"/>
    <p:sldId id="339" r:id="rId12"/>
    <p:sldId id="340" r:id="rId13"/>
    <p:sldId id="34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728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1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1EAEEF-5132-C343-879C-7719CC3A9F97}" type="datetimeFigureOut">
              <a:rPr lang="en-US" smtClean="0"/>
              <a:t>6/8/26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8C26A2-F4FD-D844-A8CD-CBBB2431E9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148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86135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EB8F1-A9A5-2C1B-8098-E6BF945E6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EC726E-9A11-1613-FCE4-E0DD2C7519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985594-CB23-EFE8-CC25-5DF97A00CF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6F5529-D2A4-4203-E284-801120BFBB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11859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0B50D-8B18-6199-8E29-C57908F87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806F57-D962-BE95-0D03-7BF0D9BC7A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AA7A60-C6AF-B97E-D864-A0CC4B25BC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79E780-1822-204F-77DD-BDAB84D17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89721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F8E6D-F5F4-1605-F71F-3E80DF0B3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0537C8-A643-3FEA-F875-03383B7F04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A07A75-82FA-95A2-5667-A0B0DACBED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F99D6F-D19E-504C-EB0F-5C9B0D68C1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22397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0EC3A-BE13-4958-F6CA-8032788B9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840008-9039-190F-3223-B818A29FB4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34F374-AD27-8541-C7B7-2C4B7184A8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C8CDFD-81D3-66EB-23EE-ECF87A2E4F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64522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BE6AF-2361-C812-325F-49A75E447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8B8B4C-B60A-1469-6DC3-1A86164A99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77DE1B-6014-6F1C-9F22-E92AC6DB57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488AB8-BEF8-8982-A8D2-621A696C2A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15065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3A807-CB8C-152A-0252-AC628385F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56D467-4DC8-6E2F-179B-4E5D1AEF7F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B2A53F-0233-EFDF-AA99-8F7018FC6E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6DEC2F-21B8-0C94-175D-D3BDDE268A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1162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F9097-6136-B88F-91D4-292C1FB42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498004-9A21-E610-1EDD-F98E749871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CFFC0A-0EAC-F6E7-0CDE-D84704C533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019E2B-5F26-75A6-D5BF-EB0A922089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172E2-DACC-4E2B-A3E0-ED1661E9ED5A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560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241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439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021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621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6/8/26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117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6/8/26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238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6/8/26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062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560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408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332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0257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A959B3E-4FC4-4325-BC01-A43921DE8A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1"/>
          <a:stretch/>
        </p:blipFill>
        <p:spPr>
          <a:xfrm>
            <a:off x="542" y="0"/>
            <a:ext cx="12191458" cy="68580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BDAED5B3-756A-46D3-9BFC-60BED069CD03}"/>
              </a:ext>
            </a:extLst>
          </p:cNvPr>
          <p:cNvSpPr/>
          <p:nvPr userDrawn="1"/>
        </p:nvSpPr>
        <p:spPr>
          <a:xfrm>
            <a:off x="-1" y="-1"/>
            <a:ext cx="12192000" cy="6858001"/>
          </a:xfrm>
          <a:prstGeom prst="rect">
            <a:avLst/>
          </a:prstGeom>
          <a:solidFill>
            <a:srgbClr val="A92D61">
              <a:alpha val="9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 dirty="0"/>
          </a:p>
        </p:txBody>
      </p:sp>
      <p:sp>
        <p:nvSpPr>
          <p:cNvPr id="19" name="直角三角形 18">
            <a:extLst>
              <a:ext uri="{FF2B5EF4-FFF2-40B4-BE49-F238E27FC236}">
                <a16:creationId xmlns:a16="http://schemas.microsoft.com/office/drawing/2014/main" id="{1D834B39-9D7D-442B-BF9F-A8B036FDBFDC}"/>
              </a:ext>
            </a:extLst>
          </p:cNvPr>
          <p:cNvSpPr/>
          <p:nvPr userDrawn="1"/>
        </p:nvSpPr>
        <p:spPr>
          <a:xfrm>
            <a:off x="0" y="5839370"/>
            <a:ext cx="9163319" cy="101566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CFE21AC-48CF-46F0-9943-0B377E0EE567}"/>
              </a:ext>
            </a:extLst>
          </p:cNvPr>
          <p:cNvSpPr/>
          <p:nvPr userDrawn="1"/>
        </p:nvSpPr>
        <p:spPr>
          <a:xfrm>
            <a:off x="278895" y="6196307"/>
            <a:ext cx="2949746" cy="4428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000" b="1" i="0" kern="1200" dirty="0">
                <a:solidFill>
                  <a:schemeClr val="bg1">
                    <a:lumMod val="85000"/>
                  </a:schemeClr>
                </a:solidFill>
                <a:effectLst/>
                <a:latin typeface="Lato" panose="020F0502020204030203" pitchFamily="34" charset="0"/>
                <a:ea typeface="+mn-ea"/>
                <a:cs typeface="+mn-cs"/>
              </a:rPr>
              <a:t>City University of Hong Kong</a:t>
            </a:r>
          </a:p>
          <a:p>
            <a:pPr algn="l">
              <a:lnSpc>
                <a:spcPct val="120000"/>
              </a:lnSpc>
            </a:pPr>
            <a:r>
              <a:rPr lang="en-US" altLang="zh-CN" sz="1000" b="0" i="0" kern="1200" dirty="0">
                <a:solidFill>
                  <a:schemeClr val="bg1">
                    <a:lumMod val="85000"/>
                  </a:schemeClr>
                </a:solidFill>
                <a:effectLst/>
                <a:latin typeface="Lato" panose="020F0502020204030203" pitchFamily="34" charset="0"/>
                <a:ea typeface="+mn-ea"/>
                <a:cs typeface="+mn-cs"/>
              </a:rPr>
              <a:t>Tat Chee Avenue, Kowloon, Hong Kong</a:t>
            </a:r>
          </a:p>
        </p:txBody>
      </p:sp>
      <p:sp>
        <p:nvSpPr>
          <p:cNvPr id="31" name="文本占位符 20">
            <a:extLst>
              <a:ext uri="{FF2B5EF4-FFF2-40B4-BE49-F238E27FC236}">
                <a16:creationId xmlns:a16="http://schemas.microsoft.com/office/drawing/2014/main" id="{CA123307-9A5B-421F-847E-EF8BA63071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8233" y="2597072"/>
            <a:ext cx="10374075" cy="1479552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sz="4000">
                <a:solidFill>
                  <a:schemeClr val="bg1"/>
                </a:solidFill>
                <a:latin typeface="Lato Light" panose="020F0402020204030203" pitchFamily="34" charset="0"/>
                <a:cs typeface="Lato Light" panose="020F0402020204030203" pitchFamily="34" charset="0"/>
              </a:defRPr>
            </a:lvl1pPr>
          </a:lstStyle>
          <a:p>
            <a:pPr lvl="0"/>
            <a:r>
              <a:rPr lang="en-US" altLang="zh-CN" dirty="0"/>
              <a:t>Click to edit Master title style</a:t>
            </a:r>
          </a:p>
          <a:p>
            <a:pPr lvl="0"/>
            <a:r>
              <a:rPr lang="en-US" altLang="zh-CN" dirty="0"/>
              <a:t>2024</a:t>
            </a:r>
            <a:endParaRPr lang="zh-CN" altLang="en-US" dirty="0"/>
          </a:p>
        </p:txBody>
      </p:sp>
      <p:sp>
        <p:nvSpPr>
          <p:cNvPr id="33" name="文本占位符 22">
            <a:extLst>
              <a:ext uri="{FF2B5EF4-FFF2-40B4-BE49-F238E27FC236}">
                <a16:creationId xmlns:a16="http://schemas.microsoft.com/office/drawing/2014/main" id="{97B7780D-5C6C-401C-9F98-045B138E98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8233" y="2023986"/>
            <a:ext cx="10374075" cy="52322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sz="2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pPr lvl="0"/>
            <a:r>
              <a:rPr lang="en-US" altLang="zh-CN" dirty="0"/>
              <a:t>Department &amp; Major</a:t>
            </a:r>
            <a:endParaRPr lang="zh-CN" altLang="en-US" dirty="0"/>
          </a:p>
        </p:txBody>
      </p:sp>
      <p:sp>
        <p:nvSpPr>
          <p:cNvPr id="34" name="文本占位符 22">
            <a:extLst>
              <a:ext uri="{FF2B5EF4-FFF2-40B4-BE49-F238E27FC236}">
                <a16:creationId xmlns:a16="http://schemas.microsoft.com/office/drawing/2014/main" id="{FD2C7A5B-9327-40AD-9C83-47337D9D65F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8234" y="4274122"/>
            <a:ext cx="5104733" cy="29707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333" b="0">
                <a:solidFill>
                  <a:schemeClr val="bg1"/>
                </a:solidFill>
                <a:latin typeface="Lato" panose="020F0502020204030203" pitchFamily="34" charset="0"/>
              </a:defRPr>
            </a:lvl1pPr>
          </a:lstStyle>
          <a:p>
            <a:pPr lvl="0"/>
            <a:r>
              <a:rPr lang="en-US" altLang="zh-CN" dirty="0"/>
              <a:t>Student ID</a:t>
            </a:r>
            <a:endParaRPr lang="zh-CN" altLang="en-US" dirty="0"/>
          </a:p>
        </p:txBody>
      </p:sp>
      <p:sp>
        <p:nvSpPr>
          <p:cNvPr id="36" name="文本占位符 22">
            <a:extLst>
              <a:ext uri="{FF2B5EF4-FFF2-40B4-BE49-F238E27FC236}">
                <a16:creationId xmlns:a16="http://schemas.microsoft.com/office/drawing/2014/main" id="{ABCA1AE7-3F46-43DB-88CB-0A27DE22911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8234" y="4584551"/>
            <a:ext cx="5104733" cy="29707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333" b="0">
                <a:solidFill>
                  <a:schemeClr val="bg1"/>
                </a:solidFill>
                <a:latin typeface="Lato" panose="020F0502020204030203" pitchFamily="34" charset="0"/>
              </a:defRPr>
            </a:lvl1pPr>
          </a:lstStyle>
          <a:p>
            <a:pPr lvl="0"/>
            <a:r>
              <a:rPr lang="en-US" altLang="zh-CN" dirty="0"/>
              <a:t>Name of </a:t>
            </a:r>
            <a:r>
              <a:rPr lang="en-US" altLang="zh-CN" sz="1333" b="0" dirty="0">
                <a:solidFill>
                  <a:schemeClr val="bg1"/>
                </a:solidFill>
                <a:latin typeface="Lato"/>
                <a:cs typeface="Calibri" panose="020F0502020204030204" pitchFamily="34" charset="0"/>
              </a:rPr>
              <a:t>Supervisor</a:t>
            </a:r>
            <a:endParaRPr lang="zh-CN" altLang="en-US" dirty="0"/>
          </a:p>
        </p:txBody>
      </p:sp>
      <p:sp>
        <p:nvSpPr>
          <p:cNvPr id="10" name="AutoShape 4" descr="City University of Hong Kong (CityU)">
            <a:extLst>
              <a:ext uri="{FF2B5EF4-FFF2-40B4-BE49-F238E27FC236}">
                <a16:creationId xmlns:a16="http://schemas.microsoft.com/office/drawing/2014/main" id="{F672805F-E5B0-58EC-8B2D-B131FEF987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76200" tIns="38100" rIns="76200" bIns="38100" numCol="1" anchor="t" anchorCtr="0" compatLnSpc="1">
            <a:prstTxWarp prst="textNoShape">
              <a:avLst/>
            </a:prstTxWarp>
          </a:bodyPr>
          <a:lstStyle/>
          <a:p>
            <a:endParaRPr lang="zh-CN" altLang="en-US" sz="1500"/>
          </a:p>
        </p:txBody>
      </p:sp>
      <p:pic>
        <p:nvPicPr>
          <p:cNvPr id="12" name="图形 11">
            <a:extLst>
              <a:ext uri="{FF2B5EF4-FFF2-40B4-BE49-F238E27FC236}">
                <a16:creationId xmlns:a16="http://schemas.microsoft.com/office/drawing/2014/main" id="{19FC1882-DD3A-1FA3-28B0-DF5FA3E164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39597" y="211658"/>
            <a:ext cx="1940621" cy="108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2250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直角三角形 20">
            <a:extLst>
              <a:ext uri="{FF2B5EF4-FFF2-40B4-BE49-F238E27FC236}">
                <a16:creationId xmlns:a16="http://schemas.microsoft.com/office/drawing/2014/main" id="{572D85CD-999C-4161-A085-290DE697D4CB}"/>
              </a:ext>
            </a:extLst>
          </p:cNvPr>
          <p:cNvSpPr/>
          <p:nvPr userDrawn="1"/>
        </p:nvSpPr>
        <p:spPr>
          <a:xfrm flipH="1" flipV="1">
            <a:off x="6165410" y="-6"/>
            <a:ext cx="6026590" cy="309886"/>
          </a:xfrm>
          <a:prstGeom prst="rtTriangle">
            <a:avLst/>
          </a:prstGeom>
          <a:gradFill flip="none" rotWithShape="1">
            <a:gsLst>
              <a:gs pos="20000">
                <a:srgbClr val="BA175E"/>
              </a:gs>
              <a:gs pos="62000">
                <a:srgbClr val="8A1D50"/>
              </a:gs>
              <a:gs pos="88000">
                <a:srgbClr val="5E214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9263D48-9BD1-458B-BE8E-12874193FF99}"/>
              </a:ext>
            </a:extLst>
          </p:cNvPr>
          <p:cNvSpPr/>
          <p:nvPr userDrawn="1"/>
        </p:nvSpPr>
        <p:spPr>
          <a:xfrm>
            <a:off x="0" y="6235700"/>
            <a:ext cx="12192000" cy="622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12" name="灯片编号占位符 3">
            <a:extLst>
              <a:ext uri="{FF2B5EF4-FFF2-40B4-BE49-F238E27FC236}">
                <a16:creationId xmlns:a16="http://schemas.microsoft.com/office/drawing/2014/main" id="{C7CECDAC-CA98-4673-8B57-CE071FC7F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57065" y="6284866"/>
            <a:ext cx="605866" cy="213048"/>
          </a:xfrm>
          <a:prstGeom prst="rect">
            <a:avLst/>
          </a:prstGeom>
        </p:spPr>
        <p:txBody>
          <a:bodyPr/>
          <a:lstStyle>
            <a:lvl1pPr algn="ctr">
              <a:defRPr sz="917">
                <a:latin typeface="Lato" panose="020F0502020204030203" pitchFamily="34" charset="0"/>
              </a:defRPr>
            </a:lvl1pPr>
          </a:lstStyle>
          <a:p>
            <a:fld id="{DDE8A10B-F253-4971-87FB-584CF01DF5BE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978B942D-6D89-475E-B093-177478CA83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7500" y="309880"/>
            <a:ext cx="11508742" cy="718820"/>
          </a:xfrm>
        </p:spPr>
        <p:txBody>
          <a:bodyPr anchor="b" anchorCtr="0">
            <a:normAutofit/>
          </a:bodyPr>
          <a:lstStyle>
            <a:lvl1pPr marL="0" indent="0">
              <a:buNone/>
              <a:defRPr lang="zh-CN" altLang="en-US" sz="2667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Lato Black" panose="020F0A02020204030203" pitchFamily="34" charset="0"/>
                <a:ea typeface="+mn-ea"/>
                <a:cs typeface="Lato Light" panose="020F0402020204030203" pitchFamily="34" charset="0"/>
              </a:defRPr>
            </a:lvl1pPr>
          </a:lstStyle>
          <a:p>
            <a:pPr lvl="0"/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0AB70B51-E048-ABC7-9645-84F5A2AF563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17503" y="1158181"/>
            <a:ext cx="11508741" cy="5446415"/>
          </a:xfrm>
          <a:prstGeom prst="rect">
            <a:avLst/>
          </a:prstGeom>
        </p:spPr>
        <p:txBody>
          <a:bodyPr/>
          <a:lstStyle>
            <a:lvl1pPr marL="0" indent="-209975" algn="just" defTabSz="761909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333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448071" indent="-238097" algn="just" defTabSz="761909" rtl="0" eaLnBrk="1" latinLnBrk="0" hangingPunct="1">
              <a:lnSpc>
                <a:spcPct val="130000"/>
              </a:lnSpc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167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599928" indent="-190477" algn="just" defTabSz="761909" rtl="0" eaLnBrk="1" latinLnBrk="0" hangingPunct="1">
              <a:lnSpc>
                <a:spcPct val="130000"/>
              </a:lnSpc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167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809903" indent="-191977" algn="just" defTabSz="761909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917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algn="just" defTabSz="761909" rtl="0" eaLnBrk="1" latinLnBrk="0" hangingPunct="1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defRPr lang="zh-CN" altLang="en-US" sz="15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lvl="0"/>
            <a:r>
              <a:rPr lang="en-US" altLang="zh-CN" dirty="0"/>
              <a:t>Heading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</a:p>
          <a:p>
            <a:pPr lvl="1"/>
            <a:r>
              <a:rPr lang="en-US" altLang="zh-CN" dirty="0"/>
              <a:t>Heading 2</a:t>
            </a:r>
          </a:p>
          <a:p>
            <a:pPr lvl="2"/>
            <a:r>
              <a:rPr lang="en-US" altLang="zh-CN" dirty="0"/>
              <a:t>Contents</a:t>
            </a:r>
          </a:p>
          <a:p>
            <a:pPr marL="809903" lvl="3" indent="-191977" algn="just" defTabSz="761909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</a:pPr>
            <a:r>
              <a:rPr lang="en-US" altLang="zh-CN" dirty="0"/>
              <a:t>1</a:t>
            </a:r>
          </a:p>
          <a:p>
            <a:pPr marL="809903" lvl="3" indent="-191977" algn="just" defTabSz="761909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</a:pPr>
            <a:r>
              <a:rPr lang="en-US" altLang="zh-CN" dirty="0"/>
              <a:t>1</a:t>
            </a:r>
          </a:p>
          <a:p>
            <a:pPr lvl="2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29622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775E44-BF68-4D37-A7A3-8A7D48E34B1E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307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BC74D01-02AC-40DE-89FB-F02D0CE3F0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4532" y="2324165"/>
            <a:ext cx="8645063" cy="1232960"/>
          </a:xfrm>
        </p:spPr>
        <p:txBody>
          <a:bodyPr>
            <a:normAutofit/>
          </a:bodyPr>
          <a:lstStyle/>
          <a:p>
            <a:pPr lvl="0"/>
            <a:r>
              <a:rPr lang="en-US" altLang="zh-CN" sz="5000" b="1" dirty="0"/>
              <a:t>260608 Meeting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0F33473-6FC5-481D-AF7A-136DBDC0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4530" y="3721707"/>
            <a:ext cx="4253944" cy="247558"/>
          </a:xfrm>
        </p:spPr>
        <p:txBody>
          <a:bodyPr>
            <a:normAutofit fontScale="70000" lnSpcReduction="20000"/>
          </a:bodyPr>
          <a:lstStyle/>
          <a:p>
            <a:r>
              <a:rPr lang="en-US" altLang="zh-CN" dirty="0"/>
              <a:t>Dylan Junluo CHEN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E7D012C-6AD2-43C7-8A11-57F4111F59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14530" y="3980398"/>
            <a:ext cx="4253944" cy="247558"/>
          </a:xfrm>
        </p:spPr>
        <p:txBody>
          <a:bodyPr/>
          <a:lstStyle/>
          <a:p>
            <a:r>
              <a:rPr lang="en-US" altLang="zh-CN" dirty="0"/>
              <a:t>Supervisor: Ben LIU &amp; Xin LI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45854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B764C-E9BD-6BA6-160D-979CE5DAD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9747D-6D8E-0190-463D-960F54C7BB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8AEEC6F-59BA-0FBB-4F2F-505BB9666E25}"/>
              </a:ext>
            </a:extLst>
          </p:cNvPr>
          <p:cNvSpPr txBox="1">
            <a:spLocks/>
          </p:cNvSpPr>
          <p:nvPr/>
        </p:nvSpPr>
        <p:spPr>
          <a:xfrm>
            <a:off x="317500" y="1489588"/>
            <a:ext cx="11607408" cy="4538679"/>
          </a:xfrm>
          <a:prstGeom prst="rect">
            <a:avLst/>
          </a:prstGeom>
        </p:spPr>
        <p:txBody>
          <a:bodyPr vert="horz" lIns="76200" tIns="38100" rIns="76200" bIns="38100" rtlCol="0">
            <a:norm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61909">
              <a:lnSpc>
                <a:spcPct val="120000"/>
              </a:lnSpc>
            </a:pPr>
            <a:r>
              <a:rPr lang="en-US" altLang="zh-CN" sz="1250" dirty="0"/>
              <a:t>Theoretical</a:t>
            </a:r>
            <a:r>
              <a:rPr lang="zh-CN" altLang="en-US" sz="1250" dirty="0"/>
              <a:t> </a:t>
            </a:r>
            <a:r>
              <a:rPr lang="en-US" altLang="zh-CN" sz="1250" dirty="0"/>
              <a:t>model,</a:t>
            </a:r>
            <a:r>
              <a:rPr lang="zh-CN" altLang="en-US" sz="1250" dirty="0"/>
              <a:t> </a:t>
            </a:r>
            <a:r>
              <a:rPr lang="en-US" altLang="zh-CN" sz="1250" dirty="0"/>
              <a:t>development</a:t>
            </a:r>
            <a:r>
              <a:rPr lang="zh-CN" altLang="en-US" sz="1250" dirty="0"/>
              <a:t> </a:t>
            </a:r>
            <a:r>
              <a:rPr lang="en-US" altLang="zh-CN" sz="1250" dirty="0"/>
              <a:t>and</a:t>
            </a:r>
            <a:r>
              <a:rPr lang="zh-CN" altLang="en-US" sz="1250" dirty="0"/>
              <a:t> </a:t>
            </a:r>
            <a:r>
              <a:rPr lang="en-US" altLang="zh-CN" sz="1250" dirty="0"/>
              <a:t>results</a:t>
            </a:r>
          </a:p>
          <a:p>
            <a:pPr lvl="1" defTabSz="761909">
              <a:lnSpc>
                <a:spcPct val="120000"/>
              </a:lnSpc>
            </a:pPr>
            <a:r>
              <a:rPr lang="en-US" altLang="zh-CN" sz="1200" dirty="0"/>
              <a:t>Refined</a:t>
            </a:r>
            <a:r>
              <a:rPr lang="zh-CN" altLang="en-US" sz="1200" dirty="0"/>
              <a:t> </a:t>
            </a:r>
            <a:r>
              <a:rPr lang="en-US" altLang="zh-CN" sz="1200" dirty="0"/>
              <a:t>theoretical</a:t>
            </a:r>
            <a:r>
              <a:rPr lang="zh-CN" altLang="en-US" sz="1200" dirty="0"/>
              <a:t> </a:t>
            </a:r>
            <a:r>
              <a:rPr lang="en-US" altLang="zh-CN" sz="1200" dirty="0"/>
              <a:t>model</a:t>
            </a:r>
          </a:p>
          <a:p>
            <a:pPr lvl="1" defTabSz="761909">
              <a:lnSpc>
                <a:spcPct val="120000"/>
              </a:lnSpc>
            </a:pPr>
            <a:r>
              <a:rPr lang="en-US" altLang="zh-CN" sz="1200" dirty="0"/>
              <a:t>Two</a:t>
            </a:r>
            <a:r>
              <a:rPr lang="zh-CN" altLang="en-US" sz="1200" dirty="0"/>
              <a:t> </a:t>
            </a:r>
            <a:r>
              <a:rPr lang="en-US" altLang="zh-CN" sz="1200" dirty="0"/>
              <a:t>plans</a:t>
            </a:r>
            <a:r>
              <a:rPr lang="zh-CN" altLang="en-US" sz="1200" dirty="0"/>
              <a:t> </a:t>
            </a:r>
            <a:r>
              <a:rPr lang="en-US" altLang="zh-CN" sz="1200" dirty="0"/>
              <a:t>of</a:t>
            </a:r>
            <a:r>
              <a:rPr lang="zh-CN" altLang="en-US" sz="1200" dirty="0"/>
              <a:t> </a:t>
            </a:r>
            <a:r>
              <a:rPr lang="en-US" altLang="zh-CN" sz="1200" dirty="0"/>
              <a:t>theoretical</a:t>
            </a:r>
            <a:r>
              <a:rPr lang="zh-CN" altLang="en-US" sz="1200" dirty="0"/>
              <a:t> </a:t>
            </a:r>
            <a:r>
              <a:rPr lang="en-US" altLang="zh-CN" sz="1200" dirty="0"/>
              <a:t>development</a:t>
            </a:r>
          </a:p>
          <a:p>
            <a:pPr lvl="2" defTabSz="761909">
              <a:lnSpc>
                <a:spcPct val="120000"/>
              </a:lnSpc>
            </a:pPr>
            <a:r>
              <a:rPr lang="en-US" altLang="zh-CN" sz="1200" dirty="0"/>
              <a:t>Plan</a:t>
            </a:r>
            <a:r>
              <a:rPr lang="zh-CN" altLang="en-US" sz="1200" dirty="0"/>
              <a:t> </a:t>
            </a:r>
            <a:r>
              <a:rPr lang="en-US" altLang="zh-CN" sz="1200" dirty="0"/>
              <a:t>A</a:t>
            </a:r>
            <a:r>
              <a:rPr lang="zh-CN" altLang="en-US" sz="1200" dirty="0"/>
              <a:t> </a:t>
            </a:r>
            <a:r>
              <a:rPr lang="en-US" altLang="zh-CN" sz="1200" dirty="0"/>
              <a:t>&amp;</a:t>
            </a:r>
            <a:r>
              <a:rPr lang="zh-CN" altLang="en-US" sz="1200" dirty="0"/>
              <a:t> </a:t>
            </a:r>
            <a:r>
              <a:rPr lang="en-US" altLang="zh-CN" sz="1200" dirty="0"/>
              <a:t>Plan</a:t>
            </a:r>
            <a:r>
              <a:rPr lang="zh-CN" altLang="en-US" sz="1200" dirty="0"/>
              <a:t> </a:t>
            </a:r>
            <a:r>
              <a:rPr lang="en-US" altLang="zh-CN" sz="1200" dirty="0"/>
              <a:t>B</a:t>
            </a:r>
          </a:p>
          <a:p>
            <a:pPr lvl="1" defTabSz="761909">
              <a:lnSpc>
                <a:spcPct val="120000"/>
              </a:lnSpc>
            </a:pPr>
            <a:r>
              <a:rPr lang="en-US" altLang="zh-CN" sz="1200" dirty="0"/>
              <a:t>Selected</a:t>
            </a:r>
            <a:r>
              <a:rPr lang="zh-CN" altLang="en-US" sz="1200" dirty="0"/>
              <a:t> </a:t>
            </a:r>
            <a:r>
              <a:rPr lang="en-US" altLang="zh-CN" sz="1200" dirty="0"/>
              <a:t>results</a:t>
            </a:r>
            <a:r>
              <a:rPr lang="zh-CN" altLang="en-US" sz="1200" dirty="0"/>
              <a:t> </a:t>
            </a:r>
            <a:r>
              <a:rPr lang="en-US" altLang="zh-CN" sz="1200" dirty="0"/>
              <a:t>put</a:t>
            </a:r>
            <a:r>
              <a:rPr lang="zh-CN" altLang="en-US" sz="1200" dirty="0"/>
              <a:t> </a:t>
            </a:r>
            <a:r>
              <a:rPr lang="en-US" altLang="zh-CN" sz="1200" dirty="0"/>
              <a:t>into</a:t>
            </a:r>
            <a:r>
              <a:rPr lang="zh-CN" altLang="en-US" sz="1200" dirty="0"/>
              <a:t> </a:t>
            </a:r>
            <a:r>
              <a:rPr lang="en-US" altLang="zh-CN" sz="1200" dirty="0"/>
              <a:t>paper</a:t>
            </a:r>
          </a:p>
          <a:p>
            <a:pPr lvl="1" defTabSz="761909">
              <a:lnSpc>
                <a:spcPct val="120000"/>
              </a:lnSpc>
            </a:pPr>
            <a:endParaRPr lang="en-US" altLang="zh-CN" sz="1200" dirty="0"/>
          </a:p>
          <a:p>
            <a:pPr lvl="1" defTabSz="761909">
              <a:lnSpc>
                <a:spcPct val="120000"/>
              </a:lnSpc>
            </a:pPr>
            <a:endParaRPr lang="en-US" altLang="zh-CN" sz="1200" dirty="0"/>
          </a:p>
          <a:p>
            <a:pPr lvl="1" defTabSz="761909">
              <a:lnSpc>
                <a:spcPct val="120000"/>
              </a:lnSpc>
            </a:pPr>
            <a:endParaRPr lang="en-US" altLang="zh-CN" sz="1200" dirty="0"/>
          </a:p>
          <a:p>
            <a:pPr lvl="1" defTabSz="761909">
              <a:lnSpc>
                <a:spcPct val="120000"/>
              </a:lnSpc>
            </a:pPr>
            <a:endParaRPr lang="en-US" altLang="zh-CN" sz="1200" dirty="0"/>
          </a:p>
          <a:p>
            <a:pPr lvl="1" defTabSz="761909">
              <a:lnSpc>
                <a:spcPct val="120000"/>
              </a:lnSpc>
            </a:pPr>
            <a:endParaRPr lang="en-US" altLang="zh-CN" sz="1200" dirty="0"/>
          </a:p>
          <a:p>
            <a:pPr lvl="1" defTabSz="761909">
              <a:lnSpc>
                <a:spcPct val="120000"/>
              </a:lnSpc>
            </a:pPr>
            <a:endParaRPr lang="en-US" altLang="zh-CN" sz="1200" dirty="0"/>
          </a:p>
          <a:p>
            <a:pPr lvl="1" defTabSz="761909">
              <a:lnSpc>
                <a:spcPct val="120000"/>
              </a:lnSpc>
            </a:pPr>
            <a:endParaRPr lang="en-US" altLang="zh-CN" sz="1200" dirty="0"/>
          </a:p>
          <a:p>
            <a:pPr lvl="1" defTabSz="761909">
              <a:lnSpc>
                <a:spcPct val="120000"/>
              </a:lnSpc>
            </a:pPr>
            <a:endParaRPr lang="en-US" altLang="zh-CN" sz="1200" dirty="0"/>
          </a:p>
        </p:txBody>
      </p:sp>
    </p:spTree>
    <p:extLst>
      <p:ext uri="{BB962C8B-B14F-4D97-AF65-F5344CB8AC3E}">
        <p14:creationId xmlns:p14="http://schemas.microsoft.com/office/powerpoint/2010/main" val="4175029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06048-46E8-7166-5D91-F34D7A9F7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8AF8BC2-58C6-794D-C271-DD234105EAC5}"/>
              </a:ext>
            </a:extLst>
          </p:cNvPr>
          <p:cNvSpPr/>
          <p:nvPr/>
        </p:nvSpPr>
        <p:spPr>
          <a:xfrm>
            <a:off x="9270134" y="4034221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Innovation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96C115A-10CD-605C-8836-EA71D41B1C3F}"/>
              </a:ext>
            </a:extLst>
          </p:cNvPr>
          <p:cNvSpPr/>
          <p:nvPr/>
        </p:nvSpPr>
        <p:spPr>
          <a:xfrm>
            <a:off x="9270134" y="3108960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Participation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7DA90EB-6C5C-BB70-C663-8773905E8F31}"/>
              </a:ext>
            </a:extLst>
          </p:cNvPr>
          <p:cNvSpPr/>
          <p:nvPr/>
        </p:nvSpPr>
        <p:spPr>
          <a:xfrm>
            <a:off x="2798410" y="2862283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Prior Answer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2C64F4-210C-9B84-8502-4785777B7DEC}"/>
              </a:ext>
            </a:extLst>
          </p:cNvPr>
          <p:cNvSpPr/>
          <p:nvPr/>
        </p:nvSpPr>
        <p:spPr>
          <a:xfrm>
            <a:off x="2798410" y="4354261"/>
            <a:ext cx="1992431" cy="64008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Quality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0543269-AAD2-E172-CCDD-24804ED736F7}"/>
              </a:ext>
            </a:extLst>
          </p:cNvPr>
          <p:cNvCxnSpPr>
            <a:cxnSpLocks/>
            <a:stCxn id="33" idx="3"/>
            <a:endCxn id="23" idx="1"/>
          </p:cNvCxnSpPr>
          <p:nvPr/>
        </p:nvCxnSpPr>
        <p:spPr>
          <a:xfrm flipV="1">
            <a:off x="4790841" y="3429000"/>
            <a:ext cx="4479293" cy="5125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4E5E069-4505-40F1-0C4C-C5C52150D3B2}"/>
              </a:ext>
            </a:extLst>
          </p:cNvPr>
          <p:cNvCxnSpPr>
            <a:cxnSpLocks/>
            <a:stCxn id="33" idx="3"/>
            <a:endCxn id="13" idx="1"/>
          </p:cNvCxnSpPr>
          <p:nvPr/>
        </p:nvCxnSpPr>
        <p:spPr>
          <a:xfrm>
            <a:off x="4790841" y="3941588"/>
            <a:ext cx="4479293" cy="4126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B6DDC00D-DC45-08FF-C157-0588400DF14A}"/>
              </a:ext>
            </a:extLst>
          </p:cNvPr>
          <p:cNvSpPr/>
          <p:nvPr/>
        </p:nvSpPr>
        <p:spPr>
          <a:xfrm>
            <a:off x="2798410" y="3621548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Length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B12593E-F048-4A0C-DCBA-862F6B956875}"/>
              </a:ext>
            </a:extLst>
          </p:cNvPr>
          <p:cNvSpPr txBox="1"/>
          <p:nvPr/>
        </p:nvSpPr>
        <p:spPr>
          <a:xfrm>
            <a:off x="1632053" y="2812991"/>
            <a:ext cx="613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Fast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3597091-4AB4-D3AB-0CBA-A9351382DDDF}"/>
              </a:ext>
            </a:extLst>
          </p:cNvPr>
          <p:cNvSpPr txBox="1"/>
          <p:nvPr/>
        </p:nvSpPr>
        <p:spPr>
          <a:xfrm>
            <a:off x="1632053" y="4809675"/>
            <a:ext cx="664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Slow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4A04090-9A6D-A421-DC52-6EC8A64BE2E7}"/>
              </a:ext>
            </a:extLst>
          </p:cNvPr>
          <p:cNvSpPr txBox="1"/>
          <p:nvPr/>
        </p:nvSpPr>
        <p:spPr>
          <a:xfrm>
            <a:off x="5962350" y="3509274"/>
            <a:ext cx="203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BF0A993-EC76-FA80-4FFF-FE9383C46CC4}"/>
              </a:ext>
            </a:extLst>
          </p:cNvPr>
          <p:cNvSpPr txBox="1"/>
          <p:nvPr/>
        </p:nvSpPr>
        <p:spPr>
          <a:xfrm>
            <a:off x="7208907" y="2588614"/>
            <a:ext cx="263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1BF350B-5962-82AA-E4ED-5A10CE14A1CB}"/>
              </a:ext>
            </a:extLst>
          </p:cNvPr>
          <p:cNvSpPr txBox="1"/>
          <p:nvPr/>
        </p:nvSpPr>
        <p:spPr>
          <a:xfrm>
            <a:off x="6205912" y="3976534"/>
            <a:ext cx="263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D621279-B148-DC94-3768-FFBEF09961D9}"/>
              </a:ext>
            </a:extLst>
          </p:cNvPr>
          <p:cNvCxnSpPr>
            <a:cxnSpLocks/>
            <a:stCxn id="61" idx="2"/>
          </p:cNvCxnSpPr>
          <p:nvPr/>
        </p:nvCxnSpPr>
        <p:spPr>
          <a:xfrm>
            <a:off x="7130656" y="2588614"/>
            <a:ext cx="298313" cy="15815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ight Brace 29">
            <a:extLst>
              <a:ext uri="{FF2B5EF4-FFF2-40B4-BE49-F238E27FC236}">
                <a16:creationId xmlns:a16="http://schemas.microsoft.com/office/drawing/2014/main" id="{D3BD823A-F25B-AA07-858B-20E83EBE3161}"/>
              </a:ext>
            </a:extLst>
          </p:cNvPr>
          <p:cNvSpPr/>
          <p:nvPr/>
        </p:nvSpPr>
        <p:spPr>
          <a:xfrm rot="10800000">
            <a:off x="2288025" y="2813777"/>
            <a:ext cx="369334" cy="2255622"/>
          </a:xfrm>
          <a:prstGeom prst="rightBrace">
            <a:avLst>
              <a:gd name="adj1" fmla="val 41330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48965FE-7209-3777-3F97-F9F09F5B3C9F}"/>
              </a:ext>
            </a:extLst>
          </p:cNvPr>
          <p:cNvSpPr txBox="1"/>
          <p:nvPr/>
        </p:nvSpPr>
        <p:spPr>
          <a:xfrm>
            <a:off x="423721" y="3756922"/>
            <a:ext cx="1793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Dual Processing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6445F47-C3F6-D2A7-49A8-2A9CFB66FF4C}"/>
              </a:ext>
            </a:extLst>
          </p:cNvPr>
          <p:cNvCxnSpPr>
            <a:cxnSpLocks/>
            <a:stCxn id="61" idx="2"/>
          </p:cNvCxnSpPr>
          <p:nvPr/>
        </p:nvCxnSpPr>
        <p:spPr>
          <a:xfrm>
            <a:off x="7130656" y="2588614"/>
            <a:ext cx="730012" cy="1841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B642CAF-A6C3-4590-8C35-2BB389DD0E05}"/>
              </a:ext>
            </a:extLst>
          </p:cNvPr>
          <p:cNvCxnSpPr>
            <a:cxnSpLocks/>
            <a:stCxn id="61" idx="2"/>
          </p:cNvCxnSpPr>
          <p:nvPr/>
        </p:nvCxnSpPr>
        <p:spPr>
          <a:xfrm flipH="1">
            <a:off x="6783272" y="2588614"/>
            <a:ext cx="347384" cy="6965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368138F8-63B7-A6EB-9E25-4E08A56097D6}"/>
              </a:ext>
            </a:extLst>
          </p:cNvPr>
          <p:cNvSpPr/>
          <p:nvPr/>
        </p:nvSpPr>
        <p:spPr>
          <a:xfrm>
            <a:off x="6367866" y="1948534"/>
            <a:ext cx="1525579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AC460E6-7891-B5B6-0B69-4E3E4EFBB83B}"/>
              </a:ext>
            </a:extLst>
          </p:cNvPr>
          <p:cNvCxnSpPr>
            <a:cxnSpLocks/>
            <a:stCxn id="61" idx="2"/>
          </p:cNvCxnSpPr>
          <p:nvPr/>
        </p:nvCxnSpPr>
        <p:spPr>
          <a:xfrm flipH="1">
            <a:off x="6956964" y="2588614"/>
            <a:ext cx="173692" cy="11051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56530F4-9494-21BB-B050-EB00E74A36FE}"/>
              </a:ext>
            </a:extLst>
          </p:cNvPr>
          <p:cNvCxnSpPr>
            <a:cxnSpLocks/>
            <a:stCxn id="25" idx="3"/>
            <a:endCxn id="23" idx="1"/>
          </p:cNvCxnSpPr>
          <p:nvPr/>
        </p:nvCxnSpPr>
        <p:spPr>
          <a:xfrm>
            <a:off x="4790841" y="3182323"/>
            <a:ext cx="4479293" cy="2466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D25CCA9-96BD-63C9-40D7-27359F7F4C74}"/>
              </a:ext>
            </a:extLst>
          </p:cNvPr>
          <p:cNvCxnSpPr>
            <a:cxnSpLocks/>
            <a:stCxn id="2" idx="3"/>
            <a:endCxn id="13" idx="1"/>
          </p:cNvCxnSpPr>
          <p:nvPr/>
        </p:nvCxnSpPr>
        <p:spPr>
          <a:xfrm flipV="1">
            <a:off x="4790841" y="4354261"/>
            <a:ext cx="4479293" cy="320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1793BD73-D73D-4C72-070D-7E8791DC26D4}"/>
              </a:ext>
            </a:extLst>
          </p:cNvPr>
          <p:cNvSpPr txBox="1"/>
          <p:nvPr/>
        </p:nvSpPr>
        <p:spPr>
          <a:xfrm>
            <a:off x="6469126" y="4446894"/>
            <a:ext cx="263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B92E2BA-60FA-BEFE-3D9D-8975556DA432}"/>
              </a:ext>
            </a:extLst>
          </p:cNvPr>
          <p:cNvSpPr txBox="1"/>
          <p:nvPr/>
        </p:nvSpPr>
        <p:spPr>
          <a:xfrm>
            <a:off x="5651071" y="2967035"/>
            <a:ext cx="263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5116B8-78AE-400B-4EEC-F3CA611EFB89}"/>
              </a:ext>
            </a:extLst>
          </p:cNvPr>
          <p:cNvSpPr txBox="1"/>
          <p:nvPr/>
        </p:nvSpPr>
        <p:spPr>
          <a:xfrm>
            <a:off x="203457" y="128587"/>
            <a:ext cx="219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Xin’s</a:t>
            </a:r>
            <a:r>
              <a:rPr lang="zh-CN" altLang="en-US" dirty="0"/>
              <a:t> </a:t>
            </a:r>
            <a:r>
              <a:rPr lang="en-US" altLang="zh-CN" dirty="0"/>
              <a:t>original</a:t>
            </a:r>
            <a:r>
              <a:rPr lang="zh-CN" altLang="en-US" dirty="0"/>
              <a:t> </a:t>
            </a:r>
            <a:r>
              <a:rPr lang="en-US" altLang="zh-CN" dirty="0"/>
              <a:t>version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0F908E-DDAE-15DE-6650-0C14D3FFB60F}"/>
              </a:ext>
            </a:extLst>
          </p:cNvPr>
          <p:cNvSpPr txBox="1"/>
          <p:nvPr/>
        </p:nvSpPr>
        <p:spPr>
          <a:xfrm>
            <a:off x="263471" y="774915"/>
            <a:ext cx="86224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want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use</a:t>
            </a:r>
            <a:r>
              <a:rPr lang="zh-CN" altLang="en-US" dirty="0"/>
              <a:t> </a:t>
            </a:r>
            <a:r>
              <a:rPr lang="en-US" altLang="zh-CN" dirty="0"/>
              <a:t>setup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answer</a:t>
            </a:r>
            <a:r>
              <a:rPr lang="zh-CN" altLang="en-US" dirty="0"/>
              <a:t> </a:t>
            </a:r>
            <a:r>
              <a:rPr lang="en-US" altLang="zh-CN" dirty="0"/>
              <a:t>participation,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setup</a:t>
            </a:r>
            <a:r>
              <a:rPr lang="zh-CN" altLang="en-US" dirty="0"/>
              <a:t> </a:t>
            </a:r>
            <a:r>
              <a:rPr lang="en-US" altLang="zh-CN" dirty="0"/>
              <a:t>2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answer</a:t>
            </a:r>
            <a:r>
              <a:rPr lang="zh-CN" altLang="en-US" dirty="0"/>
              <a:t> </a:t>
            </a:r>
            <a:r>
              <a:rPr lang="en-US" altLang="zh-CN" dirty="0"/>
              <a:t>innovation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But,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setup</a:t>
            </a:r>
            <a:r>
              <a:rPr lang="zh-CN" altLang="en-US" dirty="0"/>
              <a:t> </a:t>
            </a:r>
            <a:r>
              <a:rPr lang="en-US" altLang="zh-CN" dirty="0"/>
              <a:t>1,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don’t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/>
              <a:t>length/quality</a:t>
            </a:r>
            <a:r>
              <a:rPr lang="zh-CN" altLang="en-US" dirty="0"/>
              <a:t> </a:t>
            </a:r>
            <a:r>
              <a:rPr lang="en-US" altLang="zh-CN" dirty="0"/>
              <a:t>main</a:t>
            </a:r>
            <a:r>
              <a:rPr lang="zh-CN" altLang="en-US" dirty="0"/>
              <a:t> </a:t>
            </a:r>
            <a:r>
              <a:rPr lang="en-US" altLang="zh-CN" dirty="0"/>
              <a:t>effect.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So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frame</a:t>
            </a:r>
            <a:r>
              <a:rPr lang="zh-CN" altLang="en-US" dirty="0"/>
              <a:t> </a:t>
            </a:r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main</a:t>
            </a:r>
            <a:r>
              <a:rPr lang="zh-CN" altLang="en-US" dirty="0"/>
              <a:t> </a:t>
            </a:r>
            <a:r>
              <a:rPr lang="en-US" altLang="zh-CN" dirty="0"/>
              <a:t>effect,</a:t>
            </a:r>
            <a:r>
              <a:rPr lang="zh-CN" altLang="en-US" dirty="0"/>
              <a:t> </a:t>
            </a:r>
            <a:r>
              <a:rPr lang="en-US" altLang="zh-CN" dirty="0"/>
              <a:t>(AI)</a:t>
            </a:r>
            <a:r>
              <a:rPr lang="zh-CN" altLang="en-US" dirty="0"/>
              <a:t> </a:t>
            </a:r>
            <a:r>
              <a:rPr lang="en-US" altLang="zh-CN" dirty="0"/>
              <a:t>answer</a:t>
            </a:r>
            <a:r>
              <a:rPr lang="zh-CN" altLang="en-US" dirty="0"/>
              <a:t> </a:t>
            </a:r>
            <a:r>
              <a:rPr lang="en-US" altLang="zh-CN" dirty="0"/>
              <a:t>length/quality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moderator</a:t>
            </a:r>
          </a:p>
        </p:txBody>
      </p:sp>
    </p:spTree>
    <p:extLst>
      <p:ext uri="{BB962C8B-B14F-4D97-AF65-F5344CB8AC3E}">
        <p14:creationId xmlns:p14="http://schemas.microsoft.com/office/powerpoint/2010/main" val="1791130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35565-7A8C-4687-3F8E-2DF67A0AB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2BBC832-1BE3-C3F3-FF29-80CC71D394BA}"/>
              </a:ext>
            </a:extLst>
          </p:cNvPr>
          <p:cNvSpPr/>
          <p:nvPr/>
        </p:nvSpPr>
        <p:spPr>
          <a:xfrm>
            <a:off x="9255847" y="5330355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Innovation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B7321FF-A6D9-D9D8-60FB-9356BA837A25}"/>
              </a:ext>
            </a:extLst>
          </p:cNvPr>
          <p:cNvSpPr/>
          <p:nvPr/>
        </p:nvSpPr>
        <p:spPr>
          <a:xfrm>
            <a:off x="9155650" y="2355583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Human</a:t>
            </a:r>
            <a:r>
              <a:rPr lang="zh-CN" altLang="en-US" dirty="0"/>
              <a:t> </a:t>
            </a:r>
            <a:r>
              <a:rPr lang="en-US" dirty="0"/>
              <a:t>Answer Participation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A8BE21-8C7A-2948-F3EE-785542CD3C52}"/>
              </a:ext>
            </a:extLst>
          </p:cNvPr>
          <p:cNvSpPr/>
          <p:nvPr/>
        </p:nvSpPr>
        <p:spPr>
          <a:xfrm>
            <a:off x="7016199" y="4402018"/>
            <a:ext cx="1992431" cy="64008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Prior</a:t>
            </a:r>
            <a:r>
              <a:rPr lang="zh-CN" altLang="en-US" dirty="0"/>
              <a:t> </a:t>
            </a:r>
            <a:r>
              <a:rPr lang="en-US" dirty="0"/>
              <a:t>Answer Quality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EFC45B0-8D9A-6B7D-0970-D04FFAFF2C4A}"/>
              </a:ext>
            </a:extLst>
          </p:cNvPr>
          <p:cNvCxnSpPr>
            <a:cxnSpLocks/>
            <a:stCxn id="33" idx="2"/>
          </p:cNvCxnSpPr>
          <p:nvPr/>
        </p:nvCxnSpPr>
        <p:spPr>
          <a:xfrm>
            <a:off x="5721838" y="5042098"/>
            <a:ext cx="864608" cy="5838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1BD9C20D-E1A3-F221-EFC1-7DD23D50743D}"/>
              </a:ext>
            </a:extLst>
          </p:cNvPr>
          <p:cNvSpPr/>
          <p:nvPr/>
        </p:nvSpPr>
        <p:spPr>
          <a:xfrm>
            <a:off x="4725622" y="4402018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Prior</a:t>
            </a:r>
            <a:r>
              <a:rPr lang="zh-CN" altLang="en-US" dirty="0"/>
              <a:t> </a:t>
            </a:r>
            <a:r>
              <a:rPr lang="en-US" dirty="0"/>
              <a:t>Answer Length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8C5B7EF-1EFF-AED8-EA81-681A19A9D7C7}"/>
              </a:ext>
            </a:extLst>
          </p:cNvPr>
          <p:cNvCxnSpPr>
            <a:cxnSpLocks/>
            <a:stCxn id="61" idx="3"/>
            <a:endCxn id="13" idx="1"/>
          </p:cNvCxnSpPr>
          <p:nvPr/>
        </p:nvCxnSpPr>
        <p:spPr>
          <a:xfrm>
            <a:off x="4607626" y="5650395"/>
            <a:ext cx="46482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37CBE7BB-16CE-0412-50BE-50BEBED9B6C6}"/>
              </a:ext>
            </a:extLst>
          </p:cNvPr>
          <p:cNvSpPr/>
          <p:nvPr/>
        </p:nvSpPr>
        <p:spPr>
          <a:xfrm>
            <a:off x="2615195" y="5330355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Prior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human</a:t>
            </a:r>
            <a:endParaRPr lang="en-US" dirty="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B20AA13-624C-B826-16FB-DE101F6B3FD7}"/>
              </a:ext>
            </a:extLst>
          </p:cNvPr>
          <p:cNvCxnSpPr>
            <a:cxnSpLocks/>
            <a:stCxn id="2" idx="2"/>
          </p:cNvCxnSpPr>
          <p:nvPr/>
        </p:nvCxnSpPr>
        <p:spPr>
          <a:xfrm flipH="1">
            <a:off x="7582662" y="5042098"/>
            <a:ext cx="429753" cy="6082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045FC41-F8D7-7F97-DAA7-45E27045306B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5721838" y="1919092"/>
            <a:ext cx="864608" cy="7025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BB11233B-2F14-C0B0-2452-3127A12DB2F6}"/>
              </a:ext>
            </a:extLst>
          </p:cNvPr>
          <p:cNvSpPr/>
          <p:nvPr/>
        </p:nvSpPr>
        <p:spPr>
          <a:xfrm>
            <a:off x="7016200" y="1253014"/>
            <a:ext cx="1992431" cy="64008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dirty="0"/>
              <a:t>Quality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8FE77C-B75B-1F11-3310-44DBD1F6479B}"/>
              </a:ext>
            </a:extLst>
          </p:cNvPr>
          <p:cNvSpPr/>
          <p:nvPr/>
        </p:nvSpPr>
        <p:spPr>
          <a:xfrm>
            <a:off x="4725622" y="1279012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dirty="0"/>
              <a:t>Length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6A77BFA-FC65-D45F-EAC1-5F7531E3369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7481375" y="1893094"/>
            <a:ext cx="531041" cy="7285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D39A1D72-D4C2-6769-8C5D-E6B53F5D9A46}"/>
              </a:ext>
            </a:extLst>
          </p:cNvPr>
          <p:cNvSpPr/>
          <p:nvPr/>
        </p:nvSpPr>
        <p:spPr>
          <a:xfrm>
            <a:off x="2615195" y="2256671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Has</a:t>
            </a:r>
            <a:r>
              <a:rPr lang="zh-CN" altLang="en-US" dirty="0"/>
              <a:t> </a:t>
            </a:r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answer</a:t>
            </a:r>
            <a:endParaRPr lang="en-US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5B26752-9FD1-2C3D-A02C-7D5A2AC10021}"/>
              </a:ext>
            </a:extLst>
          </p:cNvPr>
          <p:cNvCxnSpPr>
            <a:cxnSpLocks/>
            <a:stCxn id="19" idx="3"/>
            <a:endCxn id="23" idx="1"/>
          </p:cNvCxnSpPr>
          <p:nvPr/>
        </p:nvCxnSpPr>
        <p:spPr>
          <a:xfrm>
            <a:off x="4607626" y="2576711"/>
            <a:ext cx="4548024" cy="989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A9E0640-3E70-B56C-847C-F7D7DB9F81D6}"/>
              </a:ext>
            </a:extLst>
          </p:cNvPr>
          <p:cNvSpPr txBox="1"/>
          <p:nvPr/>
        </p:nvSpPr>
        <p:spPr>
          <a:xfrm>
            <a:off x="5091610" y="376454"/>
            <a:ext cx="613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Fast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AB66206-50D4-8FDB-366D-5D1A426716E6}"/>
              </a:ext>
            </a:extLst>
          </p:cNvPr>
          <p:cNvSpPr txBox="1"/>
          <p:nvPr/>
        </p:nvSpPr>
        <p:spPr>
          <a:xfrm>
            <a:off x="7942696" y="403591"/>
            <a:ext cx="664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Slow</a:t>
            </a:r>
          </a:p>
        </p:txBody>
      </p:sp>
      <p:sp>
        <p:nvSpPr>
          <p:cNvPr id="35" name="Right Brace 34">
            <a:extLst>
              <a:ext uri="{FF2B5EF4-FFF2-40B4-BE49-F238E27FC236}">
                <a16:creationId xmlns:a16="http://schemas.microsoft.com/office/drawing/2014/main" id="{43930A1D-C311-8792-50A9-C4B7742768C7}"/>
              </a:ext>
            </a:extLst>
          </p:cNvPr>
          <p:cNvSpPr/>
          <p:nvPr/>
        </p:nvSpPr>
        <p:spPr>
          <a:xfrm rot="16046947">
            <a:off x="6642759" y="187279"/>
            <a:ext cx="369334" cy="1447851"/>
          </a:xfrm>
          <a:prstGeom prst="rightBrace">
            <a:avLst>
              <a:gd name="adj1" fmla="val 41330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F36B0F-BC3F-B644-A9A4-C2BFA0B470AE}"/>
              </a:ext>
            </a:extLst>
          </p:cNvPr>
          <p:cNvSpPr txBox="1"/>
          <p:nvPr/>
        </p:nvSpPr>
        <p:spPr>
          <a:xfrm>
            <a:off x="5924554" y="9360"/>
            <a:ext cx="1793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Dual Processing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57AD3EE-9EDE-245F-69C4-9C432A09D307}"/>
              </a:ext>
            </a:extLst>
          </p:cNvPr>
          <p:cNvSpPr txBox="1"/>
          <p:nvPr/>
        </p:nvSpPr>
        <p:spPr>
          <a:xfrm>
            <a:off x="5091610" y="3535892"/>
            <a:ext cx="613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Fast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6C370C2-9316-8827-64C6-F4706145E4D0}"/>
              </a:ext>
            </a:extLst>
          </p:cNvPr>
          <p:cNvSpPr txBox="1"/>
          <p:nvPr/>
        </p:nvSpPr>
        <p:spPr>
          <a:xfrm>
            <a:off x="7942696" y="3563029"/>
            <a:ext cx="664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Slow</a:t>
            </a:r>
          </a:p>
        </p:txBody>
      </p:sp>
      <p:sp>
        <p:nvSpPr>
          <p:cNvPr id="39" name="Right Brace 38">
            <a:extLst>
              <a:ext uri="{FF2B5EF4-FFF2-40B4-BE49-F238E27FC236}">
                <a16:creationId xmlns:a16="http://schemas.microsoft.com/office/drawing/2014/main" id="{D73A06A7-CF0B-A36F-A9FE-EA160013DF5C}"/>
              </a:ext>
            </a:extLst>
          </p:cNvPr>
          <p:cNvSpPr/>
          <p:nvPr/>
        </p:nvSpPr>
        <p:spPr>
          <a:xfrm rot="16046947">
            <a:off x="6642759" y="3346717"/>
            <a:ext cx="369334" cy="1447851"/>
          </a:xfrm>
          <a:prstGeom prst="rightBrace">
            <a:avLst>
              <a:gd name="adj1" fmla="val 41330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3B6DD0C-B41C-4117-C5AB-7A5B503E6342}"/>
              </a:ext>
            </a:extLst>
          </p:cNvPr>
          <p:cNvSpPr txBox="1"/>
          <p:nvPr/>
        </p:nvSpPr>
        <p:spPr>
          <a:xfrm>
            <a:off x="5924554" y="3171125"/>
            <a:ext cx="1793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Dual Processing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37DF92E-23EA-73AB-D27C-53869354BEC5}"/>
              </a:ext>
            </a:extLst>
          </p:cNvPr>
          <p:cNvSpPr txBox="1"/>
          <p:nvPr/>
        </p:nvSpPr>
        <p:spPr>
          <a:xfrm>
            <a:off x="203457" y="128587"/>
            <a:ext cx="1675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260606</a:t>
            </a:r>
            <a:r>
              <a:rPr lang="zh-CN" altLang="en-US" dirty="0"/>
              <a:t> </a:t>
            </a:r>
            <a:r>
              <a:rPr lang="en-US" altLang="zh-CN" dirty="0"/>
              <a:t>exactly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6018CF-2E09-3564-1BB7-90864A614617}"/>
              </a:ext>
            </a:extLst>
          </p:cNvPr>
          <p:cNvSpPr txBox="1"/>
          <p:nvPr/>
        </p:nvSpPr>
        <p:spPr>
          <a:xfrm>
            <a:off x="263471" y="774915"/>
            <a:ext cx="41093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merge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two</a:t>
            </a:r>
            <a:r>
              <a:rPr lang="zh-CN" altLang="en-US" dirty="0"/>
              <a:t> </a:t>
            </a:r>
            <a:r>
              <a:rPr lang="en-US" altLang="zh-CN" dirty="0"/>
              <a:t>plots</a:t>
            </a:r>
            <a:r>
              <a:rPr lang="zh-CN" altLang="en-US" dirty="0"/>
              <a:t> </a:t>
            </a:r>
            <a:r>
              <a:rPr lang="en-US" altLang="zh-CN" dirty="0"/>
              <a:t>into</a:t>
            </a:r>
            <a:r>
              <a:rPr lang="zh-CN" altLang="en-US" dirty="0"/>
              <a:t> </a:t>
            </a:r>
            <a:r>
              <a:rPr lang="en-US" altLang="zh-CN" dirty="0"/>
              <a:t>one</a:t>
            </a:r>
            <a:br>
              <a:rPr lang="en-US" altLang="zh-CN" dirty="0"/>
            </a:br>
            <a:r>
              <a:rPr lang="en-US" altLang="zh-CN" dirty="0"/>
              <a:t>(next</a:t>
            </a:r>
            <a:r>
              <a:rPr lang="zh-CN" altLang="en-US" dirty="0"/>
              <a:t> </a:t>
            </a:r>
            <a:r>
              <a:rPr lang="en-US" altLang="zh-CN" dirty="0"/>
              <a:t>page)</a:t>
            </a:r>
          </a:p>
        </p:txBody>
      </p:sp>
    </p:spTree>
    <p:extLst>
      <p:ext uri="{BB962C8B-B14F-4D97-AF65-F5344CB8AC3E}">
        <p14:creationId xmlns:p14="http://schemas.microsoft.com/office/powerpoint/2010/main" val="4018480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5E2F1-0D35-30BD-E58E-49613D603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B56367E-E97E-A0CF-8FFF-F95D2021A22A}"/>
              </a:ext>
            </a:extLst>
          </p:cNvPr>
          <p:cNvSpPr/>
          <p:nvPr/>
        </p:nvSpPr>
        <p:spPr>
          <a:xfrm>
            <a:off x="8826514" y="5530977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Innovation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27A3378-0A68-DC31-33AC-9CE2B45FCB2F}"/>
              </a:ext>
            </a:extLst>
          </p:cNvPr>
          <p:cNvSpPr/>
          <p:nvPr/>
        </p:nvSpPr>
        <p:spPr>
          <a:xfrm>
            <a:off x="8741313" y="3097255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Human</a:t>
            </a:r>
            <a:r>
              <a:rPr lang="zh-CN" altLang="en-US" dirty="0"/>
              <a:t> </a:t>
            </a:r>
            <a:r>
              <a:rPr lang="en-US" dirty="0"/>
              <a:t>Answer Participation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0B7FD01-8D37-AB63-3565-CCE24490089B}"/>
              </a:ext>
            </a:extLst>
          </p:cNvPr>
          <p:cNvCxnSpPr>
            <a:cxnSpLocks/>
            <a:stCxn id="19" idx="3"/>
            <a:endCxn id="13" idx="1"/>
          </p:cNvCxnSpPr>
          <p:nvPr/>
        </p:nvCxnSpPr>
        <p:spPr>
          <a:xfrm>
            <a:off x="4193289" y="4229875"/>
            <a:ext cx="4633225" cy="16211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85D65B7-EA44-0C86-4020-BD4449218244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5307501" y="2660764"/>
            <a:ext cx="267448" cy="20990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DA096F67-EF2F-B2EB-D14C-7F00BB44513C}"/>
              </a:ext>
            </a:extLst>
          </p:cNvPr>
          <p:cNvSpPr/>
          <p:nvPr/>
        </p:nvSpPr>
        <p:spPr>
          <a:xfrm>
            <a:off x="6601863" y="1994686"/>
            <a:ext cx="1992431" cy="64008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Quality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921101-2D81-93F7-E39F-70EC78050317}"/>
              </a:ext>
            </a:extLst>
          </p:cNvPr>
          <p:cNvSpPr/>
          <p:nvPr/>
        </p:nvSpPr>
        <p:spPr>
          <a:xfrm>
            <a:off x="4311285" y="2020684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Length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89CE316-6021-FA27-7008-EC96C1ED4FAD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7067039" y="2634766"/>
            <a:ext cx="531040" cy="10708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88854D61-7D27-D7AC-C51D-79D546146B82}"/>
              </a:ext>
            </a:extLst>
          </p:cNvPr>
          <p:cNvSpPr/>
          <p:nvPr/>
        </p:nvSpPr>
        <p:spPr>
          <a:xfrm>
            <a:off x="2200858" y="3909835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AI</a:t>
            </a:r>
            <a:endParaRPr lang="en-US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3A4B5EA-7985-33D1-14E5-1BB8EEC92D8F}"/>
              </a:ext>
            </a:extLst>
          </p:cNvPr>
          <p:cNvCxnSpPr>
            <a:cxnSpLocks/>
            <a:stCxn id="19" idx="3"/>
            <a:endCxn id="23" idx="1"/>
          </p:cNvCxnSpPr>
          <p:nvPr/>
        </p:nvCxnSpPr>
        <p:spPr>
          <a:xfrm flipV="1">
            <a:off x="4193289" y="3417295"/>
            <a:ext cx="4548024" cy="8125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57576E5-1317-1ACF-F12E-2E97E6574E27}"/>
              </a:ext>
            </a:extLst>
          </p:cNvPr>
          <p:cNvSpPr txBox="1"/>
          <p:nvPr/>
        </p:nvSpPr>
        <p:spPr>
          <a:xfrm>
            <a:off x="4587530" y="1254450"/>
            <a:ext cx="16970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Stage</a:t>
            </a:r>
            <a:r>
              <a:rPr lang="zh-CN" altLang="en-US" dirty="0"/>
              <a:t> </a:t>
            </a:r>
            <a:r>
              <a:rPr lang="en-US" altLang="zh-CN" dirty="0"/>
              <a:t>2</a:t>
            </a:r>
            <a:br>
              <a:rPr lang="en-US" altLang="zh-CN" dirty="0"/>
            </a:br>
            <a:r>
              <a:rPr lang="en-US" altLang="zh-CN" dirty="0"/>
              <a:t>fast</a:t>
            </a:r>
            <a:r>
              <a:rPr lang="zh-CN" altLang="en-US" dirty="0"/>
              <a:t> </a:t>
            </a:r>
            <a:r>
              <a:rPr lang="en-US" altLang="zh-CN" dirty="0"/>
              <a:t>processing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320F17C-0DC3-3942-9092-6163A2B67644}"/>
              </a:ext>
            </a:extLst>
          </p:cNvPr>
          <p:cNvSpPr txBox="1"/>
          <p:nvPr/>
        </p:nvSpPr>
        <p:spPr>
          <a:xfrm>
            <a:off x="6810426" y="1256681"/>
            <a:ext cx="17854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Stage</a:t>
            </a:r>
            <a:r>
              <a:rPr lang="zh-CN" altLang="en-US" dirty="0"/>
              <a:t> </a:t>
            </a:r>
            <a:r>
              <a:rPr lang="en-US" altLang="zh-CN" dirty="0"/>
              <a:t>3</a:t>
            </a:r>
            <a:br>
              <a:rPr lang="en-US" altLang="zh-CN" dirty="0"/>
            </a:br>
            <a:r>
              <a:rPr lang="en-US" altLang="zh-CN" dirty="0"/>
              <a:t>slow</a:t>
            </a:r>
            <a:r>
              <a:rPr lang="zh-CN" altLang="en-US" dirty="0"/>
              <a:t> </a:t>
            </a:r>
            <a:r>
              <a:rPr lang="en-US" altLang="zh-CN" dirty="0"/>
              <a:t>processing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929E469-24F3-D4AB-344C-4040F5BB96A7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5006042" y="2660764"/>
            <a:ext cx="301459" cy="13425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D1DDCE9-D24C-5650-86A7-3883002D221A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7598079" y="2634766"/>
            <a:ext cx="253959" cy="28962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9BAD1A8-1502-5454-194C-DBCD35C7901D}"/>
              </a:ext>
            </a:extLst>
          </p:cNvPr>
          <p:cNvSpPr txBox="1"/>
          <p:nvPr/>
        </p:nvSpPr>
        <p:spPr>
          <a:xfrm>
            <a:off x="203457" y="128587"/>
            <a:ext cx="2508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260606</a:t>
            </a:r>
            <a:r>
              <a:rPr lang="zh-CN" altLang="en-US" dirty="0"/>
              <a:t> </a:t>
            </a:r>
            <a:r>
              <a:rPr lang="en-US" altLang="zh-CN" dirty="0"/>
              <a:t>comprehensive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5ACC775-5988-30C0-96F8-392AEE8549CF}"/>
              </a:ext>
            </a:extLst>
          </p:cNvPr>
          <p:cNvSpPr txBox="1"/>
          <p:nvPr/>
        </p:nvSpPr>
        <p:spPr>
          <a:xfrm>
            <a:off x="1849521" y="1254450"/>
            <a:ext cx="2461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Stage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  <a:br>
              <a:rPr lang="en-US" altLang="zh-CN" dirty="0"/>
            </a:br>
            <a:r>
              <a:rPr lang="en-US" altLang="zh-CN" dirty="0"/>
              <a:t>Pre-attentive</a:t>
            </a:r>
            <a:r>
              <a:rPr lang="zh-CN" altLang="en-US" dirty="0"/>
              <a:t> </a:t>
            </a:r>
            <a:r>
              <a:rPr lang="en-US" altLang="zh-CN" dirty="0"/>
              <a:t>detection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631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F87D0-B449-6A4A-C610-DAD538C2F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D852FE7-C666-EE5B-04D8-31B28B1E83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CCBBC16-BB7A-0FB0-F99C-AFA735DDE010}"/>
              </a:ext>
            </a:extLst>
          </p:cNvPr>
          <p:cNvSpPr txBox="1">
            <a:spLocks/>
          </p:cNvSpPr>
          <p:nvPr/>
        </p:nvSpPr>
        <p:spPr>
          <a:xfrm>
            <a:off x="317500" y="1489588"/>
            <a:ext cx="11607408" cy="4538679"/>
          </a:xfrm>
          <a:prstGeom prst="rect">
            <a:avLst/>
          </a:prstGeom>
        </p:spPr>
        <p:txBody>
          <a:bodyPr vert="horz" lIns="76200" tIns="38100" rIns="76200" bIns="38100" rtlCol="0">
            <a:norm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61909">
              <a:lnSpc>
                <a:spcPct val="120000"/>
              </a:lnSpc>
            </a:pPr>
            <a:r>
              <a:rPr lang="en-US" altLang="zh-CN" sz="1250" dirty="0"/>
              <a:t>Theoretical</a:t>
            </a:r>
            <a:r>
              <a:rPr lang="zh-CN" altLang="en-US" sz="1250" dirty="0"/>
              <a:t> </a:t>
            </a:r>
            <a:r>
              <a:rPr lang="en-US" altLang="zh-CN" sz="1250" dirty="0"/>
              <a:t>model,</a:t>
            </a:r>
            <a:r>
              <a:rPr lang="zh-CN" altLang="en-US" sz="1250" dirty="0"/>
              <a:t> </a:t>
            </a:r>
            <a:r>
              <a:rPr lang="en-US" altLang="zh-CN" sz="1250" dirty="0"/>
              <a:t>development</a:t>
            </a:r>
            <a:r>
              <a:rPr lang="zh-CN" altLang="en-US" sz="1250" dirty="0"/>
              <a:t> </a:t>
            </a:r>
            <a:r>
              <a:rPr lang="en-US" altLang="zh-CN" sz="1250" dirty="0"/>
              <a:t>and</a:t>
            </a:r>
            <a:r>
              <a:rPr lang="zh-CN" altLang="en-US" sz="1250" dirty="0"/>
              <a:t> </a:t>
            </a:r>
            <a:r>
              <a:rPr lang="en-US" altLang="zh-CN" sz="1250" dirty="0"/>
              <a:t>results</a:t>
            </a:r>
          </a:p>
          <a:p>
            <a:pPr lvl="1" defTabSz="761909">
              <a:lnSpc>
                <a:spcPct val="120000"/>
              </a:lnSpc>
            </a:pPr>
            <a:r>
              <a:rPr lang="en-US" altLang="zh-CN" sz="1200" dirty="0"/>
              <a:t>Refined</a:t>
            </a:r>
            <a:r>
              <a:rPr lang="zh-CN" altLang="en-US" sz="1200" dirty="0"/>
              <a:t> </a:t>
            </a:r>
            <a:r>
              <a:rPr lang="en-US" altLang="zh-CN" sz="1200" dirty="0"/>
              <a:t>theoretical</a:t>
            </a:r>
            <a:r>
              <a:rPr lang="zh-CN" altLang="en-US" sz="1200" dirty="0"/>
              <a:t> </a:t>
            </a:r>
            <a:r>
              <a:rPr lang="en-US" altLang="zh-CN" sz="1200" dirty="0"/>
              <a:t>model</a:t>
            </a:r>
          </a:p>
          <a:p>
            <a:pPr lvl="1" defTabSz="761909">
              <a:lnSpc>
                <a:spcPct val="120000"/>
              </a:lnSpc>
            </a:pPr>
            <a:r>
              <a:rPr lang="en-US" altLang="zh-CN" sz="1200" dirty="0"/>
              <a:t>Two</a:t>
            </a:r>
            <a:r>
              <a:rPr lang="zh-CN" altLang="en-US" sz="1200" dirty="0"/>
              <a:t> </a:t>
            </a:r>
            <a:r>
              <a:rPr lang="en-US" altLang="zh-CN" sz="1200" dirty="0"/>
              <a:t>version</a:t>
            </a:r>
            <a:r>
              <a:rPr lang="zh-CN" altLang="en-US" sz="1200" dirty="0"/>
              <a:t> </a:t>
            </a:r>
            <a:r>
              <a:rPr lang="en-US" altLang="zh-CN" sz="1200" dirty="0"/>
              <a:t>of</a:t>
            </a:r>
            <a:r>
              <a:rPr lang="zh-CN" altLang="en-US" sz="1200" dirty="0"/>
              <a:t> </a:t>
            </a:r>
            <a:r>
              <a:rPr lang="en-US" altLang="zh-CN" sz="1200" dirty="0"/>
              <a:t>theoretical</a:t>
            </a:r>
            <a:r>
              <a:rPr lang="zh-CN" altLang="en-US" sz="1200" dirty="0"/>
              <a:t> </a:t>
            </a:r>
            <a:r>
              <a:rPr lang="en-US" altLang="zh-CN" sz="1200" dirty="0"/>
              <a:t>development</a:t>
            </a:r>
          </a:p>
          <a:p>
            <a:pPr lvl="1" defTabSz="761909">
              <a:lnSpc>
                <a:spcPct val="120000"/>
              </a:lnSpc>
            </a:pPr>
            <a:endParaRPr lang="en-US" altLang="zh-CN" sz="1200" dirty="0"/>
          </a:p>
          <a:p>
            <a:pPr lvl="1" defTabSz="761909">
              <a:lnSpc>
                <a:spcPct val="120000"/>
              </a:lnSpc>
            </a:pPr>
            <a:endParaRPr lang="en-US" altLang="zh-CN" sz="1200" dirty="0"/>
          </a:p>
          <a:p>
            <a:pPr lvl="1" defTabSz="761909">
              <a:lnSpc>
                <a:spcPct val="120000"/>
              </a:lnSpc>
            </a:pPr>
            <a:endParaRPr lang="en-US" altLang="zh-CN" sz="1200" dirty="0"/>
          </a:p>
          <a:p>
            <a:pPr lvl="1" defTabSz="761909">
              <a:lnSpc>
                <a:spcPct val="120000"/>
              </a:lnSpc>
            </a:pPr>
            <a:endParaRPr lang="en-US" altLang="zh-CN" sz="1200" dirty="0"/>
          </a:p>
          <a:p>
            <a:pPr lvl="1" defTabSz="761909">
              <a:lnSpc>
                <a:spcPct val="120000"/>
              </a:lnSpc>
            </a:pPr>
            <a:endParaRPr lang="en-US" altLang="zh-CN" sz="1200" dirty="0"/>
          </a:p>
          <a:p>
            <a:pPr lvl="1" defTabSz="761909">
              <a:lnSpc>
                <a:spcPct val="120000"/>
              </a:lnSpc>
            </a:pPr>
            <a:endParaRPr lang="en-US" altLang="zh-CN" sz="1200" dirty="0"/>
          </a:p>
          <a:p>
            <a:pPr lvl="1" defTabSz="761909">
              <a:lnSpc>
                <a:spcPct val="120000"/>
              </a:lnSpc>
            </a:pPr>
            <a:endParaRPr lang="en-US" altLang="zh-CN" sz="1200" dirty="0"/>
          </a:p>
          <a:p>
            <a:pPr lvl="1" defTabSz="761909">
              <a:lnSpc>
                <a:spcPct val="120000"/>
              </a:lnSpc>
            </a:pPr>
            <a:endParaRPr lang="en-US" altLang="zh-CN" sz="12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C94401F-34CC-A97C-3790-F56158183C21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2646407"/>
          <a:ext cx="8053294" cy="1285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7724">
                  <a:extLst>
                    <a:ext uri="{9D8B030D-6E8A-4147-A177-3AD203B41FA5}">
                      <a16:colId xmlns:a16="http://schemas.microsoft.com/office/drawing/2014/main" val="2455329038"/>
                    </a:ext>
                  </a:extLst>
                </a:gridCol>
                <a:gridCol w="2932723">
                  <a:extLst>
                    <a:ext uri="{9D8B030D-6E8A-4147-A177-3AD203B41FA5}">
                      <a16:colId xmlns:a16="http://schemas.microsoft.com/office/drawing/2014/main" val="2047048666"/>
                    </a:ext>
                  </a:extLst>
                </a:gridCol>
                <a:gridCol w="2832847">
                  <a:extLst>
                    <a:ext uri="{9D8B030D-6E8A-4147-A177-3AD203B41FA5}">
                      <a16:colId xmlns:a16="http://schemas.microsoft.com/office/drawing/2014/main" val="20732067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Theoretical</a:t>
                      </a:r>
                      <a:r>
                        <a:rPr lang="zh-CN" altLang="en-US" sz="1200" dirty="0"/>
                        <a:t> </a:t>
                      </a:r>
                      <a:r>
                        <a:rPr lang="en-US" altLang="zh-CN" sz="1200" dirty="0"/>
                        <a:t>development</a:t>
                      </a:r>
                      <a:r>
                        <a:rPr lang="zh-CN" altLang="en-US" sz="1200" dirty="0"/>
                        <a:t> </a:t>
                      </a:r>
                      <a:r>
                        <a:rPr lang="en-US" altLang="zh-CN" sz="1200" dirty="0"/>
                        <a:t>Section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Results</a:t>
                      </a:r>
                      <a:r>
                        <a:rPr lang="zh-CN" altLang="en-US" sz="1200" dirty="0"/>
                        <a:t> </a:t>
                      </a:r>
                      <a:r>
                        <a:rPr lang="en-US" altLang="zh-CN" sz="1200" dirty="0"/>
                        <a:t>Section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8924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Plan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Based</a:t>
                      </a:r>
                      <a:r>
                        <a:rPr lang="zh-CN" altLang="en-US" sz="1200" dirty="0"/>
                        <a:t> </a:t>
                      </a:r>
                      <a:r>
                        <a:rPr lang="en-US" altLang="zh-CN" sz="1200" dirty="0"/>
                        <a:t>on</a:t>
                      </a:r>
                      <a:r>
                        <a:rPr lang="zh-CN" altLang="en-US" sz="1200" dirty="0"/>
                        <a:t> </a:t>
                      </a:r>
                      <a:r>
                        <a:rPr lang="en-US" altLang="zh-CN" sz="1200" dirty="0"/>
                        <a:t>theory,</a:t>
                      </a:r>
                      <a:r>
                        <a:rPr lang="zh-CN" altLang="en-US" sz="1200" dirty="0"/>
                        <a:t> </a:t>
                      </a:r>
                      <a:r>
                        <a:rPr lang="en-US" altLang="zh-CN" sz="1200" dirty="0"/>
                        <a:t>but</a:t>
                      </a:r>
                      <a:r>
                        <a:rPr lang="zh-CN" altLang="en-US" sz="1200" dirty="0"/>
                        <a:t> </a:t>
                      </a:r>
                      <a:r>
                        <a:rPr lang="en-US" altLang="zh-CN" sz="1200" dirty="0"/>
                        <a:t>direction</a:t>
                      </a:r>
                      <a:r>
                        <a:rPr lang="zh-CN" altLang="en-US" sz="1200" dirty="0"/>
                        <a:t> </a:t>
                      </a:r>
                      <a:r>
                        <a:rPr lang="en-US" altLang="zh-CN" sz="1200" dirty="0"/>
                        <a:t>is</a:t>
                      </a:r>
                      <a:r>
                        <a:rPr lang="zh-CN" altLang="en-US" sz="1200" dirty="0"/>
                        <a:t> </a:t>
                      </a:r>
                      <a:r>
                        <a:rPr lang="en-US" altLang="zh-CN" sz="1200" dirty="0"/>
                        <a:t>not</a:t>
                      </a:r>
                      <a:r>
                        <a:rPr lang="zh-CN" altLang="en-US" sz="1200" dirty="0"/>
                        <a:t> </a:t>
                      </a:r>
                      <a:r>
                        <a:rPr lang="en-US" altLang="zh-CN" sz="1200" dirty="0"/>
                        <a:t>consistent</a:t>
                      </a:r>
                      <a:r>
                        <a:rPr lang="zh-CN" altLang="en-US" sz="1200" dirty="0"/>
                        <a:t> </a:t>
                      </a:r>
                      <a:r>
                        <a:rPr lang="en-US" altLang="zh-CN" sz="1200" dirty="0"/>
                        <a:t>with</a:t>
                      </a:r>
                      <a:r>
                        <a:rPr lang="zh-CN" altLang="en-US" sz="1200" dirty="0"/>
                        <a:t> </a:t>
                      </a:r>
                      <a:r>
                        <a:rPr lang="en-US" altLang="zh-CN" sz="1200" dirty="0"/>
                        <a:t>results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Discuss</a:t>
                      </a:r>
                      <a:r>
                        <a:rPr lang="zh-CN" altLang="en-US" sz="1200" dirty="0"/>
                        <a:t> </a:t>
                      </a:r>
                      <a:r>
                        <a:rPr lang="en-US" altLang="zh-CN" sz="1200" dirty="0"/>
                        <a:t>why</a:t>
                      </a:r>
                      <a:r>
                        <a:rPr lang="zh-CN" altLang="en-US" sz="1200" dirty="0"/>
                        <a:t> </a:t>
                      </a:r>
                      <a:r>
                        <a:rPr lang="en-US" altLang="zh-CN" sz="1200" dirty="0"/>
                        <a:t>Hypotheses</a:t>
                      </a:r>
                      <a:r>
                        <a:rPr lang="zh-CN" altLang="en-US" sz="1200" dirty="0"/>
                        <a:t> </a:t>
                      </a:r>
                      <a:r>
                        <a:rPr lang="en-US" altLang="zh-CN" sz="1200" dirty="0"/>
                        <a:t>not</a:t>
                      </a:r>
                      <a:r>
                        <a:rPr lang="zh-CN" altLang="en-US" sz="1200" dirty="0"/>
                        <a:t> </a:t>
                      </a:r>
                      <a:r>
                        <a:rPr lang="en-US" altLang="zh-CN" sz="1200" dirty="0"/>
                        <a:t>supported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8403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Plan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Based</a:t>
                      </a:r>
                      <a:r>
                        <a:rPr lang="zh-CN" altLang="en-US" sz="1200" dirty="0"/>
                        <a:t> </a:t>
                      </a:r>
                      <a:r>
                        <a:rPr lang="en-US" altLang="zh-CN" sz="1200" dirty="0"/>
                        <a:t>on</a:t>
                      </a:r>
                      <a:r>
                        <a:rPr lang="zh-CN" altLang="en-US" sz="1200" dirty="0"/>
                        <a:t> </a:t>
                      </a:r>
                      <a:r>
                        <a:rPr lang="en-US" altLang="zh-CN" sz="1200" dirty="0"/>
                        <a:t>theory</a:t>
                      </a:r>
                      <a:r>
                        <a:rPr lang="zh-CN" altLang="en-US" sz="1200" dirty="0"/>
                        <a:t> </a:t>
                      </a:r>
                      <a:r>
                        <a:rPr lang="en-US" altLang="zh-CN" sz="1200" dirty="0"/>
                        <a:t>(but</a:t>
                      </a:r>
                      <a:r>
                        <a:rPr lang="zh-CN" altLang="en-US" sz="1200" dirty="0"/>
                        <a:t> </a:t>
                      </a:r>
                      <a:r>
                        <a:rPr lang="en-US" altLang="zh-CN" sz="1200" dirty="0"/>
                        <a:t>justify</a:t>
                      </a:r>
                      <a:r>
                        <a:rPr lang="zh-CN" altLang="en-US" sz="1200" dirty="0"/>
                        <a:t> </a:t>
                      </a:r>
                      <a:r>
                        <a:rPr lang="en-US" altLang="zh-CN" sz="1200" dirty="0"/>
                        <a:t>consistent</a:t>
                      </a:r>
                      <a:r>
                        <a:rPr lang="zh-CN" altLang="en-US" sz="1200" dirty="0"/>
                        <a:t> </a:t>
                      </a:r>
                      <a:r>
                        <a:rPr lang="en-US" altLang="zh-CN" sz="1200" dirty="0"/>
                        <a:t>direction</a:t>
                      </a:r>
                      <a:r>
                        <a:rPr lang="zh-CN" altLang="en-US" sz="1200" dirty="0"/>
                        <a:t> </a:t>
                      </a:r>
                      <a:r>
                        <a:rPr lang="en-US" altLang="zh-CN" sz="1200" dirty="0"/>
                        <a:t>with</a:t>
                      </a:r>
                      <a:r>
                        <a:rPr lang="zh-CN" altLang="en-US" sz="1200" dirty="0"/>
                        <a:t> </a:t>
                      </a:r>
                      <a:r>
                        <a:rPr lang="en-US" altLang="zh-CN" sz="1200" dirty="0"/>
                        <a:t>results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All</a:t>
                      </a:r>
                      <a:r>
                        <a:rPr lang="zh-CN" altLang="en-US" sz="1200" dirty="0"/>
                        <a:t> </a:t>
                      </a:r>
                      <a:r>
                        <a:rPr lang="en-US" altLang="zh-CN" sz="1200" dirty="0"/>
                        <a:t>Hypotheses</a:t>
                      </a:r>
                      <a:r>
                        <a:rPr lang="zh-CN" altLang="en-US" sz="1200" dirty="0"/>
                        <a:t> </a:t>
                      </a:r>
                      <a:r>
                        <a:rPr lang="en-US" altLang="zh-CN" sz="1200" dirty="0"/>
                        <a:t>are</a:t>
                      </a:r>
                      <a:r>
                        <a:rPr lang="zh-CN" altLang="en-US" sz="1200" dirty="0"/>
                        <a:t> </a:t>
                      </a:r>
                      <a:r>
                        <a:rPr lang="en-US" altLang="zh-CN" sz="1200" dirty="0"/>
                        <a:t>supported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1342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0391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84C3E-DF9C-F154-897F-34E2EF973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2705C54-6289-4B0E-2B4D-739908AC3D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BB03690-3B48-BCAC-9B62-241DFECD6100}"/>
              </a:ext>
            </a:extLst>
          </p:cNvPr>
          <p:cNvSpPr txBox="1">
            <a:spLocks/>
          </p:cNvSpPr>
          <p:nvPr/>
        </p:nvSpPr>
        <p:spPr>
          <a:xfrm>
            <a:off x="317500" y="1489588"/>
            <a:ext cx="11607408" cy="4538679"/>
          </a:xfrm>
          <a:prstGeom prst="rect">
            <a:avLst/>
          </a:prstGeom>
        </p:spPr>
        <p:txBody>
          <a:bodyPr vert="horz" lIns="76200" tIns="38100" rIns="76200" bIns="38100" rtlCol="0">
            <a:norm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61909">
              <a:lnSpc>
                <a:spcPct val="120000"/>
              </a:lnSpc>
            </a:pPr>
            <a:r>
              <a:rPr lang="en-US" altLang="zh-CN" sz="1250" dirty="0"/>
              <a:t>Theoretical</a:t>
            </a:r>
            <a:r>
              <a:rPr lang="zh-CN" altLang="en-US" sz="1250" dirty="0"/>
              <a:t> </a:t>
            </a:r>
            <a:r>
              <a:rPr lang="en-US" altLang="zh-CN" sz="1250" dirty="0"/>
              <a:t>model,</a:t>
            </a:r>
            <a:r>
              <a:rPr lang="zh-CN" altLang="en-US" sz="1250" dirty="0"/>
              <a:t> </a:t>
            </a:r>
            <a:r>
              <a:rPr lang="en-US" altLang="zh-CN" sz="1250" dirty="0"/>
              <a:t>development</a:t>
            </a:r>
            <a:r>
              <a:rPr lang="zh-CN" altLang="en-US" sz="1250" dirty="0"/>
              <a:t> </a:t>
            </a:r>
            <a:r>
              <a:rPr lang="en-US" altLang="zh-CN" sz="1250" dirty="0"/>
              <a:t>and</a:t>
            </a:r>
            <a:r>
              <a:rPr lang="zh-CN" altLang="en-US" sz="1250" dirty="0"/>
              <a:t> </a:t>
            </a:r>
            <a:r>
              <a:rPr lang="en-US" altLang="zh-CN" sz="1250" dirty="0"/>
              <a:t>results</a:t>
            </a:r>
          </a:p>
          <a:p>
            <a:pPr lvl="1" defTabSz="761909">
              <a:lnSpc>
                <a:spcPct val="120000"/>
              </a:lnSpc>
            </a:pPr>
            <a:r>
              <a:rPr lang="en-US" altLang="zh-CN" sz="1200" dirty="0"/>
              <a:t>Refined</a:t>
            </a:r>
            <a:r>
              <a:rPr lang="zh-CN" altLang="en-US" sz="1200" dirty="0"/>
              <a:t> </a:t>
            </a:r>
            <a:r>
              <a:rPr lang="en-US" altLang="zh-CN" sz="1200" dirty="0"/>
              <a:t>theoretical</a:t>
            </a:r>
            <a:r>
              <a:rPr lang="zh-CN" altLang="en-US" sz="1200" dirty="0"/>
              <a:t> </a:t>
            </a:r>
            <a:r>
              <a:rPr lang="en-US" altLang="zh-CN" sz="1200" dirty="0"/>
              <a:t>model</a:t>
            </a:r>
          </a:p>
          <a:p>
            <a:pPr lvl="1" defTabSz="761909">
              <a:lnSpc>
                <a:spcPct val="120000"/>
              </a:lnSpc>
            </a:pPr>
            <a:r>
              <a:rPr lang="en-US" altLang="zh-CN" sz="1200" dirty="0">
                <a:solidFill>
                  <a:srgbClr val="FF0000"/>
                </a:solidFill>
              </a:rPr>
              <a:t>Two</a:t>
            </a:r>
            <a:r>
              <a:rPr lang="zh-CN" altLang="en-US" sz="1200" dirty="0">
                <a:solidFill>
                  <a:srgbClr val="FF0000"/>
                </a:solidFill>
              </a:rPr>
              <a:t> </a:t>
            </a:r>
            <a:r>
              <a:rPr lang="en-US" altLang="zh-CN" sz="1200" dirty="0">
                <a:solidFill>
                  <a:srgbClr val="FF0000"/>
                </a:solidFill>
              </a:rPr>
              <a:t>plans</a:t>
            </a:r>
            <a:r>
              <a:rPr lang="zh-CN" altLang="en-US" sz="1200" dirty="0">
                <a:solidFill>
                  <a:srgbClr val="FF0000"/>
                </a:solidFill>
              </a:rPr>
              <a:t> </a:t>
            </a:r>
            <a:r>
              <a:rPr lang="en-US" altLang="zh-CN" sz="1200" dirty="0">
                <a:solidFill>
                  <a:srgbClr val="FF0000"/>
                </a:solidFill>
              </a:rPr>
              <a:t>of</a:t>
            </a:r>
            <a:r>
              <a:rPr lang="zh-CN" altLang="en-US" sz="1200" dirty="0">
                <a:solidFill>
                  <a:srgbClr val="FF0000"/>
                </a:solidFill>
              </a:rPr>
              <a:t> </a:t>
            </a:r>
            <a:r>
              <a:rPr lang="en-US" altLang="zh-CN" sz="1200" dirty="0">
                <a:solidFill>
                  <a:srgbClr val="FF0000"/>
                </a:solidFill>
              </a:rPr>
              <a:t>theoretical</a:t>
            </a:r>
            <a:r>
              <a:rPr lang="zh-CN" altLang="en-US" sz="1200" dirty="0">
                <a:solidFill>
                  <a:srgbClr val="FF0000"/>
                </a:solidFill>
              </a:rPr>
              <a:t> </a:t>
            </a:r>
            <a:r>
              <a:rPr lang="en-US" altLang="zh-CN" sz="1200" dirty="0">
                <a:solidFill>
                  <a:srgbClr val="FF0000"/>
                </a:solidFill>
              </a:rPr>
              <a:t>development</a:t>
            </a:r>
          </a:p>
          <a:p>
            <a:pPr lvl="2" defTabSz="761909">
              <a:lnSpc>
                <a:spcPct val="120000"/>
              </a:lnSpc>
            </a:pPr>
            <a:r>
              <a:rPr lang="en-US" altLang="zh-CN" sz="1200" dirty="0">
                <a:solidFill>
                  <a:srgbClr val="FF0000"/>
                </a:solidFill>
              </a:rPr>
              <a:t>Plan</a:t>
            </a:r>
            <a:r>
              <a:rPr lang="zh-CN" altLang="en-US" sz="1200" dirty="0">
                <a:solidFill>
                  <a:srgbClr val="FF0000"/>
                </a:solidFill>
              </a:rPr>
              <a:t> </a:t>
            </a:r>
            <a:r>
              <a:rPr lang="en-US" altLang="zh-CN" sz="1200" dirty="0">
                <a:solidFill>
                  <a:srgbClr val="FF0000"/>
                </a:solidFill>
              </a:rPr>
              <a:t>A</a:t>
            </a:r>
            <a:r>
              <a:rPr lang="zh-CN" altLang="en-US" sz="1200" dirty="0">
                <a:solidFill>
                  <a:srgbClr val="FF0000"/>
                </a:solidFill>
              </a:rPr>
              <a:t> </a:t>
            </a:r>
            <a:r>
              <a:rPr lang="en-US" altLang="zh-CN" sz="1200" dirty="0">
                <a:solidFill>
                  <a:srgbClr val="FF0000"/>
                </a:solidFill>
              </a:rPr>
              <a:t>&amp;</a:t>
            </a:r>
            <a:r>
              <a:rPr lang="zh-CN" altLang="en-US" sz="1200" dirty="0">
                <a:solidFill>
                  <a:srgbClr val="FF0000"/>
                </a:solidFill>
              </a:rPr>
              <a:t> </a:t>
            </a:r>
            <a:r>
              <a:rPr lang="en-US" altLang="zh-CN" sz="1200" dirty="0">
                <a:solidFill>
                  <a:srgbClr val="FF0000"/>
                </a:solidFill>
              </a:rPr>
              <a:t>Plan</a:t>
            </a:r>
            <a:r>
              <a:rPr lang="zh-CN" altLang="en-US" sz="1200" dirty="0">
                <a:solidFill>
                  <a:srgbClr val="FF0000"/>
                </a:solidFill>
              </a:rPr>
              <a:t> </a:t>
            </a:r>
            <a:r>
              <a:rPr lang="en-US" altLang="zh-CN" sz="1200" dirty="0">
                <a:solidFill>
                  <a:srgbClr val="FF0000"/>
                </a:solidFill>
              </a:rPr>
              <a:t>B</a:t>
            </a:r>
          </a:p>
          <a:p>
            <a:pPr lvl="1" defTabSz="761909">
              <a:lnSpc>
                <a:spcPct val="120000"/>
              </a:lnSpc>
            </a:pPr>
            <a:r>
              <a:rPr lang="en-US" altLang="zh-CN" sz="1200" dirty="0"/>
              <a:t>Selected</a:t>
            </a:r>
            <a:r>
              <a:rPr lang="zh-CN" altLang="en-US" sz="1200" dirty="0"/>
              <a:t> </a:t>
            </a:r>
            <a:r>
              <a:rPr lang="en-US" altLang="zh-CN" sz="1200" dirty="0"/>
              <a:t>results</a:t>
            </a:r>
            <a:r>
              <a:rPr lang="zh-CN" altLang="en-US" sz="1200" dirty="0"/>
              <a:t> </a:t>
            </a:r>
            <a:r>
              <a:rPr lang="en-US" altLang="zh-CN" sz="1200" dirty="0"/>
              <a:t>put</a:t>
            </a:r>
            <a:r>
              <a:rPr lang="zh-CN" altLang="en-US" sz="1200" dirty="0"/>
              <a:t> </a:t>
            </a:r>
            <a:r>
              <a:rPr lang="en-US" altLang="zh-CN" sz="1200" dirty="0"/>
              <a:t>into</a:t>
            </a:r>
            <a:r>
              <a:rPr lang="zh-CN" altLang="en-US" sz="1200" dirty="0"/>
              <a:t> </a:t>
            </a:r>
            <a:r>
              <a:rPr lang="en-US" altLang="zh-CN" sz="1200" dirty="0"/>
              <a:t>paper</a:t>
            </a:r>
          </a:p>
          <a:p>
            <a:pPr lvl="1" defTabSz="761909">
              <a:lnSpc>
                <a:spcPct val="120000"/>
              </a:lnSpc>
            </a:pPr>
            <a:endParaRPr lang="en-US" altLang="zh-CN" sz="1200" dirty="0"/>
          </a:p>
          <a:p>
            <a:pPr lvl="1" defTabSz="761909">
              <a:lnSpc>
                <a:spcPct val="120000"/>
              </a:lnSpc>
            </a:pPr>
            <a:endParaRPr lang="en-US" altLang="zh-CN" sz="1200" dirty="0"/>
          </a:p>
          <a:p>
            <a:pPr lvl="1" defTabSz="761909">
              <a:lnSpc>
                <a:spcPct val="120000"/>
              </a:lnSpc>
            </a:pPr>
            <a:endParaRPr lang="en-US" altLang="zh-CN" sz="1200" dirty="0"/>
          </a:p>
          <a:p>
            <a:pPr lvl="1" defTabSz="761909">
              <a:lnSpc>
                <a:spcPct val="120000"/>
              </a:lnSpc>
            </a:pPr>
            <a:endParaRPr lang="en-US" altLang="zh-CN" sz="1200" dirty="0"/>
          </a:p>
          <a:p>
            <a:pPr lvl="1" defTabSz="761909">
              <a:lnSpc>
                <a:spcPct val="120000"/>
              </a:lnSpc>
            </a:pPr>
            <a:endParaRPr lang="en-US" altLang="zh-CN" sz="1200" dirty="0"/>
          </a:p>
          <a:p>
            <a:pPr lvl="1" defTabSz="761909">
              <a:lnSpc>
                <a:spcPct val="120000"/>
              </a:lnSpc>
            </a:pPr>
            <a:endParaRPr lang="en-US" altLang="zh-CN" sz="1200" dirty="0"/>
          </a:p>
          <a:p>
            <a:pPr lvl="1" defTabSz="761909">
              <a:lnSpc>
                <a:spcPct val="120000"/>
              </a:lnSpc>
            </a:pPr>
            <a:endParaRPr lang="en-US" altLang="zh-CN" sz="1200" dirty="0"/>
          </a:p>
          <a:p>
            <a:pPr lvl="1" defTabSz="761909">
              <a:lnSpc>
                <a:spcPct val="120000"/>
              </a:lnSpc>
            </a:pPr>
            <a:endParaRPr lang="en-US" altLang="zh-CN" sz="1200" dirty="0"/>
          </a:p>
        </p:txBody>
      </p:sp>
    </p:spTree>
    <p:extLst>
      <p:ext uri="{BB962C8B-B14F-4D97-AF65-F5344CB8AC3E}">
        <p14:creationId xmlns:p14="http://schemas.microsoft.com/office/powerpoint/2010/main" val="4251264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13BA987-C755-D03B-1C5C-F12FE4F8A6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7082918"/>
              </p:ext>
            </p:extLst>
          </p:nvPr>
        </p:nvGraphicFramePr>
        <p:xfrm>
          <a:off x="499703" y="699433"/>
          <a:ext cx="11471564" cy="5223875"/>
        </p:xfrm>
        <a:graphic>
          <a:graphicData uri="http://schemas.openxmlformats.org/drawingml/2006/table">
            <a:tbl>
              <a:tblPr/>
              <a:tblGrid>
                <a:gridCol w="1701057">
                  <a:extLst>
                    <a:ext uri="{9D8B030D-6E8A-4147-A177-3AD203B41FA5}">
                      <a16:colId xmlns:a16="http://schemas.microsoft.com/office/drawing/2014/main" val="2908120753"/>
                    </a:ext>
                  </a:extLst>
                </a:gridCol>
                <a:gridCol w="4034725">
                  <a:extLst>
                    <a:ext uri="{9D8B030D-6E8A-4147-A177-3AD203B41FA5}">
                      <a16:colId xmlns:a16="http://schemas.microsoft.com/office/drawing/2014/main" val="2501153878"/>
                    </a:ext>
                  </a:extLst>
                </a:gridCol>
                <a:gridCol w="3605939">
                  <a:extLst>
                    <a:ext uri="{9D8B030D-6E8A-4147-A177-3AD203B41FA5}">
                      <a16:colId xmlns:a16="http://schemas.microsoft.com/office/drawing/2014/main" val="3579802653"/>
                    </a:ext>
                  </a:extLst>
                </a:gridCol>
                <a:gridCol w="2129843">
                  <a:extLst>
                    <a:ext uri="{9D8B030D-6E8A-4147-A177-3AD203B41FA5}">
                      <a16:colId xmlns:a16="http://schemas.microsoft.com/office/drawing/2014/main" val="609358242"/>
                    </a:ext>
                  </a:extLst>
                </a:gridCol>
              </a:tblGrid>
              <a:tr h="421739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600" dirty="0">
                        <a:effectLst/>
                      </a:endParaRP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Theoretical Prediction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600" dirty="0">
                          <a:effectLst/>
                        </a:rPr>
                        <a:t>Which</a:t>
                      </a:r>
                      <a:r>
                        <a:rPr lang="zh-CN" altLang="en-US" sz="1600" dirty="0">
                          <a:effectLst/>
                        </a:rPr>
                        <a:t> </a:t>
                      </a:r>
                      <a:r>
                        <a:rPr lang="en-US" sz="1600" dirty="0">
                          <a:effectLst/>
                        </a:rPr>
                        <a:t>Theory</a:t>
                      </a:r>
                      <a:r>
                        <a:rPr lang="zh-CN" altLang="en-US" sz="1600" dirty="0">
                          <a:effectLst/>
                        </a:rPr>
                        <a:t> </a:t>
                      </a:r>
                      <a:r>
                        <a:rPr lang="en-US" altLang="zh-CN" sz="1600" dirty="0">
                          <a:effectLst/>
                        </a:rPr>
                        <a:t>to</a:t>
                      </a:r>
                      <a:r>
                        <a:rPr lang="zh-CN" altLang="en-US" sz="1600" dirty="0">
                          <a:effectLst/>
                        </a:rPr>
                        <a:t> </a:t>
                      </a:r>
                      <a:r>
                        <a:rPr lang="en-US" altLang="zh-CN" sz="1600" dirty="0">
                          <a:effectLst/>
                        </a:rPr>
                        <a:t>Use</a:t>
                      </a:r>
                      <a:endParaRPr lang="en-US" sz="1600" dirty="0">
                        <a:effectLst/>
                      </a:endParaRP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SE suggestion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8234593"/>
                  </a:ext>
                </a:extLst>
              </a:tr>
              <a:tr h="615334">
                <a:tc rowSpan="2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Stage 1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(Pre-attentive Awareness)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H1a: The mere availability of an AI answer </a:t>
                      </a:r>
                      <a:r>
                        <a:rPr lang="en-US" sz="1600" b="1" dirty="0">
                          <a:effectLst/>
                        </a:rPr>
                        <a:t>reduces</a:t>
                      </a:r>
                      <a:r>
                        <a:rPr lang="en-US" sz="1600" dirty="0">
                          <a:effectLst/>
                        </a:rPr>
                        <a:t> human participation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Public goods theory; crowding-out effect; perceived marginal value reduction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Suggestion 1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(Incentives)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821555"/>
                  </a:ext>
                </a:extLst>
              </a:tr>
              <a:tr h="758841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H1b</a:t>
                      </a:r>
                      <a:r>
                        <a:rPr lang="en-US" altLang="zh-CN" sz="1600" dirty="0">
                          <a:effectLst/>
                        </a:rPr>
                        <a:t>:</a:t>
                      </a:r>
                      <a:r>
                        <a:rPr lang="en-US" sz="1600" dirty="0">
                          <a:effectLst/>
                        </a:rPr>
                        <a:t> The mere availability of an AI answer </a:t>
                      </a:r>
                      <a:r>
                        <a:rPr lang="en-US" sz="1600" b="1" dirty="0">
                          <a:effectLst/>
                        </a:rPr>
                        <a:t>has no effect on</a:t>
                      </a:r>
                      <a:r>
                        <a:rPr lang="en-US" sz="1600" dirty="0">
                          <a:effectLst/>
                        </a:rPr>
                        <a:t> innovation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No content engagement at the awareness stage; participation decision precedes content influence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600" dirty="0">
                          <a:effectLst/>
                        </a:rPr>
                        <a:t>-</a:t>
                      </a:r>
                      <a:endParaRPr lang="en-US" sz="1600" dirty="0">
                        <a:effectLst/>
                      </a:endParaRP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1220317"/>
                  </a:ext>
                </a:extLst>
              </a:tr>
              <a:tr h="758841">
                <a:tc rowSpan="2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Stage 2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(Fast Processing)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H2a: The effect of AI answer availability on participation is </a:t>
                      </a:r>
                      <a:r>
                        <a:rPr lang="en-US" sz="1600" b="1" dirty="0">
                          <a:effectLst/>
                        </a:rPr>
                        <a:t>amplified</a:t>
                      </a:r>
                      <a:r>
                        <a:rPr lang="en-US" sz="1600" dirty="0">
                          <a:effectLst/>
                        </a:rPr>
                        <a:t> by AI answer length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ELM peripheral processing; perceived comprehensiveness heuristic; source credibility cues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Suggestion </a:t>
                      </a:r>
                      <a:r>
                        <a:rPr lang="en-US" altLang="zh-CN" sz="1600" dirty="0">
                          <a:effectLst/>
                        </a:rPr>
                        <a:t>1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(Incentives)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6280069"/>
                  </a:ext>
                </a:extLst>
              </a:tr>
              <a:tr h="80893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H2b: The effect of AI answer availability on innovation is </a:t>
                      </a:r>
                      <a:r>
                        <a:rPr lang="en-US" sz="1600" b="1" dirty="0">
                          <a:effectLst/>
                        </a:rPr>
                        <a:t>negatively moderated</a:t>
                      </a:r>
                      <a:r>
                        <a:rPr lang="en-US" sz="1600" dirty="0">
                          <a:effectLst/>
                        </a:rPr>
                        <a:t> by AI answer length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Perceived completeness constrains imagined solution space; anchoring narrows divergent thinking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600" dirty="0">
                          <a:effectLst/>
                        </a:rPr>
                        <a:t>-</a:t>
                      </a:r>
                      <a:endParaRPr lang="en-US" sz="1600" dirty="0">
                        <a:effectLst/>
                      </a:endParaRP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2892770"/>
                  </a:ext>
                </a:extLst>
              </a:tr>
              <a:tr h="758841">
                <a:tc rowSpan="2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Stage 3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(Slow Processing)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H3a: The effect of AI answer availability on participation is </a:t>
                      </a:r>
                      <a:r>
                        <a:rPr lang="en-US" sz="1600" b="1" dirty="0">
                          <a:effectLst/>
                        </a:rPr>
                        <a:t>amplified</a:t>
                      </a:r>
                      <a:r>
                        <a:rPr lang="en-US" sz="1600" dirty="0">
                          <a:effectLst/>
                        </a:rPr>
                        <a:t> by AI answer quality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Source credibility theory; discouragement from high-quality AI output; perceived expertise gap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Suggestion 1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(Incentives);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Suggestion 2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(Authority)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3331151"/>
                  </a:ext>
                </a:extLst>
              </a:tr>
              <a:tr h="80893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H3b: The effect of AI answer availability on innovation is </a:t>
                      </a:r>
                      <a:r>
                        <a:rPr lang="en-US" sz="1600" b="1" dirty="0">
                          <a:effectLst/>
                        </a:rPr>
                        <a:t>positively moderated</a:t>
                      </a:r>
                      <a:r>
                        <a:rPr lang="en-US" sz="1600" dirty="0">
                          <a:effectLst/>
                        </a:rPr>
                        <a:t> by AI answer quality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Knowledge complementarity; cognitive stimulation; elaborative processing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Suggestion 3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(Competition)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460686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A99DC2D-2B71-F8A9-CBE6-66D1EBF4D991}"/>
              </a:ext>
            </a:extLst>
          </p:cNvPr>
          <p:cNvSpPr txBox="1"/>
          <p:nvPr/>
        </p:nvSpPr>
        <p:spPr>
          <a:xfrm>
            <a:off x="203457" y="128587"/>
            <a:ext cx="797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Plan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482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A33BD-EE76-8A93-9C67-4307C4624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A8C07ED-647B-21EC-30A6-486FE37A68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63432"/>
              </p:ext>
            </p:extLst>
          </p:nvPr>
        </p:nvGraphicFramePr>
        <p:xfrm>
          <a:off x="499703" y="561204"/>
          <a:ext cx="11471564" cy="5368471"/>
        </p:xfrm>
        <a:graphic>
          <a:graphicData uri="http://schemas.openxmlformats.org/drawingml/2006/table">
            <a:tbl>
              <a:tblPr/>
              <a:tblGrid>
                <a:gridCol w="1701057">
                  <a:extLst>
                    <a:ext uri="{9D8B030D-6E8A-4147-A177-3AD203B41FA5}">
                      <a16:colId xmlns:a16="http://schemas.microsoft.com/office/drawing/2014/main" val="2908120753"/>
                    </a:ext>
                  </a:extLst>
                </a:gridCol>
                <a:gridCol w="4034725">
                  <a:extLst>
                    <a:ext uri="{9D8B030D-6E8A-4147-A177-3AD203B41FA5}">
                      <a16:colId xmlns:a16="http://schemas.microsoft.com/office/drawing/2014/main" val="2501153878"/>
                    </a:ext>
                  </a:extLst>
                </a:gridCol>
                <a:gridCol w="4173789">
                  <a:extLst>
                    <a:ext uri="{9D8B030D-6E8A-4147-A177-3AD203B41FA5}">
                      <a16:colId xmlns:a16="http://schemas.microsoft.com/office/drawing/2014/main" val="3579802653"/>
                    </a:ext>
                  </a:extLst>
                </a:gridCol>
                <a:gridCol w="1561993">
                  <a:extLst>
                    <a:ext uri="{9D8B030D-6E8A-4147-A177-3AD203B41FA5}">
                      <a16:colId xmlns:a16="http://schemas.microsoft.com/office/drawing/2014/main" val="609358242"/>
                    </a:ext>
                  </a:extLst>
                </a:gridCol>
              </a:tblGrid>
              <a:tr h="421739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600" dirty="0">
                        <a:effectLst/>
                      </a:endParaRP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Theoretical Prediction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600" dirty="0">
                          <a:effectLst/>
                        </a:rPr>
                        <a:t>Which</a:t>
                      </a:r>
                      <a:r>
                        <a:rPr lang="zh-CN" altLang="en-US" sz="1600" dirty="0">
                          <a:effectLst/>
                        </a:rPr>
                        <a:t> </a:t>
                      </a:r>
                      <a:r>
                        <a:rPr lang="en-US" sz="1600" dirty="0">
                          <a:effectLst/>
                        </a:rPr>
                        <a:t>Theory</a:t>
                      </a:r>
                      <a:r>
                        <a:rPr lang="zh-CN" altLang="en-US" sz="1600" dirty="0">
                          <a:effectLst/>
                        </a:rPr>
                        <a:t> </a:t>
                      </a:r>
                      <a:r>
                        <a:rPr lang="en-US" altLang="zh-CN" sz="1600" dirty="0">
                          <a:effectLst/>
                        </a:rPr>
                        <a:t>to</a:t>
                      </a:r>
                      <a:r>
                        <a:rPr lang="zh-CN" altLang="en-US" sz="1600" dirty="0">
                          <a:effectLst/>
                        </a:rPr>
                        <a:t> </a:t>
                      </a:r>
                      <a:r>
                        <a:rPr lang="en-US" altLang="zh-CN" sz="1600" dirty="0">
                          <a:effectLst/>
                        </a:rPr>
                        <a:t>Use</a:t>
                      </a:r>
                      <a:endParaRPr lang="en-US" sz="1600" dirty="0">
                        <a:effectLst/>
                      </a:endParaRP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SE suggestion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8234593"/>
                  </a:ext>
                </a:extLst>
              </a:tr>
              <a:tr h="615334">
                <a:tc rowSpan="2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Stage 1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(Pre-attentive Awareness)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H1a: The mere availability of an AI answer </a:t>
                      </a:r>
                      <a:r>
                        <a:rPr lang="en-US" altLang="zh-CN" sz="1600" b="1" dirty="0">
                          <a:effectLst/>
                        </a:rPr>
                        <a:t>increases</a:t>
                      </a:r>
                      <a:r>
                        <a:rPr lang="en-US" sz="1600" dirty="0">
                          <a:effectLst/>
                        </a:rPr>
                        <a:t> human participation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Competitive arousal; identity-based motivation; perceived AI inadequacy for contextual knowledge; question salience signal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Suggestion 1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(Incentives)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821555"/>
                  </a:ext>
                </a:extLst>
              </a:tr>
              <a:tr h="758841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H1b</a:t>
                      </a:r>
                      <a:r>
                        <a:rPr lang="en-US" altLang="zh-CN" sz="1600" dirty="0">
                          <a:effectLst/>
                        </a:rPr>
                        <a:t>:</a:t>
                      </a:r>
                      <a:r>
                        <a:rPr lang="en-US" sz="1600" dirty="0">
                          <a:effectLst/>
                        </a:rPr>
                        <a:t> The mere availability of an AI answer </a:t>
                      </a:r>
                      <a:r>
                        <a:rPr lang="en-US" sz="1600" b="1" dirty="0">
                          <a:effectLst/>
                        </a:rPr>
                        <a:t>has no effect on</a:t>
                      </a:r>
                      <a:r>
                        <a:rPr lang="en-US" sz="1600" dirty="0">
                          <a:effectLst/>
                        </a:rPr>
                        <a:t> innovation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No content engagement at the awareness stage; competitive arousal affects entry decision but not cognitive resources applied to the answer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600" dirty="0">
                          <a:effectLst/>
                        </a:rPr>
                        <a:t>-</a:t>
                      </a:r>
                      <a:endParaRPr lang="en-US" sz="1600" dirty="0">
                        <a:effectLst/>
                      </a:endParaRP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1220317"/>
                  </a:ext>
                </a:extLst>
              </a:tr>
              <a:tr h="758841">
                <a:tc rowSpan="2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Stage 2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(Fast Processing)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H2a: The effect of AI answer availability on participation is </a:t>
                      </a:r>
                      <a:r>
                        <a:rPr lang="en-US" altLang="zh-CN" sz="1600" b="1" dirty="0">
                          <a:effectLst/>
                        </a:rPr>
                        <a:t>attenuated</a:t>
                      </a:r>
                      <a:r>
                        <a:rPr lang="en-US" sz="1600" dirty="0">
                          <a:effectLst/>
                        </a:rPr>
                        <a:t> by AI answer length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ELM peripheral processing; length as comprehensiveness heuristic; stage-specific authority construction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Suggestion </a:t>
                      </a:r>
                      <a:r>
                        <a:rPr lang="en-US" altLang="zh-CN" sz="1600" dirty="0">
                          <a:effectLst/>
                        </a:rPr>
                        <a:t>1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(Incentives) ;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Suggestion 2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(Authority)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6280069"/>
                  </a:ext>
                </a:extLst>
              </a:tr>
              <a:tr h="80893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H2b: The effect of AI answer availability on innovation is </a:t>
                      </a:r>
                      <a:r>
                        <a:rPr lang="en-US" altLang="zh-CN" sz="1600" b="1" dirty="0">
                          <a:effectLst/>
                        </a:rPr>
                        <a:t>not</a:t>
                      </a:r>
                      <a:r>
                        <a:rPr lang="en-US" sz="1600" b="1" dirty="0">
                          <a:effectLst/>
                        </a:rPr>
                        <a:t> moderated</a:t>
                      </a:r>
                      <a:r>
                        <a:rPr lang="en-US" sz="1600" dirty="0">
                          <a:effectLst/>
                        </a:rPr>
                        <a:t> by AI answer length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Peripheral cues do not reach content-level processing; no substantive cognitive influence on answer composition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600" dirty="0">
                          <a:effectLst/>
                        </a:rPr>
                        <a:t>-</a:t>
                      </a:r>
                      <a:endParaRPr lang="en-US" sz="1600" dirty="0">
                        <a:effectLst/>
                      </a:endParaRP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2892770"/>
                  </a:ext>
                </a:extLst>
              </a:tr>
              <a:tr h="758841">
                <a:tc rowSpan="2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Stage 3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(Slow Processing)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H3a: The effect of AI answer availability on participation is </a:t>
                      </a:r>
                      <a:r>
                        <a:rPr lang="en-US" altLang="zh-CN" sz="1600" b="1" dirty="0">
                          <a:effectLst/>
                        </a:rPr>
                        <a:t>not</a:t>
                      </a:r>
                      <a:r>
                        <a:rPr lang="zh-CN" altLang="en-US" sz="1600" b="1" dirty="0">
                          <a:effectLst/>
                        </a:rPr>
                        <a:t> </a:t>
                      </a:r>
                      <a:r>
                        <a:rPr lang="en-US" altLang="zh-CN" sz="1600" b="1" dirty="0">
                          <a:effectLst/>
                        </a:rPr>
                        <a:t>moderated</a:t>
                      </a:r>
                      <a:r>
                        <a:rPr lang="en-US" sz="1600" dirty="0">
                          <a:effectLst/>
                        </a:rPr>
                        <a:t> by AI answer quality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Commitment to contribute already formed at Stages 1–2; offsetting discouragement and challenge effects cancel out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Suggestion 1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(Incentives)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3331151"/>
                  </a:ext>
                </a:extLst>
              </a:tr>
              <a:tr h="80893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H3b: The effect of AI answer availability on innovation is </a:t>
                      </a:r>
                      <a:r>
                        <a:rPr lang="en-US" sz="1600" b="1" dirty="0">
                          <a:effectLst/>
                        </a:rPr>
                        <a:t>positively moderated</a:t>
                      </a:r>
                      <a:r>
                        <a:rPr lang="en-US" sz="1600" dirty="0">
                          <a:effectLst/>
                        </a:rPr>
                        <a:t> by AI answer quality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Baseline liberation; constructive divergence; associative activation; strategic differentiation</a:t>
                      </a:r>
                    </a:p>
                  </a:txBody>
                  <a:tcPr marL="35961" marR="35961" marT="17981" marB="17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Suggestion 3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(Competition)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460686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E15256D-B146-29E0-6015-C9846E1DF3C3}"/>
              </a:ext>
            </a:extLst>
          </p:cNvPr>
          <p:cNvSpPr txBox="1"/>
          <p:nvPr/>
        </p:nvSpPr>
        <p:spPr>
          <a:xfrm>
            <a:off x="203457" y="128587"/>
            <a:ext cx="797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Plan</a:t>
            </a:r>
            <a:r>
              <a:rPr lang="zh-CN" altLang="en-US" dirty="0"/>
              <a:t> </a:t>
            </a:r>
            <a:r>
              <a:rPr lang="en-US" altLang="zh-CN" dirty="0"/>
              <a:t>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9086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962F7-4AE7-3AAF-ACA1-F77F18D95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1DCEF11-E206-9775-CF4D-A3C9FFB2E2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50C045E-5C75-2240-3F6A-99D8DA97F2C5}"/>
              </a:ext>
            </a:extLst>
          </p:cNvPr>
          <p:cNvSpPr txBox="1">
            <a:spLocks/>
          </p:cNvSpPr>
          <p:nvPr/>
        </p:nvSpPr>
        <p:spPr>
          <a:xfrm>
            <a:off x="317500" y="1489588"/>
            <a:ext cx="11607408" cy="4538679"/>
          </a:xfrm>
          <a:prstGeom prst="rect">
            <a:avLst/>
          </a:prstGeom>
        </p:spPr>
        <p:txBody>
          <a:bodyPr vert="horz" lIns="76200" tIns="38100" rIns="76200" bIns="38100" rtlCol="0">
            <a:norm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61909">
              <a:lnSpc>
                <a:spcPct val="120000"/>
              </a:lnSpc>
            </a:pPr>
            <a:r>
              <a:rPr lang="en-US" altLang="zh-CN" sz="1250" dirty="0"/>
              <a:t>Theoretical</a:t>
            </a:r>
            <a:r>
              <a:rPr lang="zh-CN" altLang="en-US" sz="1250" dirty="0"/>
              <a:t> </a:t>
            </a:r>
            <a:r>
              <a:rPr lang="en-US" altLang="zh-CN" sz="1250" dirty="0"/>
              <a:t>model,</a:t>
            </a:r>
            <a:r>
              <a:rPr lang="zh-CN" altLang="en-US" sz="1250" dirty="0"/>
              <a:t> </a:t>
            </a:r>
            <a:r>
              <a:rPr lang="en-US" altLang="zh-CN" sz="1250" dirty="0"/>
              <a:t>development</a:t>
            </a:r>
            <a:r>
              <a:rPr lang="zh-CN" altLang="en-US" sz="1250" dirty="0"/>
              <a:t> </a:t>
            </a:r>
            <a:r>
              <a:rPr lang="en-US" altLang="zh-CN" sz="1250" dirty="0"/>
              <a:t>and</a:t>
            </a:r>
            <a:r>
              <a:rPr lang="zh-CN" altLang="en-US" sz="1250" dirty="0"/>
              <a:t> </a:t>
            </a:r>
            <a:r>
              <a:rPr lang="en-US" altLang="zh-CN" sz="1250" dirty="0"/>
              <a:t>results</a:t>
            </a:r>
          </a:p>
          <a:p>
            <a:pPr lvl="1" defTabSz="761909">
              <a:lnSpc>
                <a:spcPct val="120000"/>
              </a:lnSpc>
            </a:pPr>
            <a:r>
              <a:rPr lang="en-US" altLang="zh-CN" sz="1200" dirty="0"/>
              <a:t>Refined</a:t>
            </a:r>
            <a:r>
              <a:rPr lang="zh-CN" altLang="en-US" sz="1200" dirty="0"/>
              <a:t> </a:t>
            </a:r>
            <a:r>
              <a:rPr lang="en-US" altLang="zh-CN" sz="1200" dirty="0"/>
              <a:t>theoretical</a:t>
            </a:r>
            <a:r>
              <a:rPr lang="zh-CN" altLang="en-US" sz="1200" dirty="0"/>
              <a:t> </a:t>
            </a:r>
            <a:r>
              <a:rPr lang="en-US" altLang="zh-CN" sz="1200" dirty="0"/>
              <a:t>model</a:t>
            </a:r>
          </a:p>
          <a:p>
            <a:pPr lvl="1" defTabSz="761909">
              <a:lnSpc>
                <a:spcPct val="120000"/>
              </a:lnSpc>
            </a:pPr>
            <a:r>
              <a:rPr lang="en-US" altLang="zh-CN" sz="1200" dirty="0"/>
              <a:t>Two</a:t>
            </a:r>
            <a:r>
              <a:rPr lang="zh-CN" altLang="en-US" sz="1200" dirty="0"/>
              <a:t> </a:t>
            </a:r>
            <a:r>
              <a:rPr lang="en-US" altLang="zh-CN" sz="1200" dirty="0"/>
              <a:t>plans</a:t>
            </a:r>
            <a:r>
              <a:rPr lang="zh-CN" altLang="en-US" sz="1200" dirty="0"/>
              <a:t> </a:t>
            </a:r>
            <a:r>
              <a:rPr lang="en-US" altLang="zh-CN" sz="1200" dirty="0"/>
              <a:t>of</a:t>
            </a:r>
            <a:r>
              <a:rPr lang="zh-CN" altLang="en-US" sz="1200" dirty="0"/>
              <a:t> </a:t>
            </a:r>
            <a:r>
              <a:rPr lang="en-US" altLang="zh-CN" sz="1200" dirty="0"/>
              <a:t>theoretical</a:t>
            </a:r>
            <a:r>
              <a:rPr lang="zh-CN" altLang="en-US" sz="1200" dirty="0"/>
              <a:t> </a:t>
            </a:r>
            <a:r>
              <a:rPr lang="en-US" altLang="zh-CN" sz="1200" dirty="0"/>
              <a:t>development</a:t>
            </a:r>
          </a:p>
          <a:p>
            <a:pPr lvl="2" defTabSz="761909">
              <a:lnSpc>
                <a:spcPct val="120000"/>
              </a:lnSpc>
            </a:pPr>
            <a:r>
              <a:rPr lang="en-US" altLang="zh-CN" sz="1200" dirty="0"/>
              <a:t>Plan</a:t>
            </a:r>
            <a:r>
              <a:rPr lang="zh-CN" altLang="en-US" sz="1200" dirty="0"/>
              <a:t> </a:t>
            </a:r>
            <a:r>
              <a:rPr lang="en-US" altLang="zh-CN" sz="1200" dirty="0"/>
              <a:t>A</a:t>
            </a:r>
            <a:r>
              <a:rPr lang="zh-CN" altLang="en-US" sz="1200" dirty="0"/>
              <a:t> </a:t>
            </a:r>
            <a:r>
              <a:rPr lang="en-US" altLang="zh-CN" sz="1200" dirty="0"/>
              <a:t>&amp;</a:t>
            </a:r>
            <a:r>
              <a:rPr lang="zh-CN" altLang="en-US" sz="1200" dirty="0"/>
              <a:t> </a:t>
            </a:r>
            <a:r>
              <a:rPr lang="en-US" altLang="zh-CN" sz="1200" dirty="0"/>
              <a:t>Plan</a:t>
            </a:r>
            <a:r>
              <a:rPr lang="zh-CN" altLang="en-US" sz="1200" dirty="0"/>
              <a:t> </a:t>
            </a:r>
            <a:r>
              <a:rPr lang="en-US" altLang="zh-CN" sz="1200" dirty="0"/>
              <a:t>B</a:t>
            </a:r>
          </a:p>
          <a:p>
            <a:pPr lvl="1" defTabSz="761909">
              <a:lnSpc>
                <a:spcPct val="120000"/>
              </a:lnSpc>
            </a:pPr>
            <a:r>
              <a:rPr lang="en-US" altLang="zh-CN" sz="1200" dirty="0">
                <a:solidFill>
                  <a:srgbClr val="FF0000"/>
                </a:solidFill>
              </a:rPr>
              <a:t>Selected</a:t>
            </a:r>
            <a:r>
              <a:rPr lang="zh-CN" altLang="en-US" sz="1200" dirty="0">
                <a:solidFill>
                  <a:srgbClr val="FF0000"/>
                </a:solidFill>
              </a:rPr>
              <a:t> </a:t>
            </a:r>
            <a:r>
              <a:rPr lang="en-US" altLang="zh-CN" sz="1200" dirty="0">
                <a:solidFill>
                  <a:srgbClr val="FF0000"/>
                </a:solidFill>
              </a:rPr>
              <a:t>results</a:t>
            </a:r>
            <a:r>
              <a:rPr lang="zh-CN" altLang="en-US" sz="1200" dirty="0">
                <a:solidFill>
                  <a:srgbClr val="FF0000"/>
                </a:solidFill>
              </a:rPr>
              <a:t> </a:t>
            </a:r>
            <a:r>
              <a:rPr lang="en-US" altLang="zh-CN" sz="1200" dirty="0">
                <a:solidFill>
                  <a:srgbClr val="FF0000"/>
                </a:solidFill>
              </a:rPr>
              <a:t>put</a:t>
            </a:r>
            <a:r>
              <a:rPr lang="zh-CN" altLang="en-US" sz="1200" dirty="0">
                <a:solidFill>
                  <a:srgbClr val="FF0000"/>
                </a:solidFill>
              </a:rPr>
              <a:t> </a:t>
            </a:r>
            <a:r>
              <a:rPr lang="en-US" altLang="zh-CN" sz="1200" dirty="0">
                <a:solidFill>
                  <a:srgbClr val="FF0000"/>
                </a:solidFill>
              </a:rPr>
              <a:t>into</a:t>
            </a:r>
            <a:r>
              <a:rPr lang="zh-CN" altLang="en-US" sz="1200" dirty="0">
                <a:solidFill>
                  <a:srgbClr val="FF0000"/>
                </a:solidFill>
              </a:rPr>
              <a:t> </a:t>
            </a:r>
            <a:r>
              <a:rPr lang="en-US" altLang="zh-CN" sz="1200" dirty="0">
                <a:solidFill>
                  <a:srgbClr val="FF0000"/>
                </a:solidFill>
              </a:rPr>
              <a:t>paper</a:t>
            </a:r>
          </a:p>
          <a:p>
            <a:pPr lvl="1" defTabSz="761909">
              <a:lnSpc>
                <a:spcPct val="120000"/>
              </a:lnSpc>
            </a:pPr>
            <a:endParaRPr lang="en-US" altLang="zh-CN" sz="1200" dirty="0"/>
          </a:p>
          <a:p>
            <a:pPr lvl="1" defTabSz="761909">
              <a:lnSpc>
                <a:spcPct val="120000"/>
              </a:lnSpc>
            </a:pPr>
            <a:endParaRPr lang="en-US" altLang="zh-CN" sz="1200" dirty="0"/>
          </a:p>
          <a:p>
            <a:pPr lvl="1" defTabSz="761909">
              <a:lnSpc>
                <a:spcPct val="120000"/>
              </a:lnSpc>
            </a:pPr>
            <a:endParaRPr lang="en-US" altLang="zh-CN" sz="1200" dirty="0"/>
          </a:p>
          <a:p>
            <a:pPr lvl="1" defTabSz="761909">
              <a:lnSpc>
                <a:spcPct val="120000"/>
              </a:lnSpc>
            </a:pPr>
            <a:endParaRPr lang="en-US" altLang="zh-CN" sz="1200" dirty="0"/>
          </a:p>
          <a:p>
            <a:pPr lvl="1" defTabSz="761909">
              <a:lnSpc>
                <a:spcPct val="120000"/>
              </a:lnSpc>
            </a:pPr>
            <a:endParaRPr lang="en-US" altLang="zh-CN" sz="1200" dirty="0"/>
          </a:p>
          <a:p>
            <a:pPr lvl="1" defTabSz="761909">
              <a:lnSpc>
                <a:spcPct val="120000"/>
              </a:lnSpc>
            </a:pPr>
            <a:endParaRPr lang="en-US" altLang="zh-CN" sz="1200" dirty="0"/>
          </a:p>
          <a:p>
            <a:pPr lvl="1" defTabSz="761909">
              <a:lnSpc>
                <a:spcPct val="120000"/>
              </a:lnSpc>
            </a:pPr>
            <a:endParaRPr lang="en-US" altLang="zh-CN" sz="1200" dirty="0"/>
          </a:p>
          <a:p>
            <a:pPr lvl="1" defTabSz="761909">
              <a:lnSpc>
                <a:spcPct val="120000"/>
              </a:lnSpc>
            </a:pPr>
            <a:endParaRPr lang="en-US" altLang="zh-CN" sz="1200" dirty="0"/>
          </a:p>
        </p:txBody>
      </p:sp>
    </p:spTree>
    <p:extLst>
      <p:ext uri="{BB962C8B-B14F-4D97-AF65-F5344CB8AC3E}">
        <p14:creationId xmlns:p14="http://schemas.microsoft.com/office/powerpoint/2010/main" val="2984137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9EEF8-35BC-21C6-0475-335EC9BE8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1E1639D-8DF0-43F9-F1EA-B50A567BAF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/>
              <a:t>The Impacts of Internal GenAI on Answerers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C583942-5EAD-434F-1F5E-D2BA021A4622}"/>
              </a:ext>
            </a:extLst>
          </p:cNvPr>
          <p:cNvSpPr txBox="1">
            <a:spLocks/>
          </p:cNvSpPr>
          <p:nvPr/>
        </p:nvSpPr>
        <p:spPr>
          <a:xfrm>
            <a:off x="317500" y="1489588"/>
            <a:ext cx="11607408" cy="4538679"/>
          </a:xfrm>
          <a:prstGeom prst="rect">
            <a:avLst/>
          </a:prstGeom>
        </p:spPr>
        <p:txBody>
          <a:bodyPr vert="horz" lIns="76200" tIns="38100" rIns="76200" bIns="38100" rtlCol="0">
            <a:normAutofit/>
          </a:bodyPr>
          <a:lstStyle>
            <a:lvl1pPr marL="0" indent="-252000" algn="just" defTabSz="914400" rtl="0" eaLnBrk="1" latinLnBrk="0" hangingPunct="1">
              <a:lnSpc>
                <a:spcPct val="130000"/>
              </a:lnSpc>
              <a:spcBef>
                <a:spcPts val="6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p"/>
              <a:defRPr lang="zh-CN" altLang="en-US" sz="1600" b="1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defRPr>
            </a:lvl1pPr>
            <a:lvl2pPr marL="537750" indent="-28575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l"/>
              <a:defRPr lang="zh-CN" altLang="en-US" sz="1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2pPr>
            <a:lvl3pPr marL="720000" indent="-228600" algn="just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  <a:defRPr lang="zh-CN" altLang="en-US" sz="1400" b="0" kern="1200" baseline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972000" indent="-230400" algn="just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en-US" altLang="zh-CN" sz="1100" b="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•"/>
              <a:defRPr lang="zh-CN" altLang="en-US" sz="18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The Impacts of Internal GenAI on Answerers</a:t>
            </a:r>
            <a:r>
              <a:rPr lang="zh-CN" altLang="en-US" dirty="0"/>
              <a:t> </a:t>
            </a:r>
            <a:r>
              <a:rPr lang="en-US" altLang="zh-CN" dirty="0"/>
              <a:t>(Contribution</a:t>
            </a:r>
            <a:r>
              <a:rPr lang="zh-CN" altLang="en-US" dirty="0"/>
              <a:t> </a:t>
            </a:r>
            <a:r>
              <a:rPr lang="en-US" altLang="zh-CN" dirty="0"/>
              <a:t>&amp;</a:t>
            </a:r>
            <a:r>
              <a:rPr lang="zh-CN" altLang="en-US" dirty="0"/>
              <a:t> </a:t>
            </a:r>
            <a:r>
              <a:rPr lang="en-US" altLang="zh-CN" dirty="0"/>
              <a:t>innovation)</a:t>
            </a:r>
            <a:endParaRPr lang="en-US" altLang="en-US" dirty="0"/>
          </a:p>
          <a:p>
            <a:pPr lvl="1" defTabSz="761909">
              <a:lnSpc>
                <a:spcPct val="120000"/>
              </a:lnSpc>
            </a:pPr>
            <a:endParaRPr lang="en-US" altLang="zh-CN" sz="1200" dirty="0"/>
          </a:p>
          <a:p>
            <a:pPr lvl="1" defTabSz="761909">
              <a:lnSpc>
                <a:spcPct val="120000"/>
              </a:lnSpc>
            </a:pPr>
            <a:endParaRPr lang="en-US" altLang="zh-CN" sz="1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B5ADCDD-AD4E-DDA0-D8BB-687DF1624A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0928150"/>
              </p:ext>
            </p:extLst>
          </p:nvPr>
        </p:nvGraphicFramePr>
        <p:xfrm>
          <a:off x="317500" y="2554988"/>
          <a:ext cx="3474571" cy="2692400"/>
        </p:xfrm>
        <a:graphic>
          <a:graphicData uri="http://schemas.openxmlformats.org/drawingml/2006/table">
            <a:tbl>
              <a:tblPr firstRow="1" firstCol="1" bandRow="1"/>
              <a:tblGrid>
                <a:gridCol w="1761347">
                  <a:extLst>
                    <a:ext uri="{9D8B030D-6E8A-4147-A177-3AD203B41FA5}">
                      <a16:colId xmlns:a16="http://schemas.microsoft.com/office/drawing/2014/main" val="2117234374"/>
                    </a:ext>
                  </a:extLst>
                </a:gridCol>
                <a:gridCol w="856612">
                  <a:extLst>
                    <a:ext uri="{9D8B030D-6E8A-4147-A177-3AD203B41FA5}">
                      <a16:colId xmlns:a16="http://schemas.microsoft.com/office/drawing/2014/main" val="1659243636"/>
                    </a:ext>
                  </a:extLst>
                </a:gridCol>
                <a:gridCol w="856612">
                  <a:extLst>
                    <a:ext uri="{9D8B030D-6E8A-4147-A177-3AD203B41FA5}">
                      <a16:colId xmlns:a16="http://schemas.microsoft.com/office/drawing/2014/main" val="1630612773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(1)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(2)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236193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ea typeface="Times New Roman" panose="02020603050405020304" pitchFamily="18" charset="0"/>
                        </a:rPr>
                        <a:t>DV: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log of the number of human answers provided within 7 days (answerNumi)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8414022"/>
                  </a:ext>
                </a:extLst>
              </a:tr>
              <a:tr h="203200">
                <a:tc rowSpan="2"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0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AI</a:t>
                      </a:r>
                      <a:r>
                        <a:rPr lang="en-US" sz="1000" i="1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-0.046 ***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0.226 **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8189026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(0.011)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(0.085)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6207077"/>
                  </a:ext>
                </a:extLst>
              </a:tr>
              <a:tr h="203200">
                <a:tc rowSpan="2"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0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AI</a:t>
                      </a:r>
                      <a:r>
                        <a:rPr lang="en-US" sz="1000" i="1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r>
                        <a:rPr lang="en-US" sz="10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* AILength</a:t>
                      </a:r>
                      <a:r>
                        <a:rPr lang="en-US" sz="1000" i="1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-0.045 **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4958947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(0.014)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8876819"/>
                  </a:ext>
                </a:extLst>
              </a:tr>
              <a:tr h="203200">
                <a:tc rowSpan="2"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0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AI</a:t>
                      </a:r>
                      <a:r>
                        <a:rPr lang="en-US" sz="1000" i="1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r>
                        <a:rPr lang="en-US" sz="10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* AISimWithLLM</a:t>
                      </a:r>
                      <a:r>
                        <a:rPr lang="en-US" sz="1000" i="1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-0.038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2816114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(0.051)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141598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question controls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18640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questioner controls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754552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question timing FE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828996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3,613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3,603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724698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07C62E9-7014-3529-8BDD-38E4F4EA82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1614649"/>
              </p:ext>
            </p:extLst>
          </p:nvPr>
        </p:nvGraphicFramePr>
        <p:xfrm>
          <a:off x="4150660" y="2238235"/>
          <a:ext cx="4249271" cy="3454400"/>
        </p:xfrm>
        <a:graphic>
          <a:graphicData uri="http://schemas.openxmlformats.org/drawingml/2006/table">
            <a:tbl>
              <a:tblPr firstRow="1" firstCol="1" bandRow="1"/>
              <a:tblGrid>
                <a:gridCol w="1371813">
                  <a:extLst>
                    <a:ext uri="{9D8B030D-6E8A-4147-A177-3AD203B41FA5}">
                      <a16:colId xmlns:a16="http://schemas.microsoft.com/office/drawing/2014/main" val="2333803728"/>
                    </a:ext>
                  </a:extLst>
                </a:gridCol>
                <a:gridCol w="1438729">
                  <a:extLst>
                    <a:ext uri="{9D8B030D-6E8A-4147-A177-3AD203B41FA5}">
                      <a16:colId xmlns:a16="http://schemas.microsoft.com/office/drawing/2014/main" val="2175697873"/>
                    </a:ext>
                  </a:extLst>
                </a:gridCol>
                <a:gridCol w="1438729">
                  <a:extLst>
                    <a:ext uri="{9D8B030D-6E8A-4147-A177-3AD203B41FA5}">
                      <a16:colId xmlns:a16="http://schemas.microsoft.com/office/drawing/2014/main" val="1382486904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(1)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(2)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473026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Georgia" panose="02040502050405020303" pitchFamily="18" charset="0"/>
                          <a:ea typeface="Times New Roman" panose="02020603050405020304" pitchFamily="18" charset="0"/>
                        </a:rPr>
                        <a:t>DV: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similarity between the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fisrt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answer and the second answer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821006"/>
                  </a:ext>
                </a:extLst>
              </a:tr>
              <a:tr h="203200">
                <a:tc rowSpan="2"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0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AI</a:t>
                      </a:r>
                      <a:r>
                        <a:rPr lang="en-US" sz="1000" i="1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0.029 **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0.008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1404582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(0.009)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(0.055)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1542771"/>
                  </a:ext>
                </a:extLst>
              </a:tr>
              <a:tr h="203200">
                <a:tc rowSpan="2"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0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length1Ans</a:t>
                      </a:r>
                      <a:r>
                        <a:rPr lang="en-US" sz="1000" i="1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0.005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2663859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(0.005)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5786495"/>
                  </a:ext>
                </a:extLst>
              </a:tr>
              <a:tr h="203200">
                <a:tc rowSpan="2"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0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simWithLLM1Ans</a:t>
                      </a:r>
                      <a:r>
                        <a:rPr lang="en-US" sz="1000" i="1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0.494 ***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1622868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(0.038)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3674920"/>
                  </a:ext>
                </a:extLst>
              </a:tr>
              <a:tr h="203200">
                <a:tc rowSpan="2"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0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AI</a:t>
                      </a:r>
                      <a:r>
                        <a:rPr lang="en-US" sz="1000" i="1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r>
                        <a:rPr lang="en-US" sz="10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* length1Ans</a:t>
                      </a:r>
                      <a:r>
                        <a:rPr lang="en-US" sz="1000" i="1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0.002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840745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(0.010)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8071217"/>
                  </a:ext>
                </a:extLst>
              </a:tr>
              <a:tr h="203200">
                <a:tc rowSpan="2"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0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AI</a:t>
                      </a:r>
                      <a:r>
                        <a:rPr lang="en-US" sz="1000" i="1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r>
                        <a:rPr lang="en-US" sz="10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* simWithLLM1Ans</a:t>
                      </a:r>
                      <a:r>
                        <a:rPr lang="en-US" sz="1000" i="1" baseline="-25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-0.109 *</a:t>
                      </a:r>
                      <a:endParaRPr 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5511796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(0.049)</a:t>
                      </a:r>
                      <a:endParaRPr 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37171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question controls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463426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questioner controls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44534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question timing FE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830898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1,913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1,888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0805672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D01222D-9F57-FF22-6578-65DD46DD2C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5178865"/>
              </p:ext>
            </p:extLst>
          </p:nvPr>
        </p:nvGraphicFramePr>
        <p:xfrm>
          <a:off x="8599487" y="2859925"/>
          <a:ext cx="3404256" cy="1726286"/>
        </p:xfrm>
        <a:graphic>
          <a:graphicData uri="http://schemas.openxmlformats.org/drawingml/2006/table">
            <a:tbl>
              <a:tblPr firstRow="1" firstCol="1" bandRow="1"/>
              <a:tblGrid>
                <a:gridCol w="1297701">
                  <a:extLst>
                    <a:ext uri="{9D8B030D-6E8A-4147-A177-3AD203B41FA5}">
                      <a16:colId xmlns:a16="http://schemas.microsoft.com/office/drawing/2014/main" val="366372077"/>
                    </a:ext>
                  </a:extLst>
                </a:gridCol>
                <a:gridCol w="670247">
                  <a:extLst>
                    <a:ext uri="{9D8B030D-6E8A-4147-A177-3AD203B41FA5}">
                      <a16:colId xmlns:a16="http://schemas.microsoft.com/office/drawing/2014/main" val="3608458640"/>
                    </a:ext>
                  </a:extLst>
                </a:gridCol>
                <a:gridCol w="718154">
                  <a:extLst>
                    <a:ext uri="{9D8B030D-6E8A-4147-A177-3AD203B41FA5}">
                      <a16:colId xmlns:a16="http://schemas.microsoft.com/office/drawing/2014/main" val="797390977"/>
                    </a:ext>
                  </a:extLst>
                </a:gridCol>
                <a:gridCol w="718154">
                  <a:extLst>
                    <a:ext uri="{9D8B030D-6E8A-4147-A177-3AD203B41FA5}">
                      <a16:colId xmlns:a16="http://schemas.microsoft.com/office/drawing/2014/main" val="2740809431"/>
                    </a:ext>
                  </a:extLst>
                </a:gridCol>
              </a:tblGrid>
              <a:tr h="221634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　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(3)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(4)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(5)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7021250"/>
                  </a:ext>
                </a:extLst>
              </a:tr>
              <a:tr h="39401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DV: whether the answer contains </a:t>
                      </a:r>
                      <a:endParaRPr lang="en-US" sz="1000" dirty="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personal experience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opinionated insights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alternative solutions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059597"/>
                  </a:ext>
                </a:extLst>
              </a:tr>
              <a:tr h="221634">
                <a:tc rowSpan="2"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000" i="1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AI</a:t>
                      </a:r>
                      <a:r>
                        <a:rPr lang="en-US" sz="1000" i="1" baseline="-25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i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0.030**</a:t>
                      </a:r>
                      <a:endParaRPr 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0.024*</a:t>
                      </a:r>
                      <a:endParaRPr 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0.016*</a:t>
                      </a:r>
                      <a:endParaRPr lang="en-US" sz="120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6553601"/>
                  </a:ext>
                </a:extLst>
              </a:tr>
              <a:tr h="22163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(0.011)</a:t>
                      </a:r>
                      <a:endParaRPr lang="en-US" sz="120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(0.010)</a:t>
                      </a:r>
                      <a:endParaRPr 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(0.008)</a:t>
                      </a:r>
                      <a:endParaRPr 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3880524"/>
                  </a:ext>
                </a:extLst>
              </a:tr>
              <a:tr h="213426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question timing FE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√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√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√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0915435"/>
                  </a:ext>
                </a:extLst>
              </a:tr>
              <a:tr h="221634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controls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√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√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√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1710930"/>
                  </a:ext>
                </a:extLst>
              </a:tr>
              <a:tr h="232306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N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4,634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4,634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4,634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120263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7139A7F-148B-2CDC-95CD-9A699F3081CD}"/>
              </a:ext>
            </a:extLst>
          </p:cNvPr>
          <p:cNvSpPr txBox="1"/>
          <p:nvPr/>
        </p:nvSpPr>
        <p:spPr>
          <a:xfrm>
            <a:off x="549725" y="6028267"/>
            <a:ext cx="3010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Human</a:t>
            </a:r>
            <a:r>
              <a:rPr lang="zh-CN" altLang="en-US" dirty="0"/>
              <a:t> </a:t>
            </a:r>
            <a:r>
              <a:rPr lang="en-US" altLang="zh-CN" dirty="0"/>
              <a:t>answerer</a:t>
            </a:r>
            <a:r>
              <a:rPr lang="zh-CN" altLang="en-US" dirty="0"/>
              <a:t> </a:t>
            </a:r>
            <a:r>
              <a:rPr lang="en-US" altLang="zh-CN" dirty="0"/>
              <a:t>contribution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BADD9D-CE4D-CF84-ADFA-1EE0C636BA8C}"/>
              </a:ext>
            </a:extLst>
          </p:cNvPr>
          <p:cNvSpPr txBox="1"/>
          <p:nvPr/>
        </p:nvSpPr>
        <p:spPr>
          <a:xfrm>
            <a:off x="5151291" y="6028267"/>
            <a:ext cx="1939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Answer</a:t>
            </a:r>
            <a:r>
              <a:rPr lang="zh-CN" altLang="en-US" dirty="0"/>
              <a:t> </a:t>
            </a:r>
            <a:r>
              <a:rPr lang="en-US" altLang="zh-CN" dirty="0"/>
              <a:t>innovation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21B4E1-13FA-0531-928C-94FBF6C3BDAC}"/>
              </a:ext>
            </a:extLst>
          </p:cNvPr>
          <p:cNvSpPr txBox="1"/>
          <p:nvPr/>
        </p:nvSpPr>
        <p:spPr>
          <a:xfrm>
            <a:off x="8746474" y="6028267"/>
            <a:ext cx="3178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Answer</a:t>
            </a:r>
            <a:r>
              <a:rPr lang="zh-CN" altLang="en-US" dirty="0"/>
              <a:t> </a:t>
            </a:r>
            <a:r>
              <a:rPr lang="en-US" altLang="zh-CN" dirty="0"/>
              <a:t>differentiation</a:t>
            </a:r>
            <a:r>
              <a:rPr lang="zh-CN" altLang="en-US" dirty="0"/>
              <a:t> </a:t>
            </a:r>
            <a:r>
              <a:rPr lang="en-US" altLang="zh-CN" dirty="0"/>
              <a:t>direction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3802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2FF35-38F7-5937-01C3-17C3D57B3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EAE917E-EC31-219E-8DF6-2620B7FE98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effect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AI-specific</a:t>
            </a:r>
            <a:endParaRPr lang="en-US" alt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9AABA46-A4D3-13CB-9215-AF84E3B024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13448"/>
              </p:ext>
            </p:extLst>
          </p:nvPr>
        </p:nvGraphicFramePr>
        <p:xfrm>
          <a:off x="838200" y="2589371"/>
          <a:ext cx="10515599" cy="2823845"/>
        </p:xfrm>
        <a:graphic>
          <a:graphicData uri="http://schemas.openxmlformats.org/drawingml/2006/table">
            <a:tbl>
              <a:tblPr firstRow="1" firstCol="1" bandRow="1"/>
              <a:tblGrid>
                <a:gridCol w="4935504">
                  <a:extLst>
                    <a:ext uri="{9D8B030D-6E8A-4147-A177-3AD203B41FA5}">
                      <a16:colId xmlns:a16="http://schemas.microsoft.com/office/drawing/2014/main" val="2825752628"/>
                    </a:ext>
                  </a:extLst>
                </a:gridCol>
                <a:gridCol w="1750728">
                  <a:extLst>
                    <a:ext uri="{9D8B030D-6E8A-4147-A177-3AD203B41FA5}">
                      <a16:colId xmlns:a16="http://schemas.microsoft.com/office/drawing/2014/main" val="769105114"/>
                    </a:ext>
                  </a:extLst>
                </a:gridCol>
                <a:gridCol w="1273461">
                  <a:extLst>
                    <a:ext uri="{9D8B030D-6E8A-4147-A177-3AD203B41FA5}">
                      <a16:colId xmlns:a16="http://schemas.microsoft.com/office/drawing/2014/main" val="143426103"/>
                    </a:ext>
                  </a:extLst>
                </a:gridCol>
                <a:gridCol w="1277953">
                  <a:extLst>
                    <a:ext uri="{9D8B030D-6E8A-4147-A177-3AD203B41FA5}">
                      <a16:colId xmlns:a16="http://schemas.microsoft.com/office/drawing/2014/main" val="304940517"/>
                    </a:ext>
                  </a:extLst>
                </a:gridCol>
                <a:gridCol w="1277953">
                  <a:extLst>
                    <a:ext uri="{9D8B030D-6E8A-4147-A177-3AD203B41FA5}">
                      <a16:colId xmlns:a16="http://schemas.microsoft.com/office/drawing/2014/main" val="1685250422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　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(1)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(2)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(3)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(4)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159367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DV: </a:t>
                      </a:r>
                      <a:r>
                        <a:rPr lang="en-US" sz="10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answerNum</a:t>
                      </a:r>
                      <a:r>
                        <a:rPr lang="en-US" sz="1000" i="1" baseline="-25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773751"/>
                  </a:ext>
                </a:extLst>
              </a:tr>
              <a:tr h="171450">
                <a:tc rowSpan="2"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900" i="1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AI</a:t>
                      </a:r>
                      <a:r>
                        <a:rPr lang="en-US" sz="900" i="1" baseline="-25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i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-0.113***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-0.115***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-0.110***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-0.112***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2060679"/>
                  </a:ext>
                </a:extLst>
              </a:tr>
              <a:tr h="1714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(0.016)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(0.017)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(0.017)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(0.016)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5534728"/>
                  </a:ext>
                </a:extLst>
              </a:tr>
              <a:tr h="184150">
                <a:tc rowSpan="2"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900" i="1" dirty="0" err="1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reputation</a:t>
                      </a:r>
                      <a:r>
                        <a:rPr lang="en-US" sz="900" i="1" baseline="-25000" dirty="0" err="1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i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-0.000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0.000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4580371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(0.000)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(0.000)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3631570"/>
                  </a:ext>
                </a:extLst>
              </a:tr>
              <a:tr h="182880">
                <a:tc rowSpan="2"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900" i="1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reputation</a:t>
                      </a:r>
                      <a:r>
                        <a:rPr lang="en-US" sz="900" i="1" baseline="-25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i</a:t>
                      </a:r>
                      <a:r>
                        <a:rPr lang="en-US" sz="900" baseline="30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-0.000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2246613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(0.000)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0568287"/>
                  </a:ext>
                </a:extLst>
              </a:tr>
              <a:tr h="177800">
                <a:tc rowSpan="2"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900" i="1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reputation</a:t>
                      </a:r>
                      <a:r>
                        <a:rPr lang="en-US" sz="900" i="1" baseline="-25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i</a:t>
                      </a:r>
                      <a:r>
                        <a:rPr lang="en-US" sz="900" baseline="30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0.000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5661717"/>
                  </a:ext>
                </a:extLst>
              </a:tr>
              <a:tr h="1714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(0.000)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0816570"/>
                  </a:ext>
                </a:extLst>
              </a:tr>
              <a:tr h="171450">
                <a:tc rowSpan="2"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900" i="1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I(reputation</a:t>
                      </a:r>
                      <a:r>
                        <a:rPr lang="en-US" sz="900" i="1" baseline="-25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i </a:t>
                      </a:r>
                      <a:r>
                        <a:rPr lang="en-US" sz="900" i="1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&gt; 48,911)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0.014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6613669"/>
                  </a:ext>
                </a:extLst>
              </a:tr>
              <a:tr h="1714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(0.075)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139783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controlling for LLM-enabled content quality ratings and length of the first answer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√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√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√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√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92468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question timing FE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√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√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√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√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2379489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other controls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√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√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√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√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1558399"/>
                  </a:ext>
                </a:extLst>
              </a:tr>
              <a:tr h="179705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N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3,216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3,216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3,216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3,216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98869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67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B1F7D-515B-4469-7631-0D52DE10F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402991-FF92-3811-388F-98BD2B531E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altLang="en-US" sz="2000" dirty="0"/>
              <a:t>The Impacts of Internal GenAI on </a:t>
            </a:r>
            <a:r>
              <a:rPr lang="en-US" altLang="zh-CN" sz="2000" dirty="0"/>
              <a:t>Other</a:t>
            </a:r>
            <a:r>
              <a:rPr lang="zh-CN" altLang="en-US" sz="2000" dirty="0"/>
              <a:t> </a:t>
            </a:r>
            <a:r>
              <a:rPr lang="en-US" altLang="zh-CN" sz="2000" dirty="0"/>
              <a:t>Parties:</a:t>
            </a:r>
            <a:r>
              <a:rPr lang="zh-CN" altLang="en-US" sz="2000" dirty="0"/>
              <a:t> </a:t>
            </a:r>
            <a:r>
              <a:rPr lang="en-US" altLang="en-US" sz="2000" dirty="0"/>
              <a:t>Questioner </a:t>
            </a:r>
            <a:r>
              <a:rPr lang="en-US" altLang="zh-CN" sz="2000" dirty="0"/>
              <a:t>&amp;</a:t>
            </a:r>
            <a:r>
              <a:rPr lang="zh-CN" altLang="en-US" sz="2000" dirty="0"/>
              <a:t> </a:t>
            </a:r>
            <a:r>
              <a:rPr lang="en-US" altLang="zh-CN" sz="2000" dirty="0"/>
              <a:t>viewers</a:t>
            </a:r>
            <a:endParaRPr lang="en-US" altLang="en-US"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0F554E2-73E0-94AC-F4FC-9779CA9CE5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9238576"/>
              </p:ext>
            </p:extLst>
          </p:nvPr>
        </p:nvGraphicFramePr>
        <p:xfrm>
          <a:off x="416859" y="2103765"/>
          <a:ext cx="5164041" cy="2057400"/>
        </p:xfrm>
        <a:graphic>
          <a:graphicData uri="http://schemas.openxmlformats.org/drawingml/2006/table">
            <a:tbl>
              <a:tblPr firstRow="1" firstCol="1" bandRow="1"/>
              <a:tblGrid>
                <a:gridCol w="1098732">
                  <a:extLst>
                    <a:ext uri="{9D8B030D-6E8A-4147-A177-3AD203B41FA5}">
                      <a16:colId xmlns:a16="http://schemas.microsoft.com/office/drawing/2014/main" val="3166012830"/>
                    </a:ext>
                  </a:extLst>
                </a:gridCol>
                <a:gridCol w="604303">
                  <a:extLst>
                    <a:ext uri="{9D8B030D-6E8A-4147-A177-3AD203B41FA5}">
                      <a16:colId xmlns:a16="http://schemas.microsoft.com/office/drawing/2014/main" val="1142966002"/>
                    </a:ext>
                  </a:extLst>
                </a:gridCol>
                <a:gridCol w="604303">
                  <a:extLst>
                    <a:ext uri="{9D8B030D-6E8A-4147-A177-3AD203B41FA5}">
                      <a16:colId xmlns:a16="http://schemas.microsoft.com/office/drawing/2014/main" val="2977962257"/>
                    </a:ext>
                  </a:extLst>
                </a:gridCol>
                <a:gridCol w="1373415">
                  <a:extLst>
                    <a:ext uri="{9D8B030D-6E8A-4147-A177-3AD203B41FA5}">
                      <a16:colId xmlns:a16="http://schemas.microsoft.com/office/drawing/2014/main" val="2865634570"/>
                    </a:ext>
                  </a:extLst>
                </a:gridCol>
                <a:gridCol w="1483288">
                  <a:extLst>
                    <a:ext uri="{9D8B030D-6E8A-4147-A177-3AD203B41FA5}">
                      <a16:colId xmlns:a16="http://schemas.microsoft.com/office/drawing/2014/main" val="3637875543"/>
                    </a:ext>
                  </a:extLst>
                </a:gridCol>
              </a:tblGrid>
              <a:tr h="16510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(1)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(2)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(3)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(4)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0838042"/>
                  </a:ext>
                </a:extLst>
              </a:tr>
              <a:tr h="457200">
                <a:tc rowSpan="2"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DV: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the logarithm of the number of questioner’s subsequent activities after receiving an answer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in 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DV: the logarithm of the number of comments the questioner posted in response to answers received by question </a:t>
                      </a:r>
                      <a:r>
                        <a:rPr lang="en-US" sz="1000" i="1" dirty="0" err="1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i</a:t>
                      </a:r>
                      <a:br>
                        <a:rPr lang="en-US" sz="1000" dirty="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</a:b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(</a:t>
                      </a:r>
                      <a:r>
                        <a:rPr lang="en-US" sz="1000" i="1" dirty="0" err="1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Comment</a:t>
                      </a:r>
                      <a:r>
                        <a:rPr lang="en-US" sz="1000" i="1" baseline="-25000" dirty="0" err="1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6854902"/>
                  </a:ext>
                </a:extLst>
              </a:tr>
              <a:tr h="1651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 month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 months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 months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2685740"/>
                  </a:ext>
                </a:extLst>
              </a:tr>
              <a:tr h="177800">
                <a:tc rowSpan="2"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0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AI</a:t>
                      </a:r>
                      <a:r>
                        <a:rPr lang="en-US" sz="1000" i="1" baseline="-25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-0.010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-0.002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-0.009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-0.039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428890"/>
                  </a:ext>
                </a:extLst>
              </a:tr>
              <a:tr h="1651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(0.027)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(0.030)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(0.030)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(0.020)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2778579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question timing FE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5714136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other controls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8874106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3,613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3,613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3,613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2,748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071425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847355A-7A03-D0BC-5328-C13AC334D8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7435770"/>
              </p:ext>
            </p:extLst>
          </p:nvPr>
        </p:nvGraphicFramePr>
        <p:xfrm>
          <a:off x="6224108" y="2007245"/>
          <a:ext cx="5692583" cy="2153920"/>
        </p:xfrm>
        <a:graphic>
          <a:graphicData uri="http://schemas.openxmlformats.org/drawingml/2006/table">
            <a:tbl>
              <a:tblPr firstRow="1" firstCol="1" bandRow="1"/>
              <a:tblGrid>
                <a:gridCol w="1180740">
                  <a:extLst>
                    <a:ext uri="{9D8B030D-6E8A-4147-A177-3AD203B41FA5}">
                      <a16:colId xmlns:a16="http://schemas.microsoft.com/office/drawing/2014/main" val="2139187216"/>
                    </a:ext>
                  </a:extLst>
                </a:gridCol>
                <a:gridCol w="860611">
                  <a:extLst>
                    <a:ext uri="{9D8B030D-6E8A-4147-A177-3AD203B41FA5}">
                      <a16:colId xmlns:a16="http://schemas.microsoft.com/office/drawing/2014/main" val="317002992"/>
                    </a:ext>
                  </a:extLst>
                </a:gridCol>
                <a:gridCol w="773673">
                  <a:extLst>
                    <a:ext uri="{9D8B030D-6E8A-4147-A177-3AD203B41FA5}">
                      <a16:colId xmlns:a16="http://schemas.microsoft.com/office/drawing/2014/main" val="3220079359"/>
                    </a:ext>
                  </a:extLst>
                </a:gridCol>
                <a:gridCol w="866869">
                  <a:extLst>
                    <a:ext uri="{9D8B030D-6E8A-4147-A177-3AD203B41FA5}">
                      <a16:colId xmlns:a16="http://schemas.microsoft.com/office/drawing/2014/main" val="223383312"/>
                    </a:ext>
                  </a:extLst>
                </a:gridCol>
                <a:gridCol w="484094">
                  <a:extLst>
                    <a:ext uri="{9D8B030D-6E8A-4147-A177-3AD203B41FA5}">
                      <a16:colId xmlns:a16="http://schemas.microsoft.com/office/drawing/2014/main" val="172225636"/>
                    </a:ext>
                  </a:extLst>
                </a:gridCol>
                <a:gridCol w="1526596">
                  <a:extLst>
                    <a:ext uri="{9D8B030D-6E8A-4147-A177-3AD203B41FA5}">
                      <a16:colId xmlns:a16="http://schemas.microsoft.com/office/drawing/2014/main" val="2088095316"/>
                    </a:ext>
                  </a:extLst>
                </a:gridCol>
              </a:tblGrid>
              <a:tr h="165100">
                <a:tc row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(1)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(2)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(3)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9970828"/>
                  </a:ext>
                </a:extLst>
              </a:tr>
              <a:tr h="1651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DV: number of net likes received by an answer (</a:t>
                      </a:r>
                      <a:r>
                        <a:rPr lang="en-US" sz="10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netlikeNum</a:t>
                      </a:r>
                      <a:r>
                        <a:rPr lang="en-US" sz="1000" i="1" baseline="-25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ij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DV: the logarithm of the cumulative viewership count for question </a:t>
                      </a:r>
                      <a:r>
                        <a:rPr lang="en-US" sz="1000" i="1" dirty="0" err="1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i</a:t>
                      </a:r>
                      <a:br>
                        <a:rPr lang="en-US" sz="1000" dirty="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</a:b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(</a:t>
                      </a:r>
                      <a:r>
                        <a:rPr lang="en-US" sz="1000" i="1" dirty="0" err="1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View</a:t>
                      </a:r>
                      <a:r>
                        <a:rPr lang="en-US" sz="1000" i="1" baseline="-25000" dirty="0" err="1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3786470"/>
                  </a:ext>
                </a:extLst>
              </a:tr>
              <a:tr h="165100">
                <a:tc rowSpan="2"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0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AI</a:t>
                      </a:r>
                      <a:r>
                        <a:rPr lang="en-US" sz="1000" i="1" baseline="-25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-0.052 **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-0.052 **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-0.046 *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-0.046 *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-0.009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0877430"/>
                  </a:ext>
                </a:extLst>
              </a:tr>
              <a:tr h="1651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(0.020)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(0.020)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(0.019)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(0.019)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(0.016)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8593686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question controls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sz="1000" dirty="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1000" dirty="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7724775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questioner controls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2695108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question timing FE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4263651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answer timing FE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√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02295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4,670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4,670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4,670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4,670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+mn-cs"/>
                        </a:rPr>
                        <a:t>3,613</a:t>
                      </a:r>
                    </a:p>
                    <a:p>
                      <a:pPr marL="0" marR="0" algn="ctr">
                        <a:buNone/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678097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8AA0C69A-0587-3767-A94E-D1CD717FC5E9}"/>
              </a:ext>
            </a:extLst>
          </p:cNvPr>
          <p:cNvSpPr txBox="1"/>
          <p:nvPr/>
        </p:nvSpPr>
        <p:spPr>
          <a:xfrm>
            <a:off x="1940416" y="4848519"/>
            <a:ext cx="2116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Questioner</a:t>
            </a:r>
            <a:r>
              <a:rPr lang="zh-CN" altLang="en-US" dirty="0"/>
              <a:t> </a:t>
            </a:r>
            <a:r>
              <a:rPr lang="en-US" altLang="zh-CN" dirty="0"/>
              <a:t>activities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F55F4E-435B-2A43-2EAA-6FFFA92D113F}"/>
              </a:ext>
            </a:extLst>
          </p:cNvPr>
          <p:cNvSpPr txBox="1"/>
          <p:nvPr/>
        </p:nvSpPr>
        <p:spPr>
          <a:xfrm>
            <a:off x="6978580" y="4848519"/>
            <a:ext cx="4458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Viewer</a:t>
            </a:r>
            <a:r>
              <a:rPr lang="zh-CN" altLang="en-US" dirty="0"/>
              <a:t> </a:t>
            </a:r>
            <a:r>
              <a:rPr lang="en-US" altLang="zh-CN" dirty="0"/>
              <a:t>activities</a:t>
            </a:r>
            <a:r>
              <a:rPr lang="zh-CN" altLang="en-US" dirty="0"/>
              <a:t> </a:t>
            </a:r>
            <a:r>
              <a:rPr lang="en-US" altLang="zh-CN" dirty="0"/>
              <a:t>(recognition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viewership)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810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6469</TotalTime>
  <Words>1316</Words>
  <Application>Microsoft Macintosh PowerPoint</Application>
  <PresentationFormat>Widescreen</PresentationFormat>
  <Paragraphs>388</Paragraphs>
  <Slides>13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5" baseType="lpstr">
      <vt:lpstr>微软雅黑</vt:lpstr>
      <vt:lpstr>Aptos</vt:lpstr>
      <vt:lpstr>Arial</vt:lpstr>
      <vt:lpstr>Calibri</vt:lpstr>
      <vt:lpstr>Calibri Light</vt:lpstr>
      <vt:lpstr>Georgia</vt:lpstr>
      <vt:lpstr>Lato</vt:lpstr>
      <vt:lpstr>Lato Black</vt:lpstr>
      <vt:lpstr>Lato Light</vt:lpstr>
      <vt:lpstr>Times New Roman</vt:lpstr>
      <vt:lpstr>Wingdings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 Li</dc:creator>
  <cp:lastModifiedBy>Dylan CHEN</cp:lastModifiedBy>
  <cp:revision>73</cp:revision>
  <dcterms:created xsi:type="dcterms:W3CDTF">2026-03-16T05:50:08Z</dcterms:created>
  <dcterms:modified xsi:type="dcterms:W3CDTF">2026-06-08T07:30:24Z</dcterms:modified>
</cp:coreProperties>
</file>