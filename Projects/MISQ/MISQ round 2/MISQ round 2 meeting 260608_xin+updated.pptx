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74" r:id="rId3"/>
    <p:sldId id="289" r:id="rId4"/>
    <p:sldId id="290" r:id="rId5"/>
    <p:sldId id="286" r:id="rId6"/>
    <p:sldId id="2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6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546-45D6-3397-6685-D5EB850E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477F-7305-A8E6-DB76-85AC2623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13E1-F78C-C5C8-6531-3581FBC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2680-B447-AD7E-3A29-7058B78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3258-F303-E9AE-DB85-CFEE0167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BFF8-D5B1-AF04-E61F-0E079B0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3186-57D8-1B91-1FA6-BC6C777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541E-2362-FCFF-7E85-D7FF259E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0904-1EE7-0D4B-4531-B6E6FE9D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0C46-8705-2E1E-1505-F1F8FE25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F258-8788-889B-63A2-BB30AB3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E8FE-AF2F-8824-CA06-EAAE2BD9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4647-9688-6E98-94D0-AF9005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DE02-92DD-6870-88C4-95292CA6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1A08-291C-162C-EDDF-D7541F4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1FC1-B5E9-2401-6874-74954DEA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E453-DA24-0CF7-8661-CCF7128F5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E24E-3AF1-1C02-C23E-EFB1C2C82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A5D9-7216-D6F1-2050-2BCDFBC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615B-0B5B-F30E-F999-0589ECB7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BF4A-9ABA-AE98-0FD7-8DBA3018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9389-8B92-8C8B-4948-A27CA21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D48F6-4C84-3581-1D57-B2F079DE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A4A94-0F74-64F9-6280-B6085B57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01091-B7BB-BA9D-E60A-1DB254F7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F4657-6FE2-E145-BA9C-0C24B7069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1B72-1270-85BC-2E4D-13CA3D94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F045E-4783-F4B4-330D-11CD20C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B2BA0-A7E9-B2ED-3F6C-03610E7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781E-0D29-4C8B-C4E8-E88C760A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30284-BE08-10CE-5C11-7CFCA9F2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4FA06-B56F-CC5E-D776-597A601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62F4-A12C-511D-F236-5D7A48CC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50A27-2DEE-968A-2A53-96BFFF4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1F7A0-AD9F-B5BE-CB15-2F127F9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D4DA-F2D7-8164-FD63-FBBFD2D3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C15-62ED-CAEA-4A79-CF0CD0D7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C3BA-F65E-2BDC-02D8-B6A4A57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F51E-D5C0-D663-5DC1-D2CAF768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8031A-A8F4-8A34-9EE4-1244F9BD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C8F-F2F5-73F1-6D79-0953C34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A9B7-3125-5AEA-E0A5-526E382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5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EA9F-325E-77A3-BA3F-35684DEF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5A86-DCDA-3D19-EF33-4604A291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341E8-E418-6D31-7EC8-45A9765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0EBE-DEF1-23CB-7AAB-A24399A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9D3F-2A78-C646-D206-06D72D40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A637-3AE1-A36E-0F69-CC6204F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CE-BC2F-BFFB-0014-52A8120A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5806-4A0B-645C-1F41-FA1CE5E9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337D-5E84-5198-D2FB-315492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9F18-1049-8CF0-0D4C-8DD5C562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EAA0-D76D-CABE-BB23-60C19FCC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5D258-F781-9A5D-EC79-458C2557D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8E1EB-3B2F-7DEC-1299-4AE21928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810E6-C046-4D69-6003-0B5E7195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F4E0-39D0-7D44-CAE2-7FAEFDF0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4590-EBD9-029E-FED6-B43E6B4F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99B6D-9A4D-454B-F38A-EEB69D92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3D50-94D2-31BE-C936-F6B1C87F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0032-A3FD-D679-F675-FF9EE112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71BF-C234-41FA-01FE-7ECC3535D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948D-FC1E-8ADE-7ED8-0FDCD7D9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4759-F52F-7D12-320C-A4DE4154C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Theory: Competition </a:t>
            </a:r>
            <a:br>
              <a:rPr lang="en-US" dirty="0"/>
            </a:br>
            <a:r>
              <a:rPr lang="en-US" dirty="0"/>
              <a:t>AI is a Weaker Competitor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7E548-2103-DD8C-A403-6ACC51714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BFF2-BDD3-CF89-C9F0-C374D89D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85139162-4BCF-1C19-69CB-ECCB657AAD35}"/>
              </a:ext>
            </a:extLst>
          </p:cNvPr>
          <p:cNvSpPr/>
          <p:nvPr/>
        </p:nvSpPr>
        <p:spPr>
          <a:xfrm>
            <a:off x="6920726" y="2970803"/>
            <a:ext cx="151982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A2CEC04-9A9C-102E-3307-4960E5DDBC64}"/>
              </a:ext>
            </a:extLst>
          </p:cNvPr>
          <p:cNvSpPr/>
          <p:nvPr/>
        </p:nvSpPr>
        <p:spPr>
          <a:xfrm>
            <a:off x="2923209" y="2970803"/>
            <a:ext cx="9144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138AEC0-50ED-3DB3-0C95-01C8EDD58E04}"/>
              </a:ext>
            </a:extLst>
          </p:cNvPr>
          <p:cNvCxnSpPr>
            <a:cxnSpLocks/>
          </p:cNvCxnSpPr>
          <p:nvPr/>
        </p:nvCxnSpPr>
        <p:spPr>
          <a:xfrm>
            <a:off x="3837609" y="3290843"/>
            <a:ext cx="3083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33D2BB6-B7C7-18F7-6057-56EBB0CBF20B}"/>
              </a:ext>
            </a:extLst>
          </p:cNvPr>
          <p:cNvSpPr/>
          <p:nvPr/>
        </p:nvSpPr>
        <p:spPr>
          <a:xfrm>
            <a:off x="7008610" y="4374460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AC4FF7-14AE-7140-08D9-2C1CF5DF6FE2}"/>
              </a:ext>
            </a:extLst>
          </p:cNvPr>
          <p:cNvSpPr/>
          <p:nvPr/>
        </p:nvSpPr>
        <p:spPr>
          <a:xfrm>
            <a:off x="6920726" y="2265072"/>
            <a:ext cx="151982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967AE36-38A3-F4A0-CBCA-E4992CE2E0DB}"/>
              </a:ext>
            </a:extLst>
          </p:cNvPr>
          <p:cNvCxnSpPr>
            <a:cxnSpLocks/>
            <a:stCxn id="58" idx="3"/>
            <a:endCxn id="3" idx="1"/>
          </p:cNvCxnSpPr>
          <p:nvPr/>
        </p:nvCxnSpPr>
        <p:spPr>
          <a:xfrm flipV="1">
            <a:off x="3837609" y="2585112"/>
            <a:ext cx="3083117" cy="705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5259422-9076-5803-5956-DF1A052EF4D3}"/>
              </a:ext>
            </a:extLst>
          </p:cNvPr>
          <p:cNvSpPr/>
          <p:nvPr/>
        </p:nvSpPr>
        <p:spPr>
          <a:xfrm>
            <a:off x="5216872" y="4435778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 Length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337197-3E77-E35F-125B-AD18CD2D66DA}"/>
              </a:ext>
            </a:extLst>
          </p:cNvPr>
          <p:cNvSpPr/>
          <p:nvPr/>
        </p:nvSpPr>
        <p:spPr>
          <a:xfrm>
            <a:off x="3546093" y="4435778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A3A85CB-566D-D9BF-1EDD-6AC3B5A0FA58}"/>
              </a:ext>
            </a:extLst>
          </p:cNvPr>
          <p:cNvSpPr/>
          <p:nvPr/>
        </p:nvSpPr>
        <p:spPr>
          <a:xfrm rot="16200000">
            <a:off x="5142640" y="2478306"/>
            <a:ext cx="797522" cy="25575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B4EB0F-79F8-1AB4-61A5-47F2FACED9D0}"/>
              </a:ext>
            </a:extLst>
          </p:cNvPr>
          <p:cNvSpPr/>
          <p:nvPr/>
        </p:nvSpPr>
        <p:spPr>
          <a:xfrm>
            <a:off x="6920726" y="1266345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87F96-1609-37AB-1A20-E9CBEE1C49B6}"/>
              </a:ext>
            </a:extLst>
          </p:cNvPr>
          <p:cNvSpPr/>
          <p:nvPr/>
        </p:nvSpPr>
        <p:spPr>
          <a:xfrm>
            <a:off x="4921838" y="1266345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145EB-5A59-434A-EA52-9C64596E51A3}"/>
              </a:ext>
            </a:extLst>
          </p:cNvPr>
          <p:cNvSpPr/>
          <p:nvPr/>
        </p:nvSpPr>
        <p:spPr>
          <a:xfrm>
            <a:off x="3458209" y="1327663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E56144B4-0EAA-EE6C-AE2F-1292437B1C87}"/>
              </a:ext>
            </a:extLst>
          </p:cNvPr>
          <p:cNvSpPr/>
          <p:nvPr/>
        </p:nvSpPr>
        <p:spPr>
          <a:xfrm rot="5400000" flipV="1">
            <a:off x="4687639" y="1214537"/>
            <a:ext cx="797522" cy="25575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B270BC-2F1D-E5AE-BDFE-5EEAEBC1F66D}"/>
              </a:ext>
            </a:extLst>
          </p:cNvPr>
          <p:cNvCxnSpPr/>
          <p:nvPr/>
        </p:nvCxnSpPr>
        <p:spPr>
          <a:xfrm>
            <a:off x="2605696" y="591266"/>
            <a:ext cx="7108945" cy="2564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28C415-1EB6-E44F-273A-4B1F5CEF75EB}"/>
              </a:ext>
            </a:extLst>
          </p:cNvPr>
          <p:cNvCxnSpPr/>
          <p:nvPr/>
        </p:nvCxnSpPr>
        <p:spPr>
          <a:xfrm flipV="1">
            <a:off x="2206935" y="969402"/>
            <a:ext cx="7397703" cy="1935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96666C-5EC1-08E8-F157-45B545E844B6}"/>
              </a:ext>
            </a:extLst>
          </p:cNvPr>
          <p:cNvCxnSpPr/>
          <p:nvPr/>
        </p:nvCxnSpPr>
        <p:spPr>
          <a:xfrm flipH="1" flipV="1">
            <a:off x="7129570" y="4070111"/>
            <a:ext cx="1491916" cy="2220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A8820C-F26C-9DF5-EE5E-4B44934E728D}"/>
              </a:ext>
            </a:extLst>
          </p:cNvPr>
          <p:cNvCxnSpPr/>
          <p:nvPr/>
        </p:nvCxnSpPr>
        <p:spPr>
          <a:xfrm flipH="1">
            <a:off x="7335826" y="4035735"/>
            <a:ext cx="1104724" cy="14094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68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45C10-E616-6CFE-F1BA-8F2AE9F9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94D9A04-6D1A-AFC2-762D-CAB7DF418203}"/>
              </a:ext>
            </a:extLst>
          </p:cNvPr>
          <p:cNvSpPr/>
          <p:nvPr/>
        </p:nvSpPr>
        <p:spPr>
          <a:xfrm>
            <a:off x="10140111" y="832620"/>
            <a:ext cx="132814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871ED-BA21-3513-1C23-BCA633C069C8}"/>
              </a:ext>
            </a:extLst>
          </p:cNvPr>
          <p:cNvSpPr/>
          <p:nvPr/>
        </p:nvSpPr>
        <p:spPr>
          <a:xfrm>
            <a:off x="9001172" y="1690752"/>
            <a:ext cx="1519823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 Quality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F795F2-D250-5C51-A093-1E2DB052C41D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8053912" y="1125720"/>
            <a:ext cx="0" cy="5650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BB53F4E-88F7-688B-FD3C-7C9F721857F3}"/>
              </a:ext>
            </a:extLst>
          </p:cNvPr>
          <p:cNvSpPr/>
          <p:nvPr/>
        </p:nvSpPr>
        <p:spPr>
          <a:xfrm>
            <a:off x="7294000" y="1690752"/>
            <a:ext cx="1519823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EDD982-54A5-CCC2-0F03-32C191D93875}"/>
              </a:ext>
            </a:extLst>
          </p:cNvPr>
          <p:cNvSpPr txBox="1"/>
          <p:nvPr/>
        </p:nvSpPr>
        <p:spPr>
          <a:xfrm>
            <a:off x="953463" y="2660766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F4E103-ABA7-E679-A028-8D2DD35E670A}"/>
              </a:ext>
            </a:extLst>
          </p:cNvPr>
          <p:cNvSpPr txBox="1"/>
          <p:nvPr/>
        </p:nvSpPr>
        <p:spPr>
          <a:xfrm>
            <a:off x="11066597" y="2749971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AC7D0C-7909-A600-568C-4B06DA033394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9761084" y="1152660"/>
            <a:ext cx="0" cy="53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109251F0-6AE5-C123-A491-F0A4601CF639}"/>
              </a:ext>
            </a:extLst>
          </p:cNvPr>
          <p:cNvSpPr/>
          <p:nvPr/>
        </p:nvSpPr>
        <p:spPr>
          <a:xfrm rot="5400000">
            <a:off x="6156129" y="-2788771"/>
            <a:ext cx="379343" cy="10876550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35B3A8-A521-D741-50D1-4AAB9E9C77B6}"/>
              </a:ext>
            </a:extLst>
          </p:cNvPr>
          <p:cNvSpPr txBox="1"/>
          <p:nvPr/>
        </p:nvSpPr>
        <p:spPr>
          <a:xfrm>
            <a:off x="5433487" y="2813350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42FB1B-E4BE-58BC-BC67-33EB268F822F}"/>
              </a:ext>
            </a:extLst>
          </p:cNvPr>
          <p:cNvSpPr/>
          <p:nvPr/>
        </p:nvSpPr>
        <p:spPr>
          <a:xfrm>
            <a:off x="6703064" y="832620"/>
            <a:ext cx="9144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590389B-268B-F0C9-168F-5123C2B6D1BE}"/>
              </a:ext>
            </a:extLst>
          </p:cNvPr>
          <p:cNvSpPr/>
          <p:nvPr/>
        </p:nvSpPr>
        <p:spPr>
          <a:xfrm>
            <a:off x="4486910" y="832620"/>
            <a:ext cx="151982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E3CF2F9-87DF-73D8-04FE-3756675796BD}"/>
              </a:ext>
            </a:extLst>
          </p:cNvPr>
          <p:cNvSpPr/>
          <p:nvPr/>
        </p:nvSpPr>
        <p:spPr>
          <a:xfrm>
            <a:off x="489393" y="832620"/>
            <a:ext cx="9144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CECEE2-2677-3F84-461A-A150D7A2A542}"/>
              </a:ext>
            </a:extLst>
          </p:cNvPr>
          <p:cNvCxnSpPr>
            <a:cxnSpLocks/>
          </p:cNvCxnSpPr>
          <p:nvPr/>
        </p:nvCxnSpPr>
        <p:spPr>
          <a:xfrm>
            <a:off x="1403793" y="1152660"/>
            <a:ext cx="3083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D10240E-D4C8-7F48-84E0-FD042CF771F2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2215988" y="1177630"/>
            <a:ext cx="0" cy="513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A68C0FE-6325-C4F3-A4B8-258EF471BD1F}"/>
              </a:ext>
            </a:extLst>
          </p:cNvPr>
          <p:cNvSpPr/>
          <p:nvPr/>
        </p:nvSpPr>
        <p:spPr>
          <a:xfrm>
            <a:off x="1587587" y="1690752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Length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EC9F0D-3FFF-543D-9A24-5A3CA46284C3}"/>
              </a:ext>
            </a:extLst>
          </p:cNvPr>
          <p:cNvCxnSpPr>
            <a:cxnSpLocks/>
          </p:cNvCxnSpPr>
          <p:nvPr/>
        </p:nvCxnSpPr>
        <p:spPr>
          <a:xfrm>
            <a:off x="7617464" y="1152660"/>
            <a:ext cx="2522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6E63212-CFB6-1FC6-23AE-8BB545A5157B}"/>
              </a:ext>
            </a:extLst>
          </p:cNvPr>
          <p:cNvSpPr/>
          <p:nvPr/>
        </p:nvSpPr>
        <p:spPr>
          <a:xfrm>
            <a:off x="3042761" y="1690752"/>
            <a:ext cx="125680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86DD902-7D80-624C-11E8-7805366EA578}"/>
              </a:ext>
            </a:extLst>
          </p:cNvPr>
          <p:cNvCxnSpPr>
            <a:cxnSpLocks/>
          </p:cNvCxnSpPr>
          <p:nvPr/>
        </p:nvCxnSpPr>
        <p:spPr>
          <a:xfrm flipV="1">
            <a:off x="3671161" y="1196652"/>
            <a:ext cx="0" cy="4625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3" name="Picture 162">
            <a:extLst>
              <a:ext uri="{FF2B5EF4-FFF2-40B4-BE49-F238E27FC236}">
                <a16:creationId xmlns:a16="http://schemas.microsoft.com/office/drawing/2014/main" id="{44C964FC-3F8A-3CB1-34C2-9D4C0A36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707" y="3524537"/>
            <a:ext cx="3452115" cy="2386423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99C0EC39-27E2-9AB3-3C9A-1F3250536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991" y="3524537"/>
            <a:ext cx="3452115" cy="2389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AD8620-75DD-17C4-D58E-5F7F917F0BD3}"/>
              </a:ext>
            </a:extLst>
          </p:cNvPr>
          <p:cNvSpPr txBox="1"/>
          <p:nvPr/>
        </p:nvSpPr>
        <p:spPr>
          <a:xfrm>
            <a:off x="203457" y="128587"/>
            <a:ext cx="2546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260608</a:t>
            </a:r>
            <a:r>
              <a:rPr lang="zh-CN" altLang="en-US" dirty="0"/>
              <a:t> </a:t>
            </a:r>
            <a:r>
              <a:rPr lang="en-US" altLang="zh-CN" dirty="0"/>
              <a:t>meeting</a:t>
            </a:r>
            <a:r>
              <a:rPr lang="zh-CN" altLang="en-US" dirty="0"/>
              <a:t> </a:t>
            </a:r>
            <a:r>
              <a:rPr lang="en-US" altLang="zh-CN" dirty="0"/>
              <a:t>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6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ADDE-01D3-55B3-4F60-8D005E0A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790F090-DDC3-0977-91C1-6A6EE6B1A840}"/>
              </a:ext>
            </a:extLst>
          </p:cNvPr>
          <p:cNvSpPr/>
          <p:nvPr/>
        </p:nvSpPr>
        <p:spPr>
          <a:xfrm>
            <a:off x="8824191" y="529481"/>
            <a:ext cx="132814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</a:t>
            </a:r>
            <a:r>
              <a:rPr lang="en-US" altLang="zh-CN" dirty="0"/>
              <a:t>Quality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4A1CD26-2DEE-BC1F-D75A-CC122F81143A}"/>
              </a:ext>
            </a:extLst>
          </p:cNvPr>
          <p:cNvSpPr/>
          <p:nvPr/>
        </p:nvSpPr>
        <p:spPr>
          <a:xfrm>
            <a:off x="6107928" y="1351477"/>
            <a:ext cx="151982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D5CF757-529F-BA77-E780-679DD654A199}"/>
              </a:ext>
            </a:extLst>
          </p:cNvPr>
          <p:cNvSpPr/>
          <p:nvPr/>
        </p:nvSpPr>
        <p:spPr>
          <a:xfrm>
            <a:off x="1696665" y="736444"/>
            <a:ext cx="1328146" cy="1084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 Answer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68A2F6-53C9-99B2-32A2-E8E3EC242EB1}"/>
              </a:ext>
            </a:extLst>
          </p:cNvPr>
          <p:cNvCxnSpPr>
            <a:cxnSpLocks/>
          </p:cNvCxnSpPr>
          <p:nvPr/>
        </p:nvCxnSpPr>
        <p:spPr>
          <a:xfrm>
            <a:off x="3024811" y="1654684"/>
            <a:ext cx="3083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79AF60B-C809-60C9-72B9-86056419965B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3837005" y="1671517"/>
            <a:ext cx="1" cy="2224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5E67CC5-85D9-6B0D-90A9-4D74DE89AD27}"/>
              </a:ext>
            </a:extLst>
          </p:cNvPr>
          <p:cNvSpPr/>
          <p:nvPr/>
        </p:nvSpPr>
        <p:spPr>
          <a:xfrm>
            <a:off x="3208605" y="3896071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Length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64C6B9A-74F0-6385-C049-FB25A3314754}"/>
              </a:ext>
            </a:extLst>
          </p:cNvPr>
          <p:cNvSpPr/>
          <p:nvPr/>
        </p:nvSpPr>
        <p:spPr>
          <a:xfrm>
            <a:off x="6919880" y="3912903"/>
            <a:ext cx="125680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BC4B4C8-DC1D-7A65-9790-7E54940B6088}"/>
              </a:ext>
            </a:extLst>
          </p:cNvPr>
          <p:cNvCxnSpPr>
            <a:cxnSpLocks/>
          </p:cNvCxnSpPr>
          <p:nvPr/>
        </p:nvCxnSpPr>
        <p:spPr>
          <a:xfrm flipV="1">
            <a:off x="7961401" y="871787"/>
            <a:ext cx="0" cy="3024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069DC3-AEF2-8E1C-CBF2-8738C44B12DF}"/>
              </a:ext>
            </a:extLst>
          </p:cNvPr>
          <p:cNvCxnSpPr>
            <a:cxnSpLocks/>
          </p:cNvCxnSpPr>
          <p:nvPr/>
        </p:nvCxnSpPr>
        <p:spPr>
          <a:xfrm flipV="1">
            <a:off x="3024811" y="849521"/>
            <a:ext cx="5799380" cy="22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DD3EF6-22F5-2923-695A-B7F1C361598F}"/>
              </a:ext>
            </a:extLst>
          </p:cNvPr>
          <p:cNvCxnSpPr>
            <a:cxnSpLocks/>
          </p:cNvCxnSpPr>
          <p:nvPr/>
        </p:nvCxnSpPr>
        <p:spPr>
          <a:xfrm flipV="1">
            <a:off x="4052046" y="871787"/>
            <a:ext cx="927847" cy="30242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470DC5-55E1-F7B1-03A5-8E4FBCE79CB2}"/>
              </a:ext>
            </a:extLst>
          </p:cNvPr>
          <p:cNvCxnSpPr>
            <a:cxnSpLocks/>
          </p:cNvCxnSpPr>
          <p:nvPr/>
        </p:nvCxnSpPr>
        <p:spPr>
          <a:xfrm flipH="1" flipV="1">
            <a:off x="5782234" y="1671517"/>
            <a:ext cx="1352929" cy="22245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Brace 42">
            <a:extLst>
              <a:ext uri="{FF2B5EF4-FFF2-40B4-BE49-F238E27FC236}">
                <a16:creationId xmlns:a16="http://schemas.microsoft.com/office/drawing/2014/main" id="{50D5DFC5-DB54-F971-72C6-29B1AE345D30}"/>
              </a:ext>
            </a:extLst>
          </p:cNvPr>
          <p:cNvSpPr/>
          <p:nvPr/>
        </p:nvSpPr>
        <p:spPr>
          <a:xfrm rot="5400000">
            <a:off x="4513202" y="2194659"/>
            <a:ext cx="298012" cy="5931087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DCC7D4C7-BDDD-38EB-7F23-471748ADF44E}"/>
              </a:ext>
            </a:extLst>
          </p:cNvPr>
          <p:cNvSpPr/>
          <p:nvPr/>
        </p:nvSpPr>
        <p:spPr>
          <a:xfrm rot="5400000">
            <a:off x="5775495" y="1618638"/>
            <a:ext cx="298012" cy="845567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C20F91-5ED0-CDE7-147C-F7A359CDCA22}"/>
              </a:ext>
            </a:extLst>
          </p:cNvPr>
          <p:cNvSpPr txBox="1"/>
          <p:nvPr/>
        </p:nvSpPr>
        <p:spPr>
          <a:xfrm>
            <a:off x="3785974" y="5303606"/>
            <a:ext cx="175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Fast</a:t>
            </a:r>
            <a:r>
              <a:rPr lang="en-US" dirty="0"/>
              <a:t> Processing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BD0860-0D2E-99FE-3CE3-3C016AC245E8}"/>
              </a:ext>
            </a:extLst>
          </p:cNvPr>
          <p:cNvSpPr txBox="1"/>
          <p:nvPr/>
        </p:nvSpPr>
        <p:spPr>
          <a:xfrm>
            <a:off x="5022459" y="6008479"/>
            <a:ext cx="180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Slow</a:t>
            </a:r>
            <a:r>
              <a:rPr lang="en-US" dirty="0"/>
              <a:t> Processing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EB40E1-7EB9-EC40-9087-8CD8E74ABEB7}"/>
              </a:ext>
            </a:extLst>
          </p:cNvPr>
          <p:cNvSpPr txBox="1"/>
          <p:nvPr/>
        </p:nvSpPr>
        <p:spPr>
          <a:xfrm>
            <a:off x="203457" y="128587"/>
            <a:ext cx="370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260608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meeting</a:t>
            </a:r>
            <a:r>
              <a:rPr lang="zh-CN" altLang="en-US" dirty="0"/>
              <a:t> </a:t>
            </a:r>
            <a:r>
              <a:rPr lang="en-US" altLang="zh-CN" dirty="0"/>
              <a:t>Ben’s</a:t>
            </a:r>
            <a:r>
              <a:rPr lang="zh-CN" altLang="en-US" dirty="0"/>
              <a:t> </a:t>
            </a:r>
            <a:r>
              <a:rPr lang="en-US" altLang="zh-CN" dirty="0"/>
              <a:t>revision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92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3BA987-C755-D03B-1C5C-F12FE4F8A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443815"/>
              </p:ext>
            </p:extLst>
          </p:nvPr>
        </p:nvGraphicFramePr>
        <p:xfrm>
          <a:off x="499703" y="699433"/>
          <a:ext cx="11471564" cy="5383575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360593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212984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Which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Theory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to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Use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for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A</a:t>
                      </a:r>
                      <a:r>
                        <a:rPr lang="en-US" altLang="zh-CN" sz="1600">
                          <a:effectLst/>
                        </a:rPr>
                        <a:t>rguments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SE suggestion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sz="1600" b="1" dirty="0">
                          <a:effectLst/>
                        </a:rPr>
                        <a:t>reduces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Public goods theory; crowding-out effect; perceived marginal value reduction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stage; participation decision precedes content influence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perceived comprehensiveness heuristic; source credibility cues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negatively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Perceived completeness constrains imagined solution space; anchoring narrows divergent thinking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Source credibility theory; discouragement from high-quality AI output; perceived expertise gap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Knowledge complementarity; cognitive stimulation; elaborative processing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99DC2D-2B71-F8A9-CBE6-66D1EBF4D991}"/>
              </a:ext>
            </a:extLst>
          </p:cNvPr>
          <p:cNvSpPr txBox="1"/>
          <p:nvPr/>
        </p:nvSpPr>
        <p:spPr>
          <a:xfrm>
            <a:off x="203457" y="128587"/>
            <a:ext cx="11600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Theoretical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incorporate</a:t>
            </a:r>
            <a:r>
              <a:rPr lang="zh-CN" altLang="en-US" dirty="0"/>
              <a:t> </a:t>
            </a:r>
            <a:r>
              <a:rPr lang="en-US" altLang="zh-CN" dirty="0"/>
              <a:t>Thatcher’s</a:t>
            </a:r>
            <a:r>
              <a:rPr lang="zh-CN" altLang="en-US" dirty="0"/>
              <a:t> </a:t>
            </a:r>
            <a:r>
              <a:rPr lang="en-US" altLang="zh-CN" dirty="0"/>
              <a:t>suggestions,</a:t>
            </a:r>
            <a:r>
              <a:rPr lang="zh-CN" altLang="en-US" dirty="0"/>
              <a:t> </a:t>
            </a:r>
            <a:r>
              <a:rPr lang="en-US" altLang="zh-CN" dirty="0"/>
              <a:t>posit</a:t>
            </a:r>
            <a:r>
              <a:rPr lang="zh-CN" altLang="en-US" dirty="0"/>
              <a:t> </a:t>
            </a:r>
            <a:r>
              <a:rPr lang="en-US" altLang="zh-CN" dirty="0"/>
              <a:t>hypotheses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theories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33BD-EE76-8A93-9C67-4307C462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8C07ED-647B-21EC-30A6-486FE37A6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248956"/>
              </p:ext>
            </p:extLst>
          </p:nvPr>
        </p:nvGraphicFramePr>
        <p:xfrm>
          <a:off x="499703" y="561204"/>
          <a:ext cx="11471564" cy="5856151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417378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156199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Which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Theory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to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Use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for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Arguments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SE suggestion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altLang="zh-CN" sz="1600" b="1" dirty="0">
                          <a:effectLst/>
                        </a:rPr>
                        <a:t>increases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Competitive arousal; identity-based motivation; perceived AI inadequacy for contextual knowledge; question salience signal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stage; competitive arousal affects entry decision but not cognitive resources applied to the answer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attenuated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length as comprehensiveness heuristic; stage-specific authority construction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 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en-US" sz="1600" b="1" dirty="0">
                          <a:effectLst/>
                        </a:rPr>
                        <a:t>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Peripheral cues do not reach content-level processing; no substantive cognitive influence on answer composition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zh-CN" altLang="en-US" sz="1600" b="1" dirty="0">
                          <a:effectLst/>
                        </a:rPr>
                        <a:t> </a:t>
                      </a:r>
                      <a:r>
                        <a:rPr lang="en-US" altLang="zh-CN" sz="1600" b="1" dirty="0">
                          <a:effectLst/>
                        </a:rPr>
                        <a:t>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Commitment to contribute already formed at Stages 1–2; offsetting discouragement and challenge effects cancel out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Baseline liberation; constructive divergence; associative activation; strategic differentiation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43B052-136F-46C1-6A3A-278ABA9D417E}"/>
              </a:ext>
            </a:extLst>
          </p:cNvPr>
          <p:cNvSpPr txBox="1"/>
          <p:nvPr/>
        </p:nvSpPr>
        <p:spPr>
          <a:xfrm>
            <a:off x="203457" y="128587"/>
            <a:ext cx="11155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Theoretical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incorporate</a:t>
            </a:r>
            <a:r>
              <a:rPr lang="zh-CN" altLang="en-US" dirty="0"/>
              <a:t> </a:t>
            </a:r>
            <a:r>
              <a:rPr lang="en-US" altLang="zh-CN" dirty="0"/>
              <a:t>Thatcher’s</a:t>
            </a:r>
            <a:r>
              <a:rPr lang="zh-CN" altLang="en-US" dirty="0"/>
              <a:t> </a:t>
            </a:r>
            <a:r>
              <a:rPr lang="en-US" altLang="zh-CN" dirty="0"/>
              <a:t>suggestions,</a:t>
            </a:r>
            <a:r>
              <a:rPr lang="zh-CN" altLang="en-US" dirty="0"/>
              <a:t> </a:t>
            </a:r>
            <a:r>
              <a:rPr lang="en-US" altLang="zh-CN" dirty="0"/>
              <a:t>posit</a:t>
            </a:r>
            <a:r>
              <a:rPr lang="zh-CN" altLang="en-US" dirty="0"/>
              <a:t> </a:t>
            </a:r>
            <a:r>
              <a:rPr lang="en-US" altLang="zh-CN" dirty="0"/>
              <a:t>hypotheses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08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7762</TotalTime>
  <Words>576</Words>
  <Application>Microsoft Macintosh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Theory: Competition  AI is a Weaker Competitor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Dylan CHEN</cp:lastModifiedBy>
  <cp:revision>77</cp:revision>
  <dcterms:created xsi:type="dcterms:W3CDTF">2026-03-16T05:50:08Z</dcterms:created>
  <dcterms:modified xsi:type="dcterms:W3CDTF">2026-06-09T06:29:32Z</dcterms:modified>
</cp:coreProperties>
</file>