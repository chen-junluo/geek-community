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15"/>
  </p:notesMasterIdLst>
  <p:sldIdLst>
    <p:sldId id="260" r:id="rId2"/>
    <p:sldId id="311" r:id="rId3"/>
    <p:sldId id="322" r:id="rId4"/>
    <p:sldId id="324" r:id="rId5"/>
    <p:sldId id="326" r:id="rId6"/>
    <p:sldId id="327" r:id="rId7"/>
    <p:sldId id="325" r:id="rId8"/>
    <p:sldId id="328" r:id="rId9"/>
    <p:sldId id="331" r:id="rId10"/>
    <p:sldId id="321" r:id="rId11"/>
    <p:sldId id="329" r:id="rId12"/>
    <p:sldId id="330" r:id="rId13"/>
    <p:sldId id="332" r:id="rId14"/>
  </p:sldIdLst>
  <p:sldSz cx="14630400" cy="6858000"/>
  <p:notesSz cx="6858000" cy="9144000"/>
  <p:embeddedFontLst>
    <p:embeddedFont>
      <p:font typeface="等线" panose="02010600030101010101" pitchFamily="2" charset="-122"/>
      <p:regular r:id="rId16"/>
      <p:bold r:id="rId17"/>
    </p:embeddedFont>
    <p:embeddedFont>
      <p:font typeface="微软雅黑" panose="020B0503020204020204" pitchFamily="34" charset="-122"/>
      <p:regular r:id="rId18"/>
      <p:bold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Lato Black" panose="020F0502020204030203" pitchFamily="34" charset="0"/>
      <p:bold r:id="rId24"/>
      <p:italic r:id="rId25"/>
      <p:boldItalic r:id="rId26"/>
    </p:embeddedFont>
    <p:embeddedFont>
      <p:font typeface="Lato Light" panose="020F0502020204030203" pitchFamily="34" charset="0"/>
      <p:regular r:id="rId27"/>
      <p: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11"/>
            <p14:sldId id="322"/>
            <p14:sldId id="324"/>
            <p14:sldId id="326"/>
            <p14:sldId id="327"/>
            <p14:sldId id="325"/>
            <p14:sldId id="328"/>
            <p14:sldId id="331"/>
            <p14:sldId id="321"/>
            <p14:sldId id="329"/>
            <p14:sldId id="330"/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E6201-549C-3341-B46E-126B5BECB262}" v="102" dt="2026-04-27T08:20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55" autoAdjust="0"/>
    <p:restoredTop sz="96061" autoAdjust="0"/>
  </p:normalViewPr>
  <p:slideViewPr>
    <p:cSldViewPr snapToGrid="0" showGuides="1">
      <p:cViewPr varScale="1">
        <p:scale>
          <a:sx n="132" d="100"/>
          <a:sy n="132" d="100"/>
        </p:scale>
        <p:origin x="896" y="176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889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8921-1D34-3A56-4A1F-0B1A1460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6EC9A-ECAA-9C76-0926-F31AAF6B1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3D0C9-AD3B-BBB4-6204-0D54D507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911D5-817E-CAF7-A273-7675C3272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7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6F517-D717-1081-BC29-256817C8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4E701-0240-9194-A208-5ECDD5B6C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54A77-8842-AD0B-C88D-1104FA977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BBDB8-D92F-060B-A3C0-40D390809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77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0849-808F-F303-739E-4FB7F66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5E96-4181-4ED7-B70C-79EF8107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1C80-B09D-2F98-2CB9-FA6563C4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183-318F-982E-04BE-E75F0774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24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940B-604F-6C22-79E6-E4C8E974B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A522D-B3A4-D6DA-A56A-0BACE04B6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F3620-1B07-3D7C-8DC2-FBE257286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EAE69-269D-96C4-33A3-043BE381A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368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3DAC-7E54-AA65-E1A3-1D5CAF77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E3081-487F-C5AE-2E02-90EF50B19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BDA87-D708-6484-9E54-24353A51E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EABCE-702B-FD73-EB63-480803CE9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815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9ECA-7464-D134-23B2-F1D01C61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414ED-0AC9-7CD5-F071-6C53D4E90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842C8-681C-E9B1-7609-D1340CA6C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27F3-C9D4-4CE1-33BB-853A6FDF4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74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4D1-5D3E-8C30-E497-4899D002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8D3BE-95B6-39B8-2B4C-ABC592B0E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FE23-92CF-256C-7CA3-EB1590EBB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C9878-7D4C-8457-FD88-F411B4CA0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90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353C-3E95-DB2D-850A-D808E1E4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B557-FFA4-B5C4-FB49-F75FDBF49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6D649-44B7-360F-CAFC-A9A0F6323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B1544-80B8-8A80-4CEC-72C7093D9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940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084E-0204-4610-12AD-9AB9B7EA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D4669-A6F9-C791-A306-4D5D93FB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CCDC9-7CA8-01C0-2067-021312862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8F67D-079F-B744-3D42-CEB836AEE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0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260427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1FA8-D3B3-B513-0EBF-0A769513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BAC9E3-1623-B0B6-3F8B-F927D1269D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F4F52E-6DE7-774C-B98A-E52C0FF6084A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/>
              <a:t>competition</a:t>
            </a:r>
            <a:r>
              <a:rPr lang="zh-CN" altLang="en-US" sz="1500" dirty="0"/>
              <a:t> </a:t>
            </a:r>
            <a:r>
              <a:rPr lang="en-US" altLang="zh-CN" sz="1500" dirty="0"/>
              <a:t>logic</a:t>
            </a:r>
            <a:r>
              <a:rPr lang="zh-CN" altLang="en-US" sz="1500" dirty="0"/>
              <a:t> </a:t>
            </a:r>
            <a:r>
              <a:rPr lang="en-US" altLang="zh-CN" sz="1500" dirty="0"/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 err="1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answerNum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(Done)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timeliness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(New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  <a:cs typeface="+mn-cs"/>
              </a:rPr>
              <a:t>results)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innovation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(New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results)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73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5491-7B52-55BB-89F5-D611CADA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331037-5933-1A79-9662-91675D6949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timeliness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B6338A-58E9-10AB-7C79-8B86024BA5BB}"/>
              </a:ext>
            </a:extLst>
          </p:cNvPr>
          <p:cNvSpPr/>
          <p:nvPr/>
        </p:nvSpPr>
        <p:spPr>
          <a:xfrm>
            <a:off x="6826174" y="8101438"/>
            <a:ext cx="4158100" cy="7610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8C1430-89DA-DA07-7FE2-F5AE1860E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37724"/>
              </p:ext>
            </p:extLst>
          </p:nvPr>
        </p:nvGraphicFramePr>
        <p:xfrm>
          <a:off x="6826174" y="1836996"/>
          <a:ext cx="6963970" cy="4537324"/>
        </p:xfrm>
        <a:graphic>
          <a:graphicData uri="http://schemas.openxmlformats.org/drawingml/2006/table">
            <a:tbl>
              <a:tblPr/>
              <a:tblGrid>
                <a:gridCol w="1769262">
                  <a:extLst>
                    <a:ext uri="{9D8B030D-6E8A-4147-A177-3AD203B41FA5}">
                      <a16:colId xmlns:a16="http://schemas.microsoft.com/office/drawing/2014/main" val="3298996732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2263682570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1802064802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812876016"/>
                    </a:ext>
                  </a:extLst>
                </a:gridCol>
                <a:gridCol w="1298677">
                  <a:extLst>
                    <a:ext uri="{9D8B030D-6E8A-4147-A177-3AD203B41FA5}">
                      <a16:colId xmlns:a16="http://schemas.microsoft.com/office/drawing/2014/main" val="2913410456"/>
                    </a:ext>
                  </a:extLst>
                </a:gridCol>
              </a:tblGrid>
              <a:tr h="21696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Variable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OLS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Cox PH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42907"/>
                  </a:ext>
                </a:extLst>
              </a:tr>
              <a:tr h="221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No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With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No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With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06733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(AI)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-0.046***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0.090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-0.163***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0.374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67162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(0.011)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(0.082)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(0.039)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(0.301)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47851"/>
                  </a:ext>
                </a:extLst>
              </a:tr>
              <a:tr h="297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log_textLengthCN1Ans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-0.014*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-0.144***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976547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(0.006)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(0.022)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12112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quality1Ans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0.003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0.027*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3665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(0.003)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(0.013)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29864"/>
                  </a:ext>
                </a:extLst>
              </a:tr>
              <a:tr h="2183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× log_textLengthCN1Ans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-0.040**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-0.128*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67353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(0.015)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(0.056)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81229"/>
                  </a:ext>
                </a:extLst>
              </a:tr>
              <a:tr h="297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× quality1Ans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0.001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-0.004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61819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(0.005)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(0.022)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190111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3,613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3,216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3,613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3,216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352481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5165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Controls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6448"/>
                  </a:ext>
                </a:extLst>
              </a:tr>
              <a:tr h="297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F-stat (proj. model)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10.572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13.417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41207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AIC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40,881.02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39,212.19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46358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Log-Likelihood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508500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PH-test p-value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0.000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0.000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912709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C25308-3334-9C2D-9B35-C96CF61C6CE8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1508741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en-US" altLang="zh-CN" dirty="0"/>
              <a:t>——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deter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  <a:r>
              <a:rPr lang="zh-CN" altLang="en-US" dirty="0"/>
              <a:t>，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completeness</a:t>
            </a:r>
            <a:r>
              <a:rPr lang="zh-CN" altLang="en-US" dirty="0"/>
              <a:t>越大，</a:t>
            </a:r>
            <a:r>
              <a:rPr lang="en-US" altLang="zh-CN" dirty="0"/>
              <a:t>deter</a:t>
            </a:r>
            <a:r>
              <a:rPr lang="zh-CN" altLang="en-US" dirty="0"/>
              <a:t>得越多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timeliness</a:t>
            </a:r>
          </a:p>
          <a:p>
            <a:pPr lvl="1"/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3-4</a:t>
            </a:r>
            <a:r>
              <a:rPr lang="zh-CN" altLang="en-US" dirty="0"/>
              <a:t>是</a:t>
            </a:r>
            <a:r>
              <a:rPr lang="en-US" altLang="zh-CN" dirty="0"/>
              <a:t>Cox</a:t>
            </a:r>
            <a:r>
              <a:rPr lang="zh-CN" altLang="en-US" dirty="0"/>
              <a:t>模型，估计的是</a:t>
            </a:r>
            <a:r>
              <a:rPr lang="zh-TW" altLang="en-US" dirty="0"/>
              <a:t>风险率（</a:t>
            </a:r>
            <a:r>
              <a:rPr lang="en-US" altLang="en-US" dirty="0"/>
              <a:t>hazard）。</a:t>
            </a:r>
          </a:p>
          <a:p>
            <a:pPr lvl="1"/>
            <a:r>
              <a:rPr lang="zh-TW" altLang="en-US" dirty="0"/>
              <a:t>正系数意味着风险更高，即事件（人类回答）发生得更快。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zh-TW" altLang="en-US" dirty="0"/>
              <a:t>一句话总结</a:t>
            </a:r>
            <a:r>
              <a:rPr lang="en-US" altLang="zh-CN" dirty="0"/>
              <a:t>——AI</a:t>
            </a:r>
            <a:r>
              <a:rPr lang="zh-CN" altLang="en-US" dirty="0"/>
              <a:t>让</a:t>
            </a:r>
            <a:r>
              <a:rPr lang="en-US" altLang="zh-CN" dirty="0"/>
              <a:t>human</a:t>
            </a:r>
            <a:r>
              <a:rPr lang="zh-CN" altLang="en-US" dirty="0"/>
              <a:t>回答得更慢了。</a:t>
            </a:r>
            <a:endParaRPr lang="zh-TW" alt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C1A51-BDBC-AF33-6349-1CC7A3D0C4F6}"/>
              </a:ext>
            </a:extLst>
          </p:cNvPr>
          <p:cNvSpPr txBox="1"/>
          <p:nvPr/>
        </p:nvSpPr>
        <p:spPr>
          <a:xfrm>
            <a:off x="9286775" y="6363454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qualityAI_fillna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DBD899-E2E9-2BD4-7D13-0E7431DF99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17" y="4629394"/>
            <a:ext cx="5755140" cy="17449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157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8FE4-8187-D578-4A17-4E670FBF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45B71F-2F69-2D30-0ED3-E8755459B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 err="1"/>
              <a:t>answerNum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timeliness</a:t>
            </a:r>
            <a:r>
              <a:rPr lang="zh-CN" altLang="en-US" dirty="0"/>
              <a:t> </a:t>
            </a:r>
            <a:r>
              <a:rPr lang="en-US" altLang="zh-CN" dirty="0"/>
              <a:t>(Robustness)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91B8A-2827-887F-F02D-46CB910F5513}"/>
              </a:ext>
            </a:extLst>
          </p:cNvPr>
          <p:cNvSpPr/>
          <p:nvPr/>
        </p:nvSpPr>
        <p:spPr>
          <a:xfrm>
            <a:off x="6826174" y="8101438"/>
            <a:ext cx="4158100" cy="7610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95CF1-D387-7F7B-0DCF-EF21354FC1AC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timeliness</a:t>
            </a:r>
          </a:p>
          <a:p>
            <a:pPr lvl="1"/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1-2</a:t>
            </a:r>
            <a:r>
              <a:rPr lang="zh-CN" altLang="en-US" dirty="0"/>
              <a:t>是</a:t>
            </a:r>
            <a:r>
              <a:rPr lang="en-US" altLang="zh-CN" dirty="0"/>
              <a:t>Cox</a:t>
            </a:r>
            <a:r>
              <a:rPr lang="zh-CN" altLang="en-US" dirty="0"/>
              <a:t>模型，估计的是</a:t>
            </a:r>
            <a:r>
              <a:rPr lang="zh-TW" altLang="en-US" dirty="0"/>
              <a:t>风险率（</a:t>
            </a:r>
            <a:r>
              <a:rPr lang="en-US" altLang="en-US" dirty="0"/>
              <a:t>hazard）。</a:t>
            </a:r>
          </a:p>
          <a:p>
            <a:pPr lvl="2"/>
            <a:r>
              <a:rPr lang="zh-TW" altLang="en-US" dirty="0"/>
              <a:t>正系数意味着风险更高，即事件（人类回答）发生得更快。</a:t>
            </a:r>
          </a:p>
          <a:p>
            <a:pPr lvl="1"/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3-4</a:t>
            </a:r>
            <a:r>
              <a:rPr lang="zh-CN" altLang="en-US" dirty="0"/>
              <a:t>是</a:t>
            </a:r>
            <a:r>
              <a:rPr lang="en-US" altLang="zh-CN" dirty="0"/>
              <a:t>AFT</a:t>
            </a:r>
            <a:r>
              <a:rPr lang="zh-CN" altLang="en-US" dirty="0"/>
              <a:t>模型，</a:t>
            </a:r>
            <a:r>
              <a:rPr lang="zh-TW" altLang="en-US" dirty="0"/>
              <a:t>估计的是生存时间（</a:t>
            </a:r>
            <a:r>
              <a:rPr lang="en-US" altLang="en-US" dirty="0"/>
              <a:t>survival time）。</a:t>
            </a:r>
          </a:p>
          <a:p>
            <a:pPr lvl="2"/>
            <a:r>
              <a:rPr lang="zh-TW" altLang="en-US" dirty="0"/>
              <a:t>正系数意味着时间被</a:t>
            </a:r>
            <a:r>
              <a:rPr lang="en-US" altLang="zh-TW" dirty="0"/>
              <a:t>"</a:t>
            </a:r>
            <a:r>
              <a:rPr lang="zh-TW" altLang="en-US" dirty="0"/>
              <a:t>拉长</a:t>
            </a:r>
            <a:r>
              <a:rPr lang="en-US" altLang="zh-TW" dirty="0"/>
              <a:t>"</a:t>
            </a:r>
            <a:r>
              <a:rPr lang="zh-TW" altLang="en-US" dirty="0"/>
              <a:t>，即事件发生得更慢。</a:t>
            </a:r>
            <a:endParaRPr lang="en-US" altLang="zh-TW" dirty="0"/>
          </a:p>
          <a:p>
            <a:pPr lvl="2"/>
            <a:r>
              <a:rPr lang="zh-TW" altLang="en-US" dirty="0"/>
              <a:t>为什么要做</a:t>
            </a:r>
            <a:r>
              <a:rPr lang="en-US" altLang="zh-CN" dirty="0"/>
              <a:t>AFT</a:t>
            </a:r>
            <a:r>
              <a:rPr lang="zh-CN" altLang="en-US" dirty="0"/>
              <a:t>模型？</a:t>
            </a:r>
            <a:r>
              <a:rPr lang="en-US" altLang="zh-CN" dirty="0"/>
              <a:t>PH-test</a:t>
            </a:r>
            <a:r>
              <a:rPr lang="zh-CN" altLang="en-US" dirty="0"/>
              <a:t>不通过，意味着</a:t>
            </a:r>
            <a:r>
              <a:rPr lang="zh-TW" altLang="en-US" dirty="0"/>
              <a:t>比例风险假设不成立</a:t>
            </a:r>
            <a:r>
              <a:rPr lang="zh-CN" altLang="en-US" dirty="0"/>
              <a:t>，这意味着</a:t>
            </a:r>
            <a:r>
              <a:rPr lang="zh-TW" altLang="en-US" dirty="0"/>
              <a:t>不同组之间的风险比（</a:t>
            </a:r>
            <a:r>
              <a:rPr lang="en-US" altLang="en-US" dirty="0"/>
              <a:t>hazard ratio）</a:t>
            </a:r>
            <a:r>
              <a:rPr lang="zh-TW" altLang="en-US" dirty="0"/>
              <a:t>在整个时间段内</a:t>
            </a:r>
            <a:r>
              <a:rPr lang="zh-TW" altLang="en-US" b="1" dirty="0"/>
              <a:t>不</a:t>
            </a:r>
            <a:r>
              <a:rPr lang="zh-TW" altLang="en-US" dirty="0"/>
              <a:t>保持恒定</a:t>
            </a:r>
            <a:endParaRPr lang="en-US" altLang="zh-CN" dirty="0"/>
          </a:p>
          <a:p>
            <a:pPr lvl="2"/>
            <a:endParaRPr lang="en-US" altLang="zh-TW" dirty="0"/>
          </a:p>
          <a:p>
            <a:r>
              <a:rPr lang="zh-TW" altLang="en-US" dirty="0"/>
              <a:t>一句话总结</a:t>
            </a:r>
            <a:r>
              <a:rPr lang="en-US" altLang="zh-CN" dirty="0"/>
              <a:t>——AI</a:t>
            </a:r>
            <a:r>
              <a:rPr lang="zh-CN" altLang="en-US" dirty="0"/>
              <a:t>让</a:t>
            </a:r>
            <a:r>
              <a:rPr lang="en-US" altLang="zh-CN" dirty="0"/>
              <a:t>human</a:t>
            </a:r>
            <a:r>
              <a:rPr lang="zh-CN" altLang="en-US" dirty="0"/>
              <a:t>回答得更慢了。</a:t>
            </a:r>
            <a:endParaRPr lang="zh-TW" alt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04ED7D-6552-1710-6F95-3F855A019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43519"/>
              </p:ext>
            </p:extLst>
          </p:nvPr>
        </p:nvGraphicFramePr>
        <p:xfrm>
          <a:off x="6882830" y="1817467"/>
          <a:ext cx="7366570" cy="4644280"/>
        </p:xfrm>
        <a:graphic>
          <a:graphicData uri="http://schemas.openxmlformats.org/drawingml/2006/table">
            <a:tbl>
              <a:tblPr/>
              <a:tblGrid>
                <a:gridCol w="2067837">
                  <a:extLst>
                    <a:ext uri="{9D8B030D-6E8A-4147-A177-3AD203B41FA5}">
                      <a16:colId xmlns:a16="http://schemas.microsoft.com/office/drawing/2014/main" val="3298996732"/>
                    </a:ext>
                  </a:extLst>
                </a:gridCol>
                <a:gridCol w="1263605">
                  <a:extLst>
                    <a:ext uri="{9D8B030D-6E8A-4147-A177-3AD203B41FA5}">
                      <a16:colId xmlns:a16="http://schemas.microsoft.com/office/drawing/2014/main" val="812876016"/>
                    </a:ext>
                  </a:extLst>
                </a:gridCol>
                <a:gridCol w="1263605">
                  <a:extLst>
                    <a:ext uri="{9D8B030D-6E8A-4147-A177-3AD203B41FA5}">
                      <a16:colId xmlns:a16="http://schemas.microsoft.com/office/drawing/2014/main" val="2913410456"/>
                    </a:ext>
                  </a:extLst>
                </a:gridCol>
                <a:gridCol w="1263605">
                  <a:extLst>
                    <a:ext uri="{9D8B030D-6E8A-4147-A177-3AD203B41FA5}">
                      <a16:colId xmlns:a16="http://schemas.microsoft.com/office/drawing/2014/main" val="54088070"/>
                    </a:ext>
                  </a:extLst>
                </a:gridCol>
                <a:gridCol w="1507918">
                  <a:extLst>
                    <a:ext uri="{9D8B030D-6E8A-4147-A177-3AD203B41FA5}">
                      <a16:colId xmlns:a16="http://schemas.microsoft.com/office/drawing/2014/main" val="347436037"/>
                    </a:ext>
                  </a:extLst>
                </a:gridCol>
              </a:tblGrid>
              <a:tr h="21696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Variable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Cox PH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AFT (Weibull)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42907"/>
                  </a:ext>
                </a:extLst>
              </a:tr>
              <a:tr h="2218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No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With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No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With Int.</a:t>
                      </a:r>
                    </a:p>
                  </a:txBody>
                  <a:tcPr marL="44391" marR="44391" marT="24662" marB="295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06733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(AI)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-0.163***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0.374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0.463***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-0.674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67162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(0.039)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(0.301)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(0.102)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(0.709)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47851"/>
                  </a:ext>
                </a:extLst>
              </a:tr>
              <a:tr h="3334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log_textLengthCN1Ans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-0.144***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0.340***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976547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(0.022)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(0.051)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12112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quality1Ans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0.027*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-0.052</a:t>
                      </a:r>
                      <a:r>
                        <a:rPr lang="en-US" sz="1100" baseline="30000" dirty="0">
                          <a:effectLst/>
                        </a:rPr>
                        <a:t>.</a:t>
                      </a: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83665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(0.013)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(0.031)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29864"/>
                  </a:ext>
                </a:extLst>
              </a:tr>
              <a:tr h="3846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× log_textLengthCN1Ans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-0.128*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0.330*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67353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(0.056)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(0.133)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81229"/>
                  </a:ext>
                </a:extLst>
              </a:tr>
              <a:tr h="3334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effectLst/>
                        </a:rPr>
                        <a:t>treatment × quality1Ans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-0.004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-0.016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618194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(0.022)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effectLst/>
                        </a:rPr>
                        <a:t>(0.052)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190111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3,613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3,216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3,613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3,216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352481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5165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Controls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6448"/>
                  </a:ext>
                </a:extLst>
              </a:tr>
              <a:tr h="3334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F-stat (proj. model)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41207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AIC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40,881.02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39,212.19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19,000.95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17,304.75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46358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Log-Likelihood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effectLst/>
                        </a:rPr>
                        <a:t>-9,461.48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-8,609.37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508500"/>
                  </a:ext>
                </a:extLst>
              </a:tr>
              <a:tr h="21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PH-test p-value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0.000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0.000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effectLst/>
                        </a:rPr>
                        <a:t>—</a:t>
                      </a:r>
                    </a:p>
                  </a:txBody>
                  <a:tcPr marL="44391" marR="44391" marT="24662" marB="246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912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36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BF1-E83C-E91F-07F2-04A650B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857EF-E714-DA2D-6D45-E057ED755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FE39E-FC48-4DF6-2D73-88A942E7CC6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>
                <a:cs typeface="Times New Roman" panose="02020603050405020304" pitchFamily="18" charset="0"/>
              </a:rPr>
              <a:t>competition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logic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(Done)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timeliness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(New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results)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innovation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(New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results)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TW" sz="1600" b="1" dirty="0"/>
              <a:t>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AI" vs 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Human"</a:t>
            </a:r>
          </a:p>
          <a:p>
            <a:pPr lvl="2" defTabSz="914327">
              <a:lnSpc>
                <a:spcPct val="120000"/>
              </a:lnSpc>
            </a:pPr>
            <a:r>
              <a:rPr lang="en-US" sz="1600" b="1" dirty="0"/>
              <a:t>AI </a:t>
            </a:r>
            <a:r>
              <a:rPr lang="zh-TW" altLang="en-US" sz="1600" b="1" dirty="0"/>
              <a:t>在场如何影响 </a:t>
            </a:r>
            <a:r>
              <a:rPr lang="en-US" sz="1600" b="1" dirty="0"/>
              <a:t>Human2 vs Human1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CN" sz="1600" b="1" dirty="0"/>
              <a:t>“</a:t>
            </a:r>
            <a:r>
              <a:rPr lang="zh-CN" altLang="en-US" sz="1600" b="1" dirty="0"/>
              <a:t>四个圈圈</a:t>
            </a:r>
            <a:r>
              <a:rPr lang="en-US" altLang="zh-CN" sz="1600" b="1" dirty="0"/>
              <a:t>”</a:t>
            </a:r>
            <a:endParaRPr lang="en-US" altLang="en-US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0CA8E-E766-43C4-3339-C759CADDA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99" b="61121"/>
          <a:stretch>
            <a:fillRect/>
          </a:stretch>
        </p:blipFill>
        <p:spPr bwMode="auto">
          <a:xfrm>
            <a:off x="5714429" y="3760037"/>
            <a:ext cx="7662706" cy="162783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55E52-EE68-79EA-1E45-CC7E58023AE8}"/>
              </a:ext>
            </a:extLst>
          </p:cNvPr>
          <p:cNvSpPr txBox="1"/>
          <p:nvPr/>
        </p:nvSpPr>
        <p:spPr>
          <a:xfrm>
            <a:off x="8575698" y="3588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FC800-46BA-02A4-D050-2CA18CDC6F55}"/>
              </a:ext>
            </a:extLst>
          </p:cNvPr>
          <p:cNvSpPr txBox="1"/>
          <p:nvPr/>
        </p:nvSpPr>
        <p:spPr>
          <a:xfrm>
            <a:off x="9886589" y="43892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1413-608B-7EE9-7F54-C9A84E2B1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320" r="-5862"/>
          <a:stretch>
            <a:fillRect/>
          </a:stretch>
        </p:blipFill>
        <p:spPr bwMode="auto">
          <a:xfrm>
            <a:off x="5894463" y="5387870"/>
            <a:ext cx="7984253" cy="120079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079D-40FA-B5FB-898D-8FDCAE5EB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82"/>
          <a:stretch>
            <a:fillRect/>
          </a:stretch>
        </p:blipFill>
        <p:spPr bwMode="auto">
          <a:xfrm>
            <a:off x="5714429" y="269335"/>
            <a:ext cx="7542125" cy="299440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47B1F4-F77A-3873-5FFF-54339CB5910C}"/>
              </a:ext>
            </a:extLst>
          </p:cNvPr>
          <p:cNvSpPr txBox="1"/>
          <p:nvPr/>
        </p:nvSpPr>
        <p:spPr>
          <a:xfrm>
            <a:off x="8525456" y="110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0560E-442F-8A53-53EC-EB9D374F311E}"/>
              </a:ext>
            </a:extLst>
          </p:cNvPr>
          <p:cNvSpPr txBox="1"/>
          <p:nvPr/>
        </p:nvSpPr>
        <p:spPr>
          <a:xfrm>
            <a:off x="8525456" y="911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02602-3E9B-AB3F-B486-634E32545F3C}"/>
              </a:ext>
            </a:extLst>
          </p:cNvPr>
          <p:cNvCxnSpPr/>
          <p:nvPr/>
        </p:nvCxnSpPr>
        <p:spPr>
          <a:xfrm flipV="1">
            <a:off x="4696691" y="1475509"/>
            <a:ext cx="85205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AC6D23-55E4-FCB4-B5F0-47F025F9FA80}"/>
              </a:ext>
            </a:extLst>
          </p:cNvPr>
          <p:cNvCxnSpPr>
            <a:cxnSpLocks/>
          </p:cNvCxnSpPr>
          <p:nvPr/>
        </p:nvCxnSpPr>
        <p:spPr>
          <a:xfrm>
            <a:off x="4696691" y="3034145"/>
            <a:ext cx="852054" cy="172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5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AE81-7483-025C-0E9F-131D1134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34FAC1-8122-CD50-55B2-0B96CC04F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14DB04-647B-FFF4-4CD3-A34B5DD07BAD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TW" sz="1400" b="1" dirty="0">
                <a:solidFill>
                  <a:srgbClr val="FF0000"/>
                </a:solidFill>
              </a:rPr>
              <a:t>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AI" vs 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Human"</a:t>
            </a:r>
          </a:p>
          <a:p>
            <a:pPr lvl="1"/>
            <a:r>
              <a:rPr lang="en-US" altLang="zh-TW" sz="1200" dirty="0"/>
              <a:t>“</a:t>
            </a:r>
            <a:r>
              <a:rPr lang="zh-TW" altLang="en-US" sz="1200" dirty="0"/>
              <a:t>当前一个回答者是 </a:t>
            </a:r>
            <a:r>
              <a:rPr lang="en-US" sz="1200" dirty="0"/>
              <a:t>AI </a:t>
            </a:r>
            <a:r>
              <a:rPr lang="zh-TW" altLang="en-US" sz="1200" dirty="0"/>
              <a:t>时，紧随其后的人类答案</a:t>
            </a:r>
            <a:r>
              <a:rPr lang="en-US" altLang="zh-TW" sz="1200" dirty="0"/>
              <a:t>——</a:t>
            </a:r>
            <a:r>
              <a:rPr lang="zh-TW" altLang="en-US" sz="1200" dirty="0"/>
              <a:t>措辞更</a:t>
            </a:r>
            <a:r>
              <a:rPr lang="zh-CN" altLang="en-US" sz="1200" dirty="0"/>
              <a:t>？</a:t>
            </a:r>
            <a:r>
              <a:rPr lang="zh-TW" altLang="en-US" sz="1200" dirty="0"/>
              <a:t>解决路径更</a:t>
            </a:r>
            <a:r>
              <a:rPr lang="zh-CN" altLang="en-US" sz="1200" dirty="0"/>
              <a:t>？</a:t>
            </a:r>
            <a:r>
              <a:rPr lang="en-US" altLang="zh-TW" sz="1200" dirty="0"/>
              <a:t>”</a:t>
            </a:r>
          </a:p>
          <a:p>
            <a:pPr lvl="1"/>
            <a:r>
              <a:rPr lang="en-US" sz="1200" dirty="0"/>
              <a:t>similarity (Sentence-BERT) </a:t>
            </a:r>
            <a:r>
              <a:rPr lang="zh-TW" altLang="en-US" sz="1200" dirty="0"/>
              <a:t>看的是表面措辞相似，</a:t>
            </a:r>
            <a:r>
              <a:rPr lang="en-US" sz="1200" dirty="0"/>
              <a:t>deviation (LLM rated) </a:t>
            </a:r>
            <a:r>
              <a:rPr lang="zh-TW" altLang="en-US" sz="1200" dirty="0"/>
              <a:t>看的是技术路线的实际差别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lvl="1"/>
            <a:endParaRPr lang="en-US" sz="1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193494-0945-952B-AEBB-66BAE54D1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7653"/>
              </p:ext>
            </p:extLst>
          </p:nvPr>
        </p:nvGraphicFramePr>
        <p:xfrm>
          <a:off x="7315200" y="558803"/>
          <a:ext cx="7363689" cy="217142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4563">
                  <a:extLst>
                    <a:ext uri="{9D8B030D-6E8A-4147-A177-3AD203B41FA5}">
                      <a16:colId xmlns:a16="http://schemas.microsoft.com/office/drawing/2014/main" val="3407363488"/>
                    </a:ext>
                  </a:extLst>
                </a:gridCol>
                <a:gridCol w="2454563">
                  <a:extLst>
                    <a:ext uri="{9D8B030D-6E8A-4147-A177-3AD203B41FA5}">
                      <a16:colId xmlns:a16="http://schemas.microsoft.com/office/drawing/2014/main" val="4162914505"/>
                    </a:ext>
                  </a:extLst>
                </a:gridCol>
                <a:gridCol w="2454563">
                  <a:extLst>
                    <a:ext uri="{9D8B030D-6E8A-4147-A177-3AD203B41FA5}">
                      <a16:colId xmlns:a16="http://schemas.microsoft.com/office/drawing/2014/main" val="3303806376"/>
                    </a:ext>
                  </a:extLst>
                </a:gridCol>
              </a:tblGrid>
              <a:tr h="319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Sentence-BERT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LLM </a:t>
                      </a:r>
                      <a:r>
                        <a:rPr lang="en-US" sz="1400" dirty="0" err="1"/>
                        <a:t>deviation_score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487101"/>
                  </a:ext>
                </a:extLst>
              </a:tr>
              <a:tr h="559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测的对象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整段文本的 </a:t>
                      </a:r>
                      <a:r>
                        <a:rPr lang="en-US" sz="1400"/>
                        <a:t>embedding </a:t>
                      </a:r>
                      <a:r>
                        <a:rPr lang="zh-TW" altLang="en-US" sz="1400"/>
                        <a:t>距离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later answer </a:t>
                      </a:r>
                      <a:r>
                        <a:rPr lang="zh-TW" altLang="en-US" sz="1400" dirty="0"/>
                        <a:t>相对 </a:t>
                      </a:r>
                      <a:r>
                        <a:rPr lang="en-US" sz="1400" dirty="0"/>
                        <a:t>earlier answer </a:t>
                      </a:r>
                      <a:r>
                        <a:rPr lang="zh-TW" altLang="en-US" sz="1400" dirty="0"/>
                        <a:t>的</a:t>
                      </a:r>
                      <a:r>
                        <a:rPr lang="en-US" altLang="zh-TW" sz="1400" dirty="0"/>
                        <a:t>“</a:t>
                      </a:r>
                      <a:r>
                        <a:rPr lang="zh-TW" altLang="en-US" sz="1400" dirty="0"/>
                        <a:t>技术路径</a:t>
                      </a:r>
                      <a:r>
                        <a:rPr lang="en-US" altLang="zh-TW" sz="1400" dirty="0"/>
                        <a:t>”</a:t>
                      </a:r>
                      <a:r>
                        <a:rPr lang="zh-TW" altLang="en-US" sz="1400" dirty="0"/>
                        <a:t>是否另辟蹊径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599775"/>
                  </a:ext>
                </a:extLst>
              </a:tr>
              <a:tr h="559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敏感于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词汇、术语、问题领域语言、行文框架、话题覆盖面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是否换了</a:t>
                      </a:r>
                      <a:r>
                        <a:rPr lang="zh-TW" altLang="en-US" sz="1400" b="1"/>
                        <a:t>诊断</a:t>
                      </a:r>
                      <a:r>
                        <a:rPr lang="en-US" altLang="zh-TW" sz="1400" b="1"/>
                        <a:t>/</a:t>
                      </a:r>
                      <a:r>
                        <a:rPr lang="zh-TW" altLang="en-US" sz="1400" b="1"/>
                        <a:t>方法</a:t>
                      </a:r>
                      <a:r>
                        <a:rPr lang="en-US" altLang="zh-TW" sz="1400" b="1"/>
                        <a:t>/</a:t>
                      </a:r>
                      <a:r>
                        <a:rPr lang="zh-TW" altLang="en-US" sz="1400" b="1"/>
                        <a:t>工具</a:t>
                      </a:r>
                      <a:r>
                        <a:rPr lang="en-US" altLang="zh-TW" sz="1400" b="1"/>
                        <a:t>/</a:t>
                      </a:r>
                      <a:r>
                        <a:rPr lang="zh-TW" altLang="en-US" sz="1400" b="1"/>
                        <a:t>排查方向</a:t>
                      </a:r>
                      <a:r>
                        <a:rPr lang="en-US" altLang="zh-TW" sz="1400" b="1"/>
                        <a:t>/</a:t>
                      </a:r>
                      <a:r>
                        <a:rPr lang="zh-TW" altLang="en-US" sz="1400" b="1"/>
                        <a:t>实现思路</a:t>
                      </a:r>
                      <a:endParaRPr lang="zh-TW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18682"/>
                  </a:ext>
                </a:extLst>
              </a:tr>
              <a:tr h="559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一句话总结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同样的术语</a:t>
                      </a:r>
                      <a:br>
                        <a:rPr lang="en-US" altLang="zh-TW" sz="1400" b="1" dirty="0"/>
                      </a:br>
                      <a:r>
                        <a:rPr lang="en-US" altLang="zh-CN" sz="1400" b="1" dirty="0"/>
                        <a:t>——</a:t>
                      </a:r>
                      <a:r>
                        <a:rPr lang="zh-CN" altLang="en-US" sz="1400" b="1" dirty="0"/>
                        <a:t>表面措辞相似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同样的方法</a:t>
                      </a:r>
                      <a:br>
                        <a:rPr lang="en-US" altLang="zh-TW" sz="1400" b="1" dirty="0"/>
                      </a:br>
                      <a:r>
                        <a:rPr lang="en-US" altLang="zh-CN" sz="1400" b="1" dirty="0"/>
                        <a:t>——</a:t>
                      </a:r>
                      <a:r>
                        <a:rPr lang="zh-CN" altLang="en-US" sz="1400" b="1" dirty="0"/>
                        <a:t>核心解决思路相似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192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5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6C8A9-4A76-2C72-5C55-ED78AF51E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08A15C-E577-8885-C484-C894C9682A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0C35D7-C0E9-C8C1-290D-AB02783C3273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TW" sz="1400" b="1" dirty="0">
                <a:solidFill>
                  <a:srgbClr val="FF0000"/>
                </a:solidFill>
              </a:rPr>
              <a:t>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AI" vs "</a:t>
            </a:r>
            <a:r>
              <a:rPr lang="zh-TW" altLang="en-US" sz="1400" b="1" dirty="0">
                <a:solidFill>
                  <a:srgbClr val="FF0000"/>
                </a:solidFill>
              </a:rPr>
              <a:t>前一个是 </a:t>
            </a:r>
            <a:r>
              <a:rPr lang="en-US" sz="1400" b="1" dirty="0">
                <a:solidFill>
                  <a:srgbClr val="FF0000"/>
                </a:solidFill>
              </a:rPr>
              <a:t>Human"</a:t>
            </a:r>
          </a:p>
          <a:p>
            <a:pPr lvl="1"/>
            <a:r>
              <a:rPr lang="en-US" altLang="zh-TW" sz="1200" dirty="0"/>
              <a:t>"</a:t>
            </a:r>
            <a:r>
              <a:rPr lang="zh-TW" altLang="en-US" sz="1200" dirty="0"/>
              <a:t>当前一个回答者是 </a:t>
            </a:r>
            <a:r>
              <a:rPr lang="en-US" sz="1200" dirty="0"/>
              <a:t>AI </a:t>
            </a:r>
            <a:r>
              <a:rPr lang="zh-TW" altLang="en-US" sz="1200" dirty="0"/>
              <a:t>时，紧随其后的人类答案</a:t>
            </a:r>
            <a:r>
              <a:rPr lang="en-US" altLang="zh-TW" sz="1200" dirty="0"/>
              <a:t>——</a:t>
            </a:r>
            <a:r>
              <a:rPr lang="zh-TW" altLang="en-US" sz="1200" dirty="0"/>
              <a:t>主题更相似，但观点更发散。</a:t>
            </a:r>
            <a:r>
              <a:rPr lang="en-US" altLang="zh-TW" sz="1200" dirty="0"/>
              <a:t>”</a:t>
            </a:r>
          </a:p>
          <a:p>
            <a:pPr lvl="1"/>
            <a:r>
              <a:rPr lang="en-US" sz="1200" dirty="0"/>
              <a:t>similarity (Sentence-BERT) </a:t>
            </a:r>
            <a:r>
              <a:rPr lang="zh-TW" altLang="en-US" sz="1200" dirty="0"/>
              <a:t>看的是表面措辞相似，</a:t>
            </a:r>
            <a:r>
              <a:rPr lang="en-US" sz="1200" dirty="0"/>
              <a:t>deviation (LLM rated) </a:t>
            </a:r>
            <a:r>
              <a:rPr lang="zh-TW" altLang="en-US" sz="1200" dirty="0"/>
              <a:t>看的是技术路线的实际差别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/>
            <a:r>
              <a:rPr lang="en-US" altLang="en-US" sz="1200" dirty="0"/>
              <a:t>Similarity +0.029：前一个回答是</a:t>
            </a:r>
            <a:r>
              <a:rPr lang="en-US" altLang="zh-CN" sz="1200" dirty="0"/>
              <a:t>AI</a:t>
            </a:r>
            <a:r>
              <a:rPr lang="zh-CN" altLang="en-US" sz="1200" dirty="0"/>
              <a:t>时，下一个人类回答在表面措辞上</a:t>
            </a:r>
            <a:r>
              <a:rPr lang="zh-TW" altLang="en-US" sz="1200" dirty="0"/>
              <a:t>更像</a:t>
            </a:r>
            <a:endParaRPr lang="en-US" altLang="zh-TW" sz="1200" dirty="0"/>
          </a:p>
          <a:p>
            <a:pPr lvl="2"/>
            <a:r>
              <a:rPr lang="en-US" altLang="en-US" sz="1100" b="1" dirty="0"/>
              <a:t>AI </a:t>
            </a:r>
            <a:r>
              <a:rPr lang="zh-TW" altLang="en-US" sz="1100" b="1" dirty="0"/>
              <a:t>答案是覆盖很全面的</a:t>
            </a:r>
            <a:r>
              <a:rPr lang="zh-TW" altLang="en-US" sz="1100" dirty="0"/>
              <a:t>：覆盖标准诊断、用规范术语、把问题表述得很完整 → 这给后续人类回答之前的脑子里</a:t>
            </a:r>
            <a:r>
              <a:rPr lang="zh-TW" altLang="en-US" sz="1100" b="1" dirty="0"/>
              <a:t>注入了一套词汇</a:t>
            </a:r>
            <a:r>
              <a:rPr lang="en-US" altLang="zh-TW" sz="1100" b="1" dirty="0"/>
              <a:t>/</a:t>
            </a:r>
            <a:r>
              <a:rPr lang="zh-TW" altLang="en-US" sz="1100" b="1" dirty="0"/>
              <a:t>框架</a:t>
            </a:r>
            <a:r>
              <a:rPr lang="zh-TW" altLang="en-US" sz="1100" dirty="0"/>
              <a:t>。即便人类要基于</a:t>
            </a:r>
            <a:r>
              <a:rPr lang="en-US" altLang="zh-CN" sz="1100" dirty="0"/>
              <a:t>AI</a:t>
            </a:r>
            <a:r>
              <a:rPr lang="zh-CN" altLang="en-US" sz="1100" dirty="0"/>
              <a:t>创新</a:t>
            </a:r>
            <a:r>
              <a:rPr lang="en-US" altLang="en-US" sz="1100" dirty="0"/>
              <a:t>，</a:t>
            </a:r>
            <a:r>
              <a:rPr lang="zh-TW" altLang="en-US" sz="1100" dirty="0"/>
              <a:t>他们也得先用 </a:t>
            </a:r>
            <a:r>
              <a:rPr lang="en-US" altLang="en-US" sz="1100" dirty="0"/>
              <a:t>AI </a:t>
            </a:r>
            <a:r>
              <a:rPr lang="zh-TW" altLang="en-US" sz="1100" dirty="0"/>
              <a:t>设定的术语去 </a:t>
            </a:r>
            <a:r>
              <a:rPr lang="en-US" altLang="en-US" sz="1100" dirty="0"/>
              <a:t>reference </a:t>
            </a:r>
            <a:r>
              <a:rPr lang="zh-TW" altLang="en-US" sz="1100" dirty="0"/>
              <a:t>它。→ </a:t>
            </a:r>
            <a:r>
              <a:rPr lang="en-US" altLang="en-US" sz="1100" b="1" dirty="0"/>
              <a:t>Similarity </a:t>
            </a:r>
            <a:r>
              <a:rPr lang="zh-TW" altLang="en-US" sz="1100" b="1" dirty="0"/>
              <a:t>升高</a:t>
            </a:r>
            <a:r>
              <a:rPr lang="zh-TW" altLang="en-US" sz="1100" dirty="0"/>
              <a:t>。</a:t>
            </a:r>
          </a:p>
          <a:p>
            <a:pPr lvl="2"/>
            <a:endParaRPr lang="zh-TW" altLang="en-US" sz="1200" dirty="0"/>
          </a:p>
          <a:p>
            <a:pPr lvl="1"/>
            <a:r>
              <a:rPr lang="en-US" altLang="en-US" sz="1200" dirty="0"/>
              <a:t>Deviation +1.225：前一个回答是</a:t>
            </a:r>
            <a:r>
              <a:rPr lang="en-US" altLang="zh-CN" sz="1200" dirty="0"/>
              <a:t>AI</a:t>
            </a:r>
            <a:r>
              <a:rPr lang="zh-CN" altLang="en-US" sz="1200" dirty="0"/>
              <a:t>时，下一个人类回答在</a:t>
            </a:r>
            <a:r>
              <a:rPr lang="zh-TW" altLang="en-US" sz="1200" dirty="0"/>
              <a:t>技术路径上更偏离</a:t>
            </a:r>
            <a:endParaRPr lang="en-US" altLang="zh-TW" sz="1200" dirty="0"/>
          </a:p>
          <a:p>
            <a:pPr lvl="2"/>
            <a:r>
              <a:rPr lang="en-US" altLang="en-US" sz="1100" b="1" dirty="0"/>
              <a:t>AI </a:t>
            </a:r>
            <a:r>
              <a:rPr lang="zh-TW" altLang="en-US" sz="1100" b="1" dirty="0"/>
              <a:t>已经把</a:t>
            </a:r>
            <a:r>
              <a:rPr lang="en-US" altLang="zh-TW" sz="1100" b="1" dirty="0"/>
              <a:t>”</a:t>
            </a:r>
            <a:r>
              <a:rPr lang="zh-TW" altLang="en-US" sz="1100" b="1" dirty="0"/>
              <a:t>显而易见的那条路径</a:t>
            </a:r>
            <a:r>
              <a:rPr lang="en-US" altLang="zh-TW" sz="1100" b="1" dirty="0"/>
              <a:t>”</a:t>
            </a:r>
            <a:r>
              <a:rPr lang="zh-TW" altLang="en-US" sz="1100" b="1" dirty="0"/>
              <a:t>占了</a:t>
            </a:r>
            <a:r>
              <a:rPr lang="zh-TW" altLang="en-US" sz="1100" dirty="0"/>
              <a:t>：人类继续发帖的边际价值，必须来自</a:t>
            </a:r>
            <a:r>
              <a:rPr lang="zh-TW" altLang="en-US" sz="1100" b="1" dirty="0"/>
              <a:t>走另一条路径</a:t>
            </a:r>
            <a:r>
              <a:rPr lang="en-US" altLang="zh-TW" sz="1100" dirty="0"/>
              <a:t>——</a:t>
            </a:r>
            <a:r>
              <a:rPr lang="zh-TW" altLang="en-US" sz="1100" dirty="0"/>
              <a:t>换个技术路径</a:t>
            </a:r>
            <a:r>
              <a:rPr lang="zh-CN" altLang="en-US" sz="1100" dirty="0"/>
              <a:t>（</a:t>
            </a:r>
            <a:r>
              <a:rPr lang="zh-TW" altLang="en-US" sz="1100" dirty="0"/>
              <a:t>诊断角度、换个工具、换个排查切入点</a:t>
            </a:r>
            <a:r>
              <a:rPr lang="zh-CN" altLang="en-US" sz="1100" dirty="0"/>
              <a:t>）</a:t>
            </a:r>
            <a:r>
              <a:rPr lang="zh-TW" altLang="en-US" sz="1100" dirty="0"/>
              <a:t>→ </a:t>
            </a:r>
            <a:r>
              <a:rPr lang="en-US" altLang="en-US" sz="1100" b="1" dirty="0"/>
              <a:t>Deviation </a:t>
            </a:r>
            <a:r>
              <a:rPr lang="zh-TW" altLang="en-US" sz="1100" b="1" dirty="0"/>
              <a:t>升高</a:t>
            </a:r>
            <a:r>
              <a:rPr lang="zh-TW" altLang="en-US" sz="1100" dirty="0"/>
              <a:t>。</a:t>
            </a:r>
          </a:p>
          <a:p>
            <a:pPr lvl="2"/>
            <a:endParaRPr lang="en-US" altLang="zh-TW" sz="1050" dirty="0"/>
          </a:p>
          <a:p>
            <a:pPr lvl="2"/>
            <a:endParaRPr lang="zh-TW" altLang="en-US" sz="1050" dirty="0"/>
          </a:p>
          <a:p>
            <a:pPr lvl="1"/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"——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lvl="1"/>
            <a:endParaRPr lang="en-US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47AFCC-8C36-9663-182F-85E44DFC9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82767"/>
              </p:ext>
            </p:extLst>
          </p:nvPr>
        </p:nvGraphicFramePr>
        <p:xfrm>
          <a:off x="7406261" y="1929334"/>
          <a:ext cx="6785229" cy="3357877"/>
        </p:xfrm>
        <a:graphic>
          <a:graphicData uri="http://schemas.openxmlformats.org/drawingml/2006/table">
            <a:tbl>
              <a:tblPr/>
              <a:tblGrid>
                <a:gridCol w="2261743">
                  <a:extLst>
                    <a:ext uri="{9D8B030D-6E8A-4147-A177-3AD203B41FA5}">
                      <a16:colId xmlns:a16="http://schemas.microsoft.com/office/drawing/2014/main" val="4044616951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1528930971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53805414"/>
                    </a:ext>
                  </a:extLst>
                </a:gridCol>
              </a:tblGrid>
              <a:tr h="5638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</a:rPr>
                        <a:t>DV: ans1–ans2 similarity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b="0" dirty="0">
                          <a:effectLst/>
                        </a:rPr>
                        <a:t>(Sentence-BERT)</a:t>
                      </a:r>
                      <a:endParaRPr lang="en-US" sz="16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</a:rPr>
                        <a:t>DV: </a:t>
                      </a:r>
                      <a:r>
                        <a:rPr lang="en-US" sz="1600" dirty="0" err="1">
                          <a:effectLst/>
                        </a:rPr>
                        <a:t>deviation_score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b="0" dirty="0">
                          <a:effectLst/>
                        </a:rPr>
                        <a:t>(LLM-rated)</a:t>
                      </a:r>
                      <a:endParaRPr lang="en-US" sz="16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85396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5495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dirty="0">
                          <a:effectLst/>
                        </a:rPr>
                        <a:t>treatment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(AI as first answerer)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</a:rPr>
                        <a:t>0.029**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</a:rPr>
                        <a:t>1.225***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4461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effectLst/>
                        </a:rPr>
                        <a:t>(0.009)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  <a:effectLst/>
                        </a:rPr>
                        <a:t>(0.214)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555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1,913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1,904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10629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47373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39276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6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3.218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</a:rPr>
                        <a:t>2.972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9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865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E7E9-007C-2D79-3DAD-97F8152C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699D21-EEB0-9BE7-9BBE-6B8812BB9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CD219A-404E-02A3-9749-67999835248F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en-US" sz="1400" dirty="0">
                <a:solidFill>
                  <a:srgbClr val="FF0000"/>
                </a:solidFill>
              </a:rPr>
              <a:t>AI </a:t>
            </a:r>
            <a:r>
              <a:rPr lang="zh-TW" altLang="en-US" sz="1400" dirty="0">
                <a:solidFill>
                  <a:srgbClr val="FF0000"/>
                </a:solidFill>
              </a:rPr>
              <a:t>在场如何影响 </a:t>
            </a:r>
            <a:r>
              <a:rPr lang="en-US" altLang="en-US" sz="1400" dirty="0">
                <a:solidFill>
                  <a:srgbClr val="FF0000"/>
                </a:solidFill>
              </a:rPr>
              <a:t>Human2 vs Human1</a:t>
            </a:r>
          </a:p>
          <a:p>
            <a:pPr lvl="1"/>
            <a:endParaRPr lang="en-US" altLang="zh-CN" sz="1200" dirty="0"/>
          </a:p>
          <a:p>
            <a:pPr lvl="1"/>
            <a:endParaRPr lang="en-US" altLang="zh-CN" sz="1200" dirty="0"/>
          </a:p>
          <a:p>
            <a:pPr marL="252000" lvl="1" indent="0">
              <a:buNone/>
            </a:pPr>
            <a:endParaRPr lang="en-US" altLang="zh-CN" sz="1200" dirty="0"/>
          </a:p>
          <a:p>
            <a:pPr lvl="1"/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altLang="en-US" sz="1300" dirty="0"/>
              <a:t>"AI </a:t>
            </a:r>
            <a:r>
              <a:rPr lang="zh-TW" altLang="en-US" sz="1300" dirty="0"/>
              <a:t>在场时，第二个人类答主主动远离第一个人类答主</a:t>
            </a:r>
            <a:br>
              <a:rPr lang="en-US" altLang="zh-TW" sz="1300" dirty="0"/>
            </a:br>
            <a:r>
              <a:rPr lang="en-US" altLang="zh-TW" sz="1300" dirty="0"/>
              <a:t>——</a:t>
            </a:r>
            <a:r>
              <a:rPr lang="en-US" altLang="en-US" sz="1300" dirty="0"/>
              <a:t>similarity ↓，deviation ↑。”</a:t>
            </a:r>
          </a:p>
          <a:p>
            <a:pPr lvl="2" algn="l"/>
            <a:r>
              <a:rPr lang="zh-TW" altLang="en-US" sz="1200" dirty="0"/>
              <a:t>不仅是在措辞上试图不一样</a:t>
            </a:r>
            <a:r>
              <a:rPr lang="zh-CN" altLang="en-US" sz="1200" dirty="0"/>
              <a:t>，核心路径也希望不一样</a:t>
            </a:r>
            <a:endParaRPr lang="en-US" altLang="zh-TW" sz="1200" dirty="0"/>
          </a:p>
          <a:p>
            <a:pPr lvl="2" algn="l"/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  <a:p>
            <a:pPr lvl="2" algn="l"/>
            <a:endParaRPr lang="en-US" altLang="en-US" sz="1300" dirty="0"/>
          </a:p>
          <a:p>
            <a:pPr lvl="1"/>
            <a:r>
              <a:rPr lang="en-US" altLang="en-US" sz="1300" dirty="0"/>
              <a:t>AI </a:t>
            </a:r>
            <a:r>
              <a:rPr lang="zh-TW" altLang="en-US" sz="1300" dirty="0"/>
              <a:t>没有直接出现在比较里，但它的存在改变了 </a:t>
            </a:r>
            <a:r>
              <a:rPr lang="en-US" altLang="en-US" sz="1300" dirty="0"/>
              <a:t>human </a:t>
            </a:r>
            <a:r>
              <a:rPr lang="zh-TW" altLang="en-US" sz="1300" dirty="0"/>
              <a:t>之间的博弈。</a:t>
            </a:r>
            <a:r>
              <a:rPr lang="en-US" altLang="zh-TW" sz="1300" dirty="0"/>
              <a:t>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DF1171-0F2A-DC98-3A80-AFDACFC9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37245"/>
              </p:ext>
            </p:extLst>
          </p:nvPr>
        </p:nvGraphicFramePr>
        <p:xfrm>
          <a:off x="7406261" y="2339692"/>
          <a:ext cx="6785229" cy="2970439"/>
        </p:xfrm>
        <a:graphic>
          <a:graphicData uri="http://schemas.openxmlformats.org/drawingml/2006/table">
            <a:tbl>
              <a:tblPr/>
              <a:tblGrid>
                <a:gridCol w="2261743">
                  <a:extLst>
                    <a:ext uri="{9D8B030D-6E8A-4147-A177-3AD203B41FA5}">
                      <a16:colId xmlns:a16="http://schemas.microsoft.com/office/drawing/2014/main" val="972055225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1956397290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2433444766"/>
                    </a:ext>
                  </a:extLst>
                </a:gridCol>
              </a:tblGrid>
              <a:tr h="5638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DV: human</a:t>
                      </a:r>
                      <a:r>
                        <a:rPr lang="en-US" sz="1400" baseline="-250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–human</a:t>
                      </a:r>
                      <a:r>
                        <a:rPr lang="en-US" sz="1400" baseline="-25000">
                          <a:effectLst/>
                        </a:rPr>
                        <a:t>2</a:t>
                      </a:r>
                      <a:r>
                        <a:rPr lang="en-US" sz="1400">
                          <a:effectLst/>
                        </a:rPr>
                        <a:t> similarity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(Sentence-BERT)</a:t>
                      </a: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DV: deviation_score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(LLM-rated)</a:t>
                      </a: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75433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49361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treatment (AI present)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-0.024*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1.106***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443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(0.012)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(0.264)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32205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1,162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1,157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846181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26335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2.154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3.151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29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04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93C4-1883-FEE9-4025-A084F583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4B4A91-D2B7-BE94-2D3E-257792D83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437F8-BB74-3F0C-6F21-9C755CA01B84}"/>
              </a:ext>
            </a:extLst>
          </p:cNvPr>
          <p:cNvGraphicFramePr>
            <a:graphicFrameLocks noGrp="1"/>
          </p:cNvGraphicFramePr>
          <p:nvPr/>
        </p:nvGraphicFramePr>
        <p:xfrm>
          <a:off x="7406261" y="2339692"/>
          <a:ext cx="6785229" cy="2970439"/>
        </p:xfrm>
        <a:graphic>
          <a:graphicData uri="http://schemas.openxmlformats.org/drawingml/2006/table">
            <a:tbl>
              <a:tblPr/>
              <a:tblGrid>
                <a:gridCol w="2261743">
                  <a:extLst>
                    <a:ext uri="{9D8B030D-6E8A-4147-A177-3AD203B41FA5}">
                      <a16:colId xmlns:a16="http://schemas.microsoft.com/office/drawing/2014/main" val="972055225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1956397290"/>
                    </a:ext>
                  </a:extLst>
                </a:gridCol>
                <a:gridCol w="2261743">
                  <a:extLst>
                    <a:ext uri="{9D8B030D-6E8A-4147-A177-3AD203B41FA5}">
                      <a16:colId xmlns:a16="http://schemas.microsoft.com/office/drawing/2014/main" val="2433444766"/>
                    </a:ext>
                  </a:extLst>
                </a:gridCol>
              </a:tblGrid>
              <a:tr h="5638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human</a:t>
                      </a:r>
                      <a:r>
                        <a:rPr lang="en-US" sz="1400" baseline="-25000" dirty="0">
                          <a:effectLst/>
                        </a:rPr>
                        <a:t>1</a:t>
                      </a:r>
                      <a:r>
                        <a:rPr lang="en-US" sz="1400" dirty="0">
                          <a:effectLst/>
                        </a:rPr>
                        <a:t>–human</a:t>
                      </a:r>
                      <a:r>
                        <a:rPr lang="en-US" sz="1400" baseline="-250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 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DV: deviation_score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(LLM-rated)</a:t>
                      </a: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75433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49361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treatment (AI present)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-0.024*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1.106***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443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(0.012)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(0.264)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32205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1,162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1,157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846181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26335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2.154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3.151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2969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BE1AB-93D3-1952-0902-BB1FCE42C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290743"/>
              </p:ext>
            </p:extLst>
          </p:nvPr>
        </p:nvGraphicFramePr>
        <p:xfrm>
          <a:off x="381000" y="2300438"/>
          <a:ext cx="6452937" cy="3063427"/>
        </p:xfrm>
        <a:graphic>
          <a:graphicData uri="http://schemas.openxmlformats.org/drawingml/2006/table">
            <a:tbl>
              <a:tblPr/>
              <a:tblGrid>
                <a:gridCol w="2150979">
                  <a:extLst>
                    <a:ext uri="{9D8B030D-6E8A-4147-A177-3AD203B41FA5}">
                      <a16:colId xmlns:a16="http://schemas.microsoft.com/office/drawing/2014/main" val="404461695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1528930971"/>
                    </a:ext>
                  </a:extLst>
                </a:gridCol>
                <a:gridCol w="2150979">
                  <a:extLst>
                    <a:ext uri="{9D8B030D-6E8A-4147-A177-3AD203B41FA5}">
                      <a16:colId xmlns:a16="http://schemas.microsoft.com/office/drawing/2014/main" val="53805414"/>
                    </a:ext>
                  </a:extLst>
                </a:gridCol>
              </a:tblGrid>
              <a:tr h="603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effectLst/>
                        </a:rPr>
                        <a:t>Variable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ans1–ans2 similarity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(Sentence-BERT)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DV: </a:t>
                      </a:r>
                      <a:r>
                        <a:rPr lang="en-US" sz="1400" dirty="0" err="1">
                          <a:effectLst/>
                        </a:rPr>
                        <a:t>deviation_score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(LLM-rated)</a:t>
                      </a:r>
                      <a:endParaRPr lang="en-US" sz="1400" dirty="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85396"/>
                  </a:ext>
                </a:extLst>
              </a:tr>
              <a:tr h="33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75071" marR="75071" marT="41706" marB="500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54954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treatment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(AI as first answerer)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0.029**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1.225***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44610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(0.009)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effectLst/>
                        </a:rPr>
                        <a:t>(0.214)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5552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Observations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1,913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1,904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10629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Day-of-year FE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47373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</a:rPr>
                        <a:t>Controls (question / asker)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Yes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392768"/>
                  </a:ext>
                </a:extLst>
              </a:tr>
              <a:tr h="323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F-stat (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</a:rPr>
                        <a:t>proj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. model)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3.218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</a:rPr>
                        <a:t>2.972</a:t>
                      </a:r>
                    </a:p>
                  </a:txBody>
                  <a:tcPr marL="75071" marR="75071" marT="41706" marB="417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095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9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FC3ED5-F2EB-8FFA-1568-262D5B3B0843}"/>
              </a:ext>
            </a:extLst>
          </p:cNvPr>
          <p:cNvSpPr txBox="1"/>
          <p:nvPr/>
        </p:nvSpPr>
        <p:spPr>
          <a:xfrm>
            <a:off x="2348564" y="5842535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quality1Ans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26313-B7CF-008F-EEE3-568C9913870B}"/>
              </a:ext>
            </a:extLst>
          </p:cNvPr>
          <p:cNvSpPr txBox="1"/>
          <p:nvPr/>
        </p:nvSpPr>
        <p:spPr>
          <a:xfrm>
            <a:off x="9296400" y="5842535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qualityAI_fillna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94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F116-19A0-2D55-5E21-1ABE579A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A8B9D9-A8AB-9C86-BBC5-652351D88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178874-9EA5-254C-71E0-6728BB420BD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lvl="1"/>
            <a:endParaRPr lang="en-US" altLang="zh-CN" sz="1200" dirty="0"/>
          </a:p>
          <a:p>
            <a:pPr lvl="1"/>
            <a:endParaRPr lang="en-US" altLang="zh-CN" sz="1200" dirty="0"/>
          </a:p>
          <a:p>
            <a:pPr marL="252000" lvl="1" indent="0">
              <a:buNone/>
            </a:pPr>
            <a:endParaRPr lang="en-US" altLang="zh-CN" sz="1200" dirty="0"/>
          </a:p>
          <a:p>
            <a:pPr lvl="1"/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7613D7-D749-92FC-E473-1BF8BC498CCD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03315A-813E-31A9-2FB8-C407B5E2E898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76BFDD-BF55-4B42-5E84-55F950FB853B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B6481-6F36-4CB7-9595-5775938B14A4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ACC15-D0B0-D390-9DE8-77544AE01DA9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73CE0-DF90-3B1A-BA2D-64F4D5B83DCA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74910-99B1-03AD-B91B-80DE92537461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B5E99-80B8-B916-4F89-2D4ED9E56933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8BD385-AF3B-6D53-79BA-3D166E23A945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A71C3301-8413-0CE6-9233-4AE395AA42F2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5731449E-6630-1E70-F321-5FE3292A4712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C1013008-E7E9-9F73-9BBA-0466E7E89C5B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5DE9C535-90B2-1A1E-940D-333F92A94CB4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F2FAAE-61E1-7C99-CA02-FD3E85DCB48A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1B3F8B-F41B-8DB8-060E-EF4CABC1C3D1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0B5AC8-A432-F1B8-330B-97DE8A1CC13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750859-DD32-7A6E-4BCB-F6A324A6AB73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029C44-DCE4-F2BF-3DE1-BCA6D49232E2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94F4F-826E-04C9-9628-A901833754FE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51BE9F-4637-2744-20CC-23D92BC33A94}"/>
              </a:ext>
            </a:extLst>
          </p:cNvPr>
          <p:cNvSpPr txBox="1"/>
          <p:nvPr/>
        </p:nvSpPr>
        <p:spPr>
          <a:xfrm>
            <a:off x="7404977" y="380473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726D46-C8EE-955F-DD05-9B87E1B2BC5A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1B659A-0482-BDEB-B318-B70FB631938A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A5B865-72BC-6ED2-33F7-B47995F8DD4C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FEB5DC-8F84-90B9-3FCF-5800FD756FC1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306105-B530-992C-C3BC-E91338FF599A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14B9CF2-24B7-9A55-CB31-25A86D1CF5B1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3900A9-9939-4D89-C08B-51E3C1A5C387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7FEFA-FEFD-4351-9302-0DD65CB478FA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CA15-2FE2-B21D-C9F7-3E53B072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4A5B8E-77A8-C8EA-7ED0-523DC68E2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8A6FD7-2C7D-3521-19BB-44D7C1023AFC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6293177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“</a:t>
            </a:r>
            <a:r>
              <a:rPr lang="en-US" altLang="en-US" sz="1400" dirty="0" err="1">
                <a:solidFill>
                  <a:srgbClr val="FF0000"/>
                </a:solidFill>
              </a:rPr>
              <a:t>四个圆圈</a:t>
            </a:r>
            <a:r>
              <a:rPr lang="zh-CN" altLang="en-US" sz="1400" dirty="0">
                <a:solidFill>
                  <a:srgbClr val="FF0000"/>
                </a:solidFill>
              </a:rPr>
              <a:t>”</a:t>
            </a:r>
            <a:endParaRPr lang="en-US" altLang="zh-CN" sz="1200" dirty="0"/>
          </a:p>
          <a:p>
            <a:r>
              <a:rPr lang="en-US" altLang="zh-CN" sz="1400" dirty="0"/>
              <a:t>Results</a:t>
            </a:r>
            <a:endParaRPr lang="en-US" altLang="en-US" sz="1400" dirty="0"/>
          </a:p>
          <a:p>
            <a:pPr lvl="1" algn="l"/>
            <a:r>
              <a:rPr lang="en-US" sz="1200" dirty="0"/>
              <a:t>AI </a:t>
            </a:r>
            <a:r>
              <a:rPr lang="zh-TW" altLang="en-US" sz="1200" dirty="0"/>
              <a:t>的存在让</a:t>
            </a:r>
            <a:endParaRPr lang="en-US" altLang="zh-TW" sz="1200" dirty="0"/>
          </a:p>
          <a:p>
            <a:pPr lvl="2" algn="l"/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的内容都向 </a:t>
            </a:r>
            <a:r>
              <a:rPr lang="en-US" sz="1200" dirty="0"/>
              <a:t>AI </a:t>
            </a:r>
            <a:r>
              <a:rPr lang="zh-TW" altLang="en-US" sz="1200" dirty="0"/>
              <a:t>靠拢（</a:t>
            </a:r>
            <a:r>
              <a:rPr lang="en-US" sz="1200" dirty="0"/>
              <a:t>c</a:t>
            </a:r>
            <a:r>
              <a:rPr lang="zh-CN" altLang="en-US" sz="1200" dirty="0"/>
              <a:t> </a:t>
            </a:r>
            <a:r>
              <a:rPr lang="en-US" altLang="zh-CN" sz="1200" dirty="0"/>
              <a:t>=</a:t>
            </a:r>
            <a:r>
              <a:rPr lang="zh-CN" altLang="en-US" sz="1200" dirty="0"/>
              <a:t> </a:t>
            </a:r>
            <a:r>
              <a:rPr lang="en-US" sz="1200" dirty="0"/>
              <a:t>d &gt; a）</a:t>
            </a:r>
            <a:br>
              <a:rPr lang="en-US" sz="1200" dirty="0"/>
            </a:br>
            <a:r>
              <a:rPr lang="en-US" altLang="zh-CN" sz="1200" dirty="0"/>
              <a:t>——</a:t>
            </a:r>
            <a:r>
              <a:rPr lang="zh-TW" altLang="en-US" sz="1200" dirty="0"/>
              <a:t>一句话总结：</a:t>
            </a:r>
            <a:r>
              <a:rPr lang="en-US" altLang="en-US" sz="1200" dirty="0"/>
              <a:t>AI </a:t>
            </a:r>
            <a:r>
              <a:rPr lang="zh-TW" altLang="en-US" sz="1200" dirty="0"/>
              <a:t>充当了</a:t>
            </a:r>
            <a:r>
              <a:rPr lang="en-US" altLang="zh-TW" sz="1200" dirty="0"/>
              <a:t>”</a:t>
            </a:r>
            <a:r>
              <a:rPr lang="zh-TW" altLang="en-US" sz="1200" dirty="0"/>
              <a:t>词汇锚 </a:t>
            </a:r>
            <a:r>
              <a:rPr lang="en-US" altLang="zh-TW" sz="1200" dirty="0"/>
              <a:t>+ </a:t>
            </a:r>
            <a:r>
              <a:rPr lang="zh-TW" altLang="en-US" sz="1200" dirty="0"/>
              <a:t>路径占位者</a:t>
            </a:r>
            <a:r>
              <a:rPr lang="en-US" altLang="zh-TW" sz="1200" dirty="0"/>
              <a:t>”</a:t>
            </a:r>
            <a:br>
              <a:rPr lang="en-US" altLang="zh-TW" sz="1200" dirty="0"/>
            </a:br>
            <a:r>
              <a:rPr lang="en-US" altLang="zh-TW" sz="1200" dirty="0"/>
              <a:t>——</a:t>
            </a:r>
            <a:r>
              <a:rPr lang="zh-TW" altLang="en-US" sz="1200" dirty="0"/>
              <a:t>它把后续人类锁进自己的语言体系，同时把人类挤出自己的解决路径。</a:t>
            </a:r>
          </a:p>
          <a:p>
            <a:pPr marL="491400" lvl="2" indent="0" algn="l">
              <a:buNone/>
            </a:pPr>
            <a:endParaRPr lang="en-US" altLang="zh-TW" sz="1200" dirty="0"/>
          </a:p>
          <a:p>
            <a:pPr lvl="2" algn="l"/>
            <a:r>
              <a:rPr lang="zh-TW" altLang="en-US" sz="1200" dirty="0"/>
              <a:t>但 </a:t>
            </a:r>
            <a:r>
              <a:rPr lang="en-US" sz="1200" dirty="0"/>
              <a:t>H1 </a:t>
            </a:r>
            <a:r>
              <a:rPr lang="zh-TW" altLang="en-US" sz="1200" dirty="0"/>
              <a:t>和 </a:t>
            </a:r>
            <a:r>
              <a:rPr lang="en-US" sz="1200" dirty="0"/>
              <a:t>H2 </a:t>
            </a:r>
            <a:r>
              <a:rPr lang="zh-TW" altLang="en-US" sz="1200" dirty="0"/>
              <a:t>彼此之间更分化（</a:t>
            </a:r>
            <a:r>
              <a:rPr lang="en-US" sz="1200" dirty="0"/>
              <a:t>b &lt; a）</a:t>
            </a:r>
          </a:p>
          <a:p>
            <a:pPr lvl="2" algn="l"/>
            <a:r>
              <a:rPr lang="en-US" altLang="zh-CN" sz="1200" dirty="0"/>
              <a:t>——</a:t>
            </a:r>
            <a:r>
              <a:rPr lang="zh-TW" altLang="en-US" sz="1200" dirty="0"/>
              <a:t>每个人都试图找一个</a:t>
            </a:r>
            <a:r>
              <a:rPr lang="en-US" altLang="zh-TW" sz="1200" dirty="0"/>
              <a:t>"</a:t>
            </a:r>
            <a:r>
              <a:rPr lang="en-US" altLang="en-US" sz="1200" dirty="0"/>
              <a:t>AI </a:t>
            </a:r>
            <a:r>
              <a:rPr lang="zh-TW" altLang="en-US" sz="1200" dirty="0"/>
              <a:t>没覆盖到的角度</a:t>
            </a:r>
            <a:r>
              <a:rPr lang="en-US" altLang="zh-TW" sz="1200" dirty="0"/>
              <a:t>"</a:t>
            </a:r>
            <a:r>
              <a:rPr lang="zh-TW" altLang="en-US" sz="1200" dirty="0"/>
              <a:t>来证明自己出现的价值；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C053A1-C618-06BE-3BFB-6CDC3C32EF60}"/>
              </a:ext>
            </a:extLst>
          </p:cNvPr>
          <p:cNvCxnSpPr>
            <a:cxnSpLocks/>
          </p:cNvCxnSpPr>
          <p:nvPr/>
        </p:nvCxnSpPr>
        <p:spPr>
          <a:xfrm>
            <a:off x="7627917" y="3390902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75A70A-5EB5-0C2F-63B6-B5E58DAFA1FF}"/>
              </a:ext>
            </a:extLst>
          </p:cNvPr>
          <p:cNvCxnSpPr>
            <a:cxnSpLocks/>
          </p:cNvCxnSpPr>
          <p:nvPr/>
        </p:nvCxnSpPr>
        <p:spPr>
          <a:xfrm flipV="1">
            <a:off x="7780317" y="715435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019744-4B86-8CD1-3898-3330EDD1601F}"/>
              </a:ext>
            </a:extLst>
          </p:cNvPr>
          <p:cNvSpPr txBox="1"/>
          <p:nvPr/>
        </p:nvSpPr>
        <p:spPr>
          <a:xfrm>
            <a:off x="7932718" y="149333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treatment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CB11A-3F62-F82C-4AF8-B632BB468FDF}"/>
              </a:ext>
            </a:extLst>
          </p:cNvPr>
          <p:cNvSpPr txBox="1"/>
          <p:nvPr/>
        </p:nvSpPr>
        <p:spPr>
          <a:xfrm>
            <a:off x="7932718" y="2493435"/>
            <a:ext cx="8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A5F1E-0932-AA72-ED8D-ACE73CEBD6D6}"/>
              </a:ext>
            </a:extLst>
          </p:cNvPr>
          <p:cNvSpPr txBox="1"/>
          <p:nvPr/>
        </p:nvSpPr>
        <p:spPr>
          <a:xfrm>
            <a:off x="9745352" y="1493337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EDE0B-FF6D-D04C-FBC4-02D1E01E932F}"/>
              </a:ext>
            </a:extLst>
          </p:cNvPr>
          <p:cNvSpPr txBox="1"/>
          <p:nvPr/>
        </p:nvSpPr>
        <p:spPr>
          <a:xfrm>
            <a:off x="10659752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88509-2936-FAC5-1A49-21F27E19D5C8}"/>
              </a:ext>
            </a:extLst>
          </p:cNvPr>
          <p:cNvSpPr txBox="1"/>
          <p:nvPr/>
        </p:nvSpPr>
        <p:spPr>
          <a:xfrm>
            <a:off x="12118144" y="249343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4F36-3D82-CAC3-3E13-B86BA1BF57C0}"/>
              </a:ext>
            </a:extLst>
          </p:cNvPr>
          <p:cNvSpPr txBox="1"/>
          <p:nvPr/>
        </p:nvSpPr>
        <p:spPr>
          <a:xfrm>
            <a:off x="10659752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B1242-22C0-B7DA-015C-660762BE9D0C}"/>
              </a:ext>
            </a:extLst>
          </p:cNvPr>
          <p:cNvSpPr txBox="1"/>
          <p:nvPr/>
        </p:nvSpPr>
        <p:spPr>
          <a:xfrm>
            <a:off x="12118144" y="1493337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human2</a:t>
            </a:r>
            <a:endParaRPr lang="en-US" dirty="0"/>
          </a:p>
        </p:txBody>
      </p:sp>
      <p:sp>
        <p:nvSpPr>
          <p:cNvPr id="16" name="Curved Up Arrow 15">
            <a:extLst>
              <a:ext uri="{FF2B5EF4-FFF2-40B4-BE49-F238E27FC236}">
                <a16:creationId xmlns:a16="http://schemas.microsoft.com/office/drawing/2014/main" id="{8CF0881A-FB5E-1815-3C04-251EB3AE97DF}"/>
              </a:ext>
            </a:extLst>
          </p:cNvPr>
          <p:cNvSpPr/>
          <p:nvPr/>
        </p:nvSpPr>
        <p:spPr>
          <a:xfrm flipV="1">
            <a:off x="9935469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>
            <a:extLst>
              <a:ext uri="{FF2B5EF4-FFF2-40B4-BE49-F238E27FC236}">
                <a16:creationId xmlns:a16="http://schemas.microsoft.com/office/drawing/2014/main" id="{7827C98E-403D-81EC-A4A2-60CD53F4EBBB}"/>
              </a:ext>
            </a:extLst>
          </p:cNvPr>
          <p:cNvSpPr/>
          <p:nvPr/>
        </p:nvSpPr>
        <p:spPr>
          <a:xfrm flipV="1">
            <a:off x="11472753" y="1099637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Up Arrow 17">
            <a:extLst>
              <a:ext uri="{FF2B5EF4-FFF2-40B4-BE49-F238E27FC236}">
                <a16:creationId xmlns:a16="http://schemas.microsoft.com/office/drawing/2014/main" id="{28E11F72-F05E-19E6-D9D1-A39278CF697F}"/>
              </a:ext>
            </a:extLst>
          </p:cNvPr>
          <p:cNvSpPr/>
          <p:nvPr/>
        </p:nvSpPr>
        <p:spPr>
          <a:xfrm flipV="1">
            <a:off x="9935467" y="583223"/>
            <a:ext cx="2828065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CACDC69D-9387-E1AE-0343-C7967F8715C6}"/>
              </a:ext>
            </a:extLst>
          </p:cNvPr>
          <p:cNvSpPr/>
          <p:nvPr/>
        </p:nvSpPr>
        <p:spPr>
          <a:xfrm flipV="1">
            <a:off x="11472753" y="2129368"/>
            <a:ext cx="1290782" cy="369332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7B0DA9-5E07-9805-9C6D-BFA73318ADD8}"/>
              </a:ext>
            </a:extLst>
          </p:cNvPr>
          <p:cNvSpPr txBox="1"/>
          <p:nvPr/>
        </p:nvSpPr>
        <p:spPr>
          <a:xfrm>
            <a:off x="11964095" y="18574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FD280E-A461-B9E2-CEF7-302357F0107E}"/>
              </a:ext>
            </a:extLst>
          </p:cNvPr>
          <p:cNvSpPr txBox="1"/>
          <p:nvPr/>
        </p:nvSpPr>
        <p:spPr>
          <a:xfrm>
            <a:off x="11964095" y="7647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7C4FCF-8391-6680-C7E9-475F9D2A62B4}"/>
              </a:ext>
            </a:extLst>
          </p:cNvPr>
          <p:cNvSpPr txBox="1"/>
          <p:nvPr/>
        </p:nvSpPr>
        <p:spPr>
          <a:xfrm>
            <a:off x="10387893" y="747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98C64-0A4B-E47B-D0DA-C595B9F73DC7}"/>
              </a:ext>
            </a:extLst>
          </p:cNvPr>
          <p:cNvSpPr txBox="1"/>
          <p:nvPr/>
        </p:nvSpPr>
        <p:spPr>
          <a:xfrm>
            <a:off x="11240696" y="3098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916484-1F62-9695-86D3-FFC61DFA9173}"/>
              </a:ext>
            </a:extLst>
          </p:cNvPr>
          <p:cNvCxnSpPr>
            <a:cxnSpLocks/>
          </p:cNvCxnSpPr>
          <p:nvPr/>
        </p:nvCxnSpPr>
        <p:spPr>
          <a:xfrm>
            <a:off x="7627917" y="6709839"/>
            <a:ext cx="5850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4911B1-10A8-7412-6DB7-B9025E4778B4}"/>
              </a:ext>
            </a:extLst>
          </p:cNvPr>
          <p:cNvCxnSpPr>
            <a:cxnSpLocks/>
          </p:cNvCxnSpPr>
          <p:nvPr/>
        </p:nvCxnSpPr>
        <p:spPr>
          <a:xfrm flipV="1">
            <a:off x="7828769" y="4113996"/>
            <a:ext cx="0" cy="282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89BCE7-DAB7-1834-3799-72A040D0FACE}"/>
              </a:ext>
            </a:extLst>
          </p:cNvPr>
          <p:cNvSpPr txBox="1"/>
          <p:nvPr/>
        </p:nvSpPr>
        <p:spPr>
          <a:xfrm>
            <a:off x="7070713" y="376419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4D02F5-6575-268D-7ED9-9F651B0367C5}"/>
              </a:ext>
            </a:extLst>
          </p:cNvPr>
          <p:cNvCxnSpPr/>
          <p:nvPr/>
        </p:nvCxnSpPr>
        <p:spPr>
          <a:xfrm>
            <a:off x="8316065" y="5300137"/>
            <a:ext cx="388620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4FCEAD-8D71-D570-C8E0-1B91E1EA49B7}"/>
              </a:ext>
            </a:extLst>
          </p:cNvPr>
          <p:cNvSpPr txBox="1"/>
          <p:nvPr/>
        </p:nvSpPr>
        <p:spPr>
          <a:xfrm>
            <a:off x="12278605" y="51281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F949A1-659D-C0EA-2E4C-899EFF1D89ED}"/>
              </a:ext>
            </a:extLst>
          </p:cNvPr>
          <p:cNvCxnSpPr>
            <a:cxnSpLocks/>
          </p:cNvCxnSpPr>
          <p:nvPr/>
        </p:nvCxnSpPr>
        <p:spPr>
          <a:xfrm>
            <a:off x="10864532" y="6052069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9C3A3F-2034-04C1-2617-AA98371E5BEA}"/>
              </a:ext>
            </a:extLst>
          </p:cNvPr>
          <p:cNvSpPr txBox="1"/>
          <p:nvPr/>
        </p:nvSpPr>
        <p:spPr>
          <a:xfrm>
            <a:off x="12291806" y="58547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9CAD55-5010-4106-A117-3B4033572F89}"/>
              </a:ext>
            </a:extLst>
          </p:cNvPr>
          <p:cNvCxnSpPr>
            <a:cxnSpLocks/>
          </p:cNvCxnSpPr>
          <p:nvPr/>
        </p:nvCxnSpPr>
        <p:spPr>
          <a:xfrm>
            <a:off x="10858468" y="4307184"/>
            <a:ext cx="130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60C8E89-44A6-EA71-E8B6-4EE990ABC93E}"/>
              </a:ext>
            </a:extLst>
          </p:cNvPr>
          <p:cNvSpPr txBox="1"/>
          <p:nvPr/>
        </p:nvSpPr>
        <p:spPr>
          <a:xfrm>
            <a:off x="12280530" y="411725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c=d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CEAD50-8FE8-4AC1-0A59-65EC1C227DF9}"/>
              </a:ext>
            </a:extLst>
          </p:cNvPr>
          <p:cNvSpPr txBox="1"/>
          <p:nvPr/>
        </p:nvSpPr>
        <p:spPr>
          <a:xfrm>
            <a:off x="10807624" y="449957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+0.029</a:t>
            </a:r>
            <a:r>
              <a:rPr lang="zh-CN" altLang="en-US" dirty="0"/>
              <a:t> **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FF393C-E0D3-4AEC-961E-FC96BC02FC49}"/>
              </a:ext>
            </a:extLst>
          </p:cNvPr>
          <p:cNvSpPr txBox="1"/>
          <p:nvPr/>
        </p:nvSpPr>
        <p:spPr>
          <a:xfrm>
            <a:off x="10856543" y="544830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-0.024</a:t>
            </a:r>
            <a:r>
              <a:rPr lang="zh-CN" altLang="en-US" dirty="0"/>
              <a:t> *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68973-A9BB-805C-9EC9-612084045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596" y="4047184"/>
            <a:ext cx="3850097" cy="260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8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01F0A7-D903-8FF0-0866-ED21FDE4E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Appendix: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deviation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0E480-DC3F-5FDF-6D9D-A61D72BC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indent="0">
              <a:buNone/>
            </a:pPr>
            <a:r>
              <a:rPr lang="zh-TW" altLang="en-US" sz="1100" b="0" dirty="0">
                <a:latin typeface="+mn-lt"/>
              </a:rPr>
              <a:t>你是一位中文技术问答社区的内容关系评估专家。请根据同一个问题下的两个答案，评估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相对于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的“</a:t>
            </a:r>
            <a:r>
              <a:rPr lang="en-US" altLang="en-US" sz="1100" b="0" dirty="0">
                <a:latin typeface="+mn-lt"/>
              </a:rPr>
              <a:t>technical-path deviation”（</a:t>
            </a:r>
            <a:r>
              <a:rPr lang="zh-TW" altLang="en-US" sz="1100" b="0" dirty="0">
                <a:latin typeface="+mn-lt"/>
              </a:rPr>
              <a:t>技术路径偏离）程度。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核心定义：</a:t>
            </a:r>
          </a:p>
          <a:p>
            <a:pPr indent="0">
              <a:buNone/>
            </a:pP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“技术路径偏离”指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是否偏离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的核心诊断、解释、方法或实现方案，转向另一条不同的技术路径。它衡量的是两个答案之间的关系，不是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本身的质量、正确性、长度、礼貌程度或可读性。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请先识别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的核心技术路径，再判断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与它的关系。核心技术路径包括：主要原因判断、主要技术方案、关键操作步骤、排查方向、代码实现思路、工具或框架选择、以及对问题机制的解释。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评分标准如下：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- 0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基本仍沿着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的核心技术路径展开，只是在同一路径上补充细节、条件、代码、例子、边界情况或执行步骤，没有明显转向。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- 1-3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只有轻微偏离。主体仍在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的原路径上，但加入了少量不同的补充方向、替代性细节或次要调整。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- 4-6 </a:t>
            </a:r>
            <a:r>
              <a:rPr lang="zh-TW" altLang="en-US" sz="1100" b="0" dirty="0">
                <a:latin typeface="+mn-lt"/>
              </a:rPr>
              <a:t>分：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有中等程度的偏离。它部分保留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的核心方向，但同时引入了新的主要方法、不同的排查重点、不同的实现方案，或把回答重心转向另一条也较重要的路径。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- 7-9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明显偏离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的核心技术路径。它主要提出另一套诊断、方案、工具</a:t>
            </a: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/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框架、实现方式或排查路线，只保留很少的原路径痕迹，或仅在问题主题层面相关。</a:t>
            </a:r>
          </a:p>
          <a:p>
            <a:pPr indent="0"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+mn-lt"/>
              </a:rPr>
              <a:t>- 10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分：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later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几乎完全脱离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的原本技术路径，转向完全不同的核心解决路径，或基本没有回应 </a:t>
            </a:r>
            <a:r>
              <a:rPr lang="en-US" altLang="en-US" sz="1100" b="0" dirty="0">
                <a:solidFill>
                  <a:srgbClr val="FF0000"/>
                </a:solidFill>
                <a:latin typeface="+mn-lt"/>
              </a:rPr>
              <a:t>earlier answer </a:t>
            </a:r>
            <a:r>
              <a:rPr lang="zh-TW" altLang="en-US" sz="1100" b="0" dirty="0">
                <a:solidFill>
                  <a:srgbClr val="FF0000"/>
                </a:solidFill>
                <a:latin typeface="+mn-lt"/>
              </a:rPr>
              <a:t>所涉及的解决方向。</a:t>
            </a:r>
          </a:p>
          <a:p>
            <a:pPr indent="0">
              <a:buNone/>
            </a:pPr>
            <a:br>
              <a:rPr lang="zh-TW" altLang="en-US" sz="1100" b="0" dirty="0">
                <a:latin typeface="+mn-lt"/>
              </a:rPr>
            </a:br>
            <a:endParaRPr lang="zh-TW" altLang="en-US" sz="1100" b="0" dirty="0">
              <a:latin typeface="+mn-lt"/>
            </a:endParaRPr>
          </a:p>
          <a:p>
            <a:pPr indent="0">
              <a:buNone/>
            </a:pPr>
            <a:r>
              <a:rPr lang="zh-TW" altLang="en-US" sz="1100" b="0" dirty="0">
                <a:latin typeface="+mn-lt"/>
              </a:rPr>
              <a:t>判断时请遵守以下规则：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1. </a:t>
            </a:r>
            <a:r>
              <a:rPr lang="zh-TW" altLang="en-US" sz="1100" b="0" dirty="0">
                <a:latin typeface="+mn-lt"/>
              </a:rPr>
              <a:t>必须结合 </a:t>
            </a:r>
            <a:r>
              <a:rPr lang="en-US" altLang="en-US" sz="1100" b="0" dirty="0">
                <a:latin typeface="+mn-lt"/>
              </a:rPr>
              <a:t>Question </a:t>
            </a:r>
            <a:r>
              <a:rPr lang="zh-TW" altLang="en-US" sz="1100" b="0" dirty="0">
                <a:latin typeface="+mn-lt"/>
              </a:rPr>
              <a:t>理解两个答案是否在解决同一个具体问题。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2. </a:t>
            </a:r>
            <a:r>
              <a:rPr lang="zh-TW" altLang="en-US" sz="1100" b="0" dirty="0">
                <a:latin typeface="+mn-lt"/>
              </a:rPr>
              <a:t>不要把答案质量当成评分对象。一个更正确或更详细的 </a:t>
            </a:r>
            <a:r>
              <a:rPr lang="en-US" altLang="en-US" sz="1100" b="0" dirty="0">
                <a:latin typeface="+mn-lt"/>
              </a:rPr>
              <a:t>later answer，</a:t>
            </a:r>
            <a:r>
              <a:rPr lang="zh-TW" altLang="en-US" sz="1100" b="0" dirty="0">
                <a:latin typeface="+mn-lt"/>
              </a:rPr>
              <a:t>如果仍然走的是同一路径，也不应给高分。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3. </a:t>
            </a:r>
            <a:r>
              <a:rPr lang="zh-TW" altLang="en-US" sz="1100" b="0" dirty="0">
                <a:latin typeface="+mn-lt"/>
              </a:rPr>
              <a:t>不要把文本相似度当成评分对象。措辞不同但核心路径一致，应给低分；措辞相似但核心方案转向了别的路径，也可以给高分。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4. </a:t>
            </a:r>
            <a:r>
              <a:rPr lang="zh-TW" altLang="en-US" sz="1100" b="0" dirty="0">
                <a:latin typeface="+mn-lt"/>
              </a:rPr>
              <a:t>不要因为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更长就自动给高分。只有当新增内容意味着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改变了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的核心诊断、方法、实现路径、工具选择或排查方向时，才提高分数。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5.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同时包含延续原路径和转向新路径的内容，请根据其主要贡献给分：主要仍在原路径上则偏低，主要转向新路径则偏高，二者接近则给 </a:t>
            </a:r>
            <a:r>
              <a:rPr lang="en-US" altLang="zh-TW" sz="1100" b="0" dirty="0">
                <a:latin typeface="+mn-lt"/>
              </a:rPr>
              <a:t>4-6 </a:t>
            </a:r>
            <a:r>
              <a:rPr lang="zh-TW" altLang="en-US" sz="1100" b="0" dirty="0">
                <a:latin typeface="+mn-lt"/>
              </a:rPr>
              <a:t>分。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6. </a:t>
            </a:r>
            <a:r>
              <a:rPr lang="zh-TW" altLang="en-US" sz="1100" b="0" dirty="0">
                <a:latin typeface="+mn-lt"/>
              </a:rPr>
              <a:t>如果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或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内容过短、含糊或缺乏实质解决方案，请根据可识别的路径信息谨慎评分，并在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中说明原因。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7. </a:t>
            </a:r>
            <a:r>
              <a:rPr lang="zh-TW" altLang="en-US" sz="1100" b="0" dirty="0">
                <a:latin typeface="+mn-lt"/>
              </a:rPr>
              <a:t>请给出一个 </a:t>
            </a:r>
            <a:r>
              <a:rPr lang="en-US" altLang="zh-TW" sz="1100" b="0" dirty="0">
                <a:latin typeface="+mn-lt"/>
              </a:rPr>
              <a:t>0-10 </a:t>
            </a:r>
            <a:r>
              <a:rPr lang="zh-TW" altLang="en-US" sz="1100" b="0" dirty="0">
                <a:latin typeface="+mn-lt"/>
              </a:rPr>
              <a:t>的整数分数。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8. </a:t>
            </a:r>
            <a:r>
              <a:rPr lang="en-US" altLang="en-US" sz="1100" b="0" dirty="0">
                <a:latin typeface="+mn-lt"/>
              </a:rPr>
              <a:t>justification </a:t>
            </a:r>
            <a:r>
              <a:rPr lang="zh-TW" altLang="en-US" sz="1100" b="0" dirty="0">
                <a:latin typeface="+mn-lt"/>
              </a:rPr>
              <a:t>必须是简单的一句中文说明，说明 </a:t>
            </a:r>
            <a:r>
              <a:rPr lang="en-US" altLang="en-US" sz="1100" b="0" dirty="0">
                <a:latin typeface="+mn-lt"/>
              </a:rPr>
              <a:t>later answer </a:t>
            </a:r>
            <a:r>
              <a:rPr lang="zh-TW" altLang="en-US" sz="1100" b="0" dirty="0">
                <a:latin typeface="+mn-lt"/>
              </a:rPr>
              <a:t>是如何保持或偏离 </a:t>
            </a:r>
            <a:r>
              <a:rPr lang="en-US" altLang="en-US" sz="1100" b="0" dirty="0">
                <a:latin typeface="+mn-lt"/>
              </a:rPr>
              <a:t>earlier answer </a:t>
            </a:r>
            <a:r>
              <a:rPr lang="zh-TW" altLang="en-US" sz="1100" b="0" dirty="0">
                <a:latin typeface="+mn-lt"/>
              </a:rPr>
              <a:t>的核心技术路径。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9.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必须返回，且只能是 </a:t>
            </a:r>
            <a:r>
              <a:rPr lang="en-US" altLang="en-US" sz="1100" b="0" dirty="0">
                <a:latin typeface="+mn-lt"/>
              </a:rPr>
              <a:t>same_path、different_path、mixed </a:t>
            </a:r>
            <a:r>
              <a:rPr lang="zh-TW" altLang="en-US" sz="1100" b="0" dirty="0">
                <a:latin typeface="+mn-lt"/>
              </a:rPr>
              <a:t>三者之一，不允许留空，不允许返回其他词。</a:t>
            </a:r>
          </a:p>
          <a:p>
            <a:pPr indent="0">
              <a:buNone/>
            </a:pPr>
            <a:r>
              <a:rPr lang="en-US" altLang="zh-TW" sz="1100" b="0" dirty="0">
                <a:latin typeface="+mn-lt"/>
              </a:rPr>
              <a:t>10. </a:t>
            </a:r>
            <a:r>
              <a:rPr lang="zh-TW" altLang="en-US" sz="1100" b="0" dirty="0">
                <a:latin typeface="+mn-lt"/>
              </a:rPr>
              <a:t>评分和 </a:t>
            </a:r>
            <a:r>
              <a:rPr lang="en-US" altLang="en-US" sz="1100" b="0" dirty="0">
                <a:latin typeface="+mn-lt"/>
              </a:rPr>
              <a:t>relationship_label </a:t>
            </a:r>
            <a:r>
              <a:rPr lang="zh-TW" altLang="en-US" sz="1100" b="0" dirty="0">
                <a:latin typeface="+mn-lt"/>
              </a:rPr>
              <a:t>必须一致：</a:t>
            </a:r>
            <a:r>
              <a:rPr lang="en-US" altLang="zh-TW" sz="1100" b="0" dirty="0">
                <a:latin typeface="+mn-lt"/>
              </a:rPr>
              <a:t>0-3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same_path，4-6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mixed，7-10 </a:t>
            </a:r>
            <a:r>
              <a:rPr lang="zh-TW" altLang="en-US" sz="1100" b="0" dirty="0">
                <a:latin typeface="+mn-lt"/>
              </a:rPr>
              <a:t>分优先对应 </a:t>
            </a:r>
            <a:r>
              <a:rPr lang="en-US" altLang="en-US" sz="1100" b="0" dirty="0">
                <a:latin typeface="+mn-lt"/>
              </a:rPr>
              <a:t>different_path。</a:t>
            </a:r>
            <a:r>
              <a:rPr lang="zh-TW" altLang="en-US" sz="1100" b="0" dirty="0">
                <a:latin typeface="+mn-lt"/>
              </a:rPr>
              <a:t>如二者不一致，请以这个映射修正 </a:t>
            </a:r>
            <a:r>
              <a:rPr lang="en-US" altLang="en-US" sz="1100" b="0" dirty="0">
                <a:latin typeface="+mn-lt"/>
              </a:rPr>
              <a:t>relationship_label。</a:t>
            </a:r>
          </a:p>
          <a:p>
            <a:pPr indent="0">
              <a:buNone/>
            </a:pPr>
            <a:r>
              <a:rPr lang="en-US" altLang="en-US" sz="1100" b="0" dirty="0">
                <a:latin typeface="+mn-lt"/>
              </a:rPr>
              <a:t>11. </a:t>
            </a:r>
            <a:r>
              <a:rPr lang="zh-TW" altLang="en-US" sz="1100" b="0" dirty="0">
                <a:latin typeface="+mn-lt"/>
              </a:rPr>
              <a:t>只返回 </a:t>
            </a:r>
            <a:r>
              <a:rPr lang="en-US" altLang="en-US" sz="1100" b="0" dirty="0">
                <a:latin typeface="+mn-lt"/>
              </a:rPr>
              <a:t>JSON，</a:t>
            </a:r>
            <a:r>
              <a:rPr lang="zh-TW" altLang="en-US" sz="1100" b="0" dirty="0">
                <a:latin typeface="+mn-lt"/>
              </a:rPr>
              <a:t>不要输出任何额外文字，也不要使用 </a:t>
            </a:r>
            <a:r>
              <a:rPr lang="en-US" altLang="en-US" sz="1100" b="0" dirty="0">
                <a:latin typeface="+mn-lt"/>
              </a:rPr>
              <a:t>markdown </a:t>
            </a:r>
            <a:r>
              <a:rPr lang="zh-TW" altLang="en-US" sz="1100" b="0" dirty="0">
                <a:latin typeface="+mn-lt"/>
              </a:rPr>
              <a:t>代码块。</a:t>
            </a:r>
          </a:p>
          <a:p>
            <a:pPr indent="0">
              <a:buNone/>
            </a:pPr>
            <a:endParaRPr lang="en-US" altLang="en-US" sz="1100" dirty="0">
              <a:latin typeface="+mn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469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075BD1-8BAA-6DF7-7317-1782D89E45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59A71-333E-ABEE-E65E-28D70659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Column3-5: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 err="1"/>
              <a:t>qualittAI_fillna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42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94791</TotalTime>
  <Words>2496</Words>
  <Application>Microsoft Macintosh PowerPoint</Application>
  <PresentationFormat>Custom</PresentationFormat>
  <Paragraphs>413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微软雅黑</vt:lpstr>
      <vt:lpstr>Wingdings</vt:lpstr>
      <vt:lpstr>Calibri Light</vt:lpstr>
      <vt:lpstr>Lato</vt:lpstr>
      <vt:lpstr>等线</vt:lpstr>
      <vt:lpstr>Arial</vt:lpstr>
      <vt:lpstr>Lato Black</vt:lpstr>
      <vt:lpstr>Lato Light</vt:lpstr>
      <vt:lpstr>Calibri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415</cp:revision>
  <dcterms:created xsi:type="dcterms:W3CDTF">2020-04-20T03:29:34Z</dcterms:created>
  <dcterms:modified xsi:type="dcterms:W3CDTF">2026-05-05T06:09:25Z</dcterms:modified>
  <cp:category/>
</cp:coreProperties>
</file>