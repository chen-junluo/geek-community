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bookmarkIdSeed="3">
  <p:sldMasterIdLst>
    <p:sldMasterId id="2147483754" r:id="rId1"/>
  </p:sldMasterIdLst>
  <p:notesMasterIdLst>
    <p:notesMasterId r:id="rId21"/>
  </p:notesMasterIdLst>
  <p:sldIdLst>
    <p:sldId id="351" r:id="rId2"/>
    <p:sldId id="352" r:id="rId3"/>
    <p:sldId id="353" r:id="rId4"/>
    <p:sldId id="365" r:id="rId5"/>
    <p:sldId id="354" r:id="rId6"/>
    <p:sldId id="355" r:id="rId7"/>
    <p:sldId id="356" r:id="rId8"/>
    <p:sldId id="357" r:id="rId9"/>
    <p:sldId id="366" r:id="rId10"/>
    <p:sldId id="368" r:id="rId11"/>
    <p:sldId id="369" r:id="rId12"/>
    <p:sldId id="370" r:id="rId13"/>
    <p:sldId id="372" r:id="rId14"/>
    <p:sldId id="373" r:id="rId15"/>
    <p:sldId id="378" r:id="rId16"/>
    <p:sldId id="379" r:id="rId17"/>
    <p:sldId id="371" r:id="rId18"/>
    <p:sldId id="374" r:id="rId19"/>
    <p:sldId id="375" r:id="rId20"/>
  </p:sldIdLst>
  <p:sldSz cx="9144000" cy="5143500" type="screen16x9"/>
  <p:notesSz cx="6858000" cy="9144000"/>
  <p:embeddedFontLst>
    <p:embeddedFont>
      <p:font typeface="等线" panose="02010600030101010101" pitchFamily="2" charset="-122"/>
      <p:regular r:id="rId22"/>
      <p:bold r:id="rId23"/>
    </p:embeddedFont>
    <p:embeddedFont>
      <p:font typeface="Georgia" panose="02040502050405020303" pitchFamily="18" charset="0"/>
      <p:regular r:id="rId24"/>
      <p:bold r:id="rId25"/>
      <p:italic r:id="rId26"/>
      <p:boldItalic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rmal" id="{BB674D8F-EA6E-4E7A-BB36-51CE4AEB7194}">
          <p14:sldIdLst>
            <p14:sldId id="351"/>
            <p14:sldId id="352"/>
            <p14:sldId id="353"/>
            <p14:sldId id="365"/>
            <p14:sldId id="354"/>
            <p14:sldId id="355"/>
            <p14:sldId id="356"/>
            <p14:sldId id="357"/>
            <p14:sldId id="366"/>
            <p14:sldId id="368"/>
            <p14:sldId id="369"/>
            <p14:sldId id="370"/>
            <p14:sldId id="372"/>
            <p14:sldId id="373"/>
            <p14:sldId id="378"/>
            <p14:sldId id="379"/>
            <p14:sldId id="371"/>
            <p14:sldId id="374"/>
            <p14:sldId id="375"/>
          </p14:sldIdLst>
        </p14:section>
      </p14:sectionLst>
    </p:ext>
    <p:ext uri="{EFAFB233-063F-42B5-8137-9DF3F51BA10A}">
      <p15:sldGuideLst xmlns:p15="http://schemas.microsoft.com/office/powerpoint/2012/main">
        <p15:guide id="1" pos="311" userDrawn="1">
          <p15:clr>
            <a:srgbClr val="A4A3A4"/>
          </p15:clr>
        </p15:guide>
        <p15:guide id="2" pos="5449" userDrawn="1">
          <p15:clr>
            <a:srgbClr val="A4A3A4"/>
          </p15:clr>
        </p15:guide>
        <p15:guide id="3" orient="horz" pos="486" userDrawn="1">
          <p15:clr>
            <a:srgbClr val="A4A3A4"/>
          </p15:clr>
        </p15:guide>
        <p15:guide id="4" orient="horz" pos="534" userDrawn="1">
          <p15:clr>
            <a:srgbClr val="A4A3A4"/>
          </p15:clr>
        </p15:guide>
        <p15:guide id="5" orient="horz" pos="2946" userDrawn="1">
          <p15:clr>
            <a:srgbClr val="A4A3A4"/>
          </p15:clr>
        </p15:guide>
        <p15:guide id="6" orient="horz" pos="5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7F7F7F"/>
    <a:srgbClr val="BFBFBF"/>
    <a:srgbClr val="FBE6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19" autoAdjust="0"/>
    <p:restoredTop sz="77128" autoAdjust="0"/>
  </p:normalViewPr>
  <p:slideViewPr>
    <p:cSldViewPr snapToGrid="0" showGuides="1">
      <p:cViewPr>
        <p:scale>
          <a:sx n="100" d="100"/>
          <a:sy n="100" d="100"/>
        </p:scale>
        <p:origin x="3840" y="808"/>
      </p:cViewPr>
      <p:guideLst>
        <p:guide pos="311"/>
        <p:guide pos="5449"/>
        <p:guide orient="horz" pos="486"/>
        <p:guide orient="horz" pos="534"/>
        <p:guide orient="horz" pos="2946"/>
        <p:guide orient="horz" pos="53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38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68B4A-600B-4E47-A44F-5C9458F0BBBB}"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172E2-DACC-4E2B-A3E0-ED1661E9ED5A}" type="slidenum">
              <a:rPr lang="zh-CN" altLang="en-US" smtClean="0"/>
              <a:t>‹#›</a:t>
            </a:fld>
            <a:endParaRPr lang="zh-CN" altLang="en-US"/>
          </a:p>
        </p:txBody>
      </p:sp>
    </p:spTree>
    <p:extLst>
      <p:ext uri="{BB962C8B-B14F-4D97-AF65-F5344CB8AC3E}">
        <p14:creationId xmlns:p14="http://schemas.microsoft.com/office/powerpoint/2010/main" val="3310344369"/>
      </p:ext>
    </p:extLst>
  </p:cSld>
  <p:clrMap bg1="lt1" tx1="dk1" bg2="lt2" tx2="dk2" accent1="accent1" accent2="accent2" accent3="accent3" accent4="accent4" accent5="accent5" accent6="accent6" hlink="hlink" folHlink="folHlink"/>
  <p:notesStyle>
    <a:lvl1pPr marL="0" algn="l" defTabSz="607893" rtl="0" eaLnBrk="1" latinLnBrk="0" hangingPunct="1">
      <a:defRPr sz="798" kern="1200">
        <a:solidFill>
          <a:schemeClr val="tx1"/>
        </a:solidFill>
        <a:latin typeface="+mn-lt"/>
        <a:ea typeface="+mn-ea"/>
        <a:cs typeface="+mn-cs"/>
      </a:defRPr>
    </a:lvl1pPr>
    <a:lvl2pPr marL="303947" algn="l" defTabSz="607893" rtl="0" eaLnBrk="1" latinLnBrk="0" hangingPunct="1">
      <a:defRPr sz="798" kern="1200">
        <a:solidFill>
          <a:schemeClr val="tx1"/>
        </a:solidFill>
        <a:latin typeface="+mn-lt"/>
        <a:ea typeface="+mn-ea"/>
        <a:cs typeface="+mn-cs"/>
      </a:defRPr>
    </a:lvl2pPr>
    <a:lvl3pPr marL="607893" algn="l" defTabSz="607893" rtl="0" eaLnBrk="1" latinLnBrk="0" hangingPunct="1">
      <a:defRPr sz="798" kern="1200">
        <a:solidFill>
          <a:schemeClr val="tx1"/>
        </a:solidFill>
        <a:latin typeface="+mn-lt"/>
        <a:ea typeface="+mn-ea"/>
        <a:cs typeface="+mn-cs"/>
      </a:defRPr>
    </a:lvl3pPr>
    <a:lvl4pPr marL="911840" algn="l" defTabSz="607893" rtl="0" eaLnBrk="1" latinLnBrk="0" hangingPunct="1">
      <a:defRPr sz="798" kern="1200">
        <a:solidFill>
          <a:schemeClr val="tx1"/>
        </a:solidFill>
        <a:latin typeface="+mn-lt"/>
        <a:ea typeface="+mn-ea"/>
        <a:cs typeface="+mn-cs"/>
      </a:defRPr>
    </a:lvl4pPr>
    <a:lvl5pPr marL="1215786" algn="l" defTabSz="607893" rtl="0" eaLnBrk="1" latinLnBrk="0" hangingPunct="1">
      <a:defRPr sz="798" kern="1200">
        <a:solidFill>
          <a:schemeClr val="tx1"/>
        </a:solidFill>
        <a:latin typeface="+mn-lt"/>
        <a:ea typeface="+mn-ea"/>
        <a:cs typeface="+mn-cs"/>
      </a:defRPr>
    </a:lvl5pPr>
    <a:lvl6pPr marL="1519733" algn="l" defTabSz="607893" rtl="0" eaLnBrk="1" latinLnBrk="0" hangingPunct="1">
      <a:defRPr sz="798" kern="1200">
        <a:solidFill>
          <a:schemeClr val="tx1"/>
        </a:solidFill>
        <a:latin typeface="+mn-lt"/>
        <a:ea typeface="+mn-ea"/>
        <a:cs typeface="+mn-cs"/>
      </a:defRPr>
    </a:lvl6pPr>
    <a:lvl7pPr marL="1823679" algn="l" defTabSz="607893" rtl="0" eaLnBrk="1" latinLnBrk="0" hangingPunct="1">
      <a:defRPr sz="798" kern="1200">
        <a:solidFill>
          <a:schemeClr val="tx1"/>
        </a:solidFill>
        <a:latin typeface="+mn-lt"/>
        <a:ea typeface="+mn-ea"/>
        <a:cs typeface="+mn-cs"/>
      </a:defRPr>
    </a:lvl7pPr>
    <a:lvl8pPr marL="2127626" algn="l" defTabSz="607893" rtl="0" eaLnBrk="1" latinLnBrk="0" hangingPunct="1">
      <a:defRPr sz="798" kern="1200">
        <a:solidFill>
          <a:schemeClr val="tx1"/>
        </a:solidFill>
        <a:latin typeface="+mn-lt"/>
        <a:ea typeface="+mn-ea"/>
        <a:cs typeface="+mn-cs"/>
      </a:defRPr>
    </a:lvl8pPr>
    <a:lvl9pPr marL="2431572" algn="l" defTabSz="607893" rtl="0" eaLnBrk="1" latinLnBrk="0" hangingPunct="1">
      <a:defRPr sz="79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Thank you for your time today. We really appreciate the opportunity to discuss our revision plan with you. Today, we want to walk you through what we changed, why we changed it, and how our new theory connects to the </a:t>
            </a:r>
            <a:r>
              <a:rPr lang="en-US" altLang="zh-CN" sz="798" kern="1200" dirty="0">
                <a:solidFill>
                  <a:schemeClr val="tx1"/>
                </a:solidFill>
                <a:effectLst/>
                <a:latin typeface="+mn-lt"/>
                <a:ea typeface="+mn-ea"/>
                <a:cs typeface="+mn-cs"/>
              </a:rPr>
              <a:t>empirical</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results</a:t>
            </a:r>
            <a:r>
              <a:rPr lang="en-US" sz="798" kern="1200" dirty="0">
                <a:solidFill>
                  <a:schemeClr val="tx1"/>
                </a:solidFill>
                <a:effectLst/>
                <a:latin typeface="+mn-lt"/>
                <a:ea typeface="+mn-ea"/>
                <a:cs typeface="+mn-cs"/>
              </a:rPr>
              <a:t>. Let’s </a:t>
            </a:r>
            <a:r>
              <a:rPr lang="en-US" altLang="zh-CN" sz="798" kern="1200" dirty="0">
                <a:solidFill>
                  <a:schemeClr val="tx1"/>
                </a:solidFill>
                <a:effectLst/>
                <a:latin typeface="+mn-lt"/>
                <a:ea typeface="+mn-ea"/>
                <a:cs typeface="+mn-cs"/>
              </a:rPr>
              <a:t>go.</a:t>
            </a:r>
            <a:endParaRPr lang="en-US" sz="798"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0</a:t>
            </a:fld>
            <a:endParaRPr lang="zh-CN" altLang="en-US"/>
          </a:p>
        </p:txBody>
      </p:sp>
    </p:spTree>
    <p:extLst>
      <p:ext uri="{BB962C8B-B14F-4D97-AF65-F5344CB8AC3E}">
        <p14:creationId xmlns:p14="http://schemas.microsoft.com/office/powerpoint/2010/main" val="320370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We have four parts. First, a quick recap of our paper — just to make sure we're on the same page. Then, the review panel's main concern. After that, your suggestion — and which direction we picked. Finally, the core of today: our new theoretical framework and how it maps onto the results.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a:t>
            </a:fld>
            <a:endParaRPr lang="zh-CN" altLang="en-US"/>
          </a:p>
        </p:txBody>
      </p:sp>
    </p:spTree>
    <p:extLst>
      <p:ext uri="{BB962C8B-B14F-4D97-AF65-F5344CB8AC3E}">
        <p14:creationId xmlns:p14="http://schemas.microsoft.com/office/powerpoint/2010/main" val="727833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So, a quick </a:t>
            </a:r>
            <a:r>
              <a:rPr lang="en-US" altLang="zh-CN" sz="798" kern="1200" dirty="0">
                <a:solidFill>
                  <a:schemeClr val="tx1"/>
                </a:solidFill>
                <a:effectLst/>
                <a:latin typeface="+mn-lt"/>
                <a:ea typeface="+mn-ea"/>
                <a:cs typeface="+mn-cs"/>
              </a:rPr>
              <a:t>recap</a:t>
            </a:r>
            <a:r>
              <a:rPr lang="en-US" sz="798" kern="1200" dirty="0">
                <a:solidFill>
                  <a:schemeClr val="tx1"/>
                </a:solidFill>
                <a:effectLst/>
                <a:latin typeface="+mn-lt"/>
                <a:ea typeface="+mn-ea"/>
                <a:cs typeface="+mn-cs"/>
              </a:rPr>
              <a:t>. </a:t>
            </a:r>
            <a:r>
              <a:rPr lang="en-US" dirty="0"/>
              <a:t>ChatGPT challenges online Q&amp;A communities. Questioners no longer post questions in communities, because they can directly ask ChatGPT. Many existing studies have already looked at the impact of ChatGPT on online Q&amp;A communities.</a:t>
            </a:r>
          </a:p>
          <a:p>
            <a:pPr marL="0" marR="0" lvl="0" indent="0" algn="l" defTabSz="607893" rtl="0" eaLnBrk="1" fontAlgn="auto" latinLnBrk="0" hangingPunct="1">
              <a:lnSpc>
                <a:spcPct val="100000"/>
              </a:lnSpc>
              <a:spcBef>
                <a:spcPts val="0"/>
              </a:spcBef>
              <a:spcAft>
                <a:spcPts val="0"/>
              </a:spcAft>
              <a:buClrTx/>
              <a:buSzTx/>
              <a:buFontTx/>
              <a:buNone/>
              <a:tabLst/>
              <a:defRPr/>
            </a:pPr>
            <a:br>
              <a:rPr lang="en-US" sz="798" kern="1200" dirty="0">
                <a:solidFill>
                  <a:schemeClr val="tx1"/>
                </a:solidFill>
                <a:effectLst/>
                <a:latin typeface="+mn-lt"/>
                <a:ea typeface="+mn-ea"/>
                <a:cs typeface="+mn-cs"/>
              </a:rPr>
            </a:br>
            <a:r>
              <a:rPr lang="en-US" dirty="0"/>
              <a:t>But here, we look at a totally different phenomenon - internal generative AI. Again, internal GenAI means AI bots developed by a platform and used only within this particular platform.</a:t>
            </a:r>
          </a:p>
          <a:p>
            <a:br>
              <a:rPr lang="en-US" sz="798" kern="1200" dirty="0">
                <a:solidFill>
                  <a:schemeClr val="tx1"/>
                </a:solidFill>
                <a:effectLst/>
                <a:latin typeface="+mn-lt"/>
                <a:ea typeface="+mn-ea"/>
                <a:cs typeface="+mn-cs"/>
              </a:rPr>
            </a:br>
            <a:r>
              <a:rPr lang="en-US" sz="798" kern="1200" dirty="0">
                <a:solidFill>
                  <a:schemeClr val="tx1"/>
                </a:solidFill>
                <a:effectLst/>
                <a:latin typeface="+mn-lt"/>
                <a:ea typeface="+mn-ea"/>
                <a:cs typeface="+mn-cs"/>
              </a:rPr>
              <a:t>Our research question is straightforward. </a:t>
            </a:r>
            <a:r>
              <a:rPr lang="en-US" dirty="0"/>
              <a:t>We want to look at the impact of the internal GenAI</a:t>
            </a:r>
            <a:r>
              <a:rPr lang="en-US" altLang="zh-CN" dirty="0"/>
              <a:t>.</a:t>
            </a:r>
            <a:r>
              <a:rPr lang="zh-CN" altLang="en-US" sz="798" kern="1200" dirty="0">
                <a:solidFill>
                  <a:schemeClr val="tx1"/>
                </a:solidFill>
                <a:effectLst/>
                <a:latin typeface="+mn-lt"/>
                <a:ea typeface="+mn-ea"/>
                <a:cs typeface="+mn-cs"/>
              </a:rPr>
              <a:t> </a:t>
            </a:r>
            <a:br>
              <a:rPr lang="en-US" altLang="zh-CN" sz="798" kern="1200" dirty="0">
                <a:solidFill>
                  <a:schemeClr val="tx1"/>
                </a:solidFill>
                <a:effectLst/>
                <a:latin typeface="+mn-lt"/>
                <a:ea typeface="+mn-ea"/>
                <a:cs typeface="+mn-cs"/>
              </a:rPr>
            </a:br>
            <a:br>
              <a:rPr lang="en-US" altLang="zh-CN" sz="798" kern="1200" dirty="0">
                <a:solidFill>
                  <a:schemeClr val="tx1"/>
                </a:solidFill>
                <a:effectLst/>
                <a:latin typeface="+mn-lt"/>
                <a:ea typeface="+mn-ea"/>
                <a:cs typeface="+mn-cs"/>
              </a:rPr>
            </a:br>
            <a:r>
              <a:rPr lang="en-US" altLang="zh-CN" sz="798" kern="1200" dirty="0">
                <a:solidFill>
                  <a:schemeClr val="tx1"/>
                </a:solidFill>
                <a:effectLst/>
                <a:latin typeface="+mn-lt"/>
                <a:ea typeface="+mn-ea"/>
                <a:cs typeface="+mn-cs"/>
              </a:rPr>
              <a:t>(</a:t>
            </a:r>
            <a:r>
              <a:rPr lang="en-US" sz="798" kern="1200" dirty="0">
                <a:solidFill>
                  <a:schemeClr val="tx1"/>
                </a:solidFill>
                <a:effectLst/>
                <a:latin typeface="+mn-lt"/>
                <a:ea typeface="+mn-ea"/>
                <a:cs typeface="+mn-cs"/>
              </a:rPr>
              <a:t>We care about two outcomes. One is supply — do fewer humans show up to answer? The other is recognition — do viewers appreciate human answers less?</a:t>
            </a:r>
            <a:r>
              <a:rPr lang="en-US" altLang="zh-CN" sz="798" kern="1200" dirty="0">
                <a:solidFill>
                  <a:schemeClr val="tx1"/>
                </a:solidFill>
                <a:effectLst/>
                <a:latin typeface="+mn-lt"/>
                <a:ea typeface="+mn-ea"/>
                <a:cs typeface="+mn-cs"/>
              </a:rPr>
              <a:t>)</a:t>
            </a:r>
            <a:endParaRPr lang="en-US" sz="798"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2</a:t>
            </a:fld>
            <a:endParaRPr lang="zh-CN" altLang="en-US"/>
          </a:p>
        </p:txBody>
      </p:sp>
    </p:spTree>
    <p:extLst>
      <p:ext uri="{BB962C8B-B14F-4D97-AF65-F5344CB8AC3E}">
        <p14:creationId xmlns:p14="http://schemas.microsoft.com/office/powerpoint/2010/main" val="3572601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dirty="0"/>
              <a:t>we use a randomized experiment conducted by the SegmentFault. SegmentFault is a leading Chinese online Q&amp;A community. The platform randomly assign questions to treatment group or control group. Treated questions receive AI answers very quickly. Control questions receive no AI answers.</a:t>
            </a:r>
          </a:p>
          <a:p>
            <a:pPr marL="0" marR="0" lvl="0" indent="0" algn="l" defTabSz="607893" rtl="0" eaLnBrk="1" fontAlgn="auto" latinLnBrk="0" hangingPunct="1">
              <a:lnSpc>
                <a:spcPct val="100000"/>
              </a:lnSpc>
              <a:spcBef>
                <a:spcPts val="0"/>
              </a:spcBef>
              <a:spcAft>
                <a:spcPts val="0"/>
              </a:spcAft>
              <a:buClrTx/>
              <a:buSzTx/>
              <a:buFontTx/>
              <a:buNone/>
              <a:tabLst/>
              <a:defRPr/>
            </a:pPr>
            <a:br>
              <a:rPr lang="en-US" dirty="0"/>
            </a:br>
            <a:r>
              <a:rPr lang="en-US" dirty="0"/>
              <a:t>Here is an </a:t>
            </a:r>
            <a:r>
              <a:rPr lang="en-US" dirty="0" err="1"/>
              <a:t>illusration</a:t>
            </a:r>
            <a:r>
              <a:rPr lang="en-US" dirty="0"/>
              <a:t>. Blue box indicates the questions in both treatment and control. For treatment question, platform provides AI answer very quickly. In contrast, control group receive no AI answers. Green boxes are human </a:t>
            </a:r>
            <a:r>
              <a:rPr lang="en-US" dirty="0" err="1"/>
              <a:t>answes</a:t>
            </a:r>
            <a:r>
              <a:rPr lang="en-US" dirty="0"/>
              <a:t>. Both treatment group and control group receive human answers.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3</a:t>
            </a:fld>
            <a:endParaRPr lang="zh-CN" altLang="en-US"/>
          </a:p>
        </p:txBody>
      </p:sp>
    </p:spTree>
    <p:extLst>
      <p:ext uri="{BB962C8B-B14F-4D97-AF65-F5344CB8AC3E}">
        <p14:creationId xmlns:p14="http://schemas.microsoft.com/office/powerpoint/2010/main" val="1587438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Now, let me show you our original framing. In the first submission, we had two main effects — AI reduces participation, AI reduces viewer recognition — and then we proposed mechanisms for each.</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For participation, we had three mechanisms: source effect, content effect, and position effect. For recognition, we tested quality degradation, attention diversion, and elevated expectations.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 structure was: here's the effect, here are three possible explanations, let's test them one by one. This is what the reviewers pushed back on.</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4</a:t>
            </a:fld>
            <a:endParaRPr lang="zh-CN" altLang="en-US"/>
          </a:p>
        </p:txBody>
      </p:sp>
    </p:spTree>
    <p:extLst>
      <p:ext uri="{BB962C8B-B14F-4D97-AF65-F5344CB8AC3E}">
        <p14:creationId xmlns:p14="http://schemas.microsoft.com/office/powerpoint/2010/main" val="1498287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The core concern was theory. The panel said we lack an overarching framework. Let me be specific about what they meant.</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First — no unified logic tying everything together. We had pieces, but no spine.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Second — our three mechanisms for participation — source, content, position — felt ad hoc. Reviewer 2 asked: are these theoretically justified? Reviewer 3 said: they're introduced in isolation, not derived from one coherent logic.</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Third — the relationship between theory and results was unclear. The reviewers couldn't see how the hypotheses follow from a single set of assumptions.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And finally, they asked: how is this different from Su et al. 2023? That paper also studies AI and human contribution. We need a clear theoretical boundary.</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5</a:t>
            </a:fld>
            <a:endParaRPr lang="zh-CN" altLang="en-US"/>
          </a:p>
        </p:txBody>
      </p:sp>
    </p:spTree>
    <p:extLst>
      <p:ext uri="{BB962C8B-B14F-4D97-AF65-F5344CB8AC3E}">
        <p14:creationId xmlns:p14="http://schemas.microsoft.com/office/powerpoint/2010/main" val="525146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You gave us three possible directions. One was participation incentives. Two was authority and credibility signals. Three was competition and complementarity between AI and human knowledge.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You specifically noted that a competition-complementarity framing could explain both when AI discourages humans and when it stimulates them. That's the direction we picked.</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We chose it for a practical reason: our data actually shows both effects. AI deters contributions under some conditions and elevates quality under others. A competition lens captures that duality naturally.</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6</a:t>
            </a:fld>
            <a:endParaRPr lang="zh-CN" altLang="en-US"/>
          </a:p>
        </p:txBody>
      </p:sp>
    </p:spTree>
    <p:extLst>
      <p:ext uri="{BB962C8B-B14F-4D97-AF65-F5344CB8AC3E}">
        <p14:creationId xmlns:p14="http://schemas.microsoft.com/office/powerpoint/2010/main" val="791265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On the top right, you see a red cross on the </a:t>
            </a:r>
            <a:r>
              <a:rPr lang="en-US" altLang="zh-CN" sz="798" kern="1200" dirty="0">
                <a:solidFill>
                  <a:schemeClr val="tx1"/>
                </a:solidFill>
                <a:effectLst/>
                <a:latin typeface="+mn-lt"/>
                <a:ea typeface="+mn-ea"/>
                <a:cs typeface="+mn-cs"/>
              </a:rPr>
              <a:t>position</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effect</a:t>
            </a:r>
            <a:r>
              <a:rPr lang="en-US" sz="798" kern="1200" dirty="0">
                <a:solidFill>
                  <a:schemeClr val="tx1"/>
                </a:solidFill>
                <a:effectLst/>
                <a:latin typeface="+mn-lt"/>
                <a:ea typeface="+mn-ea"/>
                <a:cs typeface="+mn-cs"/>
              </a:rPr>
              <a:t> mechanisms for participatio</a:t>
            </a:r>
            <a:r>
              <a:rPr lang="en-US" altLang="zh-CN" sz="798" kern="1200" dirty="0">
                <a:solidFill>
                  <a:schemeClr val="tx1"/>
                </a:solidFill>
                <a:effectLst/>
                <a:latin typeface="+mn-lt"/>
                <a:ea typeface="+mn-ea"/>
                <a:cs typeface="+mn-cs"/>
              </a:rPr>
              <a:t>n</a:t>
            </a:r>
            <a:r>
              <a:rPr lang="en-US" sz="798" kern="1200" dirty="0">
                <a:solidFill>
                  <a:schemeClr val="tx1"/>
                </a:solidFill>
                <a:effectLst/>
                <a:latin typeface="+mn-lt"/>
                <a:ea typeface="+mn-ea"/>
                <a:cs typeface="+mn-cs"/>
              </a:rPr>
              <a:t>. All three reviewers said </a:t>
            </a:r>
            <a:r>
              <a:rPr lang="en-US" altLang="zh-CN" sz="798" kern="1200" dirty="0">
                <a:solidFill>
                  <a:schemeClr val="tx1"/>
                </a:solidFill>
                <a:effectLst/>
                <a:latin typeface="+mn-lt"/>
                <a:ea typeface="+mn-ea"/>
                <a:cs typeface="+mn-cs"/>
              </a:rPr>
              <a:t>this</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is</a:t>
            </a:r>
            <a:r>
              <a:rPr lang="en-US" sz="798" kern="1200" dirty="0">
                <a:solidFill>
                  <a:schemeClr val="tx1"/>
                </a:solidFill>
                <a:effectLst/>
                <a:latin typeface="+mn-lt"/>
                <a:ea typeface="+mn-ea"/>
                <a:cs typeface="+mn-cs"/>
              </a:rPr>
              <a:t> hard to identify cleanly. Reviewer 2 specifically said they couldn't follow the logic. So we don't keep them as separate, isolated mechanisms. Instead, we rebuild from scratch with one unified logic.</a:t>
            </a:r>
          </a:p>
          <a:p>
            <a:endParaRPr lang="en-US" dirty="0"/>
          </a:p>
          <a:p>
            <a:r>
              <a:rPr lang="en-US" sz="798" kern="1200" dirty="0">
                <a:solidFill>
                  <a:schemeClr val="tx1"/>
                </a:solidFill>
                <a:effectLst/>
                <a:latin typeface="+mn-lt"/>
                <a:ea typeface="+mn-ea"/>
                <a:cs typeface="+mn-cs"/>
              </a:rPr>
              <a:t>On the bottom, the entire viewer recognition part is crossed out. This is a bigger change. The SE's letter told us to move from documenting empirical regularities to explaining behavioral processes. Viewer recognition — measured by upvotes — is an outcome, but it doesn't tell us much about </a:t>
            </a:r>
            <a:r>
              <a:rPr lang="en-US" sz="798" i="1" kern="1200" dirty="0">
                <a:solidFill>
                  <a:schemeClr val="tx1"/>
                </a:solidFill>
                <a:effectLst/>
                <a:latin typeface="+mn-lt"/>
                <a:ea typeface="+mn-ea"/>
                <a:cs typeface="+mn-cs"/>
              </a:rPr>
              <a:t>why</a:t>
            </a:r>
            <a:r>
              <a:rPr lang="en-US" sz="798" kern="1200" dirty="0">
                <a:solidFill>
                  <a:schemeClr val="tx1"/>
                </a:solidFill>
                <a:effectLst/>
                <a:latin typeface="+mn-lt"/>
                <a:ea typeface="+mn-ea"/>
                <a:cs typeface="+mn-cs"/>
              </a:rPr>
              <a:t> humans behave differently. So we shift our focus entirely to the supply side: what answerers </a:t>
            </a:r>
            <a:r>
              <a:rPr lang="en-US" sz="798" i="1" kern="1200" dirty="0">
                <a:solidFill>
                  <a:schemeClr val="tx1"/>
                </a:solidFill>
                <a:effectLst/>
                <a:latin typeface="+mn-lt"/>
                <a:ea typeface="+mn-ea"/>
                <a:cs typeface="+mn-cs"/>
              </a:rPr>
              <a:t>do</a:t>
            </a:r>
            <a:r>
              <a:rPr lang="en-US" sz="798" kern="1200" dirty="0">
                <a:solidFill>
                  <a:schemeClr val="tx1"/>
                </a:solidFill>
                <a:effectLst/>
                <a:latin typeface="+mn-lt"/>
                <a:ea typeface="+mn-ea"/>
                <a:cs typeface="+mn-cs"/>
              </a:rPr>
              <a:t> and </a:t>
            </a:r>
            <a:r>
              <a:rPr lang="en-US" sz="798" i="1" kern="1200" dirty="0">
                <a:solidFill>
                  <a:schemeClr val="tx1"/>
                </a:solidFill>
                <a:effectLst/>
                <a:latin typeface="+mn-lt"/>
                <a:ea typeface="+mn-ea"/>
                <a:cs typeface="+mn-cs"/>
              </a:rPr>
              <a:t>how well</a:t>
            </a:r>
            <a:r>
              <a:rPr lang="en-US" sz="798" kern="1200" dirty="0">
                <a:solidFill>
                  <a:schemeClr val="tx1"/>
                </a:solidFill>
                <a:effectLst/>
                <a:latin typeface="+mn-lt"/>
                <a:ea typeface="+mn-ea"/>
                <a:cs typeface="+mn-cs"/>
              </a:rPr>
              <a:t> they do it.</a:t>
            </a:r>
          </a:p>
          <a:p>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This gives us a tighter paper. Two DVs — participation and answer quality — both on the answerer side, both explained by one theory.</a:t>
            </a:r>
          </a:p>
          <a:p>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Now let me show you what replaces all of this.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7</a:t>
            </a:fld>
            <a:endParaRPr lang="zh-CN" altLang="en-US"/>
          </a:p>
        </p:txBody>
      </p:sp>
    </p:spTree>
    <p:extLst>
      <p:ext uri="{BB962C8B-B14F-4D97-AF65-F5344CB8AC3E}">
        <p14:creationId xmlns:p14="http://schemas.microsoft.com/office/powerpoint/2010/main" val="987987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Here is our new framework. Let me walk you through it.</a:t>
            </a:r>
          </a:p>
          <a:p>
            <a:r>
              <a:rPr lang="en-US" sz="798" kern="1200" dirty="0">
                <a:solidFill>
                  <a:schemeClr val="tx1"/>
                </a:solidFill>
                <a:effectLst/>
                <a:latin typeface="+mn-lt"/>
                <a:ea typeface="+mn-ea"/>
                <a:cs typeface="+mn-cs"/>
              </a:rPr>
              <a:t>We now have two dependent variables. The first is answerer participation — the quantity of human answers. The second is answer quality — measured by how good the first human answer is.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 treatment is still "Has AI Answer." But now, we explicitly model two properties of the AI answer: its length and its quality. These are not just control variables. They play different theoretical roles.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 key insight is at the bottom of this diagram. Length is processed fast. Quality is processed slow. This distinction drives the entire theory.</a:t>
            </a:r>
          </a:p>
          <a:p>
            <a:endParaRPr lang="en-US" dirty="0"/>
          </a:p>
          <a:p>
            <a:endParaRPr lang="en-US" dirty="0"/>
          </a:p>
          <a:p>
            <a:r>
              <a:rPr lang="en-US" sz="798" kern="1200" dirty="0">
                <a:solidFill>
                  <a:schemeClr val="tx1"/>
                </a:solidFill>
                <a:effectLst/>
                <a:latin typeface="+mn-lt"/>
                <a:ea typeface="+mn-ea"/>
                <a:cs typeface="+mn-cs"/>
              </a:rPr>
              <a:t>Let me map old to new so you can see exactly what changed.</a:t>
            </a:r>
          </a:p>
          <a:p>
            <a:r>
              <a:rPr lang="en-US" sz="798" kern="1200" dirty="0">
                <a:solidFill>
                  <a:schemeClr val="tx1"/>
                </a:solidFill>
                <a:effectLst/>
                <a:latin typeface="+mn-lt"/>
                <a:ea typeface="+mn-ea"/>
                <a:cs typeface="+mn-cs"/>
              </a:rPr>
              <a:t>Our old "source effect" — AI as a label — maps onto the direct arrow from "Has AI Answer" to participation. That's still there.</a:t>
            </a:r>
          </a:p>
          <a:p>
            <a:r>
              <a:rPr lang="en-US" sz="798" kern="1200" dirty="0">
                <a:solidFill>
                  <a:schemeClr val="tx1"/>
                </a:solidFill>
                <a:effectLst/>
                <a:latin typeface="+mn-lt"/>
                <a:ea typeface="+mn-ea"/>
                <a:cs typeface="+mn-cs"/>
              </a:rPr>
              <a:t>Our old "content effect" — AI answer characteristics — now splits into two: length and quality, each with a distinct theoretical role.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What‘s new? Answer quality as a dependent variable. In the old version, this was buried in our mechanism section. Now it’s a core DV. The reviewers questioned our old </a:t>
            </a:r>
            <a:r>
              <a:rPr lang="en-US" altLang="zh-CN" sz="798" kern="1200" dirty="0">
                <a:solidFill>
                  <a:schemeClr val="tx1"/>
                </a:solidFill>
                <a:effectLst/>
                <a:latin typeface="+mn-lt"/>
                <a:ea typeface="+mn-ea"/>
                <a:cs typeface="+mn-cs"/>
              </a:rPr>
              <a:t>quality</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measure</a:t>
            </a:r>
            <a:r>
              <a:rPr lang="en-US" sz="798" kern="1200" dirty="0">
                <a:solidFill>
                  <a:schemeClr val="tx1"/>
                </a:solidFill>
                <a:effectLst/>
                <a:latin typeface="+mn-lt"/>
                <a:ea typeface="+mn-ea"/>
                <a:cs typeface="+mn-cs"/>
              </a:rPr>
              <a:t>, and </a:t>
            </a:r>
            <a:r>
              <a:rPr lang="en-US" altLang="zh-CN" sz="798" kern="1200" dirty="0">
                <a:solidFill>
                  <a:schemeClr val="tx1"/>
                </a:solidFill>
                <a:effectLst/>
                <a:latin typeface="+mn-lt"/>
                <a:ea typeface="+mn-ea"/>
                <a:cs typeface="+mn-cs"/>
              </a:rPr>
              <a:t>we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use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a</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new</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measure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to</a:t>
            </a:r>
            <a:r>
              <a:rPr lang="en-US" sz="798" kern="1200" dirty="0">
                <a:solidFill>
                  <a:schemeClr val="tx1"/>
                </a:solidFill>
                <a:effectLst/>
                <a:latin typeface="+mn-lt"/>
                <a:ea typeface="+mn-ea"/>
                <a:cs typeface="+mn-cs"/>
              </a:rPr>
              <a:t> address that directly.</a:t>
            </a:r>
            <a:br>
              <a:rPr lang="en-US" sz="798" kern="1200" dirty="0">
                <a:solidFill>
                  <a:schemeClr val="tx1"/>
                </a:solidFill>
                <a:effectLst/>
                <a:latin typeface="+mn-lt"/>
                <a:ea typeface="+mn-ea"/>
                <a:cs typeface="+mn-cs"/>
              </a:rPr>
            </a:br>
            <a:endParaRPr lang="en-US" dirty="0"/>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8</a:t>
            </a:fld>
            <a:endParaRPr lang="zh-CN" altLang="en-US"/>
          </a:p>
        </p:txBody>
      </p:sp>
    </p:spTree>
    <p:extLst>
      <p:ext uri="{BB962C8B-B14F-4D97-AF65-F5344CB8AC3E}">
        <p14:creationId xmlns:p14="http://schemas.microsoft.com/office/powerpoint/2010/main" val="3537924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Here is the theoretical core. AI plays two roles simultaneously.</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Role one: AI is a competitor that humans perceive as weak. When answerers see the AI label, their first reaction is — "I can beat this." They don't need to read the content. The label alone triggers a competitive response. This is about identity. These are experts. SegmentFault is their territory.</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Role two: The AI's actual content creates real competitive pressure. Once answerers engage with what the AI wrote — its length, its quality — that's when the concrete competitive dynamics kick in. The content can either reinforce or override the initial "weak competitor" perception.</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These two roles operate on different timescales, which brings us to the next piece.</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9</a:t>
            </a:fld>
            <a:endParaRPr lang="zh-CN" altLang="en-US"/>
          </a:p>
        </p:txBody>
      </p:sp>
    </p:spTree>
    <p:extLst>
      <p:ext uri="{BB962C8B-B14F-4D97-AF65-F5344CB8AC3E}">
        <p14:creationId xmlns:p14="http://schemas.microsoft.com/office/powerpoint/2010/main" val="4221797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We ground this in dual-process theory — Kahneman's System 1 and System 2.</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Answerers face two decisions. First: should I participate? This is a fast decision. You glance at the page, you see an AI answer, you decide in seconds whether to invest your time. What drives this? Fast signals. Length is a fast signal. You don't need to read carefully — you can see at a glance how much space the answer occupies.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Second: how much effort do I put in? This is a slow decision. You've already committed to answering. Now you need to figure out how good the AI answer actually is. That requires reading, evaluating, comparing. Quality is a slow signal.</a:t>
            </a:r>
          </a:p>
          <a:p>
            <a:r>
              <a:rPr lang="en-US" sz="798" kern="1200" dirty="0">
                <a:solidFill>
                  <a:schemeClr val="tx1"/>
                </a:solidFill>
                <a:effectLst/>
                <a:latin typeface="+mn-lt"/>
                <a:ea typeface="+mn-ea"/>
                <a:cs typeface="+mn-cs"/>
              </a:rPr>
              <a:t>This is why length affects participation but not quality. And quality affects quality but not participation. They operate through different cognitive channels.</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10</a:t>
            </a:fld>
            <a:endParaRPr lang="zh-CN" altLang="en-US"/>
          </a:p>
        </p:txBody>
      </p:sp>
    </p:spTree>
    <p:extLst>
      <p:ext uri="{BB962C8B-B14F-4D97-AF65-F5344CB8AC3E}">
        <p14:creationId xmlns:p14="http://schemas.microsoft.com/office/powerpoint/2010/main" val="3572769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Let me walk through the four hypotheses. They follow directly from this logic.</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H1: AI presence increases human contribution. This sounds counterintuitive given our old findings. But here's the logic. When you only see the AI label — before engaging with content — you perceive a weak competitor. Easy win. That motivates entry. "I'll show them a real answer." So the pure label effect is positive.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H2: Longer AI answers attenuate H1. Length is a fast heuristic. A long answer signals: this space is already occupied. The "easy win" feeling disappears. The barrier looks higher. So longer AI answers flip the contribution effect from positive to negative.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Now — and this is crucial — our overall effect in the last round was negative because AI answers on SegmentFault tend to be long. The average AI answer is much longer than the average human answer. So in the aggregate, the length effect dominates, and we see a net negative. But if you decompose it, the label alone would have been positive.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H3: AI presence decreases human answer quality. Same "weak competitor" logic, but for effort. If I think my rival is weak, why try hard? Complacency sets in. I put in less effort. My answer quality drops.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H4: High AI quality reverses H3. Quality is a slow signal. Once you actually read the AI answer and realize it's good, the "weak competitor" assumption shatters. Now you face a credible rival. That triggers real competitive effort. You raise your game. "The AI is actually good — I must prove I'm better."</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11</a:t>
            </a:fld>
            <a:endParaRPr lang="zh-CN" altLang="en-US"/>
          </a:p>
        </p:txBody>
      </p:sp>
    </p:spTree>
    <p:extLst>
      <p:ext uri="{BB962C8B-B14F-4D97-AF65-F5344CB8AC3E}">
        <p14:creationId xmlns:p14="http://schemas.microsoft.com/office/powerpoint/2010/main" val="3343899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These two plots make the story visual.</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Left panel: as AI answer length increases, human contribution drops. The blue line slopes downward. The orange line — control group — is flat. The crossover is around length equals 2 or 3.</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Right panel: as AI answer quality increases, human answer quality rises. The blue line slopes upward. Again, the control is flat. When AI quality is low, humans actually do worse. When AI quality is high, humans respond by raising their game.</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12</a:t>
            </a:fld>
            <a:endParaRPr lang="zh-CN" altLang="en-US"/>
          </a:p>
        </p:txBody>
      </p:sp>
    </p:spTree>
    <p:extLst>
      <p:ext uri="{BB962C8B-B14F-4D97-AF65-F5344CB8AC3E}">
        <p14:creationId xmlns:p14="http://schemas.microsoft.com/office/powerpoint/2010/main" val="941314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Now, the reviewers asked: how do you differ from Su et al.? Su et al. found that AI encourages contribution. We found the opposite. This looks like a contradiction.</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Our new framework resolves this. Look at the left plot again. The y-intercept of the blue line is above the control line. That's the label effect — positive. Su et al.'s setting likely captures this zone. Their AI answers may be shorter, or their design captures the label effect more cleanly.</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Our aggregate effect is negative because our AI answers are long. The content dominates the label.</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So the true</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reason</a:t>
            </a:r>
            <a:r>
              <a:rPr lang="en-US" sz="798" kern="1200" dirty="0">
                <a:solidFill>
                  <a:schemeClr val="tx1"/>
                </a:solidFill>
                <a:effectLst/>
                <a:latin typeface="+mn-lt"/>
                <a:ea typeface="+mn-ea"/>
                <a:cs typeface="+mn-cs"/>
              </a:rPr>
              <a:t> is simple. The label encourages contribution. The content deters it. Both effects are real. Which one dominates depends on how long the AI answer is. Our framework unifies both findings under one logic.</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13</a:t>
            </a:fld>
            <a:endParaRPr lang="zh-CN" altLang="en-US"/>
          </a:p>
        </p:txBody>
      </p:sp>
    </p:spTree>
    <p:extLst>
      <p:ext uri="{BB962C8B-B14F-4D97-AF65-F5344CB8AC3E}">
        <p14:creationId xmlns:p14="http://schemas.microsoft.com/office/powerpoint/2010/main" val="4259084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54193-0CA9-020B-87EC-514F2536C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E013E-86C5-3F10-8423-9D5EDF824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52462-DCDA-AB86-17DD-0B6B5C973FF3}"/>
              </a:ext>
            </a:extLst>
          </p:cNvPr>
          <p:cNvSpPr>
            <a:spLocks noGrp="1"/>
          </p:cNvSpPr>
          <p:nvPr>
            <p:ph type="body" idx="1"/>
          </p:nvPr>
        </p:nvSpPr>
        <p:spPr/>
        <p:txBody>
          <a:bodyPr/>
          <a:lstStyle/>
          <a:p>
            <a:r>
              <a:rPr lang="en-US" sz="798" kern="1200" dirty="0">
                <a:solidFill>
                  <a:schemeClr val="tx1"/>
                </a:solidFill>
                <a:effectLst/>
                <a:latin typeface="+mn-lt"/>
                <a:ea typeface="+mn-ea"/>
                <a:cs typeface="+mn-cs"/>
              </a:rPr>
              <a:t>So to summarize: we replaced a list of isolated mechanisms with one unified framework. Competition with a perceived-weak rival, moderated by dual-process signals. This gives us four clean hypotheses, all supported by the data, and it reconciles our findings with Su et al.</a:t>
            </a:r>
          </a:p>
          <a:p>
            <a:r>
              <a:rPr lang="en-US" sz="798" kern="1200" dirty="0">
                <a:solidFill>
                  <a:schemeClr val="tx1"/>
                </a:solidFill>
                <a:effectLst/>
                <a:latin typeface="+mn-lt"/>
                <a:ea typeface="+mn-ea"/>
                <a:cs typeface="+mn-cs"/>
              </a:rPr>
              <a:t>We'd love to hear your thoughts — especially on whether this framing is convincing enough, and whether there are gaps we should address before writing it up.</a:t>
            </a:r>
          </a:p>
          <a:p>
            <a:endParaRPr lang="en-US" dirty="0"/>
          </a:p>
        </p:txBody>
      </p:sp>
      <p:sp>
        <p:nvSpPr>
          <p:cNvPr id="4" name="Slide Number Placeholder 3">
            <a:extLst>
              <a:ext uri="{FF2B5EF4-FFF2-40B4-BE49-F238E27FC236}">
                <a16:creationId xmlns:a16="http://schemas.microsoft.com/office/drawing/2014/main" id="{EEBF83E8-78E0-4BD4-E052-79E53E255586}"/>
              </a:ext>
            </a:extLst>
          </p:cNvPr>
          <p:cNvSpPr>
            <a:spLocks noGrp="1"/>
          </p:cNvSpPr>
          <p:nvPr>
            <p:ph type="sldNum" sz="quarter" idx="5"/>
          </p:nvPr>
        </p:nvSpPr>
        <p:spPr/>
        <p:txBody>
          <a:bodyPr/>
          <a:lstStyle/>
          <a:p>
            <a:fld id="{A55172E2-DACC-4E2B-A3E0-ED1661E9ED5A}" type="slidenum">
              <a:rPr lang="zh-CN" altLang="en-US" smtClean="0"/>
              <a:t>14</a:t>
            </a:fld>
            <a:endParaRPr lang="zh-CN" altLang="en-US"/>
          </a:p>
        </p:txBody>
      </p:sp>
    </p:spTree>
    <p:extLst>
      <p:ext uri="{BB962C8B-B14F-4D97-AF65-F5344CB8AC3E}">
        <p14:creationId xmlns:p14="http://schemas.microsoft.com/office/powerpoint/2010/main" val="2897299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F7F5D-3ACB-15DE-013D-4EE740C06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77689-3D1A-8B85-9624-25642A8B21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A7CA6-4F07-C2B6-7FF1-7EAF5FAD65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5C1F1-356F-AB1C-167D-C12664792490}"/>
              </a:ext>
            </a:extLst>
          </p:cNvPr>
          <p:cNvSpPr>
            <a:spLocks noGrp="1"/>
          </p:cNvSpPr>
          <p:nvPr>
            <p:ph type="sldNum" sz="quarter" idx="5"/>
          </p:nvPr>
        </p:nvSpPr>
        <p:spPr/>
        <p:txBody>
          <a:bodyPr/>
          <a:lstStyle/>
          <a:p>
            <a:fld id="{A55172E2-DACC-4E2B-A3E0-ED1661E9ED5A}" type="slidenum">
              <a:rPr lang="zh-CN" altLang="en-US" smtClean="0"/>
              <a:t>15</a:t>
            </a:fld>
            <a:endParaRPr lang="zh-CN" altLang="en-US"/>
          </a:p>
        </p:txBody>
      </p:sp>
    </p:spTree>
    <p:extLst>
      <p:ext uri="{BB962C8B-B14F-4D97-AF65-F5344CB8AC3E}">
        <p14:creationId xmlns:p14="http://schemas.microsoft.com/office/powerpoint/2010/main" val="7279625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98" kern="1200" dirty="0">
                <a:solidFill>
                  <a:schemeClr val="tx1"/>
                </a:solidFill>
                <a:effectLst/>
                <a:latin typeface="+mn-lt"/>
                <a:ea typeface="+mn-ea"/>
                <a:cs typeface="+mn-cs"/>
              </a:rPr>
              <a:t>Now let‘s look at the </a:t>
            </a:r>
            <a:r>
              <a:rPr lang="en-US" altLang="zh-CN" sz="798" kern="1200" dirty="0">
                <a:solidFill>
                  <a:schemeClr val="tx1"/>
                </a:solidFill>
                <a:effectLst/>
                <a:latin typeface="+mn-lt"/>
                <a:ea typeface="+mn-ea"/>
                <a:cs typeface="+mn-cs"/>
              </a:rPr>
              <a:t>main</a:t>
            </a:r>
            <a:r>
              <a:rPr lang="zh-CN" altLang="en-US" sz="798" kern="1200" dirty="0">
                <a:solidFill>
                  <a:schemeClr val="tx1"/>
                </a:solidFill>
                <a:effectLst/>
                <a:latin typeface="+mn-lt"/>
                <a:ea typeface="+mn-ea"/>
                <a:cs typeface="+mn-cs"/>
              </a:rPr>
              <a:t> </a:t>
            </a:r>
            <a:r>
              <a:rPr lang="en-US" altLang="zh-CN" sz="798" kern="1200" dirty="0">
                <a:solidFill>
                  <a:schemeClr val="tx1"/>
                </a:solidFill>
                <a:effectLst/>
                <a:latin typeface="+mn-lt"/>
                <a:ea typeface="+mn-ea"/>
                <a:cs typeface="+mn-cs"/>
              </a:rPr>
              <a:t>results</a:t>
            </a:r>
            <a:r>
              <a:rPr lang="en-US" sz="798" kern="1200" dirty="0">
                <a:solidFill>
                  <a:schemeClr val="tx1"/>
                </a:solidFill>
                <a:effectLst/>
                <a:latin typeface="+mn-lt"/>
                <a:ea typeface="+mn-ea"/>
                <a:cs typeface="+mn-cs"/>
              </a:rPr>
              <a:t>. Four columns here.</a:t>
            </a:r>
          </a:p>
          <a:p>
            <a:r>
              <a:rPr lang="en-US" sz="798" kern="1200" dirty="0">
                <a:solidFill>
                  <a:schemeClr val="tx1"/>
                </a:solidFill>
                <a:effectLst/>
                <a:latin typeface="+mn-lt"/>
                <a:ea typeface="+mn-ea"/>
                <a:cs typeface="+mn-cs"/>
              </a:rPr>
              <a:t>Column 1 is our original finding. AI reduces the number of human answers. Negative 0.046, highly significant. This is the same as before — no change.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Column 2 adds the interactions. Look at the AI main effect — it's now positive. 0.226, significant. This means: when AI length is zero — purely hypothetical — the label alone encourages entry. But the interaction with length is negative 0.045, also significant. So as length grows, participation drops. The crossover happens early. At the mean AI length, the net effect is already negative. This is exactly what our theory predicts.</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Column 3 is our new DV — first human answer quality. The main effect of AI is zero. No effect on average.</a:t>
            </a:r>
            <a:br>
              <a:rPr lang="en-US" sz="798" kern="1200" dirty="0">
                <a:solidFill>
                  <a:schemeClr val="tx1"/>
                </a:solidFill>
                <a:effectLst/>
                <a:latin typeface="+mn-lt"/>
                <a:ea typeface="+mn-ea"/>
                <a:cs typeface="+mn-cs"/>
              </a:rPr>
            </a:br>
            <a:endParaRPr lang="en-US" sz="798" kern="1200" dirty="0">
              <a:solidFill>
                <a:schemeClr val="tx1"/>
              </a:solidFill>
              <a:effectLst/>
              <a:latin typeface="+mn-lt"/>
              <a:ea typeface="+mn-ea"/>
              <a:cs typeface="+mn-cs"/>
            </a:endParaRPr>
          </a:p>
          <a:p>
            <a:r>
              <a:rPr lang="en-US" sz="798" kern="1200" dirty="0">
                <a:solidFill>
                  <a:schemeClr val="tx1"/>
                </a:solidFill>
                <a:effectLst/>
                <a:latin typeface="+mn-lt"/>
                <a:ea typeface="+mn-ea"/>
                <a:cs typeface="+mn-cs"/>
              </a:rPr>
              <a:t>Column 4 adds the quality interaction. The AI main effect is now negative 0.12 — marginally significant. This is the complacency effect from H3. But the interaction with AI quality is positive 0.35 — highly significant. When AI quality is high, human answer quality goes up. H4 is strongly supported.</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16</a:t>
            </a:fld>
            <a:endParaRPr lang="zh-CN" altLang="en-US"/>
          </a:p>
        </p:txBody>
      </p:sp>
    </p:spTree>
    <p:extLst>
      <p:ext uri="{BB962C8B-B14F-4D97-AF65-F5344CB8AC3E}">
        <p14:creationId xmlns:p14="http://schemas.microsoft.com/office/powerpoint/2010/main" val="3587410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7893" rtl="0" eaLnBrk="1" fontAlgn="auto" latinLnBrk="0" hangingPunct="1">
              <a:lnSpc>
                <a:spcPct val="100000"/>
              </a:lnSpc>
              <a:spcBef>
                <a:spcPts val="0"/>
              </a:spcBef>
              <a:spcAft>
                <a:spcPts val="0"/>
              </a:spcAft>
              <a:buClrTx/>
              <a:buSzTx/>
              <a:buFontTx/>
              <a:buNone/>
              <a:tabLst/>
              <a:defRPr/>
            </a:pPr>
            <a:r>
              <a:rPr lang="en-US" sz="798" kern="1200" dirty="0">
                <a:solidFill>
                  <a:schemeClr val="tx1"/>
                </a:solidFill>
                <a:effectLst/>
                <a:latin typeface="+mn-lt"/>
                <a:ea typeface="+mn-ea"/>
                <a:cs typeface="+mn-cs"/>
              </a:rPr>
              <a:t>Slides 16 and 17 have the full theoretical arguments for each hypothesis. I won't read through them now — they're there for reference. But the key logic is what I just walked you through: fast processing drives participation, slow processing drives quality, and the "weak competitor" assumption is the baseline that content signals either reinforce or override.</a:t>
            </a:r>
          </a:p>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17</a:t>
            </a:fld>
            <a:endParaRPr lang="zh-CN" altLang="en-US"/>
          </a:p>
        </p:txBody>
      </p:sp>
    </p:spTree>
    <p:extLst>
      <p:ext uri="{BB962C8B-B14F-4D97-AF65-F5344CB8AC3E}">
        <p14:creationId xmlns:p14="http://schemas.microsoft.com/office/powerpoint/2010/main" val="300212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5172E2-DACC-4E2B-A3E0-ED1661E9ED5A}" type="slidenum">
              <a:rPr lang="zh-CN" altLang="en-US" smtClean="0"/>
              <a:t>18</a:t>
            </a:fld>
            <a:endParaRPr lang="zh-CN" altLang="en-US"/>
          </a:p>
        </p:txBody>
      </p:sp>
    </p:spTree>
    <p:extLst>
      <p:ext uri="{BB962C8B-B14F-4D97-AF65-F5344CB8AC3E}">
        <p14:creationId xmlns:p14="http://schemas.microsoft.com/office/powerpoint/2010/main" val="861222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94FBED-F89D-E64E-839F-277148744889}" type="datetime1">
              <a:rPr lang="en-US" altLang="zh-CN" smtClean="0"/>
              <a:t>6/15/26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60757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942975"/>
            <a:ext cx="7886700" cy="3689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85E37-E16F-804C-8A4A-A4CBD622B30D}" type="datetime1">
              <a:rPr lang="en-US" smtClean="0"/>
              <a:t>6/15/26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7" name="Title 1">
            <a:extLst>
              <a:ext uri="{FF2B5EF4-FFF2-40B4-BE49-F238E27FC236}">
                <a16:creationId xmlns:a16="http://schemas.microsoft.com/office/drawing/2014/main" id="{35CB9FAF-4194-4EAD-452C-A94164F17EDE}"/>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794471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D6AF72-F30E-3246-B7B3-276B30CCF4A4}" type="datetime1">
              <a:rPr lang="en-US" altLang="zh-CN" smtClean="0"/>
              <a:t>6/15/26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427071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942975"/>
            <a:ext cx="3886200" cy="36897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942975"/>
            <a:ext cx="3886200" cy="36897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EB4F7F4-4304-7F4B-B785-EEC50ABD970A}" type="datetime1">
              <a:rPr lang="en-US" altLang="zh-CN" smtClean="0"/>
              <a:t>6/15/26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
        <p:nvSpPr>
          <p:cNvPr id="8" name="Title 1">
            <a:extLst>
              <a:ext uri="{FF2B5EF4-FFF2-40B4-BE49-F238E27FC236}">
                <a16:creationId xmlns:a16="http://schemas.microsoft.com/office/drawing/2014/main" id="{A20E6608-C9E1-51A7-4447-9582DB1E0B94}"/>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310696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960829"/>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29842" y="1596618"/>
            <a:ext cx="3868340" cy="30456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960829"/>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29150" y="1596618"/>
            <a:ext cx="3887391" cy="3045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E3DA2AD-866F-9348-BEC7-B30D4CD77602}" type="datetime1">
              <a:rPr lang="en-US" altLang="zh-CN" smtClean="0"/>
              <a:t>6/15/26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80E9C1D4-69BA-4B09-8A24-1CCDDD1AB85B}" type="slidenum">
              <a:rPr lang="zh-CN" altLang="en-US" smtClean="0"/>
              <a:t>‹#›</a:t>
            </a:fld>
            <a:endParaRPr lang="zh-CN" altLang="en-US"/>
          </a:p>
        </p:txBody>
      </p:sp>
      <p:sp>
        <p:nvSpPr>
          <p:cNvPr id="10" name="Title 1">
            <a:extLst>
              <a:ext uri="{FF2B5EF4-FFF2-40B4-BE49-F238E27FC236}">
                <a16:creationId xmlns:a16="http://schemas.microsoft.com/office/drawing/2014/main" id="{97025B06-33BC-4034-F02A-34F7DEC61A04}"/>
              </a:ext>
            </a:extLst>
          </p:cNvPr>
          <p:cNvSpPr>
            <a:spLocks noGrp="1"/>
          </p:cNvSpPr>
          <p:nvPr>
            <p:ph type="title"/>
          </p:nvPr>
        </p:nvSpPr>
        <p:spPr>
          <a:xfrm>
            <a:off x="628650" y="273844"/>
            <a:ext cx="7886700" cy="669131"/>
          </a:xfrm>
        </p:spPr>
        <p:txBody>
          <a:bodyPr/>
          <a:lstStyle/>
          <a:p>
            <a:r>
              <a:rPr lang="en-US"/>
              <a:t>Click to edit Master title style</a:t>
            </a:r>
            <a:endParaRPr lang="en-US" dirty="0"/>
          </a:p>
        </p:txBody>
      </p:sp>
    </p:spTree>
    <p:extLst>
      <p:ext uri="{BB962C8B-B14F-4D97-AF65-F5344CB8AC3E}">
        <p14:creationId xmlns:p14="http://schemas.microsoft.com/office/powerpoint/2010/main" val="1277504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669131"/>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22741D-E476-F04E-ADB3-06D1BCCC0E35}" type="datetime1">
              <a:rPr lang="en-US" altLang="zh-CN" smtClean="0"/>
              <a:t>6/15/26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2764051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EFDCEA-8899-3641-AF8B-710C1453795F}" type="datetime1">
              <a:rPr lang="en-US" altLang="zh-CN" smtClean="0"/>
              <a:t>6/15/26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4003423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CD621A6-18EE-0F47-9D42-814C4CC0255E}" type="datetime1">
              <a:rPr lang="en-US" altLang="zh-CN" smtClean="0"/>
              <a:t>6/15/26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9253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3E9E2C-7ACC-6841-81A2-3C89227E3D34}" type="datetime1">
              <a:rPr lang="en-US" altLang="zh-CN" smtClean="0"/>
              <a:t>6/15/26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1000265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E7C6E-DB06-F24C-85D5-0587351F72F5}" type="datetime1">
              <a:rPr lang="en-US" altLang="zh-CN" smtClean="0"/>
              <a:t>6/15/26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532065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B4F9B46-8700-9649-BA2F-7622601F67EB}" type="datetime1">
              <a:rPr lang="en-US" altLang="zh-CN" smtClean="0"/>
              <a:t>6/15/26</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0E9C1D4-69BA-4B09-8A24-1CCDDD1AB85B}" type="slidenum">
              <a:rPr lang="zh-CN" altLang="en-US" smtClean="0"/>
              <a:t>‹#›</a:t>
            </a:fld>
            <a:endParaRPr lang="zh-CN" altLang="en-US"/>
          </a:p>
        </p:txBody>
      </p:sp>
    </p:spTree>
    <p:extLst>
      <p:ext uri="{BB962C8B-B14F-4D97-AF65-F5344CB8AC3E}">
        <p14:creationId xmlns:p14="http://schemas.microsoft.com/office/powerpoint/2010/main" val="58574303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5"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99090-93D0-E0A3-DC82-466C1D100996}"/>
              </a:ext>
            </a:extLst>
          </p:cNvPr>
          <p:cNvSpPr>
            <a:spLocks noGrp="1"/>
          </p:cNvSpPr>
          <p:nvPr>
            <p:ph type="ctrTitle"/>
          </p:nvPr>
        </p:nvSpPr>
        <p:spPr/>
        <p:txBody>
          <a:bodyPr/>
          <a:lstStyle/>
          <a:p>
            <a:r>
              <a:rPr lang="en-US" dirty="0"/>
              <a:t>MIS</a:t>
            </a:r>
            <a:r>
              <a:rPr lang="en-US" altLang="zh-CN" dirty="0"/>
              <a:t>Q</a:t>
            </a:r>
            <a:r>
              <a:rPr lang="en-US" dirty="0"/>
              <a:t> Paper Revision Plan</a:t>
            </a:r>
          </a:p>
        </p:txBody>
      </p:sp>
      <p:sp>
        <p:nvSpPr>
          <p:cNvPr id="2" name="文本占位符 4">
            <a:extLst>
              <a:ext uri="{FF2B5EF4-FFF2-40B4-BE49-F238E27FC236}">
                <a16:creationId xmlns:a16="http://schemas.microsoft.com/office/drawing/2014/main" id="{D9AC642F-4334-659F-4695-C63CA7980A43}"/>
              </a:ext>
            </a:extLst>
          </p:cNvPr>
          <p:cNvSpPr txBox="1">
            <a:spLocks/>
          </p:cNvSpPr>
          <p:nvPr/>
        </p:nvSpPr>
        <p:spPr>
          <a:xfrm>
            <a:off x="2498784" y="3031274"/>
            <a:ext cx="4146432" cy="394832"/>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zh-CN" dirty="0"/>
              <a:t>Dylan</a:t>
            </a:r>
            <a:r>
              <a:rPr lang="zh-CN" altLang="en-US" dirty="0"/>
              <a:t> </a:t>
            </a:r>
            <a:r>
              <a:rPr lang="en-US" altLang="zh-CN" dirty="0"/>
              <a:t>Junluo</a:t>
            </a:r>
            <a:r>
              <a:rPr lang="zh-CN" altLang="en-US" dirty="0"/>
              <a:t> </a:t>
            </a:r>
            <a:r>
              <a:rPr lang="en-US" altLang="zh-CN" dirty="0"/>
              <a:t>CHEN, Ben LIU, Xin LI</a:t>
            </a:r>
            <a:endParaRPr lang="zh-CN" altLang="en-US" dirty="0"/>
          </a:p>
        </p:txBody>
      </p:sp>
    </p:spTree>
    <p:extLst>
      <p:ext uri="{BB962C8B-B14F-4D97-AF65-F5344CB8AC3E}">
        <p14:creationId xmlns:p14="http://schemas.microsoft.com/office/powerpoint/2010/main" val="2004901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200C-F79E-CEF3-9151-1B73923D182B}"/>
              </a:ext>
            </a:extLst>
          </p:cNvPr>
          <p:cNvSpPr>
            <a:spLocks noGrp="1"/>
          </p:cNvSpPr>
          <p:nvPr>
            <p:ph type="title"/>
          </p:nvPr>
        </p:nvSpPr>
        <p:spPr>
          <a:xfrm>
            <a:off x="628650" y="273844"/>
            <a:ext cx="7886700" cy="669131"/>
          </a:xfrm>
        </p:spPr>
        <p:txBody>
          <a:bodyPr/>
          <a:lstStyle/>
          <a:p>
            <a:r>
              <a:rPr lang="en-US" dirty="0"/>
              <a:t>Outline</a:t>
            </a:r>
          </a:p>
        </p:txBody>
      </p:sp>
      <p:sp>
        <p:nvSpPr>
          <p:cNvPr id="3" name="Content Placeholder 2">
            <a:extLst>
              <a:ext uri="{FF2B5EF4-FFF2-40B4-BE49-F238E27FC236}">
                <a16:creationId xmlns:a16="http://schemas.microsoft.com/office/drawing/2014/main" id="{23E0BF02-F119-69CF-1539-948FF6AAFE6F}"/>
              </a:ext>
            </a:extLst>
          </p:cNvPr>
          <p:cNvSpPr>
            <a:spLocks noGrp="1"/>
          </p:cNvSpPr>
          <p:nvPr>
            <p:ph idx="1"/>
          </p:nvPr>
        </p:nvSpPr>
        <p:spPr/>
        <p:txBody>
          <a:bodyPr/>
          <a:lstStyle/>
          <a:p>
            <a:r>
              <a:rPr lang="en-US" dirty="0"/>
              <a:t>Summary of </a:t>
            </a:r>
            <a:r>
              <a:rPr lang="en-US" altLang="zh-CN" dirty="0"/>
              <a:t>our</a:t>
            </a:r>
            <a:r>
              <a:rPr lang="zh-CN" altLang="en-US" dirty="0"/>
              <a:t> </a:t>
            </a:r>
            <a:r>
              <a:rPr lang="en-US" dirty="0"/>
              <a:t>paper (page </a:t>
            </a:r>
            <a:r>
              <a:rPr lang="en-US" altLang="zh-CN" dirty="0"/>
              <a:t>2</a:t>
            </a:r>
            <a:r>
              <a:rPr lang="en-US" dirty="0"/>
              <a:t>~</a:t>
            </a:r>
            <a:r>
              <a:rPr lang="en-US" altLang="zh-CN" dirty="0"/>
              <a:t>4</a:t>
            </a:r>
            <a:r>
              <a:rPr lang="en-US" dirty="0"/>
              <a:t>)</a:t>
            </a:r>
          </a:p>
          <a:p>
            <a:r>
              <a:rPr lang="en-US" dirty="0"/>
              <a:t>Review panel’s major concern (page </a:t>
            </a:r>
            <a:r>
              <a:rPr lang="en-US" altLang="zh-CN" dirty="0"/>
              <a:t>5</a:t>
            </a:r>
            <a:r>
              <a:rPr lang="en-US" dirty="0"/>
              <a:t>)</a:t>
            </a:r>
          </a:p>
          <a:p>
            <a:r>
              <a:rPr lang="en-US" dirty="0"/>
              <a:t>SE’s suggestion</a:t>
            </a:r>
            <a:r>
              <a:rPr lang="zh-CN" altLang="en-US" dirty="0"/>
              <a:t> </a:t>
            </a:r>
            <a:r>
              <a:rPr lang="en-US" altLang="zh-CN" dirty="0"/>
              <a:t>(page</a:t>
            </a:r>
            <a:r>
              <a:rPr lang="zh-CN" altLang="en-US" dirty="0"/>
              <a:t> </a:t>
            </a:r>
            <a:r>
              <a:rPr lang="en-US" altLang="zh-CN" dirty="0"/>
              <a:t>6)</a:t>
            </a:r>
            <a:endParaRPr lang="en-US" dirty="0"/>
          </a:p>
          <a:p>
            <a:r>
              <a:rPr lang="en-US" dirty="0"/>
              <a:t>Our plan</a:t>
            </a:r>
          </a:p>
        </p:txBody>
      </p:sp>
      <p:sp>
        <p:nvSpPr>
          <p:cNvPr id="4" name="Slide Number Placeholder 3">
            <a:extLst>
              <a:ext uri="{FF2B5EF4-FFF2-40B4-BE49-F238E27FC236}">
                <a16:creationId xmlns:a16="http://schemas.microsoft.com/office/drawing/2014/main" id="{95FF446D-B8C2-E491-42AB-7703F6E7EB67}"/>
              </a:ext>
            </a:extLst>
          </p:cNvPr>
          <p:cNvSpPr>
            <a:spLocks noGrp="1"/>
          </p:cNvSpPr>
          <p:nvPr>
            <p:ph type="sldNum" sz="quarter" idx="12"/>
          </p:nvPr>
        </p:nvSpPr>
        <p:spPr/>
        <p:txBody>
          <a:bodyPr/>
          <a:lstStyle/>
          <a:p>
            <a:fld id="{48F63A3B-78C7-47BE-AE5E-E10140E04643}" type="slidenum">
              <a:rPr lang="en-US" smtClean="0"/>
              <a:t>1</a:t>
            </a:fld>
            <a:endParaRPr lang="en-US" dirty="0"/>
          </a:p>
        </p:txBody>
      </p:sp>
    </p:spTree>
    <p:extLst>
      <p:ext uri="{BB962C8B-B14F-4D97-AF65-F5344CB8AC3E}">
        <p14:creationId xmlns:p14="http://schemas.microsoft.com/office/powerpoint/2010/main" val="184545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5FC77-AA78-2257-A2F4-E1818478D210}"/>
              </a:ext>
            </a:extLst>
          </p:cNvPr>
          <p:cNvSpPr>
            <a:spLocks noGrp="1"/>
          </p:cNvSpPr>
          <p:nvPr>
            <p:ph type="title"/>
          </p:nvPr>
        </p:nvSpPr>
        <p:spPr/>
        <p:txBody>
          <a:bodyPr/>
          <a:lstStyle/>
          <a:p>
            <a:r>
              <a:rPr lang="en-US" dirty="0"/>
              <a:t>Background</a:t>
            </a:r>
          </a:p>
        </p:txBody>
      </p:sp>
      <p:grpSp>
        <p:nvGrpSpPr>
          <p:cNvPr id="28" name="Group 27">
            <a:extLst>
              <a:ext uri="{FF2B5EF4-FFF2-40B4-BE49-F238E27FC236}">
                <a16:creationId xmlns:a16="http://schemas.microsoft.com/office/drawing/2014/main" id="{859BBE05-E7EA-9FDF-3411-5AE7E42C269D}"/>
              </a:ext>
            </a:extLst>
          </p:cNvPr>
          <p:cNvGrpSpPr/>
          <p:nvPr/>
        </p:nvGrpSpPr>
        <p:grpSpPr>
          <a:xfrm>
            <a:off x="628650" y="1268016"/>
            <a:ext cx="7674956" cy="3875484"/>
            <a:chOff x="-214002" y="895689"/>
            <a:chExt cx="9276979" cy="4684430"/>
          </a:xfrm>
        </p:grpSpPr>
        <p:sp>
          <p:nvSpPr>
            <p:cNvPr id="3" name="Content Placeholder 2">
              <a:extLst>
                <a:ext uri="{FF2B5EF4-FFF2-40B4-BE49-F238E27FC236}">
                  <a16:creationId xmlns:a16="http://schemas.microsoft.com/office/drawing/2014/main" id="{4C8AB4D0-EE8E-9036-0D08-A3E05C613649}"/>
                </a:ext>
              </a:extLst>
            </p:cNvPr>
            <p:cNvSpPr txBox="1">
              <a:spLocks/>
            </p:cNvSpPr>
            <p:nvPr/>
          </p:nvSpPr>
          <p:spPr>
            <a:xfrm>
              <a:off x="2163984" y="3672984"/>
              <a:ext cx="6898993" cy="1907135"/>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base">
                <a:lnSpc>
                  <a:spcPct val="160000"/>
                </a:lnSpc>
                <a:spcBef>
                  <a:spcPct val="0"/>
                </a:spcBef>
                <a:spcAft>
                  <a:spcPct val="0"/>
                </a:spcAft>
                <a:buNone/>
              </a:pPr>
              <a:r>
                <a:rPr lang="en-US" altLang="en-US" sz="1800" dirty="0"/>
                <a:t>Our Research Question:</a:t>
              </a:r>
            </a:p>
            <a:p>
              <a:pPr marL="428608" lvl="1" fontAlgn="base">
                <a:lnSpc>
                  <a:spcPct val="160000"/>
                </a:lnSpc>
                <a:spcBef>
                  <a:spcPct val="0"/>
                </a:spcBef>
                <a:spcAft>
                  <a:spcPct val="0"/>
                </a:spcAft>
              </a:pPr>
              <a:r>
                <a:rPr lang="en-US" altLang="en-US" sz="1400" dirty="0"/>
                <a:t>How does internal GenAI affect </a:t>
              </a:r>
              <a:r>
                <a:rPr lang="en-US" altLang="en-US" sz="1400" i="1" dirty="0"/>
                <a:t>human answerers </a:t>
              </a:r>
              <a:r>
                <a:rPr lang="en-US" altLang="zh-CN" sz="1400" i="1" dirty="0"/>
                <a:t>(supply)</a:t>
              </a:r>
              <a:r>
                <a:rPr lang="zh-CN" altLang="en-US" sz="1400" i="1" dirty="0"/>
                <a:t> </a:t>
              </a:r>
              <a:r>
                <a:rPr lang="en-US" altLang="en-US" sz="1400" dirty="0"/>
                <a:t>and </a:t>
              </a:r>
              <a:r>
                <a:rPr lang="en-US" altLang="en-US" sz="1400" i="1" dirty="0"/>
                <a:t>viewers</a:t>
              </a:r>
              <a:r>
                <a:rPr lang="en-US" altLang="en-US" sz="1400" dirty="0"/>
                <a:t> </a:t>
              </a:r>
              <a:r>
                <a:rPr lang="en-US" altLang="zh-CN" sz="1400" i="1" dirty="0"/>
                <a:t>(recognition)</a:t>
              </a:r>
              <a:r>
                <a:rPr lang="zh-CN" altLang="en-US" sz="1400" dirty="0"/>
                <a:t> </a:t>
              </a:r>
              <a:r>
                <a:rPr lang="en-US" altLang="en-US" sz="1400" dirty="0"/>
                <a:t>in online Q&amp;A communities?</a:t>
              </a:r>
            </a:p>
          </p:txBody>
        </p:sp>
        <p:sp>
          <p:nvSpPr>
            <p:cNvPr id="6" name="矩形: 圆角 2">
              <a:extLst>
                <a:ext uri="{FF2B5EF4-FFF2-40B4-BE49-F238E27FC236}">
                  <a16:creationId xmlns:a16="http://schemas.microsoft.com/office/drawing/2014/main" id="{2AF5271D-AC9D-F67F-0A4A-DC882B32871B}"/>
                </a:ext>
              </a:extLst>
            </p:cNvPr>
            <p:cNvSpPr/>
            <p:nvPr/>
          </p:nvSpPr>
          <p:spPr>
            <a:xfrm>
              <a:off x="2387865" y="895689"/>
              <a:ext cx="4537911" cy="2424118"/>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7" name="箭头: 右 7">
              <a:extLst>
                <a:ext uri="{FF2B5EF4-FFF2-40B4-BE49-F238E27FC236}">
                  <a16:creationId xmlns:a16="http://schemas.microsoft.com/office/drawing/2014/main" id="{25069724-675C-7F97-1917-0E6C5BAA507D}"/>
                </a:ext>
              </a:extLst>
            </p:cNvPr>
            <p:cNvSpPr/>
            <p:nvPr/>
          </p:nvSpPr>
          <p:spPr>
            <a:xfrm>
              <a:off x="1457276" y="2300512"/>
              <a:ext cx="1833166" cy="572708"/>
            </a:xfrm>
            <a:prstGeom prst="rightArrow">
              <a:avLst/>
            </a:prstGeom>
            <a:solidFill>
              <a:srgbClr val="0070C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pic>
          <p:nvPicPr>
            <p:cNvPr id="8" name="Picture 2" descr="ChatGPT Logo - SVG, PNG, AI, EPS Vectors">
              <a:extLst>
                <a:ext uri="{FF2B5EF4-FFF2-40B4-BE49-F238E27FC236}">
                  <a16:creationId xmlns:a16="http://schemas.microsoft.com/office/drawing/2014/main" id="{22C9B45E-DB60-0A0B-E483-00987619B5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789" y="3947100"/>
              <a:ext cx="724788" cy="72478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43">
              <a:extLst>
                <a:ext uri="{FF2B5EF4-FFF2-40B4-BE49-F238E27FC236}">
                  <a16:creationId xmlns:a16="http://schemas.microsoft.com/office/drawing/2014/main" id="{18E42CD2-C2B6-69C4-8EEA-08B24F5C34E2}"/>
                </a:ext>
              </a:extLst>
            </p:cNvPr>
            <p:cNvSpPr txBox="1"/>
            <p:nvPr/>
          </p:nvSpPr>
          <p:spPr>
            <a:xfrm flipH="1">
              <a:off x="-214002" y="4640927"/>
              <a:ext cx="2442370" cy="520828"/>
            </a:xfrm>
            <a:prstGeom prst="rect">
              <a:avLst/>
            </a:prstGeom>
            <a:noFill/>
          </p:spPr>
          <p:txBody>
            <a:bodyPr wrap="square" rtlCol="0">
              <a:spAutoFit/>
            </a:bodyPr>
            <a:lstStyle/>
            <a:p>
              <a:pPr algn="ctr"/>
              <a:r>
                <a:rPr lang="en-US" sz="1100" b="1" dirty="0"/>
                <a:t>External </a:t>
              </a:r>
              <a:r>
                <a:rPr lang="en-US" altLang="zh-CN" sz="1100" b="1" dirty="0" err="1"/>
                <a:t>Gen</a:t>
              </a:r>
              <a:r>
                <a:rPr lang="en-US" sz="1100" b="1" dirty="0" err="1"/>
                <a:t>AI</a:t>
              </a:r>
              <a:r>
                <a:rPr lang="en-US" sz="1100" b="1" dirty="0"/>
                <a:t> </a:t>
              </a:r>
            </a:p>
            <a:p>
              <a:pPr algn="ctr"/>
              <a:r>
                <a:rPr lang="en-US" sz="1100" dirty="0"/>
                <a:t>(e.g., ChatGPT)</a:t>
              </a:r>
            </a:p>
          </p:txBody>
        </p:sp>
        <p:sp>
          <p:nvSpPr>
            <p:cNvPr id="10" name="箭头: 右 7">
              <a:extLst>
                <a:ext uri="{FF2B5EF4-FFF2-40B4-BE49-F238E27FC236}">
                  <a16:creationId xmlns:a16="http://schemas.microsoft.com/office/drawing/2014/main" id="{6191C53E-912C-13A5-A2FF-41DE2E8E1691}"/>
                </a:ext>
              </a:extLst>
            </p:cNvPr>
            <p:cNvSpPr/>
            <p:nvPr/>
          </p:nvSpPr>
          <p:spPr>
            <a:xfrm rot="5400000">
              <a:off x="692163" y="3430871"/>
              <a:ext cx="655323" cy="266700"/>
            </a:xfrm>
            <a:prstGeom prst="rightArrow">
              <a:avLst/>
            </a:prstGeom>
            <a:solidFill>
              <a:srgbClr val="0070C0">
                <a:alpha val="2427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11" name="TextBox 10">
              <a:extLst>
                <a:ext uri="{FF2B5EF4-FFF2-40B4-BE49-F238E27FC236}">
                  <a16:creationId xmlns:a16="http://schemas.microsoft.com/office/drawing/2014/main" id="{58FD20B2-0AD9-9442-189F-1214EEBBB063}"/>
                </a:ext>
              </a:extLst>
            </p:cNvPr>
            <p:cNvSpPr txBox="1"/>
            <p:nvPr/>
          </p:nvSpPr>
          <p:spPr>
            <a:xfrm>
              <a:off x="7164221" y="2077691"/>
              <a:ext cx="691235" cy="316217"/>
            </a:xfrm>
            <a:prstGeom prst="rect">
              <a:avLst/>
            </a:prstGeom>
            <a:noFill/>
          </p:spPr>
          <p:txBody>
            <a:bodyPr wrap="square" rtlCol="0">
              <a:spAutoFit/>
            </a:bodyPr>
            <a:lstStyle/>
            <a:p>
              <a:pPr algn="ctr"/>
              <a:r>
                <a:rPr lang="en-US" sz="1100" dirty="0"/>
                <a:t>Supply</a:t>
              </a:r>
            </a:p>
          </p:txBody>
        </p:sp>
        <p:sp>
          <p:nvSpPr>
            <p:cNvPr id="12" name="TextBox 15">
              <a:extLst>
                <a:ext uri="{FF2B5EF4-FFF2-40B4-BE49-F238E27FC236}">
                  <a16:creationId xmlns:a16="http://schemas.microsoft.com/office/drawing/2014/main" id="{D5F63FB4-D4E1-0F96-F488-0ED8988C49CB}"/>
                </a:ext>
              </a:extLst>
            </p:cNvPr>
            <p:cNvSpPr txBox="1"/>
            <p:nvPr/>
          </p:nvSpPr>
          <p:spPr>
            <a:xfrm>
              <a:off x="3502977" y="2715791"/>
              <a:ext cx="947936" cy="204611"/>
            </a:xfrm>
            <a:prstGeom prst="rect">
              <a:avLst/>
            </a:prstGeom>
            <a:solidFill>
              <a:schemeClr val="bg1">
                <a:alpha val="90000"/>
              </a:schemeClr>
            </a:solidFill>
          </p:spPr>
          <p:txBody>
            <a:bodyPr wrap="square" lIns="0" tIns="0" rIns="0" bIns="0" rtlCol="0">
              <a:spAutoFit/>
            </a:bodyPr>
            <a:lstStyle/>
            <a:p>
              <a:pPr algn="ctr" defTabSz="761970">
                <a:defRPr/>
              </a:pPr>
              <a:r>
                <a:rPr lang="en-US" sz="1100" b="1" dirty="0">
                  <a:solidFill>
                    <a:prstClr val="black"/>
                  </a:solidFill>
                  <a:latin typeface="Calibri" panose="020F0502020204030204"/>
                </a:rPr>
                <a:t>Questions</a:t>
              </a:r>
            </a:p>
          </p:txBody>
        </p:sp>
        <p:sp>
          <p:nvSpPr>
            <p:cNvPr id="13" name="TextBox 15">
              <a:extLst>
                <a:ext uri="{FF2B5EF4-FFF2-40B4-BE49-F238E27FC236}">
                  <a16:creationId xmlns:a16="http://schemas.microsoft.com/office/drawing/2014/main" id="{5BC61DE7-1110-5E13-F45E-0D75FF5ADD3F}"/>
                </a:ext>
              </a:extLst>
            </p:cNvPr>
            <p:cNvSpPr txBox="1"/>
            <p:nvPr/>
          </p:nvSpPr>
          <p:spPr>
            <a:xfrm>
              <a:off x="4791553" y="2715791"/>
              <a:ext cx="947936" cy="204611"/>
            </a:xfrm>
            <a:prstGeom prst="rect">
              <a:avLst/>
            </a:prstGeom>
            <a:solidFill>
              <a:schemeClr val="bg1">
                <a:alpha val="90000"/>
              </a:schemeClr>
            </a:solidFill>
          </p:spPr>
          <p:txBody>
            <a:bodyPr wrap="square" lIns="0" tIns="0" rIns="0" bIns="0" rtlCol="0">
              <a:spAutoFit/>
            </a:bodyPr>
            <a:lstStyle/>
            <a:p>
              <a:pPr algn="ctr" defTabSz="761970">
                <a:defRPr/>
              </a:pPr>
              <a:r>
                <a:rPr lang="en-US" sz="1100" b="1" dirty="0">
                  <a:solidFill>
                    <a:prstClr val="black"/>
                  </a:solidFill>
                  <a:latin typeface="Calibri" panose="020F0502020204030204"/>
                </a:rPr>
                <a:t>Answers</a:t>
              </a:r>
            </a:p>
          </p:txBody>
        </p:sp>
        <p:pic>
          <p:nvPicPr>
            <p:cNvPr id="14" name="Picture 3">
              <a:extLst>
                <a:ext uri="{FF2B5EF4-FFF2-40B4-BE49-F238E27FC236}">
                  <a16:creationId xmlns:a16="http://schemas.microsoft.com/office/drawing/2014/main" id="{1628B703-69EA-B617-B0B4-005C6E30E8B1}"/>
                </a:ext>
              </a:extLst>
            </p:cNvPr>
            <p:cNvPicPr>
              <a:picLocks noChangeAspect="1"/>
            </p:cNvPicPr>
            <p:nvPr/>
          </p:nvPicPr>
          <p:blipFill rotWithShape="1">
            <a:blip r:embed="rId4"/>
            <a:srcRect l="-685" t="252" r="685" b="53500"/>
            <a:stretch/>
          </p:blipFill>
          <p:spPr>
            <a:xfrm>
              <a:off x="3443202" y="2255979"/>
              <a:ext cx="1051651" cy="484017"/>
            </a:xfrm>
            <a:prstGeom prst="rect">
              <a:avLst/>
            </a:prstGeom>
          </p:spPr>
        </p:pic>
        <p:pic>
          <p:nvPicPr>
            <p:cNvPr id="15" name="Picture 30">
              <a:extLst>
                <a:ext uri="{FF2B5EF4-FFF2-40B4-BE49-F238E27FC236}">
                  <a16:creationId xmlns:a16="http://schemas.microsoft.com/office/drawing/2014/main" id="{E974D6E8-99D8-61C5-09AB-35EABEBAD152}"/>
                </a:ext>
              </a:extLst>
            </p:cNvPr>
            <p:cNvPicPr>
              <a:picLocks noChangeAspect="1"/>
            </p:cNvPicPr>
            <p:nvPr/>
          </p:nvPicPr>
          <p:blipFill rotWithShape="1">
            <a:blip r:embed="rId4"/>
            <a:srcRect t="53752" b="1"/>
            <a:stretch/>
          </p:blipFill>
          <p:spPr>
            <a:xfrm>
              <a:off x="4679674" y="2265394"/>
              <a:ext cx="1051651" cy="484017"/>
            </a:xfrm>
            <a:prstGeom prst="rect">
              <a:avLst/>
            </a:prstGeom>
          </p:spPr>
        </p:pic>
        <p:sp>
          <p:nvSpPr>
            <p:cNvPr id="16" name="TextBox 27">
              <a:extLst>
                <a:ext uri="{FF2B5EF4-FFF2-40B4-BE49-F238E27FC236}">
                  <a16:creationId xmlns:a16="http://schemas.microsoft.com/office/drawing/2014/main" id="{2B884C76-FE7B-8423-C8AF-2ACD2F8E7E98}"/>
                </a:ext>
              </a:extLst>
            </p:cNvPr>
            <p:cNvSpPr txBox="1"/>
            <p:nvPr/>
          </p:nvSpPr>
          <p:spPr>
            <a:xfrm>
              <a:off x="1465296" y="2077691"/>
              <a:ext cx="698689" cy="316217"/>
            </a:xfrm>
            <a:prstGeom prst="rect">
              <a:avLst/>
            </a:prstGeom>
            <a:noFill/>
          </p:spPr>
          <p:txBody>
            <a:bodyPr wrap="square" rtlCol="0">
              <a:spAutoFit/>
            </a:bodyPr>
            <a:lstStyle/>
            <a:p>
              <a:pPr algn="ctr"/>
              <a:r>
                <a:rPr lang="en-US" sz="1100" dirty="0"/>
                <a:t>Supply</a:t>
              </a:r>
            </a:p>
          </p:txBody>
        </p:sp>
        <p:sp>
          <p:nvSpPr>
            <p:cNvPr id="17" name="TextBox 16">
              <a:extLst>
                <a:ext uri="{FF2B5EF4-FFF2-40B4-BE49-F238E27FC236}">
                  <a16:creationId xmlns:a16="http://schemas.microsoft.com/office/drawing/2014/main" id="{693F3EBF-3A9D-CF03-783D-8BFE80A83C91}"/>
                </a:ext>
              </a:extLst>
            </p:cNvPr>
            <p:cNvSpPr txBox="1"/>
            <p:nvPr/>
          </p:nvSpPr>
          <p:spPr>
            <a:xfrm flipH="1">
              <a:off x="7855456" y="2900159"/>
              <a:ext cx="1044288" cy="316217"/>
            </a:xfrm>
            <a:prstGeom prst="rect">
              <a:avLst/>
            </a:prstGeom>
            <a:noFill/>
          </p:spPr>
          <p:txBody>
            <a:bodyPr wrap="square" rtlCol="0">
              <a:spAutoFit/>
            </a:bodyPr>
            <a:lstStyle/>
            <a:p>
              <a:pPr algn="ctr"/>
              <a:r>
                <a:rPr lang="en-US" sz="1100" b="1" dirty="0"/>
                <a:t>Answerers</a:t>
              </a:r>
            </a:p>
          </p:txBody>
        </p:sp>
        <p:sp>
          <p:nvSpPr>
            <p:cNvPr id="18" name="TextBox 6">
              <a:extLst>
                <a:ext uri="{FF2B5EF4-FFF2-40B4-BE49-F238E27FC236}">
                  <a16:creationId xmlns:a16="http://schemas.microsoft.com/office/drawing/2014/main" id="{AB890164-4ED1-FC02-2A9B-5C4B7B269372}"/>
                </a:ext>
              </a:extLst>
            </p:cNvPr>
            <p:cNvSpPr txBox="1"/>
            <p:nvPr/>
          </p:nvSpPr>
          <p:spPr>
            <a:xfrm flipH="1">
              <a:off x="453918" y="2873221"/>
              <a:ext cx="1163783" cy="316217"/>
            </a:xfrm>
            <a:prstGeom prst="rect">
              <a:avLst/>
            </a:prstGeom>
            <a:noFill/>
          </p:spPr>
          <p:txBody>
            <a:bodyPr wrap="square" rtlCol="0">
              <a:spAutoFit/>
            </a:bodyPr>
            <a:lstStyle/>
            <a:p>
              <a:r>
                <a:rPr lang="en-US" sz="1100" b="1" dirty="0"/>
                <a:t>Questioners</a:t>
              </a:r>
            </a:p>
          </p:txBody>
        </p:sp>
        <p:sp>
          <p:nvSpPr>
            <p:cNvPr id="19" name="man-silhouette_43368">
              <a:extLst>
                <a:ext uri="{FF2B5EF4-FFF2-40B4-BE49-F238E27FC236}">
                  <a16:creationId xmlns:a16="http://schemas.microsoft.com/office/drawing/2014/main" id="{9306CAFD-615F-555A-BF64-C7A6890A5CAD}"/>
                </a:ext>
              </a:extLst>
            </p:cNvPr>
            <p:cNvSpPr/>
            <p:nvPr/>
          </p:nvSpPr>
          <p:spPr>
            <a:xfrm>
              <a:off x="8191143" y="2038112"/>
              <a:ext cx="372912" cy="932443"/>
            </a:xfrm>
            <a:custGeom>
              <a:avLst/>
              <a:gdLst>
                <a:gd name="connsiteX0" fmla="*/ 54978 w 241969"/>
                <a:gd name="connsiteY0" fmla="*/ 102390 h 605028"/>
                <a:gd name="connsiteX1" fmla="*/ 116083 w 241969"/>
                <a:gd name="connsiteY1" fmla="*/ 102390 h 605028"/>
                <a:gd name="connsiteX2" fmla="*/ 125886 w 241969"/>
                <a:gd name="connsiteY2" fmla="*/ 102390 h 605028"/>
                <a:gd name="connsiteX3" fmla="*/ 186991 w 241969"/>
                <a:gd name="connsiteY3" fmla="*/ 102390 h 605028"/>
                <a:gd name="connsiteX4" fmla="*/ 241969 w 241969"/>
                <a:gd name="connsiteY4" fmla="*/ 158501 h 605028"/>
                <a:gd name="connsiteX5" fmla="*/ 241969 w 241969"/>
                <a:gd name="connsiteY5" fmla="*/ 319577 h 605028"/>
                <a:gd name="connsiteX6" fmla="*/ 218769 w 241969"/>
                <a:gd name="connsiteY6" fmla="*/ 342740 h 605028"/>
                <a:gd name="connsiteX7" fmla="*/ 195568 w 241969"/>
                <a:gd name="connsiteY7" fmla="*/ 319577 h 605028"/>
                <a:gd name="connsiteX8" fmla="*/ 195487 w 241969"/>
                <a:gd name="connsiteY8" fmla="*/ 177994 h 605028"/>
                <a:gd name="connsiteX9" fmla="*/ 193118 w 241969"/>
                <a:gd name="connsiteY9" fmla="*/ 175629 h 605028"/>
                <a:gd name="connsiteX10" fmla="*/ 188216 w 241969"/>
                <a:gd name="connsiteY10" fmla="*/ 175629 h 605028"/>
                <a:gd name="connsiteX11" fmla="*/ 185766 w 241969"/>
                <a:gd name="connsiteY11" fmla="*/ 177994 h 605028"/>
                <a:gd name="connsiteX12" fmla="*/ 185766 w 241969"/>
                <a:gd name="connsiteY12" fmla="*/ 575178 h 605028"/>
                <a:gd name="connsiteX13" fmla="*/ 155867 w 241969"/>
                <a:gd name="connsiteY13" fmla="*/ 605028 h 605028"/>
                <a:gd name="connsiteX14" fmla="*/ 125886 w 241969"/>
                <a:gd name="connsiteY14" fmla="*/ 575178 h 605028"/>
                <a:gd name="connsiteX15" fmla="*/ 125886 w 241969"/>
                <a:gd name="connsiteY15" fmla="*/ 341516 h 605028"/>
                <a:gd name="connsiteX16" fmla="*/ 123435 w 241969"/>
                <a:gd name="connsiteY16" fmla="*/ 339069 h 605028"/>
                <a:gd name="connsiteX17" fmla="*/ 118615 w 241969"/>
                <a:gd name="connsiteY17" fmla="*/ 339069 h 605028"/>
                <a:gd name="connsiteX18" fmla="*/ 116083 w 241969"/>
                <a:gd name="connsiteY18" fmla="*/ 341516 h 605028"/>
                <a:gd name="connsiteX19" fmla="*/ 116083 w 241969"/>
                <a:gd name="connsiteY19" fmla="*/ 575178 h 605028"/>
                <a:gd name="connsiteX20" fmla="*/ 86184 w 241969"/>
                <a:gd name="connsiteY20" fmla="*/ 605028 h 605028"/>
                <a:gd name="connsiteX21" fmla="*/ 56203 w 241969"/>
                <a:gd name="connsiteY21" fmla="*/ 575178 h 605028"/>
                <a:gd name="connsiteX22" fmla="*/ 56203 w 241969"/>
                <a:gd name="connsiteY22" fmla="*/ 177994 h 605028"/>
                <a:gd name="connsiteX23" fmla="*/ 53834 w 241969"/>
                <a:gd name="connsiteY23" fmla="*/ 175629 h 605028"/>
                <a:gd name="connsiteX24" fmla="*/ 48933 w 241969"/>
                <a:gd name="connsiteY24" fmla="*/ 175629 h 605028"/>
                <a:gd name="connsiteX25" fmla="*/ 46482 w 241969"/>
                <a:gd name="connsiteY25" fmla="*/ 177994 h 605028"/>
                <a:gd name="connsiteX26" fmla="*/ 46482 w 241969"/>
                <a:gd name="connsiteY26" fmla="*/ 319577 h 605028"/>
                <a:gd name="connsiteX27" fmla="*/ 23200 w 241969"/>
                <a:gd name="connsiteY27" fmla="*/ 342740 h 605028"/>
                <a:gd name="connsiteX28" fmla="*/ 0 w 241969"/>
                <a:gd name="connsiteY28" fmla="*/ 319577 h 605028"/>
                <a:gd name="connsiteX29" fmla="*/ 0 w 241969"/>
                <a:gd name="connsiteY29" fmla="*/ 158501 h 605028"/>
                <a:gd name="connsiteX30" fmla="*/ 54978 w 241969"/>
                <a:gd name="connsiteY30" fmla="*/ 102390 h 605028"/>
                <a:gd name="connsiteX31" fmla="*/ 120984 w 241969"/>
                <a:gd name="connsiteY31" fmla="*/ 0 h 605028"/>
                <a:gd name="connsiteX32" fmla="*/ 165546 w 241969"/>
                <a:gd name="connsiteY32" fmla="*/ 44492 h 605028"/>
                <a:gd name="connsiteX33" fmla="*/ 120984 w 241969"/>
                <a:gd name="connsiteY33" fmla="*/ 88984 h 605028"/>
                <a:gd name="connsiteX34" fmla="*/ 76422 w 241969"/>
                <a:gd name="connsiteY34" fmla="*/ 44492 h 605028"/>
                <a:gd name="connsiteX35" fmla="*/ 120984 w 241969"/>
                <a:gd name="connsiteY35" fmla="*/ 0 h 605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1969" h="605028">
                  <a:moveTo>
                    <a:pt x="54978" y="102390"/>
                  </a:moveTo>
                  <a:lnTo>
                    <a:pt x="116083" y="102390"/>
                  </a:lnTo>
                  <a:lnTo>
                    <a:pt x="125886" y="102390"/>
                  </a:lnTo>
                  <a:lnTo>
                    <a:pt x="186991" y="102390"/>
                  </a:lnTo>
                  <a:cubicBezTo>
                    <a:pt x="217543" y="102390"/>
                    <a:pt x="241969" y="126776"/>
                    <a:pt x="241969" y="158501"/>
                  </a:cubicBezTo>
                  <a:lnTo>
                    <a:pt x="241969" y="319577"/>
                  </a:lnTo>
                  <a:cubicBezTo>
                    <a:pt x="241969" y="332382"/>
                    <a:pt x="231594" y="342740"/>
                    <a:pt x="218769" y="342740"/>
                  </a:cubicBezTo>
                  <a:cubicBezTo>
                    <a:pt x="205943" y="342740"/>
                    <a:pt x="195568" y="332382"/>
                    <a:pt x="195568" y="319577"/>
                  </a:cubicBezTo>
                  <a:cubicBezTo>
                    <a:pt x="195568" y="319577"/>
                    <a:pt x="195487" y="177994"/>
                    <a:pt x="195487" y="177994"/>
                  </a:cubicBezTo>
                  <a:cubicBezTo>
                    <a:pt x="195487" y="176689"/>
                    <a:pt x="194425" y="175629"/>
                    <a:pt x="193118" y="175629"/>
                  </a:cubicBezTo>
                  <a:lnTo>
                    <a:pt x="188216" y="175629"/>
                  </a:lnTo>
                  <a:cubicBezTo>
                    <a:pt x="186828" y="175629"/>
                    <a:pt x="185766" y="176689"/>
                    <a:pt x="185766" y="177994"/>
                  </a:cubicBezTo>
                  <a:lnTo>
                    <a:pt x="185766" y="575178"/>
                  </a:lnTo>
                  <a:cubicBezTo>
                    <a:pt x="185766" y="591653"/>
                    <a:pt x="172368" y="605028"/>
                    <a:pt x="155867" y="605028"/>
                  </a:cubicBezTo>
                  <a:cubicBezTo>
                    <a:pt x="139283" y="605028"/>
                    <a:pt x="125886" y="591653"/>
                    <a:pt x="125886" y="575178"/>
                  </a:cubicBezTo>
                  <a:lnTo>
                    <a:pt x="125886" y="341516"/>
                  </a:lnTo>
                  <a:cubicBezTo>
                    <a:pt x="125886" y="339803"/>
                    <a:pt x="125069" y="339069"/>
                    <a:pt x="123435" y="339069"/>
                  </a:cubicBezTo>
                  <a:lnTo>
                    <a:pt x="118615" y="339069"/>
                  </a:lnTo>
                  <a:cubicBezTo>
                    <a:pt x="116900" y="339069"/>
                    <a:pt x="116083" y="339803"/>
                    <a:pt x="116083" y="341516"/>
                  </a:cubicBezTo>
                  <a:lnTo>
                    <a:pt x="116083" y="575178"/>
                  </a:lnTo>
                  <a:cubicBezTo>
                    <a:pt x="116083" y="591653"/>
                    <a:pt x="102686" y="605028"/>
                    <a:pt x="86184" y="605028"/>
                  </a:cubicBezTo>
                  <a:cubicBezTo>
                    <a:pt x="69601" y="605028"/>
                    <a:pt x="56203" y="591653"/>
                    <a:pt x="56203" y="575178"/>
                  </a:cubicBezTo>
                  <a:lnTo>
                    <a:pt x="56203" y="177994"/>
                  </a:lnTo>
                  <a:cubicBezTo>
                    <a:pt x="56203" y="176689"/>
                    <a:pt x="55141" y="175629"/>
                    <a:pt x="53834" y="175629"/>
                  </a:cubicBezTo>
                  <a:lnTo>
                    <a:pt x="48933" y="175629"/>
                  </a:lnTo>
                  <a:cubicBezTo>
                    <a:pt x="47544" y="175629"/>
                    <a:pt x="46482" y="176689"/>
                    <a:pt x="46482" y="177994"/>
                  </a:cubicBezTo>
                  <a:cubicBezTo>
                    <a:pt x="46482" y="177994"/>
                    <a:pt x="46482" y="319577"/>
                    <a:pt x="46482" y="319577"/>
                  </a:cubicBezTo>
                  <a:cubicBezTo>
                    <a:pt x="46482" y="332382"/>
                    <a:pt x="36026" y="342740"/>
                    <a:pt x="23200" y="342740"/>
                  </a:cubicBezTo>
                  <a:cubicBezTo>
                    <a:pt x="10375" y="342740"/>
                    <a:pt x="0" y="332382"/>
                    <a:pt x="0" y="319577"/>
                  </a:cubicBezTo>
                  <a:lnTo>
                    <a:pt x="0" y="158501"/>
                  </a:lnTo>
                  <a:cubicBezTo>
                    <a:pt x="0" y="126776"/>
                    <a:pt x="24426" y="102390"/>
                    <a:pt x="54978" y="102390"/>
                  </a:cubicBezTo>
                  <a:close/>
                  <a:moveTo>
                    <a:pt x="120984" y="0"/>
                  </a:moveTo>
                  <a:cubicBezTo>
                    <a:pt x="145595" y="0"/>
                    <a:pt x="165546" y="19920"/>
                    <a:pt x="165546" y="44492"/>
                  </a:cubicBezTo>
                  <a:cubicBezTo>
                    <a:pt x="165546" y="69064"/>
                    <a:pt x="145595" y="88984"/>
                    <a:pt x="120984" y="88984"/>
                  </a:cubicBezTo>
                  <a:cubicBezTo>
                    <a:pt x="96373" y="88984"/>
                    <a:pt x="76422" y="69064"/>
                    <a:pt x="76422" y="44492"/>
                  </a:cubicBezTo>
                  <a:cubicBezTo>
                    <a:pt x="76422" y="19920"/>
                    <a:pt x="96373" y="0"/>
                    <a:pt x="120984"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0" name="answer_268107">
              <a:extLst>
                <a:ext uri="{FF2B5EF4-FFF2-40B4-BE49-F238E27FC236}">
                  <a16:creationId xmlns:a16="http://schemas.microsoft.com/office/drawing/2014/main" id="{920421F0-2EB8-A33D-ABE9-7FE8B73C3CFE}"/>
                </a:ext>
              </a:extLst>
            </p:cNvPr>
            <p:cNvSpPr/>
            <p:nvPr/>
          </p:nvSpPr>
          <p:spPr>
            <a:xfrm>
              <a:off x="686465" y="2031638"/>
              <a:ext cx="698689" cy="886126"/>
            </a:xfrm>
            <a:custGeom>
              <a:avLst/>
              <a:gdLst>
                <a:gd name="connsiteX0" fmla="*/ 322413 w 478363"/>
                <a:gd name="connsiteY0" fmla="*/ 385963 h 606692"/>
                <a:gd name="connsiteX1" fmla="*/ 351133 w 478363"/>
                <a:gd name="connsiteY1" fmla="*/ 385963 h 606692"/>
                <a:gd name="connsiteX2" fmla="*/ 351133 w 478363"/>
                <a:gd name="connsiteY2" fmla="*/ 537275 h 606692"/>
                <a:gd name="connsiteX3" fmla="*/ 336773 w 478363"/>
                <a:gd name="connsiteY3" fmla="*/ 551580 h 606692"/>
                <a:gd name="connsiteX4" fmla="*/ 322413 w 478363"/>
                <a:gd name="connsiteY4" fmla="*/ 537275 h 606692"/>
                <a:gd name="connsiteX5" fmla="*/ 245920 w 478363"/>
                <a:gd name="connsiteY5" fmla="*/ 385963 h 606692"/>
                <a:gd name="connsiteX6" fmla="*/ 300467 w 478363"/>
                <a:gd name="connsiteY6" fmla="*/ 385963 h 606692"/>
                <a:gd name="connsiteX7" fmla="*/ 300467 w 478363"/>
                <a:gd name="connsiteY7" fmla="*/ 558452 h 606692"/>
                <a:gd name="connsiteX8" fmla="*/ 273149 w 478363"/>
                <a:gd name="connsiteY8" fmla="*/ 585734 h 606692"/>
                <a:gd name="connsiteX9" fmla="*/ 245920 w 478363"/>
                <a:gd name="connsiteY9" fmla="*/ 558452 h 606692"/>
                <a:gd name="connsiteX10" fmla="*/ 179518 w 478363"/>
                <a:gd name="connsiteY10" fmla="*/ 385963 h 606692"/>
                <a:gd name="connsiteX11" fmla="*/ 234065 w 478363"/>
                <a:gd name="connsiteY11" fmla="*/ 385963 h 606692"/>
                <a:gd name="connsiteX12" fmla="*/ 234065 w 478363"/>
                <a:gd name="connsiteY12" fmla="*/ 558452 h 606692"/>
                <a:gd name="connsiteX13" fmla="*/ 206747 w 478363"/>
                <a:gd name="connsiteY13" fmla="*/ 585734 h 606692"/>
                <a:gd name="connsiteX14" fmla="*/ 179518 w 478363"/>
                <a:gd name="connsiteY14" fmla="*/ 558452 h 606692"/>
                <a:gd name="connsiteX15" fmla="*/ 126806 w 478363"/>
                <a:gd name="connsiteY15" fmla="*/ 385963 h 606692"/>
                <a:gd name="connsiteX16" fmla="*/ 155456 w 478363"/>
                <a:gd name="connsiteY16" fmla="*/ 385963 h 606692"/>
                <a:gd name="connsiteX17" fmla="*/ 155456 w 478363"/>
                <a:gd name="connsiteY17" fmla="*/ 537275 h 606692"/>
                <a:gd name="connsiteX18" fmla="*/ 141131 w 478363"/>
                <a:gd name="connsiteY18" fmla="*/ 551580 h 606692"/>
                <a:gd name="connsiteX19" fmla="*/ 126806 w 478363"/>
                <a:gd name="connsiteY19" fmla="*/ 537275 h 606692"/>
                <a:gd name="connsiteX20" fmla="*/ 13795 w 478363"/>
                <a:gd name="connsiteY20" fmla="*/ 337626 h 606692"/>
                <a:gd name="connsiteX21" fmla="*/ 464569 w 478363"/>
                <a:gd name="connsiteY21" fmla="*/ 337626 h 606692"/>
                <a:gd name="connsiteX22" fmla="*/ 478363 w 478363"/>
                <a:gd name="connsiteY22" fmla="*/ 351399 h 606692"/>
                <a:gd name="connsiteX23" fmla="*/ 464569 w 478363"/>
                <a:gd name="connsiteY23" fmla="*/ 365172 h 606692"/>
                <a:gd name="connsiteX24" fmla="*/ 450952 w 478363"/>
                <a:gd name="connsiteY24" fmla="*/ 365172 h 606692"/>
                <a:gd name="connsiteX25" fmla="*/ 450952 w 478363"/>
                <a:gd name="connsiteY25" fmla="*/ 585543 h 606692"/>
                <a:gd name="connsiteX26" fmla="*/ 429770 w 478363"/>
                <a:gd name="connsiteY26" fmla="*/ 606692 h 606692"/>
                <a:gd name="connsiteX27" fmla="*/ 408589 w 478363"/>
                <a:gd name="connsiteY27" fmla="*/ 585543 h 606692"/>
                <a:gd name="connsiteX28" fmla="*/ 408589 w 478363"/>
                <a:gd name="connsiteY28" fmla="*/ 365172 h 606692"/>
                <a:gd name="connsiteX29" fmla="*/ 71020 w 478363"/>
                <a:gd name="connsiteY29" fmla="*/ 365172 h 606692"/>
                <a:gd name="connsiteX30" fmla="*/ 71020 w 478363"/>
                <a:gd name="connsiteY30" fmla="*/ 585543 h 606692"/>
                <a:gd name="connsiteX31" fmla="*/ 49839 w 478363"/>
                <a:gd name="connsiteY31" fmla="*/ 606692 h 606692"/>
                <a:gd name="connsiteX32" fmla="*/ 28658 w 478363"/>
                <a:gd name="connsiteY32" fmla="*/ 585543 h 606692"/>
                <a:gd name="connsiteX33" fmla="*/ 28658 w 478363"/>
                <a:gd name="connsiteY33" fmla="*/ 365172 h 606692"/>
                <a:gd name="connsiteX34" fmla="*/ 13795 w 478363"/>
                <a:gd name="connsiteY34" fmla="*/ 365172 h 606692"/>
                <a:gd name="connsiteX35" fmla="*/ 0 w 478363"/>
                <a:gd name="connsiteY35" fmla="*/ 351399 h 606692"/>
                <a:gd name="connsiteX36" fmla="*/ 13795 w 478363"/>
                <a:gd name="connsiteY36" fmla="*/ 337626 h 606692"/>
                <a:gd name="connsiteX37" fmla="*/ 239958 w 478363"/>
                <a:gd name="connsiteY37" fmla="*/ 69548 h 606692"/>
                <a:gd name="connsiteX38" fmla="*/ 287131 w 478363"/>
                <a:gd name="connsiteY38" fmla="*/ 116651 h 606692"/>
                <a:gd name="connsiteX39" fmla="*/ 239958 w 478363"/>
                <a:gd name="connsiteY39" fmla="*/ 163754 h 606692"/>
                <a:gd name="connsiteX40" fmla="*/ 192785 w 478363"/>
                <a:gd name="connsiteY40" fmla="*/ 116651 h 606692"/>
                <a:gd name="connsiteX41" fmla="*/ 239958 w 478363"/>
                <a:gd name="connsiteY41" fmla="*/ 69548 h 606692"/>
                <a:gd name="connsiteX42" fmla="*/ 369130 w 478363"/>
                <a:gd name="connsiteY42" fmla="*/ 1049 h 606692"/>
                <a:gd name="connsiteX43" fmla="*/ 386453 w 478363"/>
                <a:gd name="connsiteY43" fmla="*/ 2571 h 606692"/>
                <a:gd name="connsiteX44" fmla="*/ 396155 w 478363"/>
                <a:gd name="connsiteY44" fmla="*/ 33229 h 606692"/>
                <a:gd name="connsiteX45" fmla="*/ 300026 w 478363"/>
                <a:gd name="connsiteY45" fmla="*/ 216109 h 606692"/>
                <a:gd name="connsiteX46" fmla="*/ 300026 w 478363"/>
                <a:gd name="connsiteY46" fmla="*/ 316880 h 606692"/>
                <a:gd name="connsiteX47" fmla="*/ 236741 w 478363"/>
                <a:gd name="connsiteY47" fmla="*/ 316880 h 606692"/>
                <a:gd name="connsiteX48" fmla="*/ 243328 w 478363"/>
                <a:gd name="connsiteY48" fmla="*/ 293776 h 606692"/>
                <a:gd name="connsiteX49" fmla="*/ 199714 w 478363"/>
                <a:gd name="connsiteY49" fmla="*/ 250410 h 606692"/>
                <a:gd name="connsiteX50" fmla="*/ 199625 w 478363"/>
                <a:gd name="connsiteY50" fmla="*/ 250410 h 606692"/>
                <a:gd name="connsiteX51" fmla="*/ 179420 w 478363"/>
                <a:gd name="connsiteY51" fmla="*/ 250410 h 606692"/>
                <a:gd name="connsiteX52" fmla="*/ 179420 w 478363"/>
                <a:gd name="connsiteY52" fmla="*/ 235570 h 606692"/>
                <a:gd name="connsiteX53" fmla="*/ 174257 w 478363"/>
                <a:gd name="connsiteY53" fmla="*/ 228905 h 606692"/>
                <a:gd name="connsiteX54" fmla="*/ 166603 w 478363"/>
                <a:gd name="connsiteY54" fmla="*/ 232460 h 606692"/>
                <a:gd name="connsiteX55" fmla="*/ 166425 w 478363"/>
                <a:gd name="connsiteY55" fmla="*/ 232815 h 606692"/>
                <a:gd name="connsiteX56" fmla="*/ 148178 w 478363"/>
                <a:gd name="connsiteY56" fmla="*/ 271293 h 606692"/>
                <a:gd name="connsiteX57" fmla="*/ 199625 w 478363"/>
                <a:gd name="connsiteY57" fmla="*/ 271204 h 606692"/>
                <a:gd name="connsiteX58" fmla="*/ 199714 w 478363"/>
                <a:gd name="connsiteY58" fmla="*/ 271204 h 606692"/>
                <a:gd name="connsiteX59" fmla="*/ 222500 w 478363"/>
                <a:gd name="connsiteY59" fmla="*/ 293864 h 606692"/>
                <a:gd name="connsiteX60" fmla="*/ 199803 w 478363"/>
                <a:gd name="connsiteY60" fmla="*/ 316613 h 606692"/>
                <a:gd name="connsiteX61" fmla="*/ 112219 w 478363"/>
                <a:gd name="connsiteY61" fmla="*/ 316880 h 606692"/>
                <a:gd name="connsiteX62" fmla="*/ 91569 w 478363"/>
                <a:gd name="connsiteY62" fmla="*/ 284445 h 606692"/>
                <a:gd name="connsiteX63" fmla="*/ 125214 w 478363"/>
                <a:gd name="connsiteY63" fmla="*/ 213443 h 606692"/>
                <a:gd name="connsiteX64" fmla="*/ 179954 w 478363"/>
                <a:gd name="connsiteY64" fmla="*/ 178787 h 606692"/>
                <a:gd name="connsiteX65" fmla="*/ 268784 w 478363"/>
                <a:gd name="connsiteY65" fmla="*/ 178787 h 606692"/>
                <a:gd name="connsiteX66" fmla="*/ 355745 w 478363"/>
                <a:gd name="connsiteY66" fmla="*/ 12257 h 606692"/>
                <a:gd name="connsiteX67" fmla="*/ 369130 w 478363"/>
                <a:gd name="connsiteY67" fmla="*/ 1049 h 606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8363" h="606692">
                  <a:moveTo>
                    <a:pt x="322413" y="385963"/>
                  </a:moveTo>
                  <a:lnTo>
                    <a:pt x="351133" y="385963"/>
                  </a:lnTo>
                  <a:lnTo>
                    <a:pt x="351133" y="537275"/>
                  </a:lnTo>
                  <a:cubicBezTo>
                    <a:pt x="351133" y="545183"/>
                    <a:pt x="344711" y="551580"/>
                    <a:pt x="336773" y="551580"/>
                  </a:cubicBezTo>
                  <a:cubicBezTo>
                    <a:pt x="328835" y="551580"/>
                    <a:pt x="322413" y="545183"/>
                    <a:pt x="322413" y="537275"/>
                  </a:cubicBezTo>
                  <a:close/>
                  <a:moveTo>
                    <a:pt x="245920" y="385963"/>
                  </a:moveTo>
                  <a:lnTo>
                    <a:pt x="300467" y="385963"/>
                  </a:lnTo>
                  <a:lnTo>
                    <a:pt x="300467" y="558452"/>
                  </a:lnTo>
                  <a:cubicBezTo>
                    <a:pt x="300467" y="573559"/>
                    <a:pt x="288276" y="585734"/>
                    <a:pt x="273149" y="585734"/>
                  </a:cubicBezTo>
                  <a:cubicBezTo>
                    <a:pt x="258111" y="585734"/>
                    <a:pt x="245920" y="573559"/>
                    <a:pt x="245920" y="558452"/>
                  </a:cubicBezTo>
                  <a:close/>
                  <a:moveTo>
                    <a:pt x="179518" y="385963"/>
                  </a:moveTo>
                  <a:lnTo>
                    <a:pt x="234065" y="385963"/>
                  </a:lnTo>
                  <a:lnTo>
                    <a:pt x="234065" y="558452"/>
                  </a:lnTo>
                  <a:cubicBezTo>
                    <a:pt x="234065" y="573559"/>
                    <a:pt x="221874" y="585734"/>
                    <a:pt x="206747" y="585734"/>
                  </a:cubicBezTo>
                  <a:cubicBezTo>
                    <a:pt x="191709" y="585734"/>
                    <a:pt x="179518" y="573559"/>
                    <a:pt x="179518" y="558452"/>
                  </a:cubicBezTo>
                  <a:close/>
                  <a:moveTo>
                    <a:pt x="126806" y="385963"/>
                  </a:moveTo>
                  <a:lnTo>
                    <a:pt x="155456" y="385963"/>
                  </a:lnTo>
                  <a:lnTo>
                    <a:pt x="155456" y="537275"/>
                  </a:lnTo>
                  <a:cubicBezTo>
                    <a:pt x="155456" y="545183"/>
                    <a:pt x="149050" y="551580"/>
                    <a:pt x="141131" y="551580"/>
                  </a:cubicBezTo>
                  <a:cubicBezTo>
                    <a:pt x="133212" y="551580"/>
                    <a:pt x="126806" y="545183"/>
                    <a:pt x="126806" y="537275"/>
                  </a:cubicBezTo>
                  <a:close/>
                  <a:moveTo>
                    <a:pt x="13795" y="337626"/>
                  </a:moveTo>
                  <a:lnTo>
                    <a:pt x="464569" y="337626"/>
                  </a:lnTo>
                  <a:cubicBezTo>
                    <a:pt x="472133" y="337626"/>
                    <a:pt x="478363" y="343846"/>
                    <a:pt x="478363" y="351399"/>
                  </a:cubicBezTo>
                  <a:cubicBezTo>
                    <a:pt x="478363" y="359041"/>
                    <a:pt x="472133" y="365172"/>
                    <a:pt x="464569" y="365172"/>
                  </a:cubicBezTo>
                  <a:lnTo>
                    <a:pt x="450952" y="365172"/>
                  </a:lnTo>
                  <a:lnTo>
                    <a:pt x="450952" y="585543"/>
                  </a:lnTo>
                  <a:cubicBezTo>
                    <a:pt x="450952" y="597184"/>
                    <a:pt x="441429" y="606692"/>
                    <a:pt x="429770" y="606692"/>
                  </a:cubicBezTo>
                  <a:cubicBezTo>
                    <a:pt x="418023" y="606692"/>
                    <a:pt x="408589" y="597184"/>
                    <a:pt x="408589" y="585543"/>
                  </a:cubicBezTo>
                  <a:lnTo>
                    <a:pt x="408589" y="365172"/>
                  </a:lnTo>
                  <a:lnTo>
                    <a:pt x="71020" y="365172"/>
                  </a:lnTo>
                  <a:lnTo>
                    <a:pt x="71020" y="585543"/>
                  </a:lnTo>
                  <a:cubicBezTo>
                    <a:pt x="71020" y="597184"/>
                    <a:pt x="61498" y="606692"/>
                    <a:pt x="49839" y="606692"/>
                  </a:cubicBezTo>
                  <a:cubicBezTo>
                    <a:pt x="38091" y="606692"/>
                    <a:pt x="28658" y="597184"/>
                    <a:pt x="28658" y="585543"/>
                  </a:cubicBezTo>
                  <a:lnTo>
                    <a:pt x="28658" y="365172"/>
                  </a:lnTo>
                  <a:lnTo>
                    <a:pt x="13795" y="365172"/>
                  </a:lnTo>
                  <a:cubicBezTo>
                    <a:pt x="6141" y="365172"/>
                    <a:pt x="0" y="359041"/>
                    <a:pt x="0" y="351399"/>
                  </a:cubicBezTo>
                  <a:cubicBezTo>
                    <a:pt x="0" y="343846"/>
                    <a:pt x="6141" y="337626"/>
                    <a:pt x="13795" y="337626"/>
                  </a:cubicBezTo>
                  <a:close/>
                  <a:moveTo>
                    <a:pt x="239958" y="69548"/>
                  </a:moveTo>
                  <a:cubicBezTo>
                    <a:pt x="266011" y="69548"/>
                    <a:pt x="287131" y="90637"/>
                    <a:pt x="287131" y="116651"/>
                  </a:cubicBezTo>
                  <a:cubicBezTo>
                    <a:pt x="287131" y="142665"/>
                    <a:pt x="266011" y="163754"/>
                    <a:pt x="239958" y="163754"/>
                  </a:cubicBezTo>
                  <a:cubicBezTo>
                    <a:pt x="213905" y="163754"/>
                    <a:pt x="192785" y="142665"/>
                    <a:pt x="192785" y="116651"/>
                  </a:cubicBezTo>
                  <a:cubicBezTo>
                    <a:pt x="192785" y="90637"/>
                    <a:pt x="213905" y="69548"/>
                    <a:pt x="239958" y="69548"/>
                  </a:cubicBezTo>
                  <a:close/>
                  <a:moveTo>
                    <a:pt x="369130" y="1049"/>
                  </a:moveTo>
                  <a:cubicBezTo>
                    <a:pt x="374682" y="-695"/>
                    <a:pt x="380890" y="-317"/>
                    <a:pt x="386453" y="2571"/>
                  </a:cubicBezTo>
                  <a:cubicBezTo>
                    <a:pt x="397579" y="8347"/>
                    <a:pt x="401940" y="22121"/>
                    <a:pt x="396155" y="33229"/>
                  </a:cubicBezTo>
                  <a:cubicBezTo>
                    <a:pt x="295130" y="226595"/>
                    <a:pt x="302340" y="213354"/>
                    <a:pt x="300026" y="216109"/>
                  </a:cubicBezTo>
                  <a:lnTo>
                    <a:pt x="300026" y="316880"/>
                  </a:lnTo>
                  <a:lnTo>
                    <a:pt x="236741" y="316880"/>
                  </a:lnTo>
                  <a:cubicBezTo>
                    <a:pt x="240925" y="310126"/>
                    <a:pt x="243328" y="302306"/>
                    <a:pt x="243328" y="293776"/>
                  </a:cubicBezTo>
                  <a:cubicBezTo>
                    <a:pt x="243239" y="269783"/>
                    <a:pt x="223746" y="250410"/>
                    <a:pt x="199714" y="250410"/>
                  </a:cubicBezTo>
                  <a:lnTo>
                    <a:pt x="199625" y="250410"/>
                  </a:lnTo>
                  <a:lnTo>
                    <a:pt x="179420" y="250410"/>
                  </a:lnTo>
                  <a:lnTo>
                    <a:pt x="179420" y="235570"/>
                  </a:lnTo>
                  <a:cubicBezTo>
                    <a:pt x="179420" y="232371"/>
                    <a:pt x="177284" y="229616"/>
                    <a:pt x="174257" y="228905"/>
                  </a:cubicBezTo>
                  <a:cubicBezTo>
                    <a:pt x="171142" y="228195"/>
                    <a:pt x="168027" y="229616"/>
                    <a:pt x="166603" y="232460"/>
                  </a:cubicBezTo>
                  <a:cubicBezTo>
                    <a:pt x="166514" y="232549"/>
                    <a:pt x="166425" y="232727"/>
                    <a:pt x="166425" y="232815"/>
                  </a:cubicBezTo>
                  <a:cubicBezTo>
                    <a:pt x="156278" y="254231"/>
                    <a:pt x="158414" y="249611"/>
                    <a:pt x="148178" y="271293"/>
                  </a:cubicBezTo>
                  <a:lnTo>
                    <a:pt x="199625" y="271204"/>
                  </a:lnTo>
                  <a:lnTo>
                    <a:pt x="199714" y="271204"/>
                  </a:lnTo>
                  <a:cubicBezTo>
                    <a:pt x="212264" y="271204"/>
                    <a:pt x="222411" y="281335"/>
                    <a:pt x="222500" y="293864"/>
                  </a:cubicBezTo>
                  <a:cubicBezTo>
                    <a:pt x="222500" y="306394"/>
                    <a:pt x="212353" y="316613"/>
                    <a:pt x="199803" y="316613"/>
                  </a:cubicBezTo>
                  <a:lnTo>
                    <a:pt x="112219" y="316880"/>
                  </a:lnTo>
                  <a:cubicBezTo>
                    <a:pt x="95485" y="316880"/>
                    <a:pt x="84537" y="299463"/>
                    <a:pt x="91569" y="284445"/>
                  </a:cubicBezTo>
                  <a:cubicBezTo>
                    <a:pt x="95218" y="276803"/>
                    <a:pt x="120942" y="222507"/>
                    <a:pt x="125214" y="213443"/>
                  </a:cubicBezTo>
                  <a:cubicBezTo>
                    <a:pt x="135183" y="192383"/>
                    <a:pt x="156723" y="178787"/>
                    <a:pt x="179954" y="178787"/>
                  </a:cubicBezTo>
                  <a:lnTo>
                    <a:pt x="268784" y="178787"/>
                  </a:lnTo>
                  <a:lnTo>
                    <a:pt x="355745" y="12257"/>
                  </a:lnTo>
                  <a:cubicBezTo>
                    <a:pt x="358682" y="6659"/>
                    <a:pt x="363578" y="2793"/>
                    <a:pt x="369130" y="1049"/>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defRPr/>
              </a:pPr>
              <a:endParaRPr lang="en-US" sz="1100">
                <a:solidFill>
                  <a:prstClr val="white"/>
                </a:solidFill>
                <a:latin typeface="Calibri" panose="020F0502020204030204"/>
              </a:endParaRPr>
            </a:p>
          </p:txBody>
        </p:sp>
        <p:sp>
          <p:nvSpPr>
            <p:cNvPr id="21" name="speech-bubble-with-question-mark_65814">
              <a:extLst>
                <a:ext uri="{FF2B5EF4-FFF2-40B4-BE49-F238E27FC236}">
                  <a16:creationId xmlns:a16="http://schemas.microsoft.com/office/drawing/2014/main" id="{05E25EC1-3271-F540-1A78-9E8F844C7175}"/>
                </a:ext>
              </a:extLst>
            </p:cNvPr>
            <p:cNvSpPr/>
            <p:nvPr/>
          </p:nvSpPr>
          <p:spPr>
            <a:xfrm>
              <a:off x="510561" y="1588344"/>
              <a:ext cx="508071" cy="443294"/>
            </a:xfrm>
            <a:custGeom>
              <a:avLst/>
              <a:gdLst>
                <a:gd name="T0" fmla="*/ 554 w 619"/>
                <a:gd name="T1" fmla="*/ 0 h 541"/>
                <a:gd name="T2" fmla="*/ 65 w 619"/>
                <a:gd name="T3" fmla="*/ 0 h 541"/>
                <a:gd name="T4" fmla="*/ 0 w 619"/>
                <a:gd name="T5" fmla="*/ 64 h 541"/>
                <a:gd name="T6" fmla="*/ 0 w 619"/>
                <a:gd name="T7" fmla="*/ 385 h 541"/>
                <a:gd name="T8" fmla="*/ 65 w 619"/>
                <a:gd name="T9" fmla="*/ 450 h 541"/>
                <a:gd name="T10" fmla="*/ 437 w 619"/>
                <a:gd name="T11" fmla="*/ 450 h 541"/>
                <a:gd name="T12" fmla="*/ 508 w 619"/>
                <a:gd name="T13" fmla="*/ 522 h 541"/>
                <a:gd name="T14" fmla="*/ 554 w 619"/>
                <a:gd name="T15" fmla="*/ 541 h 541"/>
                <a:gd name="T16" fmla="*/ 579 w 619"/>
                <a:gd name="T17" fmla="*/ 536 h 541"/>
                <a:gd name="T18" fmla="*/ 619 w 619"/>
                <a:gd name="T19" fmla="*/ 476 h 541"/>
                <a:gd name="T20" fmla="*/ 619 w 619"/>
                <a:gd name="T21" fmla="*/ 64 h 541"/>
                <a:gd name="T22" fmla="*/ 554 w 619"/>
                <a:gd name="T23" fmla="*/ 0 h 541"/>
                <a:gd name="T24" fmla="*/ 339 w 619"/>
                <a:gd name="T25" fmla="*/ 356 h 541"/>
                <a:gd name="T26" fmla="*/ 298 w 619"/>
                <a:gd name="T27" fmla="*/ 395 h 541"/>
                <a:gd name="T28" fmla="*/ 258 w 619"/>
                <a:gd name="T29" fmla="*/ 356 h 541"/>
                <a:gd name="T30" fmla="*/ 258 w 619"/>
                <a:gd name="T31" fmla="*/ 355 h 541"/>
                <a:gd name="T32" fmla="*/ 298 w 619"/>
                <a:gd name="T33" fmla="*/ 315 h 541"/>
                <a:gd name="T34" fmla="*/ 339 w 619"/>
                <a:gd name="T35" fmla="*/ 355 h 541"/>
                <a:gd name="T36" fmla="*/ 339 w 619"/>
                <a:gd name="T37" fmla="*/ 356 h 541"/>
                <a:gd name="T38" fmla="*/ 420 w 619"/>
                <a:gd name="T39" fmla="*/ 161 h 541"/>
                <a:gd name="T40" fmla="*/ 328 w 619"/>
                <a:gd name="T41" fmla="*/ 254 h 541"/>
                <a:gd name="T42" fmla="*/ 327 w 619"/>
                <a:gd name="T43" fmla="*/ 262 h 541"/>
                <a:gd name="T44" fmla="*/ 302 w 619"/>
                <a:gd name="T45" fmla="*/ 285 h 541"/>
                <a:gd name="T46" fmla="*/ 298 w 619"/>
                <a:gd name="T47" fmla="*/ 285 h 541"/>
                <a:gd name="T48" fmla="*/ 273 w 619"/>
                <a:gd name="T49" fmla="*/ 262 h 541"/>
                <a:gd name="T50" fmla="*/ 269 w 619"/>
                <a:gd name="T51" fmla="*/ 231 h 541"/>
                <a:gd name="T52" fmla="*/ 290 w 619"/>
                <a:gd name="T53" fmla="*/ 203 h 541"/>
                <a:gd name="T54" fmla="*/ 349 w 619"/>
                <a:gd name="T55" fmla="*/ 162 h 541"/>
                <a:gd name="T56" fmla="*/ 349 w 619"/>
                <a:gd name="T57" fmla="*/ 161 h 541"/>
                <a:gd name="T58" fmla="*/ 306 w 619"/>
                <a:gd name="T59" fmla="*/ 128 h 541"/>
                <a:gd name="T60" fmla="*/ 252 w 619"/>
                <a:gd name="T61" fmla="*/ 147 h 541"/>
                <a:gd name="T62" fmla="*/ 232 w 619"/>
                <a:gd name="T63" fmla="*/ 154 h 541"/>
                <a:gd name="T64" fmla="*/ 199 w 619"/>
                <a:gd name="T65" fmla="*/ 122 h 541"/>
                <a:gd name="T66" fmla="*/ 211 w 619"/>
                <a:gd name="T67" fmla="*/ 97 h 541"/>
                <a:gd name="T68" fmla="*/ 308 w 619"/>
                <a:gd name="T69" fmla="*/ 64 h 541"/>
                <a:gd name="T70" fmla="*/ 420 w 619"/>
                <a:gd name="T71" fmla="*/ 160 h 541"/>
                <a:gd name="T72" fmla="*/ 420 w 619"/>
                <a:gd name="T73" fmla="*/ 161 h 541"/>
                <a:gd name="T74" fmla="*/ 420 w 619"/>
                <a:gd name="T75" fmla="*/ 16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9" h="541">
                  <a:moveTo>
                    <a:pt x="554" y="0"/>
                  </a:moveTo>
                  <a:lnTo>
                    <a:pt x="65" y="0"/>
                  </a:lnTo>
                  <a:cubicBezTo>
                    <a:pt x="29" y="0"/>
                    <a:pt x="0" y="29"/>
                    <a:pt x="0" y="64"/>
                  </a:cubicBezTo>
                  <a:lnTo>
                    <a:pt x="0" y="385"/>
                  </a:lnTo>
                  <a:cubicBezTo>
                    <a:pt x="0" y="421"/>
                    <a:pt x="29" y="450"/>
                    <a:pt x="65" y="450"/>
                  </a:cubicBezTo>
                  <a:lnTo>
                    <a:pt x="437" y="450"/>
                  </a:lnTo>
                  <a:lnTo>
                    <a:pt x="508" y="522"/>
                  </a:lnTo>
                  <a:cubicBezTo>
                    <a:pt x="520" y="535"/>
                    <a:pt x="537" y="541"/>
                    <a:pt x="554" y="541"/>
                  </a:cubicBezTo>
                  <a:cubicBezTo>
                    <a:pt x="562" y="541"/>
                    <a:pt x="571" y="540"/>
                    <a:pt x="579" y="536"/>
                  </a:cubicBezTo>
                  <a:cubicBezTo>
                    <a:pt x="603" y="526"/>
                    <a:pt x="619" y="503"/>
                    <a:pt x="619" y="476"/>
                  </a:cubicBezTo>
                  <a:lnTo>
                    <a:pt x="619" y="64"/>
                  </a:lnTo>
                  <a:cubicBezTo>
                    <a:pt x="619" y="29"/>
                    <a:pt x="590" y="0"/>
                    <a:pt x="554" y="0"/>
                  </a:cubicBezTo>
                  <a:close/>
                  <a:moveTo>
                    <a:pt x="339" y="356"/>
                  </a:moveTo>
                  <a:cubicBezTo>
                    <a:pt x="339" y="378"/>
                    <a:pt x="322" y="395"/>
                    <a:pt x="298" y="395"/>
                  </a:cubicBezTo>
                  <a:cubicBezTo>
                    <a:pt x="275" y="395"/>
                    <a:pt x="258" y="378"/>
                    <a:pt x="258" y="356"/>
                  </a:cubicBezTo>
                  <a:lnTo>
                    <a:pt x="258" y="355"/>
                  </a:lnTo>
                  <a:cubicBezTo>
                    <a:pt x="258" y="333"/>
                    <a:pt x="275" y="315"/>
                    <a:pt x="298" y="315"/>
                  </a:cubicBezTo>
                  <a:cubicBezTo>
                    <a:pt x="322" y="315"/>
                    <a:pt x="339" y="333"/>
                    <a:pt x="339" y="355"/>
                  </a:cubicBezTo>
                  <a:lnTo>
                    <a:pt x="339" y="356"/>
                  </a:lnTo>
                  <a:close/>
                  <a:moveTo>
                    <a:pt x="420" y="161"/>
                  </a:moveTo>
                  <a:cubicBezTo>
                    <a:pt x="420" y="219"/>
                    <a:pt x="379" y="244"/>
                    <a:pt x="328" y="254"/>
                  </a:cubicBezTo>
                  <a:lnTo>
                    <a:pt x="327" y="262"/>
                  </a:lnTo>
                  <a:cubicBezTo>
                    <a:pt x="325" y="274"/>
                    <a:pt x="315" y="285"/>
                    <a:pt x="302" y="285"/>
                  </a:cubicBezTo>
                  <a:lnTo>
                    <a:pt x="298" y="285"/>
                  </a:lnTo>
                  <a:cubicBezTo>
                    <a:pt x="285" y="285"/>
                    <a:pt x="275" y="275"/>
                    <a:pt x="273" y="262"/>
                  </a:cubicBezTo>
                  <a:lnTo>
                    <a:pt x="269" y="231"/>
                  </a:lnTo>
                  <a:cubicBezTo>
                    <a:pt x="266" y="215"/>
                    <a:pt x="275" y="205"/>
                    <a:pt x="290" y="203"/>
                  </a:cubicBezTo>
                  <a:cubicBezTo>
                    <a:pt x="330" y="198"/>
                    <a:pt x="349" y="185"/>
                    <a:pt x="349" y="162"/>
                  </a:cubicBezTo>
                  <a:lnTo>
                    <a:pt x="349" y="161"/>
                  </a:lnTo>
                  <a:cubicBezTo>
                    <a:pt x="349" y="141"/>
                    <a:pt x="333" y="128"/>
                    <a:pt x="306" y="128"/>
                  </a:cubicBezTo>
                  <a:cubicBezTo>
                    <a:pt x="286" y="128"/>
                    <a:pt x="269" y="135"/>
                    <a:pt x="252" y="147"/>
                  </a:cubicBezTo>
                  <a:cubicBezTo>
                    <a:pt x="247" y="151"/>
                    <a:pt x="239" y="154"/>
                    <a:pt x="232" y="154"/>
                  </a:cubicBezTo>
                  <a:cubicBezTo>
                    <a:pt x="214" y="154"/>
                    <a:pt x="199" y="140"/>
                    <a:pt x="199" y="122"/>
                  </a:cubicBezTo>
                  <a:cubicBezTo>
                    <a:pt x="199" y="113"/>
                    <a:pt x="203" y="104"/>
                    <a:pt x="211" y="97"/>
                  </a:cubicBezTo>
                  <a:cubicBezTo>
                    <a:pt x="236" y="77"/>
                    <a:pt x="267" y="64"/>
                    <a:pt x="308" y="64"/>
                  </a:cubicBezTo>
                  <a:cubicBezTo>
                    <a:pt x="374" y="64"/>
                    <a:pt x="420" y="98"/>
                    <a:pt x="420" y="160"/>
                  </a:cubicBezTo>
                  <a:lnTo>
                    <a:pt x="420" y="161"/>
                  </a:lnTo>
                  <a:lnTo>
                    <a:pt x="420" y="161"/>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61970">
                <a:defRPr/>
              </a:pPr>
              <a:endParaRPr lang="en-US" sz="1100">
                <a:solidFill>
                  <a:prstClr val="white"/>
                </a:solidFill>
                <a:latin typeface="Calibri" panose="020F0502020204030204"/>
              </a:endParaRPr>
            </a:p>
          </p:txBody>
        </p:sp>
        <p:sp>
          <p:nvSpPr>
            <p:cNvPr id="22" name="箭头: 右 9">
              <a:extLst>
                <a:ext uri="{FF2B5EF4-FFF2-40B4-BE49-F238E27FC236}">
                  <a16:creationId xmlns:a16="http://schemas.microsoft.com/office/drawing/2014/main" id="{2F086922-95BB-B4F1-69ED-59C85DA52327}"/>
                </a:ext>
              </a:extLst>
            </p:cNvPr>
            <p:cNvSpPr/>
            <p:nvPr/>
          </p:nvSpPr>
          <p:spPr>
            <a:xfrm rot="10800000">
              <a:off x="5851367" y="2300511"/>
              <a:ext cx="1996979" cy="572708"/>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23" name="文本框 33">
              <a:extLst>
                <a:ext uri="{FF2B5EF4-FFF2-40B4-BE49-F238E27FC236}">
                  <a16:creationId xmlns:a16="http://schemas.microsoft.com/office/drawing/2014/main" id="{1FF402C1-75D2-04BB-8861-19DDAED7F649}"/>
                </a:ext>
              </a:extLst>
            </p:cNvPr>
            <p:cNvSpPr txBox="1"/>
            <p:nvPr/>
          </p:nvSpPr>
          <p:spPr>
            <a:xfrm>
              <a:off x="2578229" y="900528"/>
              <a:ext cx="4078289" cy="316217"/>
            </a:xfrm>
            <a:prstGeom prst="rect">
              <a:avLst/>
            </a:prstGeom>
            <a:noFill/>
          </p:spPr>
          <p:txBody>
            <a:bodyPr wrap="square">
              <a:spAutoFit/>
            </a:bodyPr>
            <a:lstStyle/>
            <a:p>
              <a:pPr algn="ctr"/>
              <a:r>
                <a:rPr lang="en-US" altLang="zh-CN" sz="1100" b="1" dirty="0"/>
                <a:t>Online Q&amp;A Communities</a:t>
              </a:r>
            </a:p>
          </p:txBody>
        </p:sp>
        <p:sp>
          <p:nvSpPr>
            <p:cNvPr id="24" name="technological_376048">
              <a:extLst>
                <a:ext uri="{FF2B5EF4-FFF2-40B4-BE49-F238E27FC236}">
                  <a16:creationId xmlns:a16="http://schemas.microsoft.com/office/drawing/2014/main" id="{8F5A73E8-B2C7-D996-C75C-3988948620AB}"/>
                </a:ext>
              </a:extLst>
            </p:cNvPr>
            <p:cNvSpPr/>
            <p:nvPr/>
          </p:nvSpPr>
          <p:spPr>
            <a:xfrm>
              <a:off x="5925071" y="1071651"/>
              <a:ext cx="609488" cy="573815"/>
            </a:xfrm>
            <a:custGeom>
              <a:avLst/>
              <a:gdLst>
                <a:gd name="connsiteX0" fmla="*/ 234365 w 607639"/>
                <a:gd name="connsiteY0" fmla="*/ 415983 h 572074"/>
                <a:gd name="connsiteX1" fmla="*/ 373276 w 607639"/>
                <a:gd name="connsiteY1" fmla="*/ 415983 h 572074"/>
                <a:gd name="connsiteX2" fmla="*/ 399260 w 607639"/>
                <a:gd name="connsiteY2" fmla="*/ 442031 h 572074"/>
                <a:gd name="connsiteX3" fmla="*/ 373276 w 607639"/>
                <a:gd name="connsiteY3" fmla="*/ 467990 h 572074"/>
                <a:gd name="connsiteX4" fmla="*/ 234365 w 607639"/>
                <a:gd name="connsiteY4" fmla="*/ 467990 h 572074"/>
                <a:gd name="connsiteX5" fmla="*/ 208380 w 607639"/>
                <a:gd name="connsiteY5" fmla="*/ 442031 h 572074"/>
                <a:gd name="connsiteX6" fmla="*/ 234365 w 607639"/>
                <a:gd name="connsiteY6" fmla="*/ 415983 h 572074"/>
                <a:gd name="connsiteX7" fmla="*/ 503414 w 607639"/>
                <a:gd name="connsiteY7" fmla="*/ 364023 h 572074"/>
                <a:gd name="connsiteX8" fmla="*/ 503414 w 607639"/>
                <a:gd name="connsiteY8" fmla="*/ 416013 h 572074"/>
                <a:gd name="connsiteX9" fmla="*/ 555571 w 607639"/>
                <a:gd name="connsiteY9" fmla="*/ 416013 h 572074"/>
                <a:gd name="connsiteX10" fmla="*/ 555571 w 607639"/>
                <a:gd name="connsiteY10" fmla="*/ 364023 h 572074"/>
                <a:gd name="connsiteX11" fmla="*/ 52068 w 607639"/>
                <a:gd name="connsiteY11" fmla="*/ 364023 h 572074"/>
                <a:gd name="connsiteX12" fmla="*/ 52068 w 607639"/>
                <a:gd name="connsiteY12" fmla="*/ 416013 h 572074"/>
                <a:gd name="connsiteX13" fmla="*/ 104136 w 607639"/>
                <a:gd name="connsiteY13" fmla="*/ 416013 h 572074"/>
                <a:gd name="connsiteX14" fmla="*/ 104136 w 607639"/>
                <a:gd name="connsiteY14" fmla="*/ 364023 h 572074"/>
                <a:gd name="connsiteX15" fmla="*/ 364541 w 607639"/>
                <a:gd name="connsiteY15" fmla="*/ 311970 h 572074"/>
                <a:gd name="connsiteX16" fmla="*/ 399259 w 607639"/>
                <a:gd name="connsiteY16" fmla="*/ 346653 h 572074"/>
                <a:gd name="connsiteX17" fmla="*/ 364541 w 607639"/>
                <a:gd name="connsiteY17" fmla="*/ 381336 h 572074"/>
                <a:gd name="connsiteX18" fmla="*/ 329823 w 607639"/>
                <a:gd name="connsiteY18" fmla="*/ 346653 h 572074"/>
                <a:gd name="connsiteX19" fmla="*/ 364541 w 607639"/>
                <a:gd name="connsiteY19" fmla="*/ 311970 h 572074"/>
                <a:gd name="connsiteX20" fmla="*/ 243063 w 607639"/>
                <a:gd name="connsiteY20" fmla="*/ 311970 h 572074"/>
                <a:gd name="connsiteX21" fmla="*/ 277746 w 607639"/>
                <a:gd name="connsiteY21" fmla="*/ 346653 h 572074"/>
                <a:gd name="connsiteX22" fmla="*/ 243063 w 607639"/>
                <a:gd name="connsiteY22" fmla="*/ 381336 h 572074"/>
                <a:gd name="connsiteX23" fmla="*/ 208380 w 607639"/>
                <a:gd name="connsiteY23" fmla="*/ 346653 h 572074"/>
                <a:gd name="connsiteX24" fmla="*/ 243063 w 607639"/>
                <a:gd name="connsiteY24" fmla="*/ 311970 h 572074"/>
                <a:gd name="connsiteX25" fmla="*/ 156204 w 607639"/>
                <a:gd name="connsiteY25" fmla="*/ 260042 h 572074"/>
                <a:gd name="connsiteX26" fmla="*/ 156204 w 607639"/>
                <a:gd name="connsiteY26" fmla="*/ 337983 h 572074"/>
                <a:gd name="connsiteX27" fmla="*/ 156204 w 607639"/>
                <a:gd name="connsiteY27" fmla="*/ 442053 h 572074"/>
                <a:gd name="connsiteX28" fmla="*/ 156204 w 607639"/>
                <a:gd name="connsiteY28" fmla="*/ 519995 h 572074"/>
                <a:gd name="connsiteX29" fmla="*/ 451346 w 607639"/>
                <a:gd name="connsiteY29" fmla="*/ 519995 h 572074"/>
                <a:gd name="connsiteX30" fmla="*/ 451346 w 607639"/>
                <a:gd name="connsiteY30" fmla="*/ 442053 h 572074"/>
                <a:gd name="connsiteX31" fmla="*/ 451346 w 607639"/>
                <a:gd name="connsiteY31" fmla="*/ 337983 h 572074"/>
                <a:gd name="connsiteX32" fmla="*/ 451346 w 607639"/>
                <a:gd name="connsiteY32" fmla="*/ 260042 h 572074"/>
                <a:gd name="connsiteX33" fmla="*/ 303775 w 607639"/>
                <a:gd name="connsiteY33" fmla="*/ 51991 h 572074"/>
                <a:gd name="connsiteX34" fmla="*/ 277786 w 607639"/>
                <a:gd name="connsiteY34" fmla="*/ 78030 h 572074"/>
                <a:gd name="connsiteX35" fmla="*/ 303775 w 607639"/>
                <a:gd name="connsiteY35" fmla="*/ 103981 h 572074"/>
                <a:gd name="connsiteX36" fmla="*/ 329854 w 607639"/>
                <a:gd name="connsiteY36" fmla="*/ 78030 h 572074"/>
                <a:gd name="connsiteX37" fmla="*/ 303775 w 607639"/>
                <a:gd name="connsiteY37" fmla="*/ 51991 h 572074"/>
                <a:gd name="connsiteX38" fmla="*/ 303775 w 607639"/>
                <a:gd name="connsiteY38" fmla="*/ 0 h 572074"/>
                <a:gd name="connsiteX39" fmla="*/ 381922 w 607639"/>
                <a:gd name="connsiteY39" fmla="*/ 78030 h 572074"/>
                <a:gd name="connsiteX40" fmla="*/ 329854 w 607639"/>
                <a:gd name="connsiteY40" fmla="*/ 151528 h 572074"/>
                <a:gd name="connsiteX41" fmla="*/ 329854 w 607639"/>
                <a:gd name="connsiteY41" fmla="*/ 208051 h 572074"/>
                <a:gd name="connsiteX42" fmla="*/ 477425 w 607639"/>
                <a:gd name="connsiteY42" fmla="*/ 208051 h 572074"/>
                <a:gd name="connsiteX43" fmla="*/ 503414 w 607639"/>
                <a:gd name="connsiteY43" fmla="*/ 234002 h 572074"/>
                <a:gd name="connsiteX44" fmla="*/ 503414 w 607639"/>
                <a:gd name="connsiteY44" fmla="*/ 312032 h 572074"/>
                <a:gd name="connsiteX45" fmla="*/ 581561 w 607639"/>
                <a:gd name="connsiteY45" fmla="*/ 312032 h 572074"/>
                <a:gd name="connsiteX46" fmla="*/ 607639 w 607639"/>
                <a:gd name="connsiteY46" fmla="*/ 337983 h 572074"/>
                <a:gd name="connsiteX47" fmla="*/ 607639 w 607639"/>
                <a:gd name="connsiteY47" fmla="*/ 442053 h 572074"/>
                <a:gd name="connsiteX48" fmla="*/ 581561 w 607639"/>
                <a:gd name="connsiteY48" fmla="*/ 468004 h 572074"/>
                <a:gd name="connsiteX49" fmla="*/ 503414 w 607639"/>
                <a:gd name="connsiteY49" fmla="*/ 468004 h 572074"/>
                <a:gd name="connsiteX50" fmla="*/ 503414 w 607639"/>
                <a:gd name="connsiteY50" fmla="*/ 546034 h 572074"/>
                <a:gd name="connsiteX51" fmla="*/ 477425 w 607639"/>
                <a:gd name="connsiteY51" fmla="*/ 572074 h 572074"/>
                <a:gd name="connsiteX52" fmla="*/ 130214 w 607639"/>
                <a:gd name="connsiteY52" fmla="*/ 572074 h 572074"/>
                <a:gd name="connsiteX53" fmla="*/ 104136 w 607639"/>
                <a:gd name="connsiteY53" fmla="*/ 546034 h 572074"/>
                <a:gd name="connsiteX54" fmla="*/ 104136 w 607639"/>
                <a:gd name="connsiteY54" fmla="*/ 468004 h 572074"/>
                <a:gd name="connsiteX55" fmla="*/ 26078 w 607639"/>
                <a:gd name="connsiteY55" fmla="*/ 468004 h 572074"/>
                <a:gd name="connsiteX56" fmla="*/ 0 w 607639"/>
                <a:gd name="connsiteY56" fmla="*/ 442053 h 572074"/>
                <a:gd name="connsiteX57" fmla="*/ 0 w 607639"/>
                <a:gd name="connsiteY57" fmla="*/ 337983 h 572074"/>
                <a:gd name="connsiteX58" fmla="*/ 26078 w 607639"/>
                <a:gd name="connsiteY58" fmla="*/ 312032 h 572074"/>
                <a:gd name="connsiteX59" fmla="*/ 104136 w 607639"/>
                <a:gd name="connsiteY59" fmla="*/ 312032 h 572074"/>
                <a:gd name="connsiteX60" fmla="*/ 104136 w 607639"/>
                <a:gd name="connsiteY60" fmla="*/ 234002 h 572074"/>
                <a:gd name="connsiteX61" fmla="*/ 130214 w 607639"/>
                <a:gd name="connsiteY61" fmla="*/ 208051 h 572074"/>
                <a:gd name="connsiteX62" fmla="*/ 277786 w 607639"/>
                <a:gd name="connsiteY62" fmla="*/ 208051 h 572074"/>
                <a:gd name="connsiteX63" fmla="*/ 277786 w 607639"/>
                <a:gd name="connsiteY63" fmla="*/ 151528 h 572074"/>
                <a:gd name="connsiteX64" fmla="*/ 225718 w 607639"/>
                <a:gd name="connsiteY64" fmla="*/ 78030 h 572074"/>
                <a:gd name="connsiteX65" fmla="*/ 303775 w 607639"/>
                <a:gd name="connsiteY65" fmla="*/ 0 h 57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7639" h="572074">
                  <a:moveTo>
                    <a:pt x="234365" y="415983"/>
                  </a:moveTo>
                  <a:lnTo>
                    <a:pt x="373276" y="415983"/>
                  </a:lnTo>
                  <a:cubicBezTo>
                    <a:pt x="387603" y="415983"/>
                    <a:pt x="399260" y="427629"/>
                    <a:pt x="399260" y="442031"/>
                  </a:cubicBezTo>
                  <a:cubicBezTo>
                    <a:pt x="399260" y="456344"/>
                    <a:pt x="387603" y="467990"/>
                    <a:pt x="373276" y="467990"/>
                  </a:cubicBezTo>
                  <a:lnTo>
                    <a:pt x="234365" y="467990"/>
                  </a:lnTo>
                  <a:cubicBezTo>
                    <a:pt x="220038" y="467990"/>
                    <a:pt x="208380" y="456344"/>
                    <a:pt x="208380" y="442031"/>
                  </a:cubicBezTo>
                  <a:cubicBezTo>
                    <a:pt x="208380" y="427629"/>
                    <a:pt x="220038" y="415983"/>
                    <a:pt x="234365" y="415983"/>
                  </a:cubicBezTo>
                  <a:close/>
                  <a:moveTo>
                    <a:pt x="503414" y="364023"/>
                  </a:moveTo>
                  <a:lnTo>
                    <a:pt x="503414" y="416013"/>
                  </a:lnTo>
                  <a:lnTo>
                    <a:pt x="555571" y="416013"/>
                  </a:lnTo>
                  <a:lnTo>
                    <a:pt x="555571" y="364023"/>
                  </a:lnTo>
                  <a:close/>
                  <a:moveTo>
                    <a:pt x="52068" y="364023"/>
                  </a:moveTo>
                  <a:lnTo>
                    <a:pt x="52068" y="416013"/>
                  </a:lnTo>
                  <a:lnTo>
                    <a:pt x="104136" y="416013"/>
                  </a:lnTo>
                  <a:lnTo>
                    <a:pt x="104136" y="364023"/>
                  </a:lnTo>
                  <a:close/>
                  <a:moveTo>
                    <a:pt x="364541" y="311970"/>
                  </a:moveTo>
                  <a:cubicBezTo>
                    <a:pt x="383715" y="311970"/>
                    <a:pt x="399259" y="327498"/>
                    <a:pt x="399259" y="346653"/>
                  </a:cubicBezTo>
                  <a:cubicBezTo>
                    <a:pt x="399259" y="365808"/>
                    <a:pt x="383715" y="381336"/>
                    <a:pt x="364541" y="381336"/>
                  </a:cubicBezTo>
                  <a:cubicBezTo>
                    <a:pt x="345367" y="381336"/>
                    <a:pt x="329823" y="365808"/>
                    <a:pt x="329823" y="346653"/>
                  </a:cubicBezTo>
                  <a:cubicBezTo>
                    <a:pt x="329823" y="327498"/>
                    <a:pt x="345367" y="311970"/>
                    <a:pt x="364541" y="311970"/>
                  </a:cubicBezTo>
                  <a:close/>
                  <a:moveTo>
                    <a:pt x="243063" y="311970"/>
                  </a:moveTo>
                  <a:cubicBezTo>
                    <a:pt x="262218" y="311970"/>
                    <a:pt x="277746" y="327498"/>
                    <a:pt x="277746" y="346653"/>
                  </a:cubicBezTo>
                  <a:cubicBezTo>
                    <a:pt x="277746" y="365808"/>
                    <a:pt x="262218" y="381336"/>
                    <a:pt x="243063" y="381336"/>
                  </a:cubicBezTo>
                  <a:cubicBezTo>
                    <a:pt x="223908" y="381336"/>
                    <a:pt x="208380" y="365808"/>
                    <a:pt x="208380" y="346653"/>
                  </a:cubicBezTo>
                  <a:cubicBezTo>
                    <a:pt x="208380" y="327498"/>
                    <a:pt x="223908" y="311970"/>
                    <a:pt x="243063" y="311970"/>
                  </a:cubicBezTo>
                  <a:close/>
                  <a:moveTo>
                    <a:pt x="156204" y="260042"/>
                  </a:moveTo>
                  <a:lnTo>
                    <a:pt x="156204" y="337983"/>
                  </a:lnTo>
                  <a:lnTo>
                    <a:pt x="156204" y="442053"/>
                  </a:lnTo>
                  <a:lnTo>
                    <a:pt x="156204" y="519995"/>
                  </a:lnTo>
                  <a:lnTo>
                    <a:pt x="451346" y="519995"/>
                  </a:lnTo>
                  <a:lnTo>
                    <a:pt x="451346" y="442053"/>
                  </a:lnTo>
                  <a:lnTo>
                    <a:pt x="451346" y="337983"/>
                  </a:lnTo>
                  <a:lnTo>
                    <a:pt x="451346" y="260042"/>
                  </a:lnTo>
                  <a:close/>
                  <a:moveTo>
                    <a:pt x="303775" y="51991"/>
                  </a:moveTo>
                  <a:cubicBezTo>
                    <a:pt x="289445" y="51991"/>
                    <a:pt x="277786" y="63633"/>
                    <a:pt x="277786" y="78030"/>
                  </a:cubicBezTo>
                  <a:cubicBezTo>
                    <a:pt x="277786" y="92339"/>
                    <a:pt x="289445" y="103981"/>
                    <a:pt x="303775" y="103981"/>
                  </a:cubicBezTo>
                  <a:cubicBezTo>
                    <a:pt x="318194" y="103981"/>
                    <a:pt x="329854" y="92339"/>
                    <a:pt x="329854" y="78030"/>
                  </a:cubicBezTo>
                  <a:cubicBezTo>
                    <a:pt x="329854" y="63633"/>
                    <a:pt x="318194" y="51991"/>
                    <a:pt x="303775" y="51991"/>
                  </a:cubicBezTo>
                  <a:close/>
                  <a:moveTo>
                    <a:pt x="303775" y="0"/>
                  </a:moveTo>
                  <a:cubicBezTo>
                    <a:pt x="346854" y="0"/>
                    <a:pt x="381922" y="35016"/>
                    <a:pt x="381922" y="78030"/>
                  </a:cubicBezTo>
                  <a:cubicBezTo>
                    <a:pt x="381922" y="111891"/>
                    <a:pt x="360116" y="140774"/>
                    <a:pt x="329854" y="151528"/>
                  </a:cubicBezTo>
                  <a:lnTo>
                    <a:pt x="329854" y="208051"/>
                  </a:lnTo>
                  <a:lnTo>
                    <a:pt x="477425" y="208051"/>
                  </a:lnTo>
                  <a:cubicBezTo>
                    <a:pt x="491754" y="208051"/>
                    <a:pt x="503414" y="219693"/>
                    <a:pt x="503414" y="234002"/>
                  </a:cubicBezTo>
                  <a:lnTo>
                    <a:pt x="503414" y="312032"/>
                  </a:lnTo>
                  <a:lnTo>
                    <a:pt x="581561" y="312032"/>
                  </a:lnTo>
                  <a:cubicBezTo>
                    <a:pt x="595980" y="312032"/>
                    <a:pt x="607639" y="323675"/>
                    <a:pt x="607639" y="337983"/>
                  </a:cubicBezTo>
                  <a:lnTo>
                    <a:pt x="607639" y="442053"/>
                  </a:lnTo>
                  <a:cubicBezTo>
                    <a:pt x="607639" y="456362"/>
                    <a:pt x="595980" y="468004"/>
                    <a:pt x="581561" y="468004"/>
                  </a:cubicBezTo>
                  <a:lnTo>
                    <a:pt x="503414" y="468004"/>
                  </a:lnTo>
                  <a:lnTo>
                    <a:pt x="503414" y="546034"/>
                  </a:lnTo>
                  <a:cubicBezTo>
                    <a:pt x="503414" y="560432"/>
                    <a:pt x="491754" y="572074"/>
                    <a:pt x="477425" y="572074"/>
                  </a:cubicBezTo>
                  <a:lnTo>
                    <a:pt x="130214" y="572074"/>
                  </a:lnTo>
                  <a:cubicBezTo>
                    <a:pt x="115796" y="572074"/>
                    <a:pt x="104136" y="560432"/>
                    <a:pt x="104136" y="546034"/>
                  </a:cubicBezTo>
                  <a:lnTo>
                    <a:pt x="104136" y="468004"/>
                  </a:lnTo>
                  <a:lnTo>
                    <a:pt x="26078" y="468004"/>
                  </a:lnTo>
                  <a:cubicBezTo>
                    <a:pt x="11659" y="468004"/>
                    <a:pt x="0" y="456362"/>
                    <a:pt x="0" y="442053"/>
                  </a:cubicBezTo>
                  <a:lnTo>
                    <a:pt x="0" y="337983"/>
                  </a:lnTo>
                  <a:cubicBezTo>
                    <a:pt x="0" y="323675"/>
                    <a:pt x="11659" y="312032"/>
                    <a:pt x="26078" y="312032"/>
                  </a:cubicBezTo>
                  <a:lnTo>
                    <a:pt x="104136" y="312032"/>
                  </a:lnTo>
                  <a:lnTo>
                    <a:pt x="104136" y="234002"/>
                  </a:lnTo>
                  <a:cubicBezTo>
                    <a:pt x="104136" y="219693"/>
                    <a:pt x="115796" y="208051"/>
                    <a:pt x="130214" y="208051"/>
                  </a:cubicBezTo>
                  <a:lnTo>
                    <a:pt x="277786" y="208051"/>
                  </a:lnTo>
                  <a:lnTo>
                    <a:pt x="277786" y="151528"/>
                  </a:lnTo>
                  <a:cubicBezTo>
                    <a:pt x="247435" y="140774"/>
                    <a:pt x="225718" y="111891"/>
                    <a:pt x="225718" y="78030"/>
                  </a:cubicBezTo>
                  <a:cubicBezTo>
                    <a:pt x="225718" y="35016"/>
                    <a:pt x="260697" y="0"/>
                    <a:pt x="303775" y="0"/>
                  </a:cubicBez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25" name="文本框 29">
              <a:extLst>
                <a:ext uri="{FF2B5EF4-FFF2-40B4-BE49-F238E27FC236}">
                  <a16:creationId xmlns:a16="http://schemas.microsoft.com/office/drawing/2014/main" id="{8D5B014C-100A-50CC-D59B-87E224664623}"/>
                </a:ext>
              </a:extLst>
            </p:cNvPr>
            <p:cNvSpPr txBox="1"/>
            <p:nvPr/>
          </p:nvSpPr>
          <p:spPr>
            <a:xfrm>
              <a:off x="5542613" y="1597503"/>
              <a:ext cx="1383163" cy="334818"/>
            </a:xfrm>
            <a:prstGeom prst="rect">
              <a:avLst/>
            </a:prstGeom>
            <a:noFill/>
          </p:spPr>
          <p:txBody>
            <a:bodyPr wrap="square">
              <a:spAutoFit/>
            </a:bodyPr>
            <a:lstStyle/>
            <a:p>
              <a:pPr algn="ctr"/>
              <a:r>
                <a:rPr lang="en-US" altLang="zh-CN" sz="1200" b="1" dirty="0">
                  <a:solidFill>
                    <a:srgbClr val="FF0000"/>
                  </a:solidFill>
                </a:rPr>
                <a:t>Internal</a:t>
              </a:r>
              <a:r>
                <a:rPr lang="en-US" altLang="zh-CN" sz="1100" b="1" dirty="0">
                  <a:solidFill>
                    <a:srgbClr val="FF0000"/>
                  </a:solidFill>
                </a:rPr>
                <a:t> </a:t>
              </a:r>
              <a:r>
                <a:rPr lang="en-US" altLang="zh-CN" sz="1100" dirty="0">
                  <a:solidFill>
                    <a:srgbClr val="FF0000"/>
                  </a:solidFill>
                </a:rPr>
                <a:t>GenAI</a:t>
              </a:r>
            </a:p>
          </p:txBody>
        </p:sp>
        <p:sp>
          <p:nvSpPr>
            <p:cNvPr id="26" name="箭头: 右 37">
              <a:extLst>
                <a:ext uri="{FF2B5EF4-FFF2-40B4-BE49-F238E27FC236}">
                  <a16:creationId xmlns:a16="http://schemas.microsoft.com/office/drawing/2014/main" id="{9B34028C-72E8-E770-B44F-7F89DE04E1B2}"/>
                </a:ext>
              </a:extLst>
            </p:cNvPr>
            <p:cNvSpPr/>
            <p:nvPr/>
          </p:nvSpPr>
          <p:spPr>
            <a:xfrm rot="8293985">
              <a:off x="5082055" y="1682985"/>
              <a:ext cx="730985" cy="227137"/>
            </a:xfrm>
            <a:prstGeom prst="rightArrow">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100" dirty="0"/>
            </a:p>
          </p:txBody>
        </p:sp>
        <p:sp>
          <p:nvSpPr>
            <p:cNvPr id="27" name="TextBox 27">
              <a:extLst>
                <a:ext uri="{FF2B5EF4-FFF2-40B4-BE49-F238E27FC236}">
                  <a16:creationId xmlns:a16="http://schemas.microsoft.com/office/drawing/2014/main" id="{819BC108-0502-D070-8AA9-594052102FFB}"/>
                </a:ext>
              </a:extLst>
            </p:cNvPr>
            <p:cNvSpPr txBox="1"/>
            <p:nvPr/>
          </p:nvSpPr>
          <p:spPr>
            <a:xfrm>
              <a:off x="4830033" y="1405151"/>
              <a:ext cx="939256" cy="316217"/>
            </a:xfrm>
            <a:prstGeom prst="rect">
              <a:avLst/>
            </a:prstGeom>
            <a:noFill/>
          </p:spPr>
          <p:txBody>
            <a:bodyPr wrap="square" rtlCol="0">
              <a:spAutoFit/>
            </a:bodyPr>
            <a:lstStyle/>
            <a:p>
              <a:pPr algn="ctr"/>
              <a:r>
                <a:rPr lang="en-US" sz="1100" dirty="0"/>
                <a:t>Supply</a:t>
              </a:r>
            </a:p>
          </p:txBody>
        </p:sp>
      </p:grpSp>
      <p:sp>
        <p:nvSpPr>
          <p:cNvPr id="4" name="Slide Number Placeholder 3">
            <a:extLst>
              <a:ext uri="{FF2B5EF4-FFF2-40B4-BE49-F238E27FC236}">
                <a16:creationId xmlns:a16="http://schemas.microsoft.com/office/drawing/2014/main" id="{13D6D7F9-FCF8-BE23-49C2-0B2EDFA5A0B6}"/>
              </a:ext>
            </a:extLst>
          </p:cNvPr>
          <p:cNvSpPr>
            <a:spLocks noGrp="1"/>
          </p:cNvSpPr>
          <p:nvPr>
            <p:ph type="sldNum" sz="quarter" idx="12"/>
          </p:nvPr>
        </p:nvSpPr>
        <p:spPr/>
        <p:txBody>
          <a:bodyPr/>
          <a:lstStyle/>
          <a:p>
            <a:fld id="{80E9C1D4-69BA-4B09-8A24-1CCDDD1AB85B}" type="slidenum">
              <a:rPr lang="zh-CN" altLang="en-US" smtClean="0"/>
              <a:t>2</a:t>
            </a:fld>
            <a:endParaRPr lang="zh-CN" altLang="en-US"/>
          </a:p>
        </p:txBody>
      </p:sp>
    </p:spTree>
    <p:extLst>
      <p:ext uri="{BB962C8B-B14F-4D97-AF65-F5344CB8AC3E}">
        <p14:creationId xmlns:p14="http://schemas.microsoft.com/office/powerpoint/2010/main" val="3922076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C31D-BD68-0537-17B6-A00980772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6D49D-3278-E411-F372-40884236707B}"/>
              </a:ext>
            </a:extLst>
          </p:cNvPr>
          <p:cNvSpPr>
            <a:spLocks noGrp="1"/>
          </p:cNvSpPr>
          <p:nvPr>
            <p:ph type="title"/>
          </p:nvPr>
        </p:nvSpPr>
        <p:spPr>
          <a:xfrm>
            <a:off x="513357" y="273844"/>
            <a:ext cx="8293754" cy="669131"/>
          </a:xfrm>
        </p:spPr>
        <p:txBody>
          <a:bodyPr>
            <a:noAutofit/>
          </a:bodyPr>
          <a:lstStyle/>
          <a:p>
            <a:r>
              <a:rPr lang="en-US" dirty="0"/>
              <a:t>A </a:t>
            </a:r>
            <a:r>
              <a:rPr lang="en-US" altLang="zh-CN" dirty="0"/>
              <a:t>r</a:t>
            </a:r>
            <a:r>
              <a:rPr lang="en-US" dirty="0"/>
              <a:t>andomized </a:t>
            </a:r>
            <a:r>
              <a:rPr lang="en-US" altLang="zh-CN" dirty="0"/>
              <a:t>f</a:t>
            </a:r>
            <a:r>
              <a:rPr lang="en-US" dirty="0"/>
              <a:t>ield </a:t>
            </a:r>
            <a:r>
              <a:rPr lang="en-US" altLang="zh-CN" dirty="0"/>
              <a:t>e</a:t>
            </a:r>
            <a:r>
              <a:rPr lang="en-US" dirty="0"/>
              <a:t>xperiment on </a:t>
            </a:r>
            <a:r>
              <a:rPr lang="en-US" i="1" dirty="0"/>
              <a:t>SegmentFault</a:t>
            </a:r>
            <a:endParaRPr lang="en-US" altLang="zh-CN" dirty="0"/>
          </a:p>
        </p:txBody>
      </p:sp>
      <p:grpSp>
        <p:nvGrpSpPr>
          <p:cNvPr id="40" name="Group 39">
            <a:extLst>
              <a:ext uri="{FF2B5EF4-FFF2-40B4-BE49-F238E27FC236}">
                <a16:creationId xmlns:a16="http://schemas.microsoft.com/office/drawing/2014/main" id="{B9116859-38EF-D5CE-F202-5F5A493DC94C}"/>
              </a:ext>
            </a:extLst>
          </p:cNvPr>
          <p:cNvGrpSpPr/>
          <p:nvPr/>
        </p:nvGrpSpPr>
        <p:grpSpPr>
          <a:xfrm>
            <a:off x="1487568" y="1146096"/>
            <a:ext cx="5873709" cy="3757714"/>
            <a:chOff x="1070879" y="1111942"/>
            <a:chExt cx="6520706" cy="4171631"/>
          </a:xfrm>
        </p:grpSpPr>
        <p:pic>
          <p:nvPicPr>
            <p:cNvPr id="4" name="图片 4">
              <a:extLst>
                <a:ext uri="{FF2B5EF4-FFF2-40B4-BE49-F238E27FC236}">
                  <a16:creationId xmlns:a16="http://schemas.microsoft.com/office/drawing/2014/main" id="{F7969002-E896-35D3-B9A0-80D66F0EB021}"/>
                </a:ext>
              </a:extLst>
            </p:cNvPr>
            <p:cNvPicPr>
              <a:picLocks noChangeAspect="1"/>
            </p:cNvPicPr>
            <p:nvPr/>
          </p:nvPicPr>
          <p:blipFill>
            <a:blip r:embed="rId3"/>
            <a:stretch>
              <a:fillRect/>
            </a:stretch>
          </p:blipFill>
          <p:spPr>
            <a:xfrm>
              <a:off x="1070879" y="1583738"/>
              <a:ext cx="2446993" cy="3699835"/>
            </a:xfrm>
            <a:prstGeom prst="rect">
              <a:avLst/>
            </a:prstGeom>
          </p:spPr>
        </p:pic>
        <p:pic>
          <p:nvPicPr>
            <p:cNvPr id="5" name="图片 8">
              <a:extLst>
                <a:ext uri="{FF2B5EF4-FFF2-40B4-BE49-F238E27FC236}">
                  <a16:creationId xmlns:a16="http://schemas.microsoft.com/office/drawing/2014/main" id="{01AEBDD4-60C1-83D7-D779-1BA2C4D1BABF}"/>
                </a:ext>
              </a:extLst>
            </p:cNvPr>
            <p:cNvPicPr>
              <a:picLocks noChangeAspect="1"/>
            </p:cNvPicPr>
            <p:nvPr/>
          </p:nvPicPr>
          <p:blipFill>
            <a:blip r:embed="rId4"/>
            <a:stretch>
              <a:fillRect/>
            </a:stretch>
          </p:blipFill>
          <p:spPr>
            <a:xfrm>
              <a:off x="5213906" y="1583738"/>
              <a:ext cx="2377678" cy="3699835"/>
            </a:xfrm>
            <a:prstGeom prst="rect">
              <a:avLst/>
            </a:prstGeom>
          </p:spPr>
        </p:pic>
        <p:sp>
          <p:nvSpPr>
            <p:cNvPr id="29" name="矩形 9">
              <a:extLst>
                <a:ext uri="{FF2B5EF4-FFF2-40B4-BE49-F238E27FC236}">
                  <a16:creationId xmlns:a16="http://schemas.microsoft.com/office/drawing/2014/main" id="{7F3EF1D3-23B7-2E1E-14D2-DB423FB3CED0}"/>
                </a:ext>
              </a:extLst>
            </p:cNvPr>
            <p:cNvSpPr/>
            <p:nvPr/>
          </p:nvSpPr>
          <p:spPr>
            <a:xfrm>
              <a:off x="1248586" y="1698505"/>
              <a:ext cx="2269287" cy="983486"/>
            </a:xfrm>
            <a:prstGeom prst="rect">
              <a:avLst/>
            </a:prstGeom>
            <a:solidFill>
              <a:schemeClr val="bg2">
                <a:alpha val="5000"/>
              </a:schemeClr>
            </a:solid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0" name="矩形 10">
              <a:extLst>
                <a:ext uri="{FF2B5EF4-FFF2-40B4-BE49-F238E27FC236}">
                  <a16:creationId xmlns:a16="http://schemas.microsoft.com/office/drawing/2014/main" id="{5B62BF5D-34EE-AAE4-0545-0656E3517875}"/>
                </a:ext>
              </a:extLst>
            </p:cNvPr>
            <p:cNvSpPr/>
            <p:nvPr/>
          </p:nvSpPr>
          <p:spPr>
            <a:xfrm>
              <a:off x="5388237" y="1698505"/>
              <a:ext cx="2203348" cy="1206048"/>
            </a:xfrm>
            <a:prstGeom prst="rect">
              <a:avLst/>
            </a:prstGeom>
            <a:solidFill>
              <a:schemeClr val="bg2">
                <a:alpha val="5000"/>
              </a:schemeClr>
            </a:solid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 name="矩形 11">
              <a:extLst>
                <a:ext uri="{FF2B5EF4-FFF2-40B4-BE49-F238E27FC236}">
                  <a16:creationId xmlns:a16="http://schemas.microsoft.com/office/drawing/2014/main" id="{3AC455E2-7245-C5D0-A180-8E77D3D20D5F}"/>
                </a:ext>
              </a:extLst>
            </p:cNvPr>
            <p:cNvSpPr/>
            <p:nvPr/>
          </p:nvSpPr>
          <p:spPr>
            <a:xfrm>
              <a:off x="1248585" y="2736628"/>
              <a:ext cx="2269287" cy="441617"/>
            </a:xfrm>
            <a:prstGeom prst="rect">
              <a:avLst/>
            </a:prstGeom>
            <a:solidFill>
              <a:schemeClr val="bg1">
                <a:alpha val="5000"/>
              </a:schemeClr>
            </a:solid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2" name="矩形 12">
              <a:extLst>
                <a:ext uri="{FF2B5EF4-FFF2-40B4-BE49-F238E27FC236}">
                  <a16:creationId xmlns:a16="http://schemas.microsoft.com/office/drawing/2014/main" id="{13A47313-C0D0-E0FD-E7DD-FAD6BF142D27}"/>
                </a:ext>
              </a:extLst>
            </p:cNvPr>
            <p:cNvSpPr/>
            <p:nvPr/>
          </p:nvSpPr>
          <p:spPr>
            <a:xfrm>
              <a:off x="1248585" y="3374404"/>
              <a:ext cx="2269287" cy="1127838"/>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 name="矩形 13">
              <a:extLst>
                <a:ext uri="{FF2B5EF4-FFF2-40B4-BE49-F238E27FC236}">
                  <a16:creationId xmlns:a16="http://schemas.microsoft.com/office/drawing/2014/main" id="{EDD39B5B-36DB-4796-335F-78604D208E0F}"/>
                </a:ext>
              </a:extLst>
            </p:cNvPr>
            <p:cNvSpPr/>
            <p:nvPr/>
          </p:nvSpPr>
          <p:spPr>
            <a:xfrm>
              <a:off x="5388237" y="4690629"/>
              <a:ext cx="2203348" cy="592944"/>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4" name="矩形 48">
              <a:extLst>
                <a:ext uri="{FF2B5EF4-FFF2-40B4-BE49-F238E27FC236}">
                  <a16:creationId xmlns:a16="http://schemas.microsoft.com/office/drawing/2014/main" id="{EDD32161-5026-1A2C-9BA8-2F70DF92445C}"/>
                </a:ext>
              </a:extLst>
            </p:cNvPr>
            <p:cNvSpPr/>
            <p:nvPr/>
          </p:nvSpPr>
          <p:spPr>
            <a:xfrm>
              <a:off x="1248585" y="4502585"/>
              <a:ext cx="2269287" cy="744227"/>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5" name="矩形 50">
              <a:extLst>
                <a:ext uri="{FF2B5EF4-FFF2-40B4-BE49-F238E27FC236}">
                  <a16:creationId xmlns:a16="http://schemas.microsoft.com/office/drawing/2014/main" id="{673A1DFB-AD82-2774-C717-9E065F4A5AD3}"/>
                </a:ext>
              </a:extLst>
            </p:cNvPr>
            <p:cNvSpPr/>
            <p:nvPr/>
          </p:nvSpPr>
          <p:spPr>
            <a:xfrm>
              <a:off x="5388236" y="3990808"/>
              <a:ext cx="2203348" cy="699817"/>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6" name="矩形 51">
              <a:extLst>
                <a:ext uri="{FF2B5EF4-FFF2-40B4-BE49-F238E27FC236}">
                  <a16:creationId xmlns:a16="http://schemas.microsoft.com/office/drawing/2014/main" id="{B81253D6-7D35-0880-599A-C4C20634E6D5}"/>
                </a:ext>
              </a:extLst>
            </p:cNvPr>
            <p:cNvSpPr/>
            <p:nvPr/>
          </p:nvSpPr>
          <p:spPr>
            <a:xfrm flipV="1">
              <a:off x="5388236" y="3100713"/>
              <a:ext cx="2203348" cy="890096"/>
            </a:xfrm>
            <a:prstGeom prst="rect">
              <a:avLst/>
            </a:prstGeom>
            <a:solidFill>
              <a:schemeClr val="bg2">
                <a:alpha val="5000"/>
              </a:schemeClr>
            </a:solidFill>
            <a:ln w="412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cxnSp>
          <p:nvCxnSpPr>
            <p:cNvPr id="37" name="直接连接符 54">
              <a:extLst>
                <a:ext uri="{FF2B5EF4-FFF2-40B4-BE49-F238E27FC236}">
                  <a16:creationId xmlns:a16="http://schemas.microsoft.com/office/drawing/2014/main" id="{7B43F039-7089-1487-BE31-1E029B878498}"/>
                </a:ext>
              </a:extLst>
            </p:cNvPr>
            <p:cNvCxnSpPr>
              <a:cxnSpLocks/>
            </p:cNvCxnSpPr>
            <p:nvPr/>
          </p:nvCxnSpPr>
          <p:spPr>
            <a:xfrm>
              <a:off x="4385964" y="1163920"/>
              <a:ext cx="0" cy="4119653"/>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38" name="矩形: 圆角 55">
              <a:extLst>
                <a:ext uri="{FF2B5EF4-FFF2-40B4-BE49-F238E27FC236}">
                  <a16:creationId xmlns:a16="http://schemas.microsoft.com/office/drawing/2014/main" id="{60F49EAE-4E5D-FB48-D6DE-10130E1216DC}"/>
                </a:ext>
              </a:extLst>
            </p:cNvPr>
            <p:cNvSpPr/>
            <p:nvPr/>
          </p:nvSpPr>
          <p:spPr>
            <a:xfrm>
              <a:off x="1070879" y="1115031"/>
              <a:ext cx="2446974" cy="305970"/>
            </a:xfrm>
            <a:prstGeom prst="round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Calibri" panose="020F0502020204030204" pitchFamily="34" charset="0"/>
                  <a:cs typeface="Calibri" panose="020F0502020204030204" pitchFamily="34" charset="0"/>
                </a:rPr>
                <a:t>AI</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(treatment</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endParaRPr lang="zh-CN" altLang="en-US" sz="1200" b="1" dirty="0">
                <a:solidFill>
                  <a:schemeClr val="tx1"/>
                </a:solidFill>
                <a:latin typeface="Calibri" panose="020F0502020204030204" pitchFamily="34" charset="0"/>
                <a:cs typeface="Calibri" panose="020F0502020204030204" pitchFamily="34" charset="0"/>
              </a:endParaRPr>
            </a:p>
          </p:txBody>
        </p:sp>
        <p:sp>
          <p:nvSpPr>
            <p:cNvPr id="39" name="矩形: 圆角 57">
              <a:extLst>
                <a:ext uri="{FF2B5EF4-FFF2-40B4-BE49-F238E27FC236}">
                  <a16:creationId xmlns:a16="http://schemas.microsoft.com/office/drawing/2014/main" id="{9D946093-1E4D-D63D-A566-D41E64522EA8}"/>
                </a:ext>
              </a:extLst>
            </p:cNvPr>
            <p:cNvSpPr/>
            <p:nvPr/>
          </p:nvSpPr>
          <p:spPr>
            <a:xfrm>
              <a:off x="5213906" y="1111942"/>
              <a:ext cx="2377669" cy="305970"/>
            </a:xfrm>
            <a:prstGeom prst="round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Calibri" panose="020F0502020204030204" pitchFamily="34" charset="0"/>
                  <a:cs typeface="Calibri" panose="020F0502020204030204" pitchFamily="34" charset="0"/>
                </a:rPr>
                <a:t>no</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AI</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(control</a:t>
              </a:r>
              <a:r>
                <a:rPr lang="zh-CN" altLang="en-US" sz="1200" b="1" dirty="0">
                  <a:solidFill>
                    <a:schemeClr val="tx1"/>
                  </a:solidFill>
                  <a:latin typeface="Calibri" panose="020F0502020204030204" pitchFamily="34" charset="0"/>
                  <a:cs typeface="Calibri" panose="020F0502020204030204" pitchFamily="34" charset="0"/>
                </a:rPr>
                <a:t> </a:t>
              </a:r>
              <a:r>
                <a:rPr lang="en-US" altLang="zh-CN" sz="1200" b="1" dirty="0">
                  <a:solidFill>
                    <a:schemeClr val="tx1"/>
                  </a:solidFill>
                  <a:latin typeface="Calibri" panose="020F0502020204030204" pitchFamily="34" charset="0"/>
                  <a:cs typeface="Calibri" panose="020F0502020204030204" pitchFamily="34" charset="0"/>
                </a:rPr>
                <a:t>group)</a:t>
              </a:r>
              <a:r>
                <a:rPr lang="zh-CN" altLang="en-US" sz="1200" b="1" dirty="0">
                  <a:solidFill>
                    <a:schemeClr val="tx1"/>
                  </a:solidFill>
                  <a:latin typeface="Calibri" panose="020F0502020204030204" pitchFamily="34" charset="0"/>
                  <a:cs typeface="Calibri" panose="020F0502020204030204" pitchFamily="34" charset="0"/>
                </a:rPr>
                <a:t> </a:t>
              </a:r>
            </a:p>
          </p:txBody>
        </p:sp>
      </p:grpSp>
      <p:sp>
        <p:nvSpPr>
          <p:cNvPr id="3" name="Slide Number Placeholder 2">
            <a:extLst>
              <a:ext uri="{FF2B5EF4-FFF2-40B4-BE49-F238E27FC236}">
                <a16:creationId xmlns:a16="http://schemas.microsoft.com/office/drawing/2014/main" id="{F914D3FF-5985-5AAA-6BF6-9AF94934CACA}"/>
              </a:ext>
            </a:extLst>
          </p:cNvPr>
          <p:cNvSpPr>
            <a:spLocks noGrp="1"/>
          </p:cNvSpPr>
          <p:nvPr>
            <p:ph type="sldNum" sz="quarter" idx="12"/>
          </p:nvPr>
        </p:nvSpPr>
        <p:spPr/>
        <p:txBody>
          <a:bodyPr/>
          <a:lstStyle/>
          <a:p>
            <a:fld id="{80E9C1D4-69BA-4B09-8A24-1CCDDD1AB85B}" type="slidenum">
              <a:rPr lang="zh-CN" altLang="en-US" smtClean="0"/>
              <a:t>3</a:t>
            </a:fld>
            <a:endParaRPr lang="zh-CN" altLang="en-US"/>
          </a:p>
        </p:txBody>
      </p:sp>
    </p:spTree>
    <p:extLst>
      <p:ext uri="{BB962C8B-B14F-4D97-AF65-F5344CB8AC3E}">
        <p14:creationId xmlns:p14="http://schemas.microsoft.com/office/powerpoint/2010/main" val="2323804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E1AE-7FD4-99EE-79E1-646AC5D81BB4}"/>
              </a:ext>
            </a:extLst>
          </p:cNvPr>
          <p:cNvSpPr>
            <a:spLocks noGrp="1"/>
          </p:cNvSpPr>
          <p:nvPr>
            <p:ph type="title"/>
          </p:nvPr>
        </p:nvSpPr>
        <p:spPr/>
        <p:txBody>
          <a:bodyPr/>
          <a:lstStyle/>
          <a:p>
            <a:r>
              <a:rPr lang="en-US" dirty="0"/>
              <a:t>Original </a:t>
            </a:r>
            <a:r>
              <a:rPr lang="en-US" altLang="zh-CN" dirty="0"/>
              <a:t>f</a:t>
            </a:r>
            <a:r>
              <a:rPr lang="en-US" dirty="0"/>
              <a:t>raming (not drawn in the paper)</a:t>
            </a:r>
          </a:p>
        </p:txBody>
      </p:sp>
      <p:grpSp>
        <p:nvGrpSpPr>
          <p:cNvPr id="22" name="Group 21">
            <a:extLst>
              <a:ext uri="{FF2B5EF4-FFF2-40B4-BE49-F238E27FC236}">
                <a16:creationId xmlns:a16="http://schemas.microsoft.com/office/drawing/2014/main" id="{E05F0876-3189-DF7B-7B51-F453AB6BE72C}"/>
              </a:ext>
            </a:extLst>
          </p:cNvPr>
          <p:cNvGrpSpPr/>
          <p:nvPr/>
        </p:nvGrpSpPr>
        <p:grpSpPr>
          <a:xfrm>
            <a:off x="1551852" y="907765"/>
            <a:ext cx="5777636" cy="4110460"/>
            <a:chOff x="1751877" y="436276"/>
            <a:chExt cx="8786314" cy="6250963"/>
          </a:xfrm>
        </p:grpSpPr>
        <p:sp>
          <p:nvSpPr>
            <p:cNvPr id="5" name="Rectangle 4">
              <a:extLst>
                <a:ext uri="{FF2B5EF4-FFF2-40B4-BE49-F238E27FC236}">
                  <a16:creationId xmlns:a16="http://schemas.microsoft.com/office/drawing/2014/main" id="{4DE43C9A-13B2-3D3C-CAD6-2F8ECF5BC6F0}"/>
                </a:ext>
              </a:extLst>
            </p:cNvPr>
            <p:cNvSpPr/>
            <p:nvPr/>
          </p:nvSpPr>
          <p:spPr>
            <a:xfrm>
              <a:off x="5938372" y="491253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Viewer Recognition </a:t>
              </a:r>
            </a:p>
          </p:txBody>
        </p:sp>
        <p:sp>
          <p:nvSpPr>
            <p:cNvPr id="6" name="Rectangle 5">
              <a:extLst>
                <a:ext uri="{FF2B5EF4-FFF2-40B4-BE49-F238E27FC236}">
                  <a16:creationId xmlns:a16="http://schemas.microsoft.com/office/drawing/2014/main" id="{6A6CCCEF-1520-C9B2-6CD9-A5057784C5E8}"/>
                </a:ext>
              </a:extLst>
            </p:cNvPr>
            <p:cNvSpPr/>
            <p:nvPr/>
          </p:nvSpPr>
          <p:spPr>
            <a:xfrm>
              <a:off x="1751877" y="3685240"/>
              <a:ext cx="1787664"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Has AI Answer</a:t>
              </a:r>
            </a:p>
          </p:txBody>
        </p:sp>
        <p:cxnSp>
          <p:nvCxnSpPr>
            <p:cNvPr id="7" name="Straight Arrow Connector 6">
              <a:extLst>
                <a:ext uri="{FF2B5EF4-FFF2-40B4-BE49-F238E27FC236}">
                  <a16:creationId xmlns:a16="http://schemas.microsoft.com/office/drawing/2014/main" id="{4D2F2B7D-D3C8-E504-3853-1DBE8AAF5941}"/>
                </a:ext>
              </a:extLst>
            </p:cNvPr>
            <p:cNvCxnSpPr>
              <a:cxnSpLocks/>
              <a:stCxn id="6" idx="3"/>
              <a:endCxn id="5" idx="1"/>
            </p:cNvCxnSpPr>
            <p:nvPr/>
          </p:nvCxnSpPr>
          <p:spPr>
            <a:xfrm>
              <a:off x="3539541" y="4039619"/>
              <a:ext cx="2398831" cy="122729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 name="Rectangle 7">
              <a:extLst>
                <a:ext uri="{FF2B5EF4-FFF2-40B4-BE49-F238E27FC236}">
                  <a16:creationId xmlns:a16="http://schemas.microsoft.com/office/drawing/2014/main" id="{A499957B-B544-F52E-D917-4F702EBE1C26}"/>
                </a:ext>
              </a:extLst>
            </p:cNvPr>
            <p:cNvSpPr/>
            <p:nvPr/>
          </p:nvSpPr>
          <p:spPr>
            <a:xfrm>
              <a:off x="8703409" y="583936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t>E</a:t>
              </a:r>
              <a:r>
                <a:rPr lang="en-US" sz="1200" dirty="0"/>
                <a:t>levated </a:t>
              </a:r>
              <a:r>
                <a:rPr lang="en-US" altLang="zh-CN" sz="1200" dirty="0"/>
                <a:t>E</a:t>
              </a:r>
              <a:r>
                <a:rPr lang="en-US" sz="1200" dirty="0"/>
                <a:t>xpectations </a:t>
              </a:r>
            </a:p>
          </p:txBody>
        </p:sp>
        <p:sp>
          <p:nvSpPr>
            <p:cNvPr id="9" name="Rectangle 8">
              <a:extLst>
                <a:ext uri="{FF2B5EF4-FFF2-40B4-BE49-F238E27FC236}">
                  <a16:creationId xmlns:a16="http://schemas.microsoft.com/office/drawing/2014/main" id="{CDDAA13B-376F-5B96-9AAB-85A3F520F829}"/>
                </a:ext>
              </a:extLst>
            </p:cNvPr>
            <p:cNvSpPr/>
            <p:nvPr/>
          </p:nvSpPr>
          <p:spPr>
            <a:xfrm>
              <a:off x="5982140" y="2114441"/>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cxnSp>
          <p:nvCxnSpPr>
            <p:cNvPr id="10" name="Straight Arrow Connector 9">
              <a:extLst>
                <a:ext uri="{FF2B5EF4-FFF2-40B4-BE49-F238E27FC236}">
                  <a16:creationId xmlns:a16="http://schemas.microsoft.com/office/drawing/2014/main" id="{37CD32F7-C853-0A38-078F-4E5A90CBEA33}"/>
                </a:ext>
              </a:extLst>
            </p:cNvPr>
            <p:cNvCxnSpPr>
              <a:cxnSpLocks/>
              <a:stCxn id="6" idx="3"/>
              <a:endCxn id="9" idx="1"/>
            </p:cNvCxnSpPr>
            <p:nvPr/>
          </p:nvCxnSpPr>
          <p:spPr>
            <a:xfrm flipV="1">
              <a:off x="3539541" y="2468820"/>
              <a:ext cx="2442599" cy="15707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1" name="Rectangle 10">
              <a:extLst>
                <a:ext uri="{FF2B5EF4-FFF2-40B4-BE49-F238E27FC236}">
                  <a16:creationId xmlns:a16="http://schemas.microsoft.com/office/drawing/2014/main" id="{237CD72E-106C-7DB2-4821-1043A9BC84A8}"/>
                </a:ext>
              </a:extLst>
            </p:cNvPr>
            <p:cNvSpPr/>
            <p:nvPr/>
          </p:nvSpPr>
          <p:spPr>
            <a:xfrm>
              <a:off x="8703407" y="4913719"/>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Attention</a:t>
              </a:r>
              <a:r>
                <a:rPr lang="zh-CN" altLang="en-US" sz="1200" dirty="0"/>
                <a:t> </a:t>
              </a:r>
              <a:r>
                <a:rPr lang="en-US" altLang="zh-CN" sz="1200" dirty="0"/>
                <a:t>Diversion</a:t>
              </a:r>
              <a:endParaRPr lang="en-US" sz="1200" dirty="0"/>
            </a:p>
          </p:txBody>
        </p:sp>
        <p:sp>
          <p:nvSpPr>
            <p:cNvPr id="12" name="Rectangle 11">
              <a:extLst>
                <a:ext uri="{FF2B5EF4-FFF2-40B4-BE49-F238E27FC236}">
                  <a16:creationId xmlns:a16="http://schemas.microsoft.com/office/drawing/2014/main" id="{3D9879D8-79F2-7F25-ED7A-054ECB2AFF83}"/>
                </a:ext>
              </a:extLst>
            </p:cNvPr>
            <p:cNvSpPr/>
            <p:nvPr/>
          </p:nvSpPr>
          <p:spPr>
            <a:xfrm>
              <a:off x="8703407" y="3988075"/>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Quality</a:t>
              </a:r>
              <a:r>
                <a:rPr lang="zh-CN" altLang="en-US" sz="1200" dirty="0"/>
                <a:t> </a:t>
              </a:r>
              <a:r>
                <a:rPr lang="en-US" altLang="zh-CN" sz="1200" dirty="0"/>
                <a:t>Degradation</a:t>
              </a:r>
              <a:endParaRPr lang="en-US" sz="1200" dirty="0"/>
            </a:p>
          </p:txBody>
        </p:sp>
        <p:sp>
          <p:nvSpPr>
            <p:cNvPr id="13" name="Right Brace 12">
              <a:extLst>
                <a:ext uri="{FF2B5EF4-FFF2-40B4-BE49-F238E27FC236}">
                  <a16:creationId xmlns:a16="http://schemas.microsoft.com/office/drawing/2014/main" id="{4126743B-48CA-239C-5118-A305B7051325}"/>
                </a:ext>
              </a:extLst>
            </p:cNvPr>
            <p:cNvSpPr/>
            <p:nvPr/>
          </p:nvSpPr>
          <p:spPr>
            <a:xfrm rot="10800000">
              <a:off x="7894572" y="3988075"/>
              <a:ext cx="589496" cy="2560045"/>
            </a:xfrm>
            <a:prstGeom prst="rightBrace">
              <a:avLst>
                <a:gd name="adj1" fmla="val 39413"/>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a:p>
          </p:txBody>
        </p:sp>
        <p:sp>
          <p:nvSpPr>
            <p:cNvPr id="14" name="Rectangle 13">
              <a:extLst>
                <a:ext uri="{FF2B5EF4-FFF2-40B4-BE49-F238E27FC236}">
                  <a16:creationId xmlns:a16="http://schemas.microsoft.com/office/drawing/2014/main" id="{4A4DEB17-68A5-A63F-7D68-5999590567BD}"/>
                </a:ext>
              </a:extLst>
            </p:cNvPr>
            <p:cNvSpPr/>
            <p:nvPr/>
          </p:nvSpPr>
          <p:spPr>
            <a:xfrm>
              <a:off x="8708965" y="1160476"/>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Source</a:t>
              </a:r>
              <a:r>
                <a:rPr lang="zh-CN" altLang="en-US" sz="1200" dirty="0"/>
                <a:t> </a:t>
              </a:r>
              <a:r>
                <a:rPr lang="en-US" altLang="zh-CN" sz="1200" dirty="0"/>
                <a:t>Effect</a:t>
              </a:r>
              <a:endParaRPr lang="en-US" sz="1200" dirty="0"/>
            </a:p>
          </p:txBody>
        </p:sp>
        <p:sp>
          <p:nvSpPr>
            <p:cNvPr id="15" name="Rectangle 14">
              <a:extLst>
                <a:ext uri="{FF2B5EF4-FFF2-40B4-BE49-F238E27FC236}">
                  <a16:creationId xmlns:a16="http://schemas.microsoft.com/office/drawing/2014/main" id="{7EC3D984-36A8-7E5E-9109-1D0A550B62CC}"/>
                </a:ext>
              </a:extLst>
            </p:cNvPr>
            <p:cNvSpPr/>
            <p:nvPr/>
          </p:nvSpPr>
          <p:spPr>
            <a:xfrm>
              <a:off x="8708966" y="2114441"/>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a:t>Content</a:t>
              </a:r>
              <a:r>
                <a:rPr lang="zh-CN" altLang="en-US" sz="1200" dirty="0"/>
                <a:t> </a:t>
              </a:r>
              <a:r>
                <a:rPr lang="en-US" altLang="zh-CN" sz="1200" dirty="0"/>
                <a:t>Effect</a:t>
              </a:r>
              <a:endParaRPr lang="en-US" sz="1200" dirty="0"/>
            </a:p>
          </p:txBody>
        </p:sp>
        <p:sp>
          <p:nvSpPr>
            <p:cNvPr id="16" name="Rectangle 15">
              <a:extLst>
                <a:ext uri="{FF2B5EF4-FFF2-40B4-BE49-F238E27FC236}">
                  <a16:creationId xmlns:a16="http://schemas.microsoft.com/office/drawing/2014/main" id="{F615365A-F2CC-8E77-919E-1243FA23612A}"/>
                </a:ext>
              </a:extLst>
            </p:cNvPr>
            <p:cNvSpPr/>
            <p:nvPr/>
          </p:nvSpPr>
          <p:spPr>
            <a:xfrm>
              <a:off x="8714519" y="2946147"/>
              <a:ext cx="167178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Position</a:t>
              </a:r>
              <a:r>
                <a:rPr lang="zh-CN" altLang="en-US" sz="1200" dirty="0"/>
                <a:t> </a:t>
              </a:r>
              <a:r>
                <a:rPr lang="en-US" altLang="zh-CN" sz="1200" dirty="0"/>
                <a:t>Effect</a:t>
              </a:r>
              <a:endParaRPr lang="en-US" sz="1200" dirty="0"/>
            </a:p>
          </p:txBody>
        </p:sp>
        <p:sp>
          <p:nvSpPr>
            <p:cNvPr id="17" name="Right Brace 16">
              <a:extLst>
                <a:ext uri="{FF2B5EF4-FFF2-40B4-BE49-F238E27FC236}">
                  <a16:creationId xmlns:a16="http://schemas.microsoft.com/office/drawing/2014/main" id="{D5FFE042-7E93-83DF-9B48-7DA20B4159E7}"/>
                </a:ext>
              </a:extLst>
            </p:cNvPr>
            <p:cNvSpPr/>
            <p:nvPr/>
          </p:nvSpPr>
          <p:spPr>
            <a:xfrm rot="10800000" flipV="1">
              <a:off x="7894572" y="1131837"/>
              <a:ext cx="590411" cy="2541472"/>
            </a:xfrm>
            <a:prstGeom prst="rightBrace">
              <a:avLst>
                <a:gd name="adj1" fmla="val 8673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200"/>
            </a:p>
          </p:txBody>
        </p:sp>
        <p:sp>
          <p:nvSpPr>
            <p:cNvPr id="18" name="TextBox 17">
              <a:extLst>
                <a:ext uri="{FF2B5EF4-FFF2-40B4-BE49-F238E27FC236}">
                  <a16:creationId xmlns:a16="http://schemas.microsoft.com/office/drawing/2014/main" id="{D62A6C42-2A2B-7715-3F98-9DFA7740B4C2}"/>
                </a:ext>
              </a:extLst>
            </p:cNvPr>
            <p:cNvSpPr txBox="1"/>
            <p:nvPr/>
          </p:nvSpPr>
          <p:spPr>
            <a:xfrm>
              <a:off x="5318095" y="2884623"/>
              <a:ext cx="492916" cy="421245"/>
            </a:xfrm>
            <a:prstGeom prst="rect">
              <a:avLst/>
            </a:prstGeom>
            <a:noFill/>
          </p:spPr>
          <p:txBody>
            <a:bodyPr wrap="none" rtlCol="0">
              <a:spAutoFit/>
            </a:bodyPr>
            <a:lstStyle/>
            <a:p>
              <a:r>
                <a:rPr lang="en-US" altLang="zh-CN" sz="1200" dirty="0">
                  <a:solidFill>
                    <a:srgbClr val="FF0000"/>
                  </a:solidFill>
                </a:rPr>
                <a:t>(-)</a:t>
              </a:r>
              <a:endParaRPr lang="en-US" sz="1200" dirty="0">
                <a:solidFill>
                  <a:srgbClr val="FF0000"/>
                </a:solidFill>
              </a:endParaRPr>
            </a:p>
          </p:txBody>
        </p:sp>
        <p:sp>
          <p:nvSpPr>
            <p:cNvPr id="19" name="TextBox 18">
              <a:extLst>
                <a:ext uri="{FF2B5EF4-FFF2-40B4-BE49-F238E27FC236}">
                  <a16:creationId xmlns:a16="http://schemas.microsoft.com/office/drawing/2014/main" id="{C3561EB3-1C06-025E-2E30-F8038E8B6F2D}"/>
                </a:ext>
              </a:extLst>
            </p:cNvPr>
            <p:cNvSpPr txBox="1"/>
            <p:nvPr/>
          </p:nvSpPr>
          <p:spPr>
            <a:xfrm>
              <a:off x="5318095" y="4520232"/>
              <a:ext cx="492916" cy="421245"/>
            </a:xfrm>
            <a:prstGeom prst="rect">
              <a:avLst/>
            </a:prstGeom>
            <a:noFill/>
          </p:spPr>
          <p:txBody>
            <a:bodyPr wrap="none" rtlCol="0">
              <a:spAutoFit/>
            </a:bodyPr>
            <a:lstStyle/>
            <a:p>
              <a:r>
                <a:rPr lang="en-US" altLang="zh-CN" sz="1200" dirty="0">
                  <a:solidFill>
                    <a:srgbClr val="FF0000"/>
                  </a:solidFill>
                </a:rPr>
                <a:t>(-)</a:t>
              </a:r>
              <a:endParaRPr lang="en-US" sz="1200" dirty="0">
                <a:solidFill>
                  <a:srgbClr val="FF0000"/>
                </a:solidFill>
              </a:endParaRPr>
            </a:p>
          </p:txBody>
        </p:sp>
        <p:sp>
          <p:nvSpPr>
            <p:cNvPr id="20" name="TextBox 19">
              <a:extLst>
                <a:ext uri="{FF2B5EF4-FFF2-40B4-BE49-F238E27FC236}">
                  <a16:creationId xmlns:a16="http://schemas.microsoft.com/office/drawing/2014/main" id="{6071C52F-0EB5-9998-5B24-4F2A62DDE3B7}"/>
                </a:ext>
              </a:extLst>
            </p:cNvPr>
            <p:cNvSpPr txBox="1"/>
            <p:nvPr/>
          </p:nvSpPr>
          <p:spPr>
            <a:xfrm>
              <a:off x="8683383" y="436276"/>
              <a:ext cx="1663040" cy="468050"/>
            </a:xfrm>
            <a:prstGeom prst="rect">
              <a:avLst/>
            </a:prstGeom>
            <a:noFill/>
          </p:spPr>
          <p:txBody>
            <a:bodyPr wrap="none" rtlCol="0">
              <a:spAutoFit/>
            </a:bodyPr>
            <a:lstStyle/>
            <a:p>
              <a:r>
                <a:rPr lang="en-US" altLang="zh-CN" sz="1400" dirty="0"/>
                <a:t>mechanisms</a:t>
              </a:r>
              <a:endParaRPr lang="en-US" sz="1400" dirty="0"/>
            </a:p>
          </p:txBody>
        </p:sp>
        <p:sp>
          <p:nvSpPr>
            <p:cNvPr id="21" name="Rectangle 20">
              <a:extLst>
                <a:ext uri="{FF2B5EF4-FFF2-40B4-BE49-F238E27FC236}">
                  <a16:creationId xmlns:a16="http://schemas.microsoft.com/office/drawing/2014/main" id="{B17C357D-561F-96EE-F978-EBB628A7BEF2}"/>
                </a:ext>
              </a:extLst>
            </p:cNvPr>
            <p:cNvSpPr/>
            <p:nvPr/>
          </p:nvSpPr>
          <p:spPr>
            <a:xfrm>
              <a:off x="8569760" y="1001078"/>
              <a:ext cx="1968431" cy="5686161"/>
            </a:xfrm>
            <a:prstGeom prst="rect">
              <a:avLst/>
            </a:prstGeom>
            <a:noFill/>
            <a:ln w="25400">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3" name="Slide Number Placeholder 2">
            <a:extLst>
              <a:ext uri="{FF2B5EF4-FFF2-40B4-BE49-F238E27FC236}">
                <a16:creationId xmlns:a16="http://schemas.microsoft.com/office/drawing/2014/main" id="{0790D671-324D-4964-3379-22A66D32460A}"/>
              </a:ext>
            </a:extLst>
          </p:cNvPr>
          <p:cNvSpPr>
            <a:spLocks noGrp="1"/>
          </p:cNvSpPr>
          <p:nvPr>
            <p:ph type="sldNum" sz="quarter" idx="12"/>
          </p:nvPr>
        </p:nvSpPr>
        <p:spPr/>
        <p:txBody>
          <a:bodyPr/>
          <a:lstStyle/>
          <a:p>
            <a:fld id="{80E9C1D4-69BA-4B09-8A24-1CCDDD1AB85B}" type="slidenum">
              <a:rPr lang="zh-CN" altLang="en-US" smtClean="0"/>
              <a:t>4</a:t>
            </a:fld>
            <a:endParaRPr lang="zh-CN" altLang="en-US"/>
          </a:p>
        </p:txBody>
      </p:sp>
    </p:spTree>
    <p:extLst>
      <p:ext uri="{BB962C8B-B14F-4D97-AF65-F5344CB8AC3E}">
        <p14:creationId xmlns:p14="http://schemas.microsoft.com/office/powerpoint/2010/main" val="3287725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F2BEC-2686-5538-BB04-438584853FD4}"/>
              </a:ext>
            </a:extLst>
          </p:cNvPr>
          <p:cNvSpPr>
            <a:spLocks noGrp="1"/>
          </p:cNvSpPr>
          <p:nvPr>
            <p:ph idx="1"/>
          </p:nvPr>
        </p:nvSpPr>
        <p:spPr/>
        <p:txBody>
          <a:bodyPr>
            <a:normAutofit/>
          </a:bodyPr>
          <a:lstStyle/>
          <a:p>
            <a:pPr marL="514350" indent="-514350">
              <a:buFont typeface="+mj-lt"/>
              <a:buAutoNum type="arabicPeriod"/>
            </a:pPr>
            <a:r>
              <a:rPr lang="en-US" altLang="zh-CN" sz="2800" dirty="0">
                <a:latin typeface="+mj-lt"/>
              </a:rPr>
              <a:t>Need</a:t>
            </a:r>
            <a:r>
              <a:rPr lang="en-US" altLang="en-US" sz="2800" dirty="0">
                <a:latin typeface="+mj-lt"/>
              </a:rPr>
              <a:t> an overarching theoretical framework</a:t>
            </a:r>
          </a:p>
          <a:p>
            <a:pPr marL="514350" indent="-514350">
              <a:buFont typeface="+mj-lt"/>
              <a:buAutoNum type="arabicPeriod"/>
            </a:pPr>
            <a:r>
              <a:rPr lang="en-US" altLang="zh-CN" sz="2800" dirty="0">
                <a:latin typeface="+mj-lt"/>
              </a:rPr>
              <a:t>Need</a:t>
            </a:r>
            <a:r>
              <a:rPr lang="zh-CN" altLang="en-US" sz="2800" dirty="0">
                <a:latin typeface="+mj-lt"/>
              </a:rPr>
              <a:t> </a:t>
            </a:r>
            <a:r>
              <a:rPr lang="en-US" altLang="zh-CN" sz="2800" dirty="0">
                <a:latin typeface="+mj-lt"/>
              </a:rPr>
              <a:t>specific</a:t>
            </a:r>
            <a:r>
              <a:rPr lang="zh-CN" altLang="en-US" sz="2800" dirty="0">
                <a:latin typeface="+mj-lt"/>
              </a:rPr>
              <a:t> </a:t>
            </a:r>
            <a:r>
              <a:rPr lang="en-US" altLang="zh-CN" sz="2800" dirty="0">
                <a:latin typeface="+mj-lt"/>
              </a:rPr>
              <a:t>justifications</a:t>
            </a:r>
            <a:r>
              <a:rPr lang="zh-CN" altLang="en-US" sz="2800" dirty="0">
                <a:latin typeface="+mj-lt"/>
              </a:rPr>
              <a:t> </a:t>
            </a:r>
            <a:r>
              <a:rPr lang="en-US" altLang="zh-CN" sz="2800" dirty="0">
                <a:latin typeface="+mj-lt"/>
              </a:rPr>
              <a:t>on</a:t>
            </a:r>
            <a:r>
              <a:rPr lang="zh-CN" altLang="en-US" sz="2800" dirty="0">
                <a:latin typeface="+mj-lt"/>
              </a:rPr>
              <a:t> </a:t>
            </a:r>
            <a:r>
              <a:rPr lang="en-US" altLang="zh-CN" sz="2800" dirty="0">
                <a:latin typeface="+mj-lt"/>
              </a:rPr>
              <a:t>each</a:t>
            </a:r>
            <a:r>
              <a:rPr lang="zh-CN" altLang="en-US" sz="2800" dirty="0">
                <a:latin typeface="+mj-lt"/>
              </a:rPr>
              <a:t> </a:t>
            </a:r>
            <a:r>
              <a:rPr lang="en-US" altLang="zh-CN" sz="2800" dirty="0">
                <a:latin typeface="+mj-lt"/>
              </a:rPr>
              <a:t>mechanism (source,</a:t>
            </a:r>
            <a:r>
              <a:rPr lang="zh-CN" altLang="en-US" sz="2800" dirty="0">
                <a:latin typeface="+mj-lt"/>
              </a:rPr>
              <a:t> </a:t>
            </a:r>
            <a:r>
              <a:rPr lang="en-US" altLang="zh-CN" sz="2800" dirty="0">
                <a:latin typeface="+mj-lt"/>
              </a:rPr>
              <a:t>content,</a:t>
            </a:r>
            <a:r>
              <a:rPr lang="zh-CN" altLang="en-US" sz="2800" dirty="0">
                <a:latin typeface="+mj-lt"/>
              </a:rPr>
              <a:t> </a:t>
            </a:r>
            <a:r>
              <a:rPr lang="en-US" altLang="zh-CN" sz="2800" dirty="0">
                <a:latin typeface="+mj-lt"/>
              </a:rPr>
              <a:t>and</a:t>
            </a:r>
            <a:r>
              <a:rPr lang="zh-CN" altLang="en-US" sz="2800" dirty="0">
                <a:latin typeface="+mj-lt"/>
              </a:rPr>
              <a:t> </a:t>
            </a:r>
            <a:r>
              <a:rPr lang="en-US" altLang="zh-CN" sz="2800" dirty="0">
                <a:latin typeface="+mj-lt"/>
              </a:rPr>
              <a:t>position)</a:t>
            </a:r>
          </a:p>
          <a:p>
            <a:pPr marL="514350" indent="-514350">
              <a:buFont typeface="+mj-lt"/>
              <a:buAutoNum type="arabicPeriod"/>
            </a:pPr>
            <a:r>
              <a:rPr lang="en-US" altLang="zh-CN" sz="2800" dirty="0">
                <a:latin typeface="+mj-lt"/>
              </a:rPr>
              <a:t>Need</a:t>
            </a:r>
            <a:r>
              <a:rPr lang="zh-CN" altLang="en-US" sz="2800" dirty="0">
                <a:latin typeface="+mj-lt"/>
              </a:rPr>
              <a:t> </a:t>
            </a:r>
            <a:r>
              <a:rPr lang="en-US" altLang="zh-CN" sz="2800" dirty="0">
                <a:latin typeface="+mj-lt"/>
              </a:rPr>
              <a:t>a</a:t>
            </a:r>
            <a:r>
              <a:rPr lang="zh-CN" altLang="en-US" sz="2800" dirty="0">
                <a:latin typeface="+mj-lt"/>
              </a:rPr>
              <a:t> </a:t>
            </a:r>
            <a:r>
              <a:rPr lang="en-US" altLang="zh-CN" sz="2800" dirty="0">
                <a:latin typeface="+mj-lt"/>
              </a:rPr>
              <a:t>stronger</a:t>
            </a:r>
            <a:r>
              <a:rPr lang="zh-CN" altLang="en-US" sz="2800" dirty="0">
                <a:latin typeface="+mj-lt"/>
              </a:rPr>
              <a:t> </a:t>
            </a:r>
            <a:r>
              <a:rPr lang="en-US" altLang="zh-CN" sz="2800" dirty="0">
                <a:latin typeface="+mj-lt"/>
              </a:rPr>
              <a:t>connection</a:t>
            </a:r>
            <a:r>
              <a:rPr lang="zh-CN" altLang="en-US" sz="2800" dirty="0">
                <a:latin typeface="+mj-lt"/>
              </a:rPr>
              <a:t> </a:t>
            </a:r>
            <a:r>
              <a:rPr lang="en-US" altLang="zh-CN" sz="2800" dirty="0">
                <a:latin typeface="+mj-lt"/>
              </a:rPr>
              <a:t>between</a:t>
            </a:r>
            <a:r>
              <a:rPr lang="zh-CN" altLang="en-US" sz="2800" dirty="0">
                <a:latin typeface="+mj-lt"/>
              </a:rPr>
              <a:t> </a:t>
            </a:r>
            <a:r>
              <a:rPr lang="en-US" altLang="en-US" sz="2800" dirty="0">
                <a:latin typeface="+mj-lt"/>
              </a:rPr>
              <a:t>theory and empirical findings </a:t>
            </a:r>
          </a:p>
          <a:p>
            <a:pPr marL="514350" indent="-514350">
              <a:buFont typeface="+mj-lt"/>
              <a:buAutoNum type="arabicPeriod"/>
            </a:pPr>
            <a:r>
              <a:rPr lang="en-US" altLang="zh-CN" sz="2800" dirty="0">
                <a:latin typeface="+mj-lt"/>
              </a:rPr>
              <a:t>Need</a:t>
            </a:r>
            <a:r>
              <a:rPr lang="zh-CN" altLang="en-US" sz="2800" dirty="0">
                <a:latin typeface="+mj-lt"/>
              </a:rPr>
              <a:t> </a:t>
            </a:r>
            <a:r>
              <a:rPr lang="en-US" altLang="zh-CN" sz="2800" dirty="0">
                <a:latin typeface="+mj-lt"/>
              </a:rPr>
              <a:t>deeper</a:t>
            </a:r>
            <a:r>
              <a:rPr lang="zh-CN" altLang="en-US" sz="2800" dirty="0">
                <a:latin typeface="+mj-lt"/>
              </a:rPr>
              <a:t> </a:t>
            </a:r>
            <a:r>
              <a:rPr lang="en-US" altLang="zh-CN" sz="2800" dirty="0">
                <a:latin typeface="+mj-lt"/>
              </a:rPr>
              <a:t>explanation:</a:t>
            </a:r>
            <a:r>
              <a:rPr lang="zh-CN" altLang="en-US" sz="2800" dirty="0">
                <a:latin typeface="+mj-lt"/>
              </a:rPr>
              <a:t> </a:t>
            </a:r>
            <a:r>
              <a:rPr lang="en-US" altLang="zh-CN" sz="2800" dirty="0">
                <a:latin typeface="+mj-lt"/>
              </a:rPr>
              <a:t>why</a:t>
            </a:r>
            <a:r>
              <a:rPr lang="zh-CN" altLang="en-US" sz="2800" dirty="0">
                <a:latin typeface="+mj-lt"/>
              </a:rPr>
              <a:t> </a:t>
            </a:r>
            <a:r>
              <a:rPr lang="en-US" altLang="zh-CN" sz="2800" dirty="0">
                <a:latin typeface="+mj-lt"/>
              </a:rPr>
              <a:t>our</a:t>
            </a:r>
            <a:r>
              <a:rPr lang="zh-CN" altLang="en-US" sz="2800" dirty="0">
                <a:latin typeface="+mj-lt"/>
              </a:rPr>
              <a:t> </a:t>
            </a:r>
            <a:r>
              <a:rPr lang="en-US" altLang="zh-CN" sz="2800" dirty="0">
                <a:latin typeface="+mj-lt"/>
              </a:rPr>
              <a:t>results</a:t>
            </a:r>
            <a:r>
              <a:rPr lang="zh-CN" altLang="en-US" sz="2800" dirty="0">
                <a:latin typeface="+mj-lt"/>
              </a:rPr>
              <a:t> </a:t>
            </a:r>
            <a:r>
              <a:rPr lang="en-US" altLang="zh-CN" sz="2800" dirty="0">
                <a:latin typeface="+mj-lt"/>
              </a:rPr>
              <a:t>are</a:t>
            </a:r>
            <a:r>
              <a:rPr lang="zh-CN" altLang="en-US" sz="2800" dirty="0">
                <a:latin typeface="+mj-lt"/>
              </a:rPr>
              <a:t> </a:t>
            </a:r>
            <a:r>
              <a:rPr lang="en-US" altLang="zh-CN" sz="2800" dirty="0">
                <a:latin typeface="+mj-lt"/>
              </a:rPr>
              <a:t>d</a:t>
            </a:r>
            <a:r>
              <a:rPr lang="en-US" altLang="en-US" sz="2800" dirty="0">
                <a:latin typeface="+mj-lt"/>
              </a:rPr>
              <a:t>ifferen</a:t>
            </a:r>
            <a:r>
              <a:rPr lang="en-US" altLang="zh-CN" sz="2800" dirty="0">
                <a:latin typeface="+mj-lt"/>
              </a:rPr>
              <a:t>t</a:t>
            </a:r>
            <a:r>
              <a:rPr lang="en-US" altLang="en-US" sz="2800" dirty="0">
                <a:latin typeface="+mj-lt"/>
              </a:rPr>
              <a:t> from </a:t>
            </a:r>
            <a:r>
              <a:rPr lang="en-US" sz="2800" dirty="0">
                <a:latin typeface="+mj-lt"/>
              </a:rPr>
              <a:t>Su et al. </a:t>
            </a:r>
            <a:r>
              <a:rPr lang="en-US" altLang="zh-CN" sz="2800" dirty="0">
                <a:latin typeface="+mj-lt"/>
              </a:rPr>
              <a:t>(</a:t>
            </a:r>
            <a:r>
              <a:rPr lang="en-US" sz="2800" dirty="0">
                <a:latin typeface="+mj-lt"/>
              </a:rPr>
              <a:t>2023</a:t>
            </a:r>
            <a:r>
              <a:rPr lang="en-US" altLang="zh-CN" sz="2800" dirty="0">
                <a:latin typeface="+mj-lt"/>
              </a:rPr>
              <a:t>)</a:t>
            </a:r>
            <a:endParaRPr lang="en-US" sz="2800" dirty="0">
              <a:latin typeface="+mj-lt"/>
            </a:endParaRPr>
          </a:p>
        </p:txBody>
      </p:sp>
      <p:sp>
        <p:nvSpPr>
          <p:cNvPr id="7" name="Slide Number Placeholder 6">
            <a:extLst>
              <a:ext uri="{FF2B5EF4-FFF2-40B4-BE49-F238E27FC236}">
                <a16:creationId xmlns:a16="http://schemas.microsoft.com/office/drawing/2014/main" id="{3B680BA7-CFF9-C13A-7265-763767945489}"/>
              </a:ext>
            </a:extLst>
          </p:cNvPr>
          <p:cNvSpPr>
            <a:spLocks noGrp="1"/>
          </p:cNvSpPr>
          <p:nvPr>
            <p:ph type="sldNum" sz="quarter" idx="12"/>
          </p:nvPr>
        </p:nvSpPr>
        <p:spPr/>
        <p:txBody>
          <a:bodyPr/>
          <a:lstStyle/>
          <a:p>
            <a:fld id="{48F63A3B-78C7-47BE-AE5E-E10140E04643}" type="slidenum">
              <a:rPr lang="en-US" smtClean="0"/>
              <a:t>5</a:t>
            </a:fld>
            <a:endParaRPr lang="en-US" dirty="0"/>
          </a:p>
        </p:txBody>
      </p:sp>
      <p:sp>
        <p:nvSpPr>
          <p:cNvPr id="2" name="Title 1">
            <a:extLst>
              <a:ext uri="{FF2B5EF4-FFF2-40B4-BE49-F238E27FC236}">
                <a16:creationId xmlns:a16="http://schemas.microsoft.com/office/drawing/2014/main" id="{5E62EFF5-E33B-B355-873A-90A91BA978E3}"/>
              </a:ext>
            </a:extLst>
          </p:cNvPr>
          <p:cNvSpPr>
            <a:spLocks noGrp="1"/>
          </p:cNvSpPr>
          <p:nvPr>
            <p:ph type="title"/>
          </p:nvPr>
        </p:nvSpPr>
        <p:spPr/>
        <p:txBody>
          <a:bodyPr>
            <a:normAutofit/>
          </a:bodyPr>
          <a:lstStyle/>
          <a:p>
            <a:r>
              <a:rPr lang="en-US" dirty="0"/>
              <a:t>Review panel’s major concerns</a:t>
            </a:r>
          </a:p>
        </p:txBody>
      </p:sp>
      <p:sp>
        <p:nvSpPr>
          <p:cNvPr id="6" name="TextBox 5">
            <a:extLst>
              <a:ext uri="{FF2B5EF4-FFF2-40B4-BE49-F238E27FC236}">
                <a16:creationId xmlns:a16="http://schemas.microsoft.com/office/drawing/2014/main" id="{080F38B0-939D-9646-C5D6-7BAC95D55411}"/>
              </a:ext>
            </a:extLst>
          </p:cNvPr>
          <p:cNvSpPr txBox="1"/>
          <p:nvPr/>
        </p:nvSpPr>
        <p:spPr>
          <a:xfrm>
            <a:off x="0" y="4889584"/>
            <a:ext cx="9144000" cy="253916"/>
          </a:xfrm>
          <a:prstGeom prst="rect">
            <a:avLst/>
          </a:prstGeom>
          <a:noFill/>
        </p:spPr>
        <p:txBody>
          <a:bodyPr wrap="square">
            <a:spAutoFit/>
          </a:bodyPr>
          <a:lstStyle/>
          <a:p>
            <a:r>
              <a:rPr lang="en-US" sz="1000" dirty="0">
                <a:latin typeface="Arial" panose="020B0604020202020204" pitchFamily="34" charset="0"/>
                <a:ea typeface="Times New Roman" panose="02020603050405020304" pitchFamily="18" charset="0"/>
                <a:cs typeface="Arial" panose="020B0604020202020204" pitchFamily="34" charset="0"/>
              </a:rPr>
              <a:t>Su, Y., Zhang, K., Wang, Q., &amp; Qiu, L. (2023). </a:t>
            </a:r>
            <a:r>
              <a:rPr lang="en-US" sz="1000" i="1" dirty="0">
                <a:latin typeface="Arial" panose="020B0604020202020204" pitchFamily="34" charset="0"/>
                <a:ea typeface="Times New Roman" panose="02020603050405020304" pitchFamily="18" charset="0"/>
                <a:cs typeface="Arial" panose="020B0604020202020204" pitchFamily="34" charset="0"/>
              </a:rPr>
              <a:t>Generative AI and Human Knowledge Sharing: Evidence from a Natural Experiment</a:t>
            </a:r>
            <a:r>
              <a:rPr lang="en-US" sz="1000" dirty="0">
                <a:latin typeface="Arial" panose="020B0604020202020204" pitchFamily="34" charset="0"/>
                <a:ea typeface="Times New Roman" panose="02020603050405020304" pitchFamily="18" charset="0"/>
                <a:cs typeface="Arial" panose="020B0604020202020204" pitchFamily="34" charset="0"/>
              </a:rPr>
              <a:t>. SSRN Scholarly Paper.</a:t>
            </a:r>
          </a:p>
        </p:txBody>
      </p:sp>
    </p:spTree>
    <p:extLst>
      <p:ext uri="{BB962C8B-B14F-4D97-AF65-F5344CB8AC3E}">
        <p14:creationId xmlns:p14="http://schemas.microsoft.com/office/powerpoint/2010/main" val="2809478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E162-E131-495A-E241-A647A48F6B8A}"/>
              </a:ext>
            </a:extLst>
          </p:cNvPr>
          <p:cNvSpPr>
            <a:spLocks noGrp="1"/>
          </p:cNvSpPr>
          <p:nvPr>
            <p:ph type="title"/>
          </p:nvPr>
        </p:nvSpPr>
        <p:spPr>
          <a:xfrm>
            <a:off x="628650" y="273844"/>
            <a:ext cx="7886700" cy="669131"/>
          </a:xfrm>
        </p:spPr>
        <p:txBody>
          <a:bodyPr>
            <a:normAutofit/>
          </a:bodyPr>
          <a:lstStyle/>
          <a:p>
            <a:r>
              <a:rPr lang="en-US" dirty="0"/>
              <a:t>SE’s sugge</a:t>
            </a:r>
            <a:r>
              <a:rPr lang="en-US" altLang="zh-CN" dirty="0"/>
              <a:t>s</a:t>
            </a:r>
            <a:r>
              <a:rPr lang="en-US" dirty="0"/>
              <a:t>tion</a:t>
            </a:r>
            <a:r>
              <a:rPr lang="en-US" altLang="zh-CN" dirty="0"/>
              <a:t>s</a:t>
            </a:r>
          </a:p>
        </p:txBody>
      </p:sp>
      <p:sp>
        <p:nvSpPr>
          <p:cNvPr id="3" name="Content Placeholder 2">
            <a:extLst>
              <a:ext uri="{FF2B5EF4-FFF2-40B4-BE49-F238E27FC236}">
                <a16:creationId xmlns:a16="http://schemas.microsoft.com/office/drawing/2014/main" id="{968258D9-7F89-0016-A224-661E75B74780}"/>
              </a:ext>
            </a:extLst>
          </p:cNvPr>
          <p:cNvSpPr>
            <a:spLocks noGrp="1"/>
          </p:cNvSpPr>
          <p:nvPr>
            <p:ph idx="1"/>
          </p:nvPr>
        </p:nvSpPr>
        <p:spPr/>
        <p:txBody>
          <a:bodyPr>
            <a:normAutofit/>
          </a:bodyPr>
          <a:lstStyle/>
          <a:p>
            <a:r>
              <a:rPr lang="en-US" altLang="zh-CN" sz="3200" dirty="0">
                <a:latin typeface="+mj-lt"/>
              </a:rPr>
              <a:t>Three</a:t>
            </a:r>
            <a:r>
              <a:rPr lang="zh-CN" altLang="en-US" sz="3200" dirty="0">
                <a:latin typeface="+mj-lt"/>
              </a:rPr>
              <a:t> </a:t>
            </a:r>
            <a:r>
              <a:rPr lang="en-US" altLang="zh-CN" sz="3200" dirty="0">
                <a:latin typeface="+mj-lt"/>
              </a:rPr>
              <a:t>possible</a:t>
            </a:r>
            <a:r>
              <a:rPr lang="zh-CN" altLang="en-US" sz="3200" dirty="0">
                <a:latin typeface="+mj-lt"/>
              </a:rPr>
              <a:t> </a:t>
            </a:r>
            <a:r>
              <a:rPr lang="en-US" altLang="zh-CN" sz="3200" dirty="0">
                <a:latin typeface="+mj-lt"/>
              </a:rPr>
              <a:t>routes</a:t>
            </a:r>
            <a:endParaRPr lang="en-US" altLang="en-US" sz="3200" dirty="0">
              <a:latin typeface="+mj-lt"/>
            </a:endParaRPr>
          </a:p>
          <a:p>
            <a:pPr lvl="1"/>
            <a:r>
              <a:rPr lang="en-US" altLang="zh-CN" sz="2400" b="1" dirty="0">
                <a:latin typeface="+mj-lt"/>
              </a:rPr>
              <a:t>A.</a:t>
            </a:r>
            <a:r>
              <a:rPr lang="zh-CN" altLang="en-US" sz="2400" b="1" dirty="0">
                <a:latin typeface="+mj-lt"/>
              </a:rPr>
              <a:t> </a:t>
            </a:r>
            <a:r>
              <a:rPr lang="en-US" altLang="zh-CN" sz="2400" b="1" dirty="0">
                <a:latin typeface="+mj-lt"/>
              </a:rPr>
              <a:t>Incentive:</a:t>
            </a:r>
            <a:r>
              <a:rPr lang="zh-CN" altLang="en-US" sz="2400" b="1" dirty="0">
                <a:latin typeface="+mj-lt"/>
              </a:rPr>
              <a:t> </a:t>
            </a:r>
            <a:r>
              <a:rPr lang="en-US" altLang="en-US" sz="2400" dirty="0">
                <a:latin typeface="+mj-lt"/>
              </a:rPr>
              <a:t>participation incentives in online knowledge communities. </a:t>
            </a:r>
          </a:p>
          <a:p>
            <a:pPr lvl="1"/>
            <a:r>
              <a:rPr lang="en-US" altLang="zh-CN" sz="2400" b="1" dirty="0">
                <a:latin typeface="+mj-lt"/>
              </a:rPr>
              <a:t>B.</a:t>
            </a:r>
            <a:r>
              <a:rPr lang="zh-CN" altLang="en-US" sz="2400" b="1" dirty="0">
                <a:latin typeface="+mj-lt"/>
              </a:rPr>
              <a:t> </a:t>
            </a:r>
            <a:r>
              <a:rPr lang="en-US" altLang="zh-CN" sz="2400" b="1" dirty="0">
                <a:latin typeface="+mj-lt"/>
              </a:rPr>
              <a:t>Authority:</a:t>
            </a:r>
            <a:r>
              <a:rPr lang="zh-CN" altLang="en-US" sz="2400" b="1" dirty="0">
                <a:latin typeface="+mj-lt"/>
              </a:rPr>
              <a:t> </a:t>
            </a:r>
            <a:r>
              <a:rPr lang="en-US" altLang="en-US" sz="2400" dirty="0">
                <a:latin typeface="+mj-lt"/>
              </a:rPr>
              <a:t>authority and credibility signals in human–AI interaction </a:t>
            </a:r>
            <a:endParaRPr lang="en-US" altLang="en-US" dirty="0">
              <a:latin typeface="+mj-lt"/>
            </a:endParaRPr>
          </a:p>
          <a:p>
            <a:pPr lvl="1"/>
            <a:r>
              <a:rPr lang="en-US" altLang="zh-CN" sz="2400" b="1" dirty="0">
                <a:solidFill>
                  <a:schemeClr val="accent5"/>
                </a:solidFill>
                <a:latin typeface="+mj-lt"/>
              </a:rPr>
              <a:t>C.</a:t>
            </a:r>
            <a:r>
              <a:rPr lang="zh-CN" altLang="en-US" sz="2400" b="1" dirty="0">
                <a:solidFill>
                  <a:schemeClr val="accent5"/>
                </a:solidFill>
                <a:latin typeface="+mj-lt"/>
              </a:rPr>
              <a:t> </a:t>
            </a:r>
            <a:r>
              <a:rPr lang="en-US" altLang="zh-CN" sz="2400" b="1" dirty="0">
                <a:solidFill>
                  <a:schemeClr val="accent5"/>
                </a:solidFill>
                <a:latin typeface="+mj-lt"/>
              </a:rPr>
              <a:t>Competition:</a:t>
            </a:r>
            <a:r>
              <a:rPr lang="zh-CN" altLang="en-US" sz="2400" b="1" dirty="0">
                <a:solidFill>
                  <a:schemeClr val="accent5"/>
                </a:solidFill>
                <a:latin typeface="+mj-lt"/>
              </a:rPr>
              <a:t> </a:t>
            </a:r>
            <a:r>
              <a:rPr lang="en-US" altLang="en-US" sz="2400" dirty="0">
                <a:solidFill>
                  <a:schemeClr val="accent5"/>
                </a:solidFill>
                <a:latin typeface="+mj-lt"/>
              </a:rPr>
              <a:t>competition and complementarity between </a:t>
            </a:r>
            <a:r>
              <a:rPr lang="en-US" altLang="zh-CN" sz="2400" dirty="0">
                <a:solidFill>
                  <a:schemeClr val="accent5"/>
                </a:solidFill>
                <a:latin typeface="+mj-lt"/>
              </a:rPr>
              <a:t>AI</a:t>
            </a:r>
            <a:r>
              <a:rPr lang="en-US" altLang="en-US" sz="2400" dirty="0">
                <a:solidFill>
                  <a:schemeClr val="accent5"/>
                </a:solidFill>
                <a:latin typeface="+mj-lt"/>
              </a:rPr>
              <a:t> and </a:t>
            </a:r>
            <a:r>
              <a:rPr lang="en-US" altLang="zh-CN" sz="2400" dirty="0">
                <a:solidFill>
                  <a:schemeClr val="accent5"/>
                </a:solidFill>
                <a:latin typeface="+mj-lt"/>
              </a:rPr>
              <a:t>human</a:t>
            </a:r>
            <a:endParaRPr lang="en-US" altLang="en-US" sz="2400" dirty="0">
              <a:solidFill>
                <a:schemeClr val="accent5"/>
              </a:solidFill>
              <a:latin typeface="+mj-lt"/>
            </a:endParaRPr>
          </a:p>
        </p:txBody>
      </p:sp>
      <p:sp>
        <p:nvSpPr>
          <p:cNvPr id="4" name="Content Placeholder 2">
            <a:extLst>
              <a:ext uri="{FF2B5EF4-FFF2-40B4-BE49-F238E27FC236}">
                <a16:creationId xmlns:a16="http://schemas.microsoft.com/office/drawing/2014/main" id="{DF8AEDAD-50E8-BFD8-2BF2-5D4AF4695479}"/>
              </a:ext>
            </a:extLst>
          </p:cNvPr>
          <p:cNvSpPr txBox="1">
            <a:spLocks/>
          </p:cNvSpPr>
          <p:nvPr/>
        </p:nvSpPr>
        <p:spPr>
          <a:xfrm>
            <a:off x="628650" y="2675554"/>
            <a:ext cx="857251" cy="718820"/>
          </a:xfrm>
          <a:prstGeom prst="rect">
            <a:avLst/>
          </a:prstGeom>
        </p:spPr>
        <p:txBody>
          <a:bodyPr vert="horz" lIns="91440" tIns="45720" rIns="91440" bIns="45720" rtlCol="0">
            <a:normAutofit lnSpcReduction="10000"/>
          </a:bodyPr>
          <a:lstStyle>
            <a:lvl1pPr marL="0" indent="-301415" algn="just" defTabSz="761909" rtl="0" eaLnBrk="1" latinLnBrk="0" hangingPunct="1">
              <a:lnSpc>
                <a:spcPct val="130000"/>
              </a:lnSpc>
              <a:spcBef>
                <a:spcPts val="500"/>
              </a:spcBef>
              <a:buClr>
                <a:schemeClr val="accent3">
                  <a:lumMod val="75000"/>
                </a:schemeClr>
              </a:buClr>
              <a:buFont typeface="Wingdings" panose="05000000000000000000" pitchFamily="2" charset="2"/>
              <a:buChar char="p"/>
              <a:defRPr lang="zh-CN" altLang="en-US" sz="2000" b="1" kern="1200" baseline="0" dirty="0">
                <a:solidFill>
                  <a:schemeClr val="tx1"/>
                </a:solidFill>
                <a:latin typeface="Times New Roman" panose="02020603050405020304" pitchFamily="18" charset="0"/>
                <a:ea typeface="微软雅黑" panose="020B0503020204020204" pitchFamily="34" charset="-122"/>
                <a:cs typeface="+mn-cs"/>
              </a:defRPr>
            </a:lvl1pPr>
            <a:lvl2pPr marL="448071" indent="-238097" algn="just" defTabSz="761909" rtl="0" eaLnBrk="1" latinLnBrk="0" hangingPunct="1">
              <a:lnSpc>
                <a:spcPct val="130000"/>
              </a:lnSpc>
              <a:spcBef>
                <a:spcPts val="500"/>
              </a:spcBef>
              <a:buClr>
                <a:schemeClr val="accent3">
                  <a:lumMod val="75000"/>
                </a:schemeClr>
              </a:buClr>
              <a:buFont typeface="Wingdings" panose="05000000000000000000" pitchFamily="2" charset="2"/>
              <a:buChar char="l"/>
              <a:defRPr lang="zh-CN" altLang="en-US" sz="1800" b="1" kern="1200" dirty="0">
                <a:solidFill>
                  <a:schemeClr val="tx1"/>
                </a:solidFill>
                <a:latin typeface="Times New Roman" panose="02020603050405020304" pitchFamily="18" charset="0"/>
                <a:ea typeface="+mj-ea"/>
                <a:cs typeface="Times New Roman" panose="02020603050405020304" pitchFamily="18" charset="0"/>
              </a:defRPr>
            </a:lvl2pPr>
            <a:lvl3pPr marL="599928" indent="-190477" algn="just" defTabSz="761909" rtl="0" eaLnBrk="1" latinLnBrk="0" hangingPunct="1">
              <a:lnSpc>
                <a:spcPct val="130000"/>
              </a:lnSpc>
              <a:spcBef>
                <a:spcPts val="500"/>
              </a:spcBef>
              <a:buClr>
                <a:schemeClr val="accent3">
                  <a:lumMod val="75000"/>
                </a:schemeClr>
              </a:buClr>
              <a:buFont typeface="Wingdings" panose="05000000000000000000" pitchFamily="2" charset="2"/>
              <a:buChar char="Ø"/>
              <a:defRPr lang="zh-CN" altLang="en-US" sz="1800" b="0" kern="1200"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809903" indent="-191977" algn="just" defTabSz="761909" rtl="0" eaLnBrk="1" latinLnBrk="0" hangingPunct="1">
              <a:lnSpc>
                <a:spcPct val="100000"/>
              </a:lnSpc>
              <a:spcBef>
                <a:spcPts val="0"/>
              </a:spcBef>
              <a:buClr>
                <a:schemeClr val="accent3">
                  <a:lumMod val="75000"/>
                </a:schemeClr>
              </a:buClr>
              <a:buFont typeface="+mj-lt"/>
              <a:buAutoNum type="arabicPeriod"/>
              <a:defRPr lang="en-US" altLang="zh-CN" sz="1200" b="0" kern="1200" dirty="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761909" rtl="0" eaLnBrk="1" latinLnBrk="0" hangingPunct="1">
              <a:lnSpc>
                <a:spcPct val="150000"/>
              </a:lnSpc>
              <a:spcBef>
                <a:spcPts val="500"/>
              </a:spcBef>
              <a:buClr>
                <a:schemeClr val="accent3">
                  <a:lumMod val="75000"/>
                </a:schemeClr>
              </a:buClr>
              <a:buFont typeface="Wingdings" panose="05000000000000000000" pitchFamily="2" charset="2"/>
              <a:buChar char="•"/>
              <a:defRPr lang="zh-CN" altLang="en-US" sz="1500" b="1" kern="1200" dirty="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None/>
            </a:pPr>
            <a:r>
              <a:rPr lang="en-US" sz="3600" dirty="0">
                <a:solidFill>
                  <a:schemeClr val="accent5"/>
                </a:solidFill>
                <a:latin typeface="+mj-lt"/>
              </a:rPr>
              <a:t>√</a:t>
            </a:r>
          </a:p>
        </p:txBody>
      </p:sp>
      <p:sp>
        <p:nvSpPr>
          <p:cNvPr id="5" name="Slide Number Placeholder 4">
            <a:extLst>
              <a:ext uri="{FF2B5EF4-FFF2-40B4-BE49-F238E27FC236}">
                <a16:creationId xmlns:a16="http://schemas.microsoft.com/office/drawing/2014/main" id="{7A86FAE6-4736-B187-0849-439B13C77C5B}"/>
              </a:ext>
            </a:extLst>
          </p:cNvPr>
          <p:cNvSpPr>
            <a:spLocks noGrp="1"/>
          </p:cNvSpPr>
          <p:nvPr>
            <p:ph type="sldNum" sz="quarter" idx="12"/>
          </p:nvPr>
        </p:nvSpPr>
        <p:spPr/>
        <p:txBody>
          <a:bodyPr/>
          <a:lstStyle/>
          <a:p>
            <a:fld id="{48F63A3B-78C7-47BE-AE5E-E10140E04643}" type="slidenum">
              <a:rPr lang="en-US" smtClean="0"/>
              <a:t>6</a:t>
            </a:fld>
            <a:endParaRPr lang="en-US" dirty="0"/>
          </a:p>
        </p:txBody>
      </p:sp>
    </p:spTree>
    <p:extLst>
      <p:ext uri="{BB962C8B-B14F-4D97-AF65-F5344CB8AC3E}">
        <p14:creationId xmlns:p14="http://schemas.microsoft.com/office/powerpoint/2010/main" val="442449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1DD952-95C7-7558-A7AE-4572A513E3C8}"/>
              </a:ext>
            </a:extLst>
          </p:cNvPr>
          <p:cNvSpPr>
            <a:spLocks noGrp="1"/>
          </p:cNvSpPr>
          <p:nvPr>
            <p:ph type="title"/>
          </p:nvPr>
        </p:nvSpPr>
        <p:spPr/>
        <p:txBody>
          <a:bodyPr/>
          <a:lstStyle/>
          <a:p>
            <a:r>
              <a:rPr lang="en-US" altLang="zh-CN" dirty="0"/>
              <a:t>Simplify</a:t>
            </a:r>
            <a:r>
              <a:rPr lang="zh-CN" altLang="en-US" dirty="0"/>
              <a:t> </a:t>
            </a:r>
            <a:r>
              <a:rPr lang="en-US" altLang="zh-CN" dirty="0"/>
              <a:t>the</a:t>
            </a:r>
            <a:r>
              <a:rPr lang="zh-CN" altLang="en-US" dirty="0"/>
              <a:t> </a:t>
            </a:r>
            <a:r>
              <a:rPr lang="en-US" altLang="zh-CN" dirty="0"/>
              <a:t>model</a:t>
            </a:r>
          </a:p>
        </p:txBody>
      </p:sp>
      <p:grpSp>
        <p:nvGrpSpPr>
          <p:cNvPr id="38" name="Group 37">
            <a:extLst>
              <a:ext uri="{FF2B5EF4-FFF2-40B4-BE49-F238E27FC236}">
                <a16:creationId xmlns:a16="http://schemas.microsoft.com/office/drawing/2014/main" id="{81D95157-D879-4FFE-5B2A-706E33C9BD74}"/>
              </a:ext>
            </a:extLst>
          </p:cNvPr>
          <p:cNvGrpSpPr/>
          <p:nvPr/>
        </p:nvGrpSpPr>
        <p:grpSpPr>
          <a:xfrm>
            <a:off x="223364" y="1203373"/>
            <a:ext cx="5491521" cy="3144241"/>
            <a:chOff x="516459" y="1999259"/>
            <a:chExt cx="7273185" cy="4164356"/>
          </a:xfrm>
        </p:grpSpPr>
        <p:sp>
          <p:nvSpPr>
            <p:cNvPr id="2" name="Rectangle 1">
              <a:extLst>
                <a:ext uri="{FF2B5EF4-FFF2-40B4-BE49-F238E27FC236}">
                  <a16:creationId xmlns:a16="http://schemas.microsoft.com/office/drawing/2014/main" id="{587B7778-D367-9462-7F60-D38D4ADD18FF}"/>
                </a:ext>
              </a:extLst>
            </p:cNvPr>
            <p:cNvSpPr/>
            <p:nvPr/>
          </p:nvSpPr>
          <p:spPr>
            <a:xfrm>
              <a:off x="3168911" y="4079891"/>
              <a:ext cx="4000284" cy="2083724"/>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1200"/>
            </a:p>
          </p:txBody>
        </p:sp>
        <p:grpSp>
          <p:nvGrpSpPr>
            <p:cNvPr id="3" name="Group 2">
              <a:extLst>
                <a:ext uri="{FF2B5EF4-FFF2-40B4-BE49-F238E27FC236}">
                  <a16:creationId xmlns:a16="http://schemas.microsoft.com/office/drawing/2014/main" id="{85D8601C-C9B9-E809-E974-06D3AB6DF6D4}"/>
                </a:ext>
              </a:extLst>
            </p:cNvPr>
            <p:cNvGrpSpPr/>
            <p:nvPr/>
          </p:nvGrpSpPr>
          <p:grpSpPr>
            <a:xfrm>
              <a:off x="516459" y="1999259"/>
              <a:ext cx="6524263" cy="4089966"/>
              <a:chOff x="1751877" y="1131837"/>
              <a:chExt cx="8639987" cy="5416283"/>
            </a:xfrm>
          </p:grpSpPr>
          <p:sp>
            <p:nvSpPr>
              <p:cNvPr id="22" name="Rectangle 21">
                <a:extLst>
                  <a:ext uri="{FF2B5EF4-FFF2-40B4-BE49-F238E27FC236}">
                    <a16:creationId xmlns:a16="http://schemas.microsoft.com/office/drawing/2014/main" id="{98600F49-05CA-E511-8E89-8A0D93A1A802}"/>
                  </a:ext>
                </a:extLst>
              </p:cNvPr>
              <p:cNvSpPr/>
              <p:nvPr/>
            </p:nvSpPr>
            <p:spPr>
              <a:xfrm>
                <a:off x="5938372" y="491253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Viewer Recognition </a:t>
                </a:r>
              </a:p>
            </p:txBody>
          </p:sp>
          <p:sp>
            <p:nvSpPr>
              <p:cNvPr id="23" name="Rectangle 22">
                <a:extLst>
                  <a:ext uri="{FF2B5EF4-FFF2-40B4-BE49-F238E27FC236}">
                    <a16:creationId xmlns:a16="http://schemas.microsoft.com/office/drawing/2014/main" id="{8B442F7D-2949-49DF-276D-270E3F5652A0}"/>
                  </a:ext>
                </a:extLst>
              </p:cNvPr>
              <p:cNvSpPr/>
              <p:nvPr/>
            </p:nvSpPr>
            <p:spPr>
              <a:xfrm>
                <a:off x="1751877" y="3685240"/>
                <a:ext cx="1787664"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Has AI Answer</a:t>
                </a:r>
              </a:p>
            </p:txBody>
          </p:sp>
          <p:cxnSp>
            <p:nvCxnSpPr>
              <p:cNvPr id="24" name="Straight Arrow Connector 23">
                <a:extLst>
                  <a:ext uri="{FF2B5EF4-FFF2-40B4-BE49-F238E27FC236}">
                    <a16:creationId xmlns:a16="http://schemas.microsoft.com/office/drawing/2014/main" id="{0203224D-E2A1-38C3-A231-598B009066D5}"/>
                  </a:ext>
                </a:extLst>
              </p:cNvPr>
              <p:cNvCxnSpPr>
                <a:cxnSpLocks/>
                <a:stCxn id="23" idx="3"/>
                <a:endCxn id="22" idx="1"/>
              </p:cNvCxnSpPr>
              <p:nvPr/>
            </p:nvCxnSpPr>
            <p:spPr>
              <a:xfrm>
                <a:off x="3539541" y="4039619"/>
                <a:ext cx="2398831" cy="122729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5" name="Rectangle 24">
                <a:extLst>
                  <a:ext uri="{FF2B5EF4-FFF2-40B4-BE49-F238E27FC236}">
                    <a16:creationId xmlns:a16="http://schemas.microsoft.com/office/drawing/2014/main" id="{E17482F6-D704-060C-6E9C-3AB7D7787CF1}"/>
                  </a:ext>
                </a:extLst>
              </p:cNvPr>
              <p:cNvSpPr/>
              <p:nvPr/>
            </p:nvSpPr>
            <p:spPr>
              <a:xfrm>
                <a:off x="8703409" y="5839362"/>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E</a:t>
                </a:r>
                <a:r>
                  <a:rPr lang="en-US" sz="1100" dirty="0"/>
                  <a:t>levated </a:t>
                </a:r>
                <a:r>
                  <a:rPr lang="en-US" altLang="zh-CN" sz="1100" dirty="0"/>
                  <a:t>E</a:t>
                </a:r>
                <a:r>
                  <a:rPr lang="en-US" sz="1100" dirty="0"/>
                  <a:t>xpectations </a:t>
                </a:r>
              </a:p>
            </p:txBody>
          </p:sp>
          <p:sp>
            <p:nvSpPr>
              <p:cNvPr id="26" name="Rectangle 25">
                <a:extLst>
                  <a:ext uri="{FF2B5EF4-FFF2-40B4-BE49-F238E27FC236}">
                    <a16:creationId xmlns:a16="http://schemas.microsoft.com/office/drawing/2014/main" id="{F1D282B3-006A-67A9-784E-42403F6F4F01}"/>
                  </a:ext>
                </a:extLst>
              </p:cNvPr>
              <p:cNvSpPr/>
              <p:nvPr/>
            </p:nvSpPr>
            <p:spPr>
              <a:xfrm>
                <a:off x="5982140" y="2114441"/>
                <a:ext cx="168289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Answer</a:t>
                </a:r>
                <a:r>
                  <a:rPr lang="en-US" altLang="zh-CN" sz="1100" dirty="0"/>
                  <a:t>er</a:t>
                </a:r>
                <a:r>
                  <a:rPr lang="en-US" sz="1100" dirty="0"/>
                  <a:t> Participation</a:t>
                </a:r>
              </a:p>
            </p:txBody>
          </p:sp>
          <p:cxnSp>
            <p:nvCxnSpPr>
              <p:cNvPr id="27" name="Straight Arrow Connector 26">
                <a:extLst>
                  <a:ext uri="{FF2B5EF4-FFF2-40B4-BE49-F238E27FC236}">
                    <a16:creationId xmlns:a16="http://schemas.microsoft.com/office/drawing/2014/main" id="{EB641FDB-6FF4-0053-DE2F-DE786C7A65A4}"/>
                  </a:ext>
                </a:extLst>
              </p:cNvPr>
              <p:cNvCxnSpPr>
                <a:cxnSpLocks/>
                <a:stCxn id="23" idx="3"/>
                <a:endCxn id="26" idx="1"/>
              </p:cNvCxnSpPr>
              <p:nvPr/>
            </p:nvCxnSpPr>
            <p:spPr>
              <a:xfrm flipV="1">
                <a:off x="3539541" y="2468820"/>
                <a:ext cx="2442599" cy="157079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8" name="Rectangle 27">
                <a:extLst>
                  <a:ext uri="{FF2B5EF4-FFF2-40B4-BE49-F238E27FC236}">
                    <a16:creationId xmlns:a16="http://schemas.microsoft.com/office/drawing/2014/main" id="{ACC20B06-6872-304C-711B-D3B278FAC386}"/>
                  </a:ext>
                </a:extLst>
              </p:cNvPr>
              <p:cNvSpPr/>
              <p:nvPr/>
            </p:nvSpPr>
            <p:spPr>
              <a:xfrm>
                <a:off x="8703407" y="4913719"/>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Attention</a:t>
                </a:r>
                <a:r>
                  <a:rPr lang="zh-CN" altLang="en-US" sz="1100" dirty="0"/>
                  <a:t> </a:t>
                </a:r>
                <a:r>
                  <a:rPr lang="en-US" altLang="zh-CN" sz="1100" dirty="0"/>
                  <a:t>Diversion</a:t>
                </a:r>
                <a:endParaRPr lang="en-US" sz="1100" dirty="0"/>
              </a:p>
            </p:txBody>
          </p:sp>
          <p:sp>
            <p:nvSpPr>
              <p:cNvPr id="29" name="Rectangle 28">
                <a:extLst>
                  <a:ext uri="{FF2B5EF4-FFF2-40B4-BE49-F238E27FC236}">
                    <a16:creationId xmlns:a16="http://schemas.microsoft.com/office/drawing/2014/main" id="{1E1252B1-451A-46AE-3BBD-7A29EE66E15C}"/>
                  </a:ext>
                </a:extLst>
              </p:cNvPr>
              <p:cNvSpPr/>
              <p:nvPr/>
            </p:nvSpPr>
            <p:spPr>
              <a:xfrm>
                <a:off x="8703407" y="3988075"/>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Quality</a:t>
                </a:r>
                <a:r>
                  <a:rPr lang="zh-CN" altLang="en-US" sz="1100" dirty="0"/>
                  <a:t> </a:t>
                </a:r>
                <a:r>
                  <a:rPr lang="en-US" altLang="zh-CN" sz="1100" dirty="0"/>
                  <a:t>Degradation</a:t>
                </a:r>
                <a:endParaRPr lang="en-US" sz="1100" dirty="0"/>
              </a:p>
            </p:txBody>
          </p:sp>
          <p:sp>
            <p:nvSpPr>
              <p:cNvPr id="30" name="Right Brace 29">
                <a:extLst>
                  <a:ext uri="{FF2B5EF4-FFF2-40B4-BE49-F238E27FC236}">
                    <a16:creationId xmlns:a16="http://schemas.microsoft.com/office/drawing/2014/main" id="{BBB5F173-497D-FB16-FAF6-9FE5D588DC25}"/>
                  </a:ext>
                </a:extLst>
              </p:cNvPr>
              <p:cNvSpPr/>
              <p:nvPr/>
            </p:nvSpPr>
            <p:spPr>
              <a:xfrm rot="10800000">
                <a:off x="8035349" y="3988075"/>
                <a:ext cx="589496" cy="2560045"/>
              </a:xfrm>
              <a:prstGeom prst="rightBrace">
                <a:avLst>
                  <a:gd name="adj1" fmla="val 39413"/>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100"/>
              </a:p>
            </p:txBody>
          </p:sp>
          <p:sp>
            <p:nvSpPr>
              <p:cNvPr id="31" name="Rectangle 30">
                <a:extLst>
                  <a:ext uri="{FF2B5EF4-FFF2-40B4-BE49-F238E27FC236}">
                    <a16:creationId xmlns:a16="http://schemas.microsoft.com/office/drawing/2014/main" id="{ED05125C-C263-5C90-FEA0-D30FC30502AB}"/>
                  </a:ext>
                </a:extLst>
              </p:cNvPr>
              <p:cNvSpPr/>
              <p:nvPr/>
            </p:nvSpPr>
            <p:spPr>
              <a:xfrm>
                <a:off x="8708965" y="1160476"/>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Source</a:t>
                </a:r>
                <a:r>
                  <a:rPr lang="zh-CN" altLang="en-US" sz="1100" dirty="0"/>
                  <a:t> </a:t>
                </a:r>
                <a:r>
                  <a:rPr lang="en-US" altLang="zh-CN" sz="1100" dirty="0"/>
                  <a:t>Effect</a:t>
                </a:r>
                <a:endParaRPr lang="en-US" sz="1100" dirty="0"/>
              </a:p>
            </p:txBody>
          </p:sp>
          <p:sp>
            <p:nvSpPr>
              <p:cNvPr id="32" name="Rectangle 31">
                <a:extLst>
                  <a:ext uri="{FF2B5EF4-FFF2-40B4-BE49-F238E27FC236}">
                    <a16:creationId xmlns:a16="http://schemas.microsoft.com/office/drawing/2014/main" id="{491E05A7-37D1-B032-2DA9-86952702B22C}"/>
                  </a:ext>
                </a:extLst>
              </p:cNvPr>
              <p:cNvSpPr/>
              <p:nvPr/>
            </p:nvSpPr>
            <p:spPr>
              <a:xfrm>
                <a:off x="8708966" y="2114441"/>
                <a:ext cx="1682898"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Content</a:t>
                </a:r>
                <a:r>
                  <a:rPr lang="zh-CN" altLang="en-US" sz="1100" dirty="0"/>
                  <a:t> </a:t>
                </a:r>
                <a:r>
                  <a:rPr lang="en-US" altLang="zh-CN" sz="1100" dirty="0"/>
                  <a:t>Effect</a:t>
                </a:r>
                <a:endParaRPr lang="en-US" sz="1100" dirty="0"/>
              </a:p>
            </p:txBody>
          </p:sp>
          <p:sp>
            <p:nvSpPr>
              <p:cNvPr id="33" name="Rectangle 32">
                <a:extLst>
                  <a:ext uri="{FF2B5EF4-FFF2-40B4-BE49-F238E27FC236}">
                    <a16:creationId xmlns:a16="http://schemas.microsoft.com/office/drawing/2014/main" id="{7D76CFE6-636D-ABAC-E4A4-2DADF15BCBCE}"/>
                  </a:ext>
                </a:extLst>
              </p:cNvPr>
              <p:cNvSpPr/>
              <p:nvPr/>
            </p:nvSpPr>
            <p:spPr>
              <a:xfrm>
                <a:off x="8714519" y="2946147"/>
                <a:ext cx="1671786" cy="708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Position</a:t>
                </a:r>
                <a:r>
                  <a:rPr lang="zh-CN" altLang="en-US" sz="1100" dirty="0"/>
                  <a:t> </a:t>
                </a:r>
                <a:r>
                  <a:rPr lang="en-US" altLang="zh-CN" sz="1100" dirty="0"/>
                  <a:t>Effect</a:t>
                </a:r>
                <a:endParaRPr lang="en-US" sz="1100" dirty="0"/>
              </a:p>
            </p:txBody>
          </p:sp>
          <p:sp>
            <p:nvSpPr>
              <p:cNvPr id="34" name="Right Brace 33">
                <a:extLst>
                  <a:ext uri="{FF2B5EF4-FFF2-40B4-BE49-F238E27FC236}">
                    <a16:creationId xmlns:a16="http://schemas.microsoft.com/office/drawing/2014/main" id="{6825CB8A-0477-0DDC-6F19-71354E20AB58}"/>
                  </a:ext>
                </a:extLst>
              </p:cNvPr>
              <p:cNvSpPr/>
              <p:nvPr/>
            </p:nvSpPr>
            <p:spPr>
              <a:xfrm rot="10800000" flipV="1">
                <a:off x="7894572" y="1131837"/>
                <a:ext cx="590411" cy="2541472"/>
              </a:xfrm>
              <a:prstGeom prst="rightBrace">
                <a:avLst>
                  <a:gd name="adj1" fmla="val 86730"/>
                  <a:gd name="adj2" fmla="val 50000"/>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100"/>
              </a:p>
            </p:txBody>
          </p:sp>
          <p:sp>
            <p:nvSpPr>
              <p:cNvPr id="35" name="TextBox 34">
                <a:extLst>
                  <a:ext uri="{FF2B5EF4-FFF2-40B4-BE49-F238E27FC236}">
                    <a16:creationId xmlns:a16="http://schemas.microsoft.com/office/drawing/2014/main" id="{D8643B78-356D-5DCE-9FFA-CA4A8B6429AD}"/>
                  </a:ext>
                </a:extLst>
              </p:cNvPr>
              <p:cNvSpPr txBox="1"/>
              <p:nvPr/>
            </p:nvSpPr>
            <p:spPr>
              <a:xfrm>
                <a:off x="5318095" y="2884624"/>
                <a:ext cx="551630" cy="458847"/>
              </a:xfrm>
              <a:prstGeom prst="rect">
                <a:avLst/>
              </a:prstGeom>
              <a:noFill/>
            </p:spPr>
            <p:txBody>
              <a:bodyPr wrap="none" rtlCol="0">
                <a:spAutoFit/>
              </a:bodyPr>
              <a:lstStyle/>
              <a:p>
                <a:r>
                  <a:rPr lang="en-US" altLang="zh-CN" sz="1100" dirty="0">
                    <a:solidFill>
                      <a:srgbClr val="FF0000"/>
                    </a:solidFill>
                  </a:rPr>
                  <a:t>(-)</a:t>
                </a:r>
                <a:endParaRPr lang="en-US" sz="1100" dirty="0">
                  <a:solidFill>
                    <a:srgbClr val="FF0000"/>
                  </a:solidFill>
                </a:endParaRPr>
              </a:p>
            </p:txBody>
          </p:sp>
          <p:sp>
            <p:nvSpPr>
              <p:cNvPr id="36" name="TextBox 35">
                <a:extLst>
                  <a:ext uri="{FF2B5EF4-FFF2-40B4-BE49-F238E27FC236}">
                    <a16:creationId xmlns:a16="http://schemas.microsoft.com/office/drawing/2014/main" id="{1CF3C028-223E-591B-2DDB-41D71E6161CB}"/>
                  </a:ext>
                </a:extLst>
              </p:cNvPr>
              <p:cNvSpPr txBox="1"/>
              <p:nvPr/>
            </p:nvSpPr>
            <p:spPr>
              <a:xfrm>
                <a:off x="5318095" y="4520230"/>
                <a:ext cx="551630" cy="458847"/>
              </a:xfrm>
              <a:prstGeom prst="rect">
                <a:avLst/>
              </a:prstGeom>
              <a:noFill/>
            </p:spPr>
            <p:txBody>
              <a:bodyPr wrap="none" rtlCol="0">
                <a:spAutoFit/>
              </a:bodyPr>
              <a:lstStyle/>
              <a:p>
                <a:r>
                  <a:rPr lang="en-US" altLang="zh-CN" sz="1100" dirty="0">
                    <a:solidFill>
                      <a:srgbClr val="FF0000"/>
                    </a:solidFill>
                  </a:rPr>
                  <a:t>(-)</a:t>
                </a:r>
                <a:endParaRPr lang="en-US" sz="1100" dirty="0">
                  <a:solidFill>
                    <a:srgbClr val="FF0000"/>
                  </a:solidFill>
                </a:endParaRPr>
              </a:p>
            </p:txBody>
          </p:sp>
        </p:grpSp>
        <p:sp>
          <p:nvSpPr>
            <p:cNvPr id="37" name="Multiply 36">
              <a:extLst>
                <a:ext uri="{FF2B5EF4-FFF2-40B4-BE49-F238E27FC236}">
                  <a16:creationId xmlns:a16="http://schemas.microsoft.com/office/drawing/2014/main" id="{1E7B953D-38B6-1FA0-DE06-7F42EB783D6D}"/>
                </a:ext>
              </a:extLst>
            </p:cNvPr>
            <p:cNvSpPr/>
            <p:nvPr/>
          </p:nvSpPr>
          <p:spPr>
            <a:xfrm>
              <a:off x="6608070" y="3044277"/>
              <a:ext cx="1181574" cy="1165230"/>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39" name="Multiply 38">
            <a:extLst>
              <a:ext uri="{FF2B5EF4-FFF2-40B4-BE49-F238E27FC236}">
                <a16:creationId xmlns:a16="http://schemas.microsoft.com/office/drawing/2014/main" id="{D71F0C25-A5CD-B179-48A8-6288CA7F9CCC}"/>
              </a:ext>
            </a:extLst>
          </p:cNvPr>
          <p:cNvSpPr/>
          <p:nvPr/>
        </p:nvSpPr>
        <p:spPr>
          <a:xfrm>
            <a:off x="4822753" y="3887472"/>
            <a:ext cx="892132" cy="879791"/>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0" name="TextBox 39">
            <a:extLst>
              <a:ext uri="{FF2B5EF4-FFF2-40B4-BE49-F238E27FC236}">
                <a16:creationId xmlns:a16="http://schemas.microsoft.com/office/drawing/2014/main" id="{AE812F5A-DA6B-F426-63B3-DAEEB9F07AAB}"/>
              </a:ext>
            </a:extLst>
          </p:cNvPr>
          <p:cNvSpPr txBox="1"/>
          <p:nvPr/>
        </p:nvSpPr>
        <p:spPr>
          <a:xfrm>
            <a:off x="5630640" y="2985111"/>
            <a:ext cx="3020361" cy="830997"/>
          </a:xfrm>
          <a:prstGeom prst="rect">
            <a:avLst/>
          </a:prstGeom>
          <a:noFill/>
        </p:spPr>
        <p:txBody>
          <a:bodyPr wrap="square" rtlCol="0">
            <a:spAutoFit/>
          </a:bodyPr>
          <a:lstStyle/>
          <a:p>
            <a:r>
              <a:rPr lang="en-US" sz="1600" dirty="0">
                <a:latin typeface="+mj-lt"/>
              </a:rPr>
              <a:t>Reason:</a:t>
            </a:r>
          </a:p>
          <a:p>
            <a:pPr marL="285750" indent="-285750">
              <a:buFont typeface="Arial" panose="020B0604020202020204" pitchFamily="34" charset="0"/>
              <a:buChar char="•"/>
            </a:pPr>
            <a:r>
              <a:rPr lang="en-US" altLang="zh-CN" sz="1600" dirty="0">
                <a:latin typeface="+mj-lt"/>
              </a:rPr>
              <a:t>Focus</a:t>
            </a:r>
            <a:r>
              <a:rPr lang="zh-CN" altLang="en-US" sz="1600" dirty="0">
                <a:latin typeface="+mj-lt"/>
              </a:rPr>
              <a:t> </a:t>
            </a:r>
            <a:r>
              <a:rPr lang="en-US" altLang="zh-CN" sz="1600" dirty="0">
                <a:latin typeface="+mj-lt"/>
              </a:rPr>
              <a:t>on</a:t>
            </a:r>
            <a:r>
              <a:rPr lang="zh-CN" altLang="en-US" sz="1600" dirty="0">
                <a:latin typeface="+mj-lt"/>
              </a:rPr>
              <a:t> </a:t>
            </a:r>
            <a:r>
              <a:rPr lang="en-US" altLang="zh-CN" sz="1600" dirty="0">
                <a:latin typeface="+mj-lt"/>
              </a:rPr>
              <a:t>the</a:t>
            </a:r>
            <a:r>
              <a:rPr lang="zh-CN" altLang="en-US" sz="1600" dirty="0">
                <a:latin typeface="+mj-lt"/>
              </a:rPr>
              <a:t> </a:t>
            </a:r>
            <a:r>
              <a:rPr lang="en-US" altLang="zh-CN" sz="1600" dirty="0">
                <a:latin typeface="+mj-lt"/>
              </a:rPr>
              <a:t>behavioral</a:t>
            </a:r>
            <a:r>
              <a:rPr lang="zh-CN" altLang="en-US" sz="1600" dirty="0">
                <a:latin typeface="+mj-lt"/>
              </a:rPr>
              <a:t> </a:t>
            </a:r>
            <a:r>
              <a:rPr lang="en-US" altLang="zh-CN" sz="1600" dirty="0">
                <a:latin typeface="+mj-lt"/>
              </a:rPr>
              <a:t>processes</a:t>
            </a:r>
            <a:r>
              <a:rPr lang="zh-CN" altLang="en-US" sz="1600" dirty="0">
                <a:latin typeface="+mj-lt"/>
              </a:rPr>
              <a:t> </a:t>
            </a:r>
            <a:r>
              <a:rPr lang="en-US" altLang="zh-CN" sz="1600" dirty="0">
                <a:latin typeface="+mj-lt"/>
              </a:rPr>
              <a:t>of</a:t>
            </a:r>
            <a:r>
              <a:rPr lang="zh-CN" altLang="en-US" sz="1600" dirty="0">
                <a:latin typeface="+mj-lt"/>
              </a:rPr>
              <a:t> </a:t>
            </a:r>
            <a:r>
              <a:rPr lang="en-US" altLang="zh-CN" sz="1600" dirty="0">
                <a:latin typeface="+mj-lt"/>
              </a:rPr>
              <a:t>answerers</a:t>
            </a:r>
            <a:r>
              <a:rPr lang="zh-CN" altLang="en-US" sz="1600" dirty="0">
                <a:latin typeface="+mj-lt"/>
              </a:rPr>
              <a:t> </a:t>
            </a:r>
            <a:r>
              <a:rPr lang="en-US" altLang="zh-CN" sz="1600" dirty="0">
                <a:latin typeface="+mj-lt"/>
              </a:rPr>
              <a:t>(SE)</a:t>
            </a:r>
            <a:endParaRPr lang="en-US" sz="1600" dirty="0">
              <a:latin typeface="+mj-lt"/>
            </a:endParaRPr>
          </a:p>
        </p:txBody>
      </p:sp>
      <p:sp>
        <p:nvSpPr>
          <p:cNvPr id="41" name="TextBox 40">
            <a:extLst>
              <a:ext uri="{FF2B5EF4-FFF2-40B4-BE49-F238E27FC236}">
                <a16:creationId xmlns:a16="http://schemas.microsoft.com/office/drawing/2014/main" id="{98BDA6FF-BC9B-2D57-1935-B428B7EC2B7B}"/>
              </a:ext>
            </a:extLst>
          </p:cNvPr>
          <p:cNvSpPr txBox="1"/>
          <p:nvPr/>
        </p:nvSpPr>
        <p:spPr>
          <a:xfrm>
            <a:off x="5630640" y="1300506"/>
            <a:ext cx="3227610" cy="1077218"/>
          </a:xfrm>
          <a:prstGeom prst="rect">
            <a:avLst/>
          </a:prstGeom>
          <a:noFill/>
        </p:spPr>
        <p:txBody>
          <a:bodyPr wrap="square" rtlCol="0">
            <a:spAutoFit/>
          </a:bodyPr>
          <a:lstStyle/>
          <a:p>
            <a:r>
              <a:rPr lang="en-US" sz="1600" dirty="0">
                <a:latin typeface="+mj-lt"/>
              </a:rPr>
              <a:t>Reason</a:t>
            </a:r>
            <a:r>
              <a:rPr lang="en-US" altLang="zh-CN" sz="1600" dirty="0">
                <a:latin typeface="+mj-lt"/>
              </a:rPr>
              <a:t>s</a:t>
            </a:r>
            <a:r>
              <a:rPr lang="en-US" sz="1600" dirty="0">
                <a:latin typeface="+mj-lt"/>
              </a:rPr>
              <a:t>: </a:t>
            </a:r>
          </a:p>
          <a:p>
            <a:pPr marL="285750" indent="-285750">
              <a:buFont typeface="Arial" panose="020B0604020202020204" pitchFamily="34" charset="0"/>
              <a:buChar char="•"/>
            </a:pPr>
            <a:r>
              <a:rPr lang="en-US" altLang="zh-CN" sz="1600" dirty="0">
                <a:latin typeface="+mj-lt"/>
              </a:rPr>
              <a:t>Reviewer</a:t>
            </a:r>
            <a:r>
              <a:rPr lang="zh-CN" altLang="en-US" sz="1600" dirty="0">
                <a:latin typeface="+mj-lt"/>
              </a:rPr>
              <a:t> </a:t>
            </a:r>
            <a:r>
              <a:rPr lang="en-US" altLang="zh-CN" sz="1600" dirty="0">
                <a:latin typeface="+mj-lt"/>
              </a:rPr>
              <a:t>concerns</a:t>
            </a:r>
            <a:r>
              <a:rPr lang="zh-CN" altLang="en-US" sz="1600" dirty="0">
                <a:latin typeface="+mj-lt"/>
              </a:rPr>
              <a:t> </a:t>
            </a:r>
            <a:r>
              <a:rPr lang="en-US" altLang="zh-CN" sz="1600" dirty="0">
                <a:latin typeface="+mj-lt"/>
              </a:rPr>
              <a:t>on</a:t>
            </a:r>
            <a:r>
              <a:rPr lang="zh-CN" altLang="en-US" sz="1600" dirty="0">
                <a:latin typeface="+mj-lt"/>
              </a:rPr>
              <a:t> </a:t>
            </a:r>
            <a:r>
              <a:rPr lang="en-US" altLang="zh-CN" sz="1600" dirty="0">
                <a:latin typeface="+mj-lt"/>
              </a:rPr>
              <a:t>our</a:t>
            </a:r>
            <a:r>
              <a:rPr lang="zh-CN" altLang="en-US" sz="1600" dirty="0">
                <a:latin typeface="+mj-lt"/>
              </a:rPr>
              <a:t> </a:t>
            </a:r>
            <a:r>
              <a:rPr lang="en-US" altLang="zh-CN" sz="1600" dirty="0">
                <a:latin typeface="+mj-lt"/>
              </a:rPr>
              <a:t>test</a:t>
            </a:r>
            <a:r>
              <a:rPr lang="zh-CN" altLang="en-US" sz="1600" dirty="0">
                <a:latin typeface="+mj-lt"/>
              </a:rPr>
              <a:t> </a:t>
            </a:r>
            <a:r>
              <a:rPr lang="en-US" altLang="zh-CN" sz="1600" dirty="0">
                <a:latin typeface="+mj-lt"/>
              </a:rPr>
              <a:t>(R1,</a:t>
            </a:r>
            <a:r>
              <a:rPr lang="zh-CN" altLang="en-US" sz="1600" dirty="0">
                <a:latin typeface="+mj-lt"/>
              </a:rPr>
              <a:t> </a:t>
            </a:r>
            <a:r>
              <a:rPr lang="en-US" altLang="zh-CN" sz="1600" dirty="0">
                <a:latin typeface="+mj-lt"/>
              </a:rPr>
              <a:t>R2,</a:t>
            </a:r>
            <a:r>
              <a:rPr lang="zh-CN" altLang="en-US" sz="1600" dirty="0">
                <a:latin typeface="+mj-lt"/>
              </a:rPr>
              <a:t> </a:t>
            </a:r>
            <a:r>
              <a:rPr lang="en-US" altLang="zh-CN" sz="1600" dirty="0">
                <a:latin typeface="+mj-lt"/>
              </a:rPr>
              <a:t>R3)</a:t>
            </a:r>
            <a:endParaRPr lang="en-US" sz="1600" dirty="0">
              <a:latin typeface="+mj-lt"/>
            </a:endParaRPr>
          </a:p>
          <a:p>
            <a:pPr marL="285750" indent="-285750">
              <a:buFont typeface="Arial" panose="020B0604020202020204" pitchFamily="34" charset="0"/>
              <a:buChar char="•"/>
            </a:pPr>
            <a:r>
              <a:rPr lang="en-US" altLang="zh-CN" sz="1600" dirty="0">
                <a:latin typeface="+mj-lt"/>
              </a:rPr>
              <a:t>Difficult</a:t>
            </a:r>
            <a:r>
              <a:rPr lang="zh-CN" altLang="en-US" sz="1600" dirty="0">
                <a:latin typeface="+mj-lt"/>
              </a:rPr>
              <a:t> </a:t>
            </a:r>
            <a:r>
              <a:rPr lang="en-US" altLang="zh-CN" sz="1600" dirty="0">
                <a:latin typeface="+mj-lt"/>
              </a:rPr>
              <a:t>to</a:t>
            </a:r>
            <a:r>
              <a:rPr lang="zh-CN" altLang="en-US" sz="1600" dirty="0">
                <a:latin typeface="+mj-lt"/>
              </a:rPr>
              <a:t> </a:t>
            </a:r>
            <a:r>
              <a:rPr lang="en-US" altLang="zh-CN" sz="1600" dirty="0">
                <a:latin typeface="+mj-lt"/>
              </a:rPr>
              <a:t>understand</a:t>
            </a:r>
            <a:r>
              <a:rPr lang="zh-CN" altLang="en-US" sz="1600" dirty="0">
                <a:latin typeface="+mj-lt"/>
              </a:rPr>
              <a:t> </a:t>
            </a:r>
            <a:r>
              <a:rPr lang="en-US" altLang="zh-CN" sz="1600" dirty="0">
                <a:latin typeface="+mj-lt"/>
              </a:rPr>
              <a:t>(R2)</a:t>
            </a:r>
            <a:endParaRPr lang="en-US" sz="1600" dirty="0">
              <a:latin typeface="+mj-lt"/>
            </a:endParaRPr>
          </a:p>
        </p:txBody>
      </p:sp>
      <p:sp>
        <p:nvSpPr>
          <p:cNvPr id="5" name="Slide Number Placeholder 4">
            <a:extLst>
              <a:ext uri="{FF2B5EF4-FFF2-40B4-BE49-F238E27FC236}">
                <a16:creationId xmlns:a16="http://schemas.microsoft.com/office/drawing/2014/main" id="{0C239A70-5D22-F261-F800-68FA7DDE6E4C}"/>
              </a:ext>
            </a:extLst>
          </p:cNvPr>
          <p:cNvSpPr>
            <a:spLocks noGrp="1"/>
          </p:cNvSpPr>
          <p:nvPr>
            <p:ph type="sldNum" sz="quarter" idx="12"/>
          </p:nvPr>
        </p:nvSpPr>
        <p:spPr/>
        <p:txBody>
          <a:bodyPr/>
          <a:lstStyle/>
          <a:p>
            <a:fld id="{80E9C1D4-69BA-4B09-8A24-1CCDDD1AB85B}" type="slidenum">
              <a:rPr lang="zh-CN" altLang="en-US" smtClean="0"/>
              <a:t>7</a:t>
            </a:fld>
            <a:endParaRPr lang="zh-CN" altLang="en-US"/>
          </a:p>
        </p:txBody>
      </p:sp>
    </p:spTree>
    <p:extLst>
      <p:ext uri="{BB962C8B-B14F-4D97-AF65-F5344CB8AC3E}">
        <p14:creationId xmlns:p14="http://schemas.microsoft.com/office/powerpoint/2010/main" val="4174780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1248-64B4-B035-CAAE-EB984B861E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83F2B6-86D1-E137-FA03-338C930A2D02}"/>
              </a:ext>
            </a:extLst>
          </p:cNvPr>
          <p:cNvSpPr>
            <a:spLocks noGrp="1"/>
          </p:cNvSpPr>
          <p:nvPr>
            <p:ph type="title"/>
          </p:nvPr>
        </p:nvSpPr>
        <p:spPr/>
        <p:txBody>
          <a:bodyPr/>
          <a:lstStyle/>
          <a:p>
            <a:r>
              <a:rPr lang="en-US" altLang="zh-CN" dirty="0"/>
              <a:t>New</a:t>
            </a:r>
            <a:r>
              <a:rPr lang="zh-CN" altLang="en-US" dirty="0"/>
              <a:t> </a:t>
            </a:r>
            <a:r>
              <a:rPr lang="en-US" altLang="zh-CN" dirty="0"/>
              <a:t>framework</a:t>
            </a:r>
          </a:p>
        </p:txBody>
      </p:sp>
      <p:grpSp>
        <p:nvGrpSpPr>
          <p:cNvPr id="19" name="Group 18">
            <a:extLst>
              <a:ext uri="{FF2B5EF4-FFF2-40B4-BE49-F238E27FC236}">
                <a16:creationId xmlns:a16="http://schemas.microsoft.com/office/drawing/2014/main" id="{E896F3C3-358C-C015-5B49-7C8BCA6D8D35}"/>
              </a:ext>
            </a:extLst>
          </p:cNvPr>
          <p:cNvGrpSpPr/>
          <p:nvPr/>
        </p:nvGrpSpPr>
        <p:grpSpPr>
          <a:xfrm>
            <a:off x="830004" y="942975"/>
            <a:ext cx="7842964" cy="4085147"/>
            <a:chOff x="1658679" y="1585391"/>
            <a:chExt cx="9166022" cy="4774286"/>
          </a:xfrm>
        </p:grpSpPr>
        <p:sp>
          <p:nvSpPr>
            <p:cNvPr id="5" name="Rectangle 4">
              <a:extLst>
                <a:ext uri="{FF2B5EF4-FFF2-40B4-BE49-F238E27FC236}">
                  <a16:creationId xmlns:a16="http://schemas.microsoft.com/office/drawing/2014/main" id="{9DD92018-0388-F20F-9F6E-6BE3AADF5BE4}"/>
                </a:ext>
              </a:extLst>
            </p:cNvPr>
            <p:cNvSpPr/>
            <p:nvPr/>
          </p:nvSpPr>
          <p:spPr>
            <a:xfrm>
              <a:off x="8899344" y="3294784"/>
              <a:ext cx="1925357" cy="85985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Answer </a:t>
              </a:r>
              <a:r>
                <a:rPr lang="en-US" altLang="zh-CN" dirty="0"/>
                <a:t>Quality</a:t>
              </a:r>
              <a:endParaRPr lang="en-US" dirty="0"/>
            </a:p>
          </p:txBody>
        </p:sp>
        <p:sp>
          <p:nvSpPr>
            <p:cNvPr id="6" name="Rectangle 5">
              <a:extLst>
                <a:ext uri="{FF2B5EF4-FFF2-40B4-BE49-F238E27FC236}">
                  <a16:creationId xmlns:a16="http://schemas.microsoft.com/office/drawing/2014/main" id="{260AF3F6-71A8-9509-A268-CFDB0B30AC52}"/>
                </a:ext>
              </a:extLst>
            </p:cNvPr>
            <p:cNvSpPr/>
            <p:nvPr/>
          </p:nvSpPr>
          <p:spPr>
            <a:xfrm>
              <a:off x="6590925" y="1585391"/>
              <a:ext cx="1925357" cy="82099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Answer</a:t>
              </a:r>
              <a:r>
                <a:rPr lang="en-US" altLang="zh-CN" dirty="0"/>
                <a:t>er</a:t>
              </a:r>
              <a:r>
                <a:rPr lang="en-US" dirty="0"/>
                <a:t> Participation</a:t>
              </a:r>
            </a:p>
          </p:txBody>
        </p:sp>
        <p:sp>
          <p:nvSpPr>
            <p:cNvPr id="7" name="Rectangle 6">
              <a:extLst>
                <a:ext uri="{FF2B5EF4-FFF2-40B4-BE49-F238E27FC236}">
                  <a16:creationId xmlns:a16="http://schemas.microsoft.com/office/drawing/2014/main" id="{57BB8A08-1673-1299-5AAF-E9CE80464093}"/>
                </a:ext>
              </a:extLst>
            </p:cNvPr>
            <p:cNvSpPr/>
            <p:nvPr/>
          </p:nvSpPr>
          <p:spPr>
            <a:xfrm>
              <a:off x="1658679" y="2554168"/>
              <a:ext cx="1786456" cy="792119"/>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Has AI Answer</a:t>
              </a:r>
            </a:p>
          </p:txBody>
        </p:sp>
        <p:cxnSp>
          <p:nvCxnSpPr>
            <p:cNvPr id="8" name="Straight Arrow Connector 7">
              <a:extLst>
                <a:ext uri="{FF2B5EF4-FFF2-40B4-BE49-F238E27FC236}">
                  <a16:creationId xmlns:a16="http://schemas.microsoft.com/office/drawing/2014/main" id="{22F47648-274C-8619-A213-3AB690266BF2}"/>
                </a:ext>
              </a:extLst>
            </p:cNvPr>
            <p:cNvCxnSpPr>
              <a:cxnSpLocks/>
              <a:stCxn id="7" idx="3"/>
              <a:endCxn id="6" idx="1"/>
            </p:cNvCxnSpPr>
            <p:nvPr/>
          </p:nvCxnSpPr>
          <p:spPr>
            <a:xfrm flipV="1">
              <a:off x="3445135" y="1995888"/>
              <a:ext cx="3145790" cy="95434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DA2D5E4E-646F-FABE-AC3D-0231DF093B72}"/>
                </a:ext>
              </a:extLst>
            </p:cNvPr>
            <p:cNvCxnSpPr>
              <a:cxnSpLocks/>
              <a:stCxn id="10" idx="0"/>
            </p:cNvCxnSpPr>
            <p:nvPr/>
          </p:nvCxnSpPr>
          <p:spPr>
            <a:xfrm flipH="1" flipV="1">
              <a:off x="4427055" y="2710016"/>
              <a:ext cx="622702" cy="174160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17CC7861-C3E0-50E1-EBC3-116F9DA48BE1}"/>
                </a:ext>
              </a:extLst>
            </p:cNvPr>
            <p:cNvSpPr/>
            <p:nvPr/>
          </p:nvSpPr>
          <p:spPr>
            <a:xfrm>
              <a:off x="4358409" y="4451616"/>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AI Answer Length</a:t>
              </a:r>
            </a:p>
          </p:txBody>
        </p:sp>
        <p:sp>
          <p:nvSpPr>
            <p:cNvPr id="11" name="Rectangle 10">
              <a:extLst>
                <a:ext uri="{FF2B5EF4-FFF2-40B4-BE49-F238E27FC236}">
                  <a16:creationId xmlns:a16="http://schemas.microsoft.com/office/drawing/2014/main" id="{A496EFB9-F6AF-5868-CFFB-153CFF7586EA}"/>
                </a:ext>
              </a:extLst>
            </p:cNvPr>
            <p:cNvSpPr/>
            <p:nvPr/>
          </p:nvSpPr>
          <p:spPr>
            <a:xfrm>
              <a:off x="6548315" y="4451616"/>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AI Answer Quality</a:t>
              </a:r>
            </a:p>
          </p:txBody>
        </p:sp>
        <p:cxnSp>
          <p:nvCxnSpPr>
            <p:cNvPr id="12" name="Straight Arrow Connector 11">
              <a:extLst>
                <a:ext uri="{FF2B5EF4-FFF2-40B4-BE49-F238E27FC236}">
                  <a16:creationId xmlns:a16="http://schemas.microsoft.com/office/drawing/2014/main" id="{920B978E-E2DC-0503-EEFC-7F8B65C4D60B}"/>
                </a:ext>
              </a:extLst>
            </p:cNvPr>
            <p:cNvCxnSpPr>
              <a:cxnSpLocks/>
              <a:stCxn id="11" idx="0"/>
            </p:cNvCxnSpPr>
            <p:nvPr/>
          </p:nvCxnSpPr>
          <p:spPr>
            <a:xfrm flipV="1">
              <a:off x="7239663" y="3556812"/>
              <a:ext cx="146271" cy="894804"/>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36C3219-F5A1-DF90-5643-53453AAEE93D}"/>
                </a:ext>
              </a:extLst>
            </p:cNvPr>
            <p:cNvCxnSpPr>
              <a:cxnSpLocks/>
              <a:stCxn id="7" idx="3"/>
              <a:endCxn id="5" idx="1"/>
            </p:cNvCxnSpPr>
            <p:nvPr/>
          </p:nvCxnSpPr>
          <p:spPr>
            <a:xfrm>
              <a:off x="3445135" y="2950228"/>
              <a:ext cx="5454209" cy="774485"/>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D62B88E-07EE-2ABF-3B55-00C3C78D60BF}"/>
                </a:ext>
              </a:extLst>
            </p:cNvPr>
            <p:cNvCxnSpPr>
              <a:cxnSpLocks/>
              <a:stCxn id="10" idx="0"/>
            </p:cNvCxnSpPr>
            <p:nvPr/>
          </p:nvCxnSpPr>
          <p:spPr>
            <a:xfrm flipV="1">
              <a:off x="5049757" y="3294784"/>
              <a:ext cx="192094" cy="1156832"/>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715489B-86E8-291E-5401-DDA5926F6297}"/>
                </a:ext>
              </a:extLst>
            </p:cNvPr>
            <p:cNvCxnSpPr>
              <a:cxnSpLocks/>
              <a:stCxn id="11" idx="0"/>
            </p:cNvCxnSpPr>
            <p:nvPr/>
          </p:nvCxnSpPr>
          <p:spPr>
            <a:xfrm flipH="1" flipV="1">
              <a:off x="6304622" y="2113534"/>
              <a:ext cx="935040" cy="2338081"/>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Right Brace 15">
              <a:extLst>
                <a:ext uri="{FF2B5EF4-FFF2-40B4-BE49-F238E27FC236}">
                  <a16:creationId xmlns:a16="http://schemas.microsoft.com/office/drawing/2014/main" id="{117BC3D0-113F-6A2D-AF08-55694A17F9FB}"/>
                </a:ext>
              </a:extLst>
            </p:cNvPr>
            <p:cNvSpPr/>
            <p:nvPr/>
          </p:nvSpPr>
          <p:spPr>
            <a:xfrm rot="5400000">
              <a:off x="6031744" y="1748538"/>
              <a:ext cx="280310" cy="7953390"/>
            </a:xfrm>
            <a:prstGeom prst="rightBrace">
              <a:avLst>
                <a:gd name="adj1" fmla="val 41330"/>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FA637156-6910-940C-3BE4-5F461899E8EA}"/>
                </a:ext>
              </a:extLst>
            </p:cNvPr>
            <p:cNvSpPr txBox="1"/>
            <p:nvPr/>
          </p:nvSpPr>
          <p:spPr>
            <a:xfrm>
              <a:off x="2195884" y="5928041"/>
              <a:ext cx="1876043" cy="431636"/>
            </a:xfrm>
            <a:prstGeom prst="rect">
              <a:avLst/>
            </a:prstGeom>
            <a:noFill/>
            <a:ln>
              <a:noFill/>
            </a:ln>
          </p:spPr>
          <p:txBody>
            <a:bodyPr wrap="none" rtlCol="0">
              <a:spAutoFit/>
            </a:bodyPr>
            <a:lstStyle/>
            <a:p>
              <a:r>
                <a:rPr lang="en-US" altLang="zh-CN" dirty="0"/>
                <a:t>Fast</a:t>
              </a:r>
              <a:r>
                <a:rPr lang="en-US" dirty="0"/>
                <a:t> Processing</a:t>
              </a:r>
            </a:p>
          </p:txBody>
        </p:sp>
        <p:sp>
          <p:nvSpPr>
            <p:cNvPr id="18" name="TextBox 17">
              <a:extLst>
                <a:ext uri="{FF2B5EF4-FFF2-40B4-BE49-F238E27FC236}">
                  <a16:creationId xmlns:a16="http://schemas.microsoft.com/office/drawing/2014/main" id="{9A1D49E0-0890-7069-7B24-25B3594A79CE}"/>
                </a:ext>
              </a:extLst>
            </p:cNvPr>
            <p:cNvSpPr txBox="1"/>
            <p:nvPr/>
          </p:nvSpPr>
          <p:spPr>
            <a:xfrm>
              <a:off x="8167195" y="5886801"/>
              <a:ext cx="1958324" cy="431636"/>
            </a:xfrm>
            <a:prstGeom prst="rect">
              <a:avLst/>
            </a:prstGeom>
            <a:noFill/>
            <a:ln>
              <a:noFill/>
            </a:ln>
          </p:spPr>
          <p:txBody>
            <a:bodyPr wrap="none" rtlCol="0">
              <a:spAutoFit/>
            </a:bodyPr>
            <a:lstStyle/>
            <a:p>
              <a:r>
                <a:rPr lang="en-US" altLang="zh-CN" dirty="0"/>
                <a:t>Slow</a:t>
              </a:r>
              <a:r>
                <a:rPr lang="en-US" dirty="0"/>
                <a:t> Processing</a:t>
              </a:r>
            </a:p>
          </p:txBody>
        </p:sp>
      </p:grpSp>
      <p:sp>
        <p:nvSpPr>
          <p:cNvPr id="2" name="Slide Number Placeholder 1">
            <a:extLst>
              <a:ext uri="{FF2B5EF4-FFF2-40B4-BE49-F238E27FC236}">
                <a16:creationId xmlns:a16="http://schemas.microsoft.com/office/drawing/2014/main" id="{92957478-A092-6853-1C5A-0B055C5625C0}"/>
              </a:ext>
            </a:extLst>
          </p:cNvPr>
          <p:cNvSpPr>
            <a:spLocks noGrp="1"/>
          </p:cNvSpPr>
          <p:nvPr>
            <p:ph type="sldNum" sz="quarter" idx="12"/>
          </p:nvPr>
        </p:nvSpPr>
        <p:spPr/>
        <p:txBody>
          <a:bodyPr/>
          <a:lstStyle/>
          <a:p>
            <a:fld id="{80E9C1D4-69BA-4B09-8A24-1CCDDD1AB85B}" type="slidenum">
              <a:rPr lang="zh-CN" altLang="en-US" smtClean="0"/>
              <a:t>8</a:t>
            </a:fld>
            <a:endParaRPr lang="zh-CN" altLang="en-US"/>
          </a:p>
        </p:txBody>
      </p:sp>
      <p:sp>
        <p:nvSpPr>
          <p:cNvPr id="3" name="Rounded Rectangle 2">
            <a:extLst>
              <a:ext uri="{FF2B5EF4-FFF2-40B4-BE49-F238E27FC236}">
                <a16:creationId xmlns:a16="http://schemas.microsoft.com/office/drawing/2014/main" id="{93694064-AFC0-C590-8966-98AFCEEACAF1}"/>
              </a:ext>
            </a:extLst>
          </p:cNvPr>
          <p:cNvSpPr/>
          <p:nvPr/>
        </p:nvSpPr>
        <p:spPr>
          <a:xfrm>
            <a:off x="181695" y="1566448"/>
            <a:ext cx="1016358"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Source Effect</a:t>
            </a:r>
          </a:p>
        </p:txBody>
      </p:sp>
      <p:sp>
        <p:nvSpPr>
          <p:cNvPr id="20" name="Rounded Rectangle 19">
            <a:extLst>
              <a:ext uri="{FF2B5EF4-FFF2-40B4-BE49-F238E27FC236}">
                <a16:creationId xmlns:a16="http://schemas.microsoft.com/office/drawing/2014/main" id="{6FF95063-A0C9-C66E-D081-8CA390EA0D53}"/>
              </a:ext>
            </a:extLst>
          </p:cNvPr>
          <p:cNvSpPr/>
          <p:nvPr/>
        </p:nvSpPr>
        <p:spPr>
          <a:xfrm>
            <a:off x="2190630" y="3780460"/>
            <a:ext cx="1116191"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a:t>
            </a:r>
            <a:r>
              <a:rPr lang="en-US" altLang="zh-CN" sz="1000" dirty="0"/>
              <a:t>Content</a:t>
            </a:r>
            <a:r>
              <a:rPr lang="en-US" sz="1000" dirty="0"/>
              <a:t> Effect</a:t>
            </a:r>
          </a:p>
        </p:txBody>
      </p:sp>
      <p:sp>
        <p:nvSpPr>
          <p:cNvPr id="21" name="Rounded Rectangle 20">
            <a:extLst>
              <a:ext uri="{FF2B5EF4-FFF2-40B4-BE49-F238E27FC236}">
                <a16:creationId xmlns:a16="http://schemas.microsoft.com/office/drawing/2014/main" id="{1568C598-2A86-8609-42CC-7F0D03680E4B}"/>
              </a:ext>
            </a:extLst>
          </p:cNvPr>
          <p:cNvSpPr/>
          <p:nvPr/>
        </p:nvSpPr>
        <p:spPr>
          <a:xfrm>
            <a:off x="5874033" y="604084"/>
            <a:ext cx="1016358"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a:t>
            </a:r>
          </a:p>
          <a:p>
            <a:pPr algn="ctr"/>
            <a:r>
              <a:rPr lang="en-US" altLang="zh-CN" sz="1000" dirty="0"/>
              <a:t>Core</a:t>
            </a:r>
            <a:r>
              <a:rPr lang="zh-CN" altLang="en-US" sz="1000" dirty="0"/>
              <a:t> </a:t>
            </a:r>
            <a:r>
              <a:rPr lang="en-US" altLang="zh-CN" sz="1000" dirty="0"/>
              <a:t>DV</a:t>
            </a:r>
            <a:endParaRPr lang="en-US" sz="1000" dirty="0"/>
          </a:p>
        </p:txBody>
      </p:sp>
      <p:sp>
        <p:nvSpPr>
          <p:cNvPr id="22" name="Rounded Rectangle 21">
            <a:extLst>
              <a:ext uri="{FF2B5EF4-FFF2-40B4-BE49-F238E27FC236}">
                <a16:creationId xmlns:a16="http://schemas.microsoft.com/office/drawing/2014/main" id="{AF09F173-2619-3E83-0409-F6CB587EC91B}"/>
              </a:ext>
            </a:extLst>
          </p:cNvPr>
          <p:cNvSpPr/>
          <p:nvPr/>
        </p:nvSpPr>
        <p:spPr>
          <a:xfrm>
            <a:off x="7883540" y="2208309"/>
            <a:ext cx="1016359" cy="410934"/>
          </a:xfrm>
          <a:prstGeom prst="roundRect">
            <a:avLst>
              <a:gd name="adj" fmla="val 45809"/>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zh-CN" sz="1000" dirty="0"/>
              <a:t>New</a:t>
            </a:r>
            <a:r>
              <a:rPr lang="zh-CN" altLang="en-US" sz="1000" dirty="0"/>
              <a:t> </a:t>
            </a:r>
            <a:r>
              <a:rPr lang="en-US" altLang="zh-CN" sz="1000" dirty="0"/>
              <a:t>DV</a:t>
            </a:r>
            <a:endParaRPr lang="en-US" sz="1000" dirty="0"/>
          </a:p>
        </p:txBody>
      </p:sp>
      <p:sp>
        <p:nvSpPr>
          <p:cNvPr id="23" name="Rounded Rectangle 22">
            <a:extLst>
              <a:ext uri="{FF2B5EF4-FFF2-40B4-BE49-F238E27FC236}">
                <a16:creationId xmlns:a16="http://schemas.microsoft.com/office/drawing/2014/main" id="{86676019-94A5-DFF9-B061-817522150D88}"/>
              </a:ext>
            </a:extLst>
          </p:cNvPr>
          <p:cNvSpPr/>
          <p:nvPr/>
        </p:nvSpPr>
        <p:spPr>
          <a:xfrm>
            <a:off x="6030188" y="3773943"/>
            <a:ext cx="1116191" cy="410934"/>
          </a:xfrm>
          <a:prstGeom prst="roundRect">
            <a:avLst>
              <a:gd name="adj" fmla="val 45809"/>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000" dirty="0"/>
              <a:t>Previous </a:t>
            </a:r>
            <a:r>
              <a:rPr lang="en-US" altLang="zh-CN" sz="1000" dirty="0"/>
              <a:t>Content</a:t>
            </a:r>
            <a:r>
              <a:rPr lang="en-US" sz="1000" dirty="0"/>
              <a:t> Effect</a:t>
            </a:r>
          </a:p>
        </p:txBody>
      </p:sp>
    </p:spTree>
    <p:extLst>
      <p:ext uri="{BB962C8B-B14F-4D97-AF65-F5344CB8AC3E}">
        <p14:creationId xmlns:p14="http://schemas.microsoft.com/office/powerpoint/2010/main" val="330089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A3EF-E6D3-1428-ABCA-06302BD7D19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BB7D35A-9A29-1E5C-F085-D8E31FC9ADBF}"/>
              </a:ext>
            </a:extLst>
          </p:cNvPr>
          <p:cNvSpPr>
            <a:spLocks noGrp="1"/>
          </p:cNvSpPr>
          <p:nvPr>
            <p:ph type="title"/>
          </p:nvPr>
        </p:nvSpPr>
        <p:spPr/>
        <p:txBody>
          <a:bodyPr/>
          <a:lstStyle/>
          <a:p>
            <a:r>
              <a:rPr lang="en-US" dirty="0"/>
              <a:t>AI’s </a:t>
            </a:r>
            <a:r>
              <a:rPr lang="en-US" altLang="zh-CN" dirty="0"/>
              <a:t>t</a:t>
            </a:r>
            <a:r>
              <a:rPr lang="en-US" dirty="0"/>
              <a:t>wo </a:t>
            </a:r>
            <a:r>
              <a:rPr lang="en-US" altLang="zh-CN" dirty="0"/>
              <a:t>r</a:t>
            </a:r>
            <a:r>
              <a:rPr lang="en-US" dirty="0"/>
              <a:t>oles in </a:t>
            </a:r>
            <a:r>
              <a:rPr lang="en-US" altLang="zh-CN" dirty="0"/>
              <a:t>c</a:t>
            </a:r>
            <a:r>
              <a:rPr lang="en-US" dirty="0"/>
              <a:t>ompetition</a:t>
            </a:r>
            <a:endParaRPr lang="en-US" altLang="zh-CN" dirty="0"/>
          </a:p>
        </p:txBody>
      </p:sp>
      <p:grpSp>
        <p:nvGrpSpPr>
          <p:cNvPr id="5" name="Group 4">
            <a:extLst>
              <a:ext uri="{FF2B5EF4-FFF2-40B4-BE49-F238E27FC236}">
                <a16:creationId xmlns:a16="http://schemas.microsoft.com/office/drawing/2014/main" id="{4CCFE3AA-41B9-D111-C8C2-C662AD88C1C1}"/>
              </a:ext>
            </a:extLst>
          </p:cNvPr>
          <p:cNvGrpSpPr/>
          <p:nvPr/>
        </p:nvGrpSpPr>
        <p:grpSpPr>
          <a:xfrm>
            <a:off x="3054163" y="1335992"/>
            <a:ext cx="5609326" cy="2864856"/>
            <a:chOff x="2660220" y="1649186"/>
            <a:chExt cx="9166022" cy="4807477"/>
          </a:xfrm>
        </p:grpSpPr>
        <p:sp>
          <p:nvSpPr>
            <p:cNvPr id="6" name="Rectangle 5">
              <a:extLst>
                <a:ext uri="{FF2B5EF4-FFF2-40B4-BE49-F238E27FC236}">
                  <a16:creationId xmlns:a16="http://schemas.microsoft.com/office/drawing/2014/main" id="{786735E3-2E57-B2F1-35E6-0A240CDE4A81}"/>
                </a:ext>
              </a:extLst>
            </p:cNvPr>
            <p:cNvSpPr/>
            <p:nvPr/>
          </p:nvSpPr>
          <p:spPr>
            <a:xfrm>
              <a:off x="9900885" y="3358579"/>
              <a:ext cx="1925357" cy="85985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 </a:t>
              </a:r>
              <a:r>
                <a:rPr lang="en-US" altLang="zh-CN" sz="1200" dirty="0"/>
                <a:t>Quality</a:t>
              </a:r>
              <a:endParaRPr lang="en-US" sz="1200" dirty="0"/>
            </a:p>
          </p:txBody>
        </p:sp>
        <p:sp>
          <p:nvSpPr>
            <p:cNvPr id="7" name="Rectangle 6">
              <a:extLst>
                <a:ext uri="{FF2B5EF4-FFF2-40B4-BE49-F238E27FC236}">
                  <a16:creationId xmlns:a16="http://schemas.microsoft.com/office/drawing/2014/main" id="{2D5F6CAA-FCC7-DADE-D8FA-83A7FBF1EAB8}"/>
                </a:ext>
              </a:extLst>
            </p:cNvPr>
            <p:cNvSpPr/>
            <p:nvPr/>
          </p:nvSpPr>
          <p:spPr>
            <a:xfrm>
              <a:off x="7592466" y="1649186"/>
              <a:ext cx="1925357" cy="82099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sp>
          <p:nvSpPr>
            <p:cNvPr id="8" name="Rectangle 7">
              <a:extLst>
                <a:ext uri="{FF2B5EF4-FFF2-40B4-BE49-F238E27FC236}">
                  <a16:creationId xmlns:a16="http://schemas.microsoft.com/office/drawing/2014/main" id="{2953290E-D55F-53F9-C390-437C2E3F4570}"/>
                </a:ext>
              </a:extLst>
            </p:cNvPr>
            <p:cNvSpPr/>
            <p:nvPr/>
          </p:nvSpPr>
          <p:spPr>
            <a:xfrm>
              <a:off x="2660220" y="2617963"/>
              <a:ext cx="1786456" cy="792119"/>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9" name="Straight Arrow Connector 8">
              <a:extLst>
                <a:ext uri="{FF2B5EF4-FFF2-40B4-BE49-F238E27FC236}">
                  <a16:creationId xmlns:a16="http://schemas.microsoft.com/office/drawing/2014/main" id="{5519EAAD-4D12-FB24-F2B4-E85D356AF541}"/>
                </a:ext>
              </a:extLst>
            </p:cNvPr>
            <p:cNvCxnSpPr>
              <a:cxnSpLocks/>
              <a:stCxn id="8" idx="3"/>
              <a:endCxn id="7" idx="1"/>
            </p:cNvCxnSpPr>
            <p:nvPr/>
          </p:nvCxnSpPr>
          <p:spPr>
            <a:xfrm flipV="1">
              <a:off x="4446676" y="2059683"/>
              <a:ext cx="3145790" cy="95434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D6BDDB6-5AA7-3B2A-0F83-84316901AD19}"/>
                </a:ext>
              </a:extLst>
            </p:cNvPr>
            <p:cNvCxnSpPr>
              <a:cxnSpLocks/>
              <a:stCxn id="11" idx="0"/>
            </p:cNvCxnSpPr>
            <p:nvPr/>
          </p:nvCxnSpPr>
          <p:spPr>
            <a:xfrm flipH="1" flipV="1">
              <a:off x="5428596" y="2773811"/>
              <a:ext cx="622702" cy="174160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2F50A79-5C36-4DD9-646F-0B93E0609689}"/>
                </a:ext>
              </a:extLst>
            </p:cNvPr>
            <p:cNvSpPr/>
            <p:nvPr/>
          </p:nvSpPr>
          <p:spPr>
            <a:xfrm>
              <a:off x="5359950"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Length</a:t>
              </a:r>
            </a:p>
          </p:txBody>
        </p:sp>
        <p:sp>
          <p:nvSpPr>
            <p:cNvPr id="12" name="Rectangle 11">
              <a:extLst>
                <a:ext uri="{FF2B5EF4-FFF2-40B4-BE49-F238E27FC236}">
                  <a16:creationId xmlns:a16="http://schemas.microsoft.com/office/drawing/2014/main" id="{4E3A3FFA-001C-53FF-38A7-4C66B56F0C0A}"/>
                </a:ext>
              </a:extLst>
            </p:cNvPr>
            <p:cNvSpPr/>
            <p:nvPr/>
          </p:nvSpPr>
          <p:spPr>
            <a:xfrm>
              <a:off x="7549856"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Quality</a:t>
              </a:r>
            </a:p>
          </p:txBody>
        </p:sp>
        <p:cxnSp>
          <p:nvCxnSpPr>
            <p:cNvPr id="13" name="Straight Arrow Connector 12">
              <a:extLst>
                <a:ext uri="{FF2B5EF4-FFF2-40B4-BE49-F238E27FC236}">
                  <a16:creationId xmlns:a16="http://schemas.microsoft.com/office/drawing/2014/main" id="{479AE161-B168-39CE-DD5A-E9C561B51190}"/>
                </a:ext>
              </a:extLst>
            </p:cNvPr>
            <p:cNvCxnSpPr>
              <a:cxnSpLocks/>
              <a:stCxn id="12" idx="0"/>
            </p:cNvCxnSpPr>
            <p:nvPr/>
          </p:nvCxnSpPr>
          <p:spPr>
            <a:xfrm flipV="1">
              <a:off x="8241204" y="3620607"/>
              <a:ext cx="146271" cy="894804"/>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B22D367-D317-B163-140B-1F6D8CF40DBA}"/>
                </a:ext>
              </a:extLst>
            </p:cNvPr>
            <p:cNvCxnSpPr>
              <a:cxnSpLocks/>
              <a:stCxn id="8" idx="3"/>
              <a:endCxn id="6" idx="1"/>
            </p:cNvCxnSpPr>
            <p:nvPr/>
          </p:nvCxnSpPr>
          <p:spPr>
            <a:xfrm>
              <a:off x="4446676" y="3014023"/>
              <a:ext cx="5454209" cy="774485"/>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BC9B170-9FF8-3757-BCAE-F3DA7EF22B29}"/>
                </a:ext>
              </a:extLst>
            </p:cNvPr>
            <p:cNvCxnSpPr>
              <a:cxnSpLocks/>
              <a:stCxn id="11" idx="0"/>
            </p:cNvCxnSpPr>
            <p:nvPr/>
          </p:nvCxnSpPr>
          <p:spPr>
            <a:xfrm flipV="1">
              <a:off x="6051298" y="3358579"/>
              <a:ext cx="192094" cy="1156832"/>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4AC4FE6-04E4-E0A4-8683-4A10A240AD40}"/>
                </a:ext>
              </a:extLst>
            </p:cNvPr>
            <p:cNvCxnSpPr>
              <a:cxnSpLocks/>
              <a:stCxn id="12" idx="0"/>
            </p:cNvCxnSpPr>
            <p:nvPr/>
          </p:nvCxnSpPr>
          <p:spPr>
            <a:xfrm flipH="1" flipV="1">
              <a:off x="7306163" y="2177329"/>
              <a:ext cx="935040" cy="2338081"/>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7" name="Right Brace 16">
              <a:extLst>
                <a:ext uri="{FF2B5EF4-FFF2-40B4-BE49-F238E27FC236}">
                  <a16:creationId xmlns:a16="http://schemas.microsoft.com/office/drawing/2014/main" id="{1A05A46D-C473-A9EC-6829-A7C663C67040}"/>
                </a:ext>
              </a:extLst>
            </p:cNvPr>
            <p:cNvSpPr/>
            <p:nvPr/>
          </p:nvSpPr>
          <p:spPr>
            <a:xfrm rot="5400000">
              <a:off x="7033285" y="1812333"/>
              <a:ext cx="280310" cy="7953390"/>
            </a:xfrm>
            <a:prstGeom prst="rightBrace">
              <a:avLst>
                <a:gd name="adj1" fmla="val 41330"/>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a:p>
          </p:txBody>
        </p:sp>
        <p:sp>
          <p:nvSpPr>
            <p:cNvPr id="18" name="TextBox 17">
              <a:extLst>
                <a:ext uri="{FF2B5EF4-FFF2-40B4-BE49-F238E27FC236}">
                  <a16:creationId xmlns:a16="http://schemas.microsoft.com/office/drawing/2014/main" id="{39A39DBC-6BFE-3BFE-6268-83B418AB2966}"/>
                </a:ext>
              </a:extLst>
            </p:cNvPr>
            <p:cNvSpPr txBox="1"/>
            <p:nvPr/>
          </p:nvSpPr>
          <p:spPr>
            <a:xfrm>
              <a:off x="3197425" y="5991835"/>
              <a:ext cx="1854547" cy="464828"/>
            </a:xfrm>
            <a:prstGeom prst="rect">
              <a:avLst/>
            </a:prstGeom>
            <a:noFill/>
            <a:ln>
              <a:noFill/>
            </a:ln>
          </p:spPr>
          <p:txBody>
            <a:bodyPr wrap="none" rtlCol="0">
              <a:spAutoFit/>
            </a:bodyPr>
            <a:lstStyle/>
            <a:p>
              <a:r>
                <a:rPr lang="en-US" altLang="zh-CN" sz="1200" dirty="0"/>
                <a:t>Fast</a:t>
              </a:r>
              <a:r>
                <a:rPr lang="en-US" sz="1200" dirty="0"/>
                <a:t> Processing</a:t>
              </a:r>
            </a:p>
          </p:txBody>
        </p:sp>
        <p:sp>
          <p:nvSpPr>
            <p:cNvPr id="19" name="TextBox 18">
              <a:extLst>
                <a:ext uri="{FF2B5EF4-FFF2-40B4-BE49-F238E27FC236}">
                  <a16:creationId xmlns:a16="http://schemas.microsoft.com/office/drawing/2014/main" id="{2CFB7398-0BCB-E0CE-1CF7-DECA46C90652}"/>
                </a:ext>
              </a:extLst>
            </p:cNvPr>
            <p:cNvSpPr txBox="1"/>
            <p:nvPr/>
          </p:nvSpPr>
          <p:spPr>
            <a:xfrm>
              <a:off x="9168735" y="5950596"/>
              <a:ext cx="1931243" cy="464828"/>
            </a:xfrm>
            <a:prstGeom prst="rect">
              <a:avLst/>
            </a:prstGeom>
            <a:noFill/>
            <a:ln>
              <a:noFill/>
            </a:ln>
          </p:spPr>
          <p:txBody>
            <a:bodyPr wrap="none" rtlCol="0">
              <a:spAutoFit/>
            </a:bodyPr>
            <a:lstStyle/>
            <a:p>
              <a:r>
                <a:rPr lang="en-US" altLang="zh-CN" sz="1200" dirty="0"/>
                <a:t>Slow</a:t>
              </a:r>
              <a:r>
                <a:rPr lang="en-US" sz="1200" dirty="0"/>
                <a:t> Processing</a:t>
              </a:r>
            </a:p>
          </p:txBody>
        </p:sp>
      </p:grpSp>
      <p:sp>
        <p:nvSpPr>
          <p:cNvPr id="41" name="Right Arrow 40">
            <a:extLst>
              <a:ext uri="{FF2B5EF4-FFF2-40B4-BE49-F238E27FC236}">
                <a16:creationId xmlns:a16="http://schemas.microsoft.com/office/drawing/2014/main" id="{FE3757AC-5171-613F-08B4-A62E176EBCA1}"/>
              </a:ext>
            </a:extLst>
          </p:cNvPr>
          <p:cNvSpPr/>
          <p:nvPr/>
        </p:nvSpPr>
        <p:spPr>
          <a:xfrm>
            <a:off x="2270164" y="2011589"/>
            <a:ext cx="622730" cy="27546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200"/>
          </a:p>
        </p:txBody>
      </p:sp>
      <p:sp>
        <p:nvSpPr>
          <p:cNvPr id="42" name="TextBox 41">
            <a:extLst>
              <a:ext uri="{FF2B5EF4-FFF2-40B4-BE49-F238E27FC236}">
                <a16:creationId xmlns:a16="http://schemas.microsoft.com/office/drawing/2014/main" id="{66B4F2AD-CCAD-15D9-0204-EE9F197A6329}"/>
              </a:ext>
            </a:extLst>
          </p:cNvPr>
          <p:cNvSpPr txBox="1"/>
          <p:nvPr/>
        </p:nvSpPr>
        <p:spPr>
          <a:xfrm>
            <a:off x="527777" y="1924555"/>
            <a:ext cx="1670255" cy="461665"/>
          </a:xfrm>
          <a:prstGeom prst="rect">
            <a:avLst/>
          </a:prstGeom>
          <a:noFill/>
        </p:spPr>
        <p:txBody>
          <a:bodyPr wrap="square">
            <a:spAutoFit/>
          </a:bodyPr>
          <a:lstStyle/>
          <a:p>
            <a:pPr algn="ctr"/>
            <a:r>
              <a:rPr lang="en-US" altLang="zh-CN" sz="1200" dirty="0">
                <a:latin typeface="+mj-lt"/>
              </a:rPr>
              <a:t>AI</a:t>
            </a:r>
            <a:r>
              <a:rPr lang="zh-CN" altLang="en-US" sz="1200" dirty="0">
                <a:latin typeface="+mj-lt"/>
              </a:rPr>
              <a:t> </a:t>
            </a:r>
            <a:r>
              <a:rPr lang="en-US" altLang="zh-CN" sz="1200" dirty="0">
                <a:latin typeface="+mj-lt"/>
              </a:rPr>
              <a:t>label</a:t>
            </a:r>
            <a:r>
              <a:rPr lang="zh-CN" altLang="en-US" sz="1200" dirty="0">
                <a:latin typeface="+mj-lt"/>
              </a:rPr>
              <a:t> </a:t>
            </a:r>
            <a:r>
              <a:rPr lang="en-US" altLang="zh-CN" sz="1200" dirty="0">
                <a:latin typeface="+mj-lt"/>
              </a:rPr>
              <a:t>signals</a:t>
            </a:r>
            <a:r>
              <a:rPr lang="zh-CN" altLang="en-US" sz="1200" dirty="0">
                <a:latin typeface="+mj-lt"/>
              </a:rPr>
              <a:t> </a:t>
            </a:r>
            <a:r>
              <a:rPr lang="en-US" altLang="zh-CN" sz="1200" dirty="0">
                <a:latin typeface="+mj-lt"/>
              </a:rPr>
              <a:t>weak</a:t>
            </a:r>
            <a:r>
              <a:rPr lang="zh-CN" altLang="en-US" sz="1200" dirty="0">
                <a:latin typeface="+mj-lt"/>
              </a:rPr>
              <a:t> </a:t>
            </a:r>
            <a:r>
              <a:rPr lang="en-US" altLang="zh-CN" sz="1200" dirty="0">
                <a:latin typeface="+mj-lt"/>
              </a:rPr>
              <a:t>competition</a:t>
            </a:r>
            <a:endParaRPr lang="en-US" sz="1200" dirty="0">
              <a:latin typeface="+mj-lt"/>
            </a:endParaRPr>
          </a:p>
        </p:txBody>
      </p:sp>
      <p:sp>
        <p:nvSpPr>
          <p:cNvPr id="43" name="Right Arrow 42">
            <a:extLst>
              <a:ext uri="{FF2B5EF4-FFF2-40B4-BE49-F238E27FC236}">
                <a16:creationId xmlns:a16="http://schemas.microsoft.com/office/drawing/2014/main" id="{10D3640B-5469-E71C-D200-A7BDBBEF6514}"/>
              </a:ext>
            </a:extLst>
          </p:cNvPr>
          <p:cNvSpPr/>
          <p:nvPr/>
        </p:nvSpPr>
        <p:spPr>
          <a:xfrm>
            <a:off x="2270164" y="3092685"/>
            <a:ext cx="622730" cy="27546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sz="1200"/>
          </a:p>
        </p:txBody>
      </p:sp>
      <p:sp>
        <p:nvSpPr>
          <p:cNvPr id="44" name="TextBox 43">
            <a:extLst>
              <a:ext uri="{FF2B5EF4-FFF2-40B4-BE49-F238E27FC236}">
                <a16:creationId xmlns:a16="http://schemas.microsoft.com/office/drawing/2014/main" id="{7FF9FEA4-A152-26BE-AB3D-B12FCFAC2F66}"/>
              </a:ext>
            </a:extLst>
          </p:cNvPr>
          <p:cNvSpPr txBox="1"/>
          <p:nvPr/>
        </p:nvSpPr>
        <p:spPr>
          <a:xfrm>
            <a:off x="527777" y="3005651"/>
            <a:ext cx="1670255" cy="461665"/>
          </a:xfrm>
          <a:prstGeom prst="rect">
            <a:avLst/>
          </a:prstGeom>
          <a:noFill/>
        </p:spPr>
        <p:txBody>
          <a:bodyPr wrap="square">
            <a:spAutoFit/>
          </a:bodyPr>
          <a:lstStyle/>
          <a:p>
            <a:pPr algn="ctr"/>
            <a:r>
              <a:rPr lang="en-US" altLang="en-US" sz="1200" dirty="0">
                <a:latin typeface="+mj-lt"/>
              </a:rPr>
              <a:t>AI </a:t>
            </a:r>
            <a:r>
              <a:rPr lang="en-US" altLang="zh-CN" sz="1200" dirty="0">
                <a:latin typeface="+mj-lt"/>
              </a:rPr>
              <a:t>content</a:t>
            </a:r>
            <a:r>
              <a:rPr lang="en-US" altLang="en-US" sz="1200" dirty="0">
                <a:latin typeface="+mj-lt"/>
              </a:rPr>
              <a:t> generate concrete competition </a:t>
            </a:r>
            <a:endParaRPr lang="en-US" sz="1200" dirty="0">
              <a:latin typeface="+mj-lt"/>
            </a:endParaRPr>
          </a:p>
        </p:txBody>
      </p:sp>
      <p:sp>
        <p:nvSpPr>
          <p:cNvPr id="45" name="Rectangle 44">
            <a:extLst>
              <a:ext uri="{FF2B5EF4-FFF2-40B4-BE49-F238E27FC236}">
                <a16:creationId xmlns:a16="http://schemas.microsoft.com/office/drawing/2014/main" id="{0E66FA4C-E293-F581-F402-19549586BA54}"/>
              </a:ext>
            </a:extLst>
          </p:cNvPr>
          <p:cNvSpPr/>
          <p:nvPr/>
        </p:nvSpPr>
        <p:spPr>
          <a:xfrm>
            <a:off x="3054163" y="2933942"/>
            <a:ext cx="3983013" cy="675450"/>
          </a:xfrm>
          <a:prstGeom prst="rect">
            <a:avLst/>
          </a:prstGeom>
          <a:noFill/>
          <a:ln w="25400">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Slide Number Placeholder 1">
            <a:extLst>
              <a:ext uri="{FF2B5EF4-FFF2-40B4-BE49-F238E27FC236}">
                <a16:creationId xmlns:a16="http://schemas.microsoft.com/office/drawing/2014/main" id="{B5CEC1B5-5178-D903-4C05-DBD7E3AFF6EF}"/>
              </a:ext>
            </a:extLst>
          </p:cNvPr>
          <p:cNvSpPr>
            <a:spLocks noGrp="1"/>
          </p:cNvSpPr>
          <p:nvPr>
            <p:ph type="sldNum" sz="quarter" idx="12"/>
          </p:nvPr>
        </p:nvSpPr>
        <p:spPr/>
        <p:txBody>
          <a:bodyPr/>
          <a:lstStyle/>
          <a:p>
            <a:fld id="{80E9C1D4-69BA-4B09-8A24-1CCDDD1AB85B}" type="slidenum">
              <a:rPr lang="zh-CN" altLang="en-US" smtClean="0"/>
              <a:t>9</a:t>
            </a:fld>
            <a:endParaRPr lang="zh-CN" altLang="en-US"/>
          </a:p>
        </p:txBody>
      </p:sp>
      <p:sp>
        <p:nvSpPr>
          <p:cNvPr id="3" name="TextBox 2">
            <a:extLst>
              <a:ext uri="{FF2B5EF4-FFF2-40B4-BE49-F238E27FC236}">
                <a16:creationId xmlns:a16="http://schemas.microsoft.com/office/drawing/2014/main" id="{064FB893-18C4-AB37-AEF7-978B02A8D87D}"/>
              </a:ext>
            </a:extLst>
          </p:cNvPr>
          <p:cNvSpPr txBox="1"/>
          <p:nvPr/>
        </p:nvSpPr>
        <p:spPr>
          <a:xfrm>
            <a:off x="4825096" y="1502690"/>
            <a:ext cx="300082" cy="369332"/>
          </a:xfrm>
          <a:prstGeom prst="rect">
            <a:avLst/>
          </a:prstGeom>
          <a:noFill/>
        </p:spPr>
        <p:txBody>
          <a:bodyPr wrap="none" rtlCol="0">
            <a:spAutoFit/>
          </a:bodyPr>
          <a:lstStyle/>
          <a:p>
            <a:r>
              <a:rPr lang="en-US" altLang="zh-CN" dirty="0"/>
              <a:t>+</a:t>
            </a:r>
            <a:endParaRPr lang="en-US" dirty="0"/>
          </a:p>
        </p:txBody>
      </p:sp>
      <p:sp>
        <p:nvSpPr>
          <p:cNvPr id="20" name="TextBox 19">
            <a:extLst>
              <a:ext uri="{FF2B5EF4-FFF2-40B4-BE49-F238E27FC236}">
                <a16:creationId xmlns:a16="http://schemas.microsoft.com/office/drawing/2014/main" id="{E487AAFF-6C3F-01C7-6137-27488115DF97}"/>
              </a:ext>
            </a:extLst>
          </p:cNvPr>
          <p:cNvSpPr txBox="1"/>
          <p:nvPr/>
        </p:nvSpPr>
        <p:spPr>
          <a:xfrm>
            <a:off x="5580886" y="2039241"/>
            <a:ext cx="255198" cy="369332"/>
          </a:xfrm>
          <a:prstGeom prst="rect">
            <a:avLst/>
          </a:prstGeom>
          <a:noFill/>
        </p:spPr>
        <p:txBody>
          <a:bodyPr wrap="none" rtlCol="0">
            <a:spAutoFit/>
          </a:bodyPr>
          <a:lstStyle/>
          <a:p>
            <a:r>
              <a:rPr lang="en-US" altLang="zh-CN" dirty="0"/>
              <a:t>-</a:t>
            </a:r>
            <a:endParaRPr lang="en-US" dirty="0"/>
          </a:p>
        </p:txBody>
      </p:sp>
      <p:sp>
        <p:nvSpPr>
          <p:cNvPr id="21" name="TextBox 20">
            <a:extLst>
              <a:ext uri="{FF2B5EF4-FFF2-40B4-BE49-F238E27FC236}">
                <a16:creationId xmlns:a16="http://schemas.microsoft.com/office/drawing/2014/main" id="{8954B56E-1905-3F2D-2624-F74A345511B8}"/>
              </a:ext>
            </a:extLst>
          </p:cNvPr>
          <p:cNvSpPr txBox="1"/>
          <p:nvPr/>
        </p:nvSpPr>
        <p:spPr>
          <a:xfrm>
            <a:off x="6498040" y="2536720"/>
            <a:ext cx="255198" cy="369332"/>
          </a:xfrm>
          <a:prstGeom prst="rect">
            <a:avLst/>
          </a:prstGeom>
          <a:noFill/>
        </p:spPr>
        <p:txBody>
          <a:bodyPr wrap="none" rtlCol="0">
            <a:spAutoFit/>
          </a:bodyPr>
          <a:lstStyle/>
          <a:p>
            <a:r>
              <a:rPr lang="en-US" altLang="zh-CN" dirty="0"/>
              <a:t>-</a:t>
            </a:r>
            <a:endParaRPr lang="en-US" dirty="0"/>
          </a:p>
        </p:txBody>
      </p:sp>
      <p:sp>
        <p:nvSpPr>
          <p:cNvPr id="22" name="TextBox 21">
            <a:extLst>
              <a:ext uri="{FF2B5EF4-FFF2-40B4-BE49-F238E27FC236}">
                <a16:creationId xmlns:a16="http://schemas.microsoft.com/office/drawing/2014/main" id="{DAED4990-5AA4-E756-741E-3A5D813DB8AC}"/>
              </a:ext>
            </a:extLst>
          </p:cNvPr>
          <p:cNvSpPr txBox="1"/>
          <p:nvPr/>
        </p:nvSpPr>
        <p:spPr>
          <a:xfrm>
            <a:off x="4719079" y="2498982"/>
            <a:ext cx="255198" cy="369332"/>
          </a:xfrm>
          <a:prstGeom prst="rect">
            <a:avLst/>
          </a:prstGeom>
          <a:noFill/>
        </p:spPr>
        <p:txBody>
          <a:bodyPr wrap="none" rtlCol="0">
            <a:spAutoFit/>
          </a:bodyPr>
          <a:lstStyle/>
          <a:p>
            <a:r>
              <a:rPr lang="en-US" altLang="zh-CN" dirty="0"/>
              <a:t>-</a:t>
            </a:r>
            <a:endParaRPr lang="en-US" dirty="0"/>
          </a:p>
        </p:txBody>
      </p:sp>
    </p:spTree>
    <p:extLst>
      <p:ext uri="{BB962C8B-B14F-4D97-AF65-F5344CB8AC3E}">
        <p14:creationId xmlns:p14="http://schemas.microsoft.com/office/powerpoint/2010/main" val="1612745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42272-345A-2CA7-586A-2C96416A6B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B6B869-CE50-6B65-2C38-623365614820}"/>
              </a:ext>
            </a:extLst>
          </p:cNvPr>
          <p:cNvSpPr>
            <a:spLocks noGrp="1"/>
          </p:cNvSpPr>
          <p:nvPr>
            <p:ph type="title"/>
          </p:nvPr>
        </p:nvSpPr>
        <p:spPr>
          <a:xfrm>
            <a:off x="417095" y="273844"/>
            <a:ext cx="8293768" cy="669131"/>
          </a:xfrm>
        </p:spPr>
        <p:txBody>
          <a:bodyPr>
            <a:noAutofit/>
          </a:bodyPr>
          <a:lstStyle/>
          <a:p>
            <a:r>
              <a:rPr lang="en-US" altLang="zh-CN" dirty="0"/>
              <a:t>Fast</a:t>
            </a:r>
            <a:r>
              <a:rPr lang="zh-CN" altLang="en-US" dirty="0"/>
              <a:t> </a:t>
            </a:r>
            <a:r>
              <a:rPr lang="en-US" altLang="zh-CN" dirty="0"/>
              <a:t>and</a:t>
            </a:r>
            <a:r>
              <a:rPr lang="zh-CN" altLang="en-US" dirty="0"/>
              <a:t> </a:t>
            </a:r>
            <a:r>
              <a:rPr lang="en-US" altLang="zh-CN" dirty="0"/>
              <a:t>slow:</a:t>
            </a:r>
            <a:r>
              <a:rPr lang="zh-CN" altLang="en-US" dirty="0"/>
              <a:t> </a:t>
            </a:r>
            <a:r>
              <a:rPr lang="en-US" altLang="zh-CN" dirty="0"/>
              <a:t>t</a:t>
            </a:r>
            <a:r>
              <a:rPr lang="en-US" dirty="0"/>
              <a:t>wo </a:t>
            </a:r>
            <a:r>
              <a:rPr lang="en-US" altLang="zh-CN" dirty="0"/>
              <a:t>different</a:t>
            </a:r>
            <a:r>
              <a:rPr lang="zh-CN" altLang="en-US" dirty="0"/>
              <a:t> </a:t>
            </a:r>
            <a:r>
              <a:rPr lang="en-US" altLang="zh-CN" dirty="0"/>
              <a:t>d</a:t>
            </a:r>
            <a:r>
              <a:rPr lang="en-US" dirty="0"/>
              <a:t>ecisions</a:t>
            </a:r>
            <a:endParaRPr lang="en-US" altLang="zh-CN" dirty="0"/>
          </a:p>
        </p:txBody>
      </p:sp>
      <p:grpSp>
        <p:nvGrpSpPr>
          <p:cNvPr id="2" name="Group 1">
            <a:extLst>
              <a:ext uri="{FF2B5EF4-FFF2-40B4-BE49-F238E27FC236}">
                <a16:creationId xmlns:a16="http://schemas.microsoft.com/office/drawing/2014/main" id="{C7351565-FDCB-B3CF-51DD-C47497831C1D}"/>
              </a:ext>
            </a:extLst>
          </p:cNvPr>
          <p:cNvGrpSpPr/>
          <p:nvPr/>
        </p:nvGrpSpPr>
        <p:grpSpPr>
          <a:xfrm>
            <a:off x="241027" y="1517515"/>
            <a:ext cx="5961891" cy="2806007"/>
            <a:chOff x="2660220" y="1649186"/>
            <a:chExt cx="9166022" cy="4818295"/>
          </a:xfrm>
        </p:grpSpPr>
        <p:sp>
          <p:nvSpPr>
            <p:cNvPr id="3" name="Rectangle 2">
              <a:extLst>
                <a:ext uri="{FF2B5EF4-FFF2-40B4-BE49-F238E27FC236}">
                  <a16:creationId xmlns:a16="http://schemas.microsoft.com/office/drawing/2014/main" id="{E3789825-44E8-ACB9-A0B4-43EA17E763D7}"/>
                </a:ext>
              </a:extLst>
            </p:cNvPr>
            <p:cNvSpPr/>
            <p:nvPr/>
          </p:nvSpPr>
          <p:spPr>
            <a:xfrm>
              <a:off x="9900885" y="3358579"/>
              <a:ext cx="1925357" cy="85985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 </a:t>
              </a:r>
              <a:r>
                <a:rPr lang="en-US" altLang="zh-CN" sz="1200" dirty="0"/>
                <a:t>Quality</a:t>
              </a:r>
              <a:endParaRPr lang="en-US" sz="1200" dirty="0"/>
            </a:p>
          </p:txBody>
        </p:sp>
        <p:sp>
          <p:nvSpPr>
            <p:cNvPr id="20" name="Rectangle 19">
              <a:extLst>
                <a:ext uri="{FF2B5EF4-FFF2-40B4-BE49-F238E27FC236}">
                  <a16:creationId xmlns:a16="http://schemas.microsoft.com/office/drawing/2014/main" id="{453BB270-4185-5022-5B5A-3289A170C779}"/>
                </a:ext>
              </a:extLst>
            </p:cNvPr>
            <p:cNvSpPr/>
            <p:nvPr/>
          </p:nvSpPr>
          <p:spPr>
            <a:xfrm>
              <a:off x="7592466" y="1649186"/>
              <a:ext cx="1925357" cy="82099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sp>
          <p:nvSpPr>
            <p:cNvPr id="21" name="Rectangle 20">
              <a:extLst>
                <a:ext uri="{FF2B5EF4-FFF2-40B4-BE49-F238E27FC236}">
                  <a16:creationId xmlns:a16="http://schemas.microsoft.com/office/drawing/2014/main" id="{1217D84A-183A-35C0-7DAB-1DF392A50EFF}"/>
                </a:ext>
              </a:extLst>
            </p:cNvPr>
            <p:cNvSpPr/>
            <p:nvPr/>
          </p:nvSpPr>
          <p:spPr>
            <a:xfrm>
              <a:off x="2660220" y="2617963"/>
              <a:ext cx="1786456" cy="792119"/>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22" name="Straight Arrow Connector 21">
              <a:extLst>
                <a:ext uri="{FF2B5EF4-FFF2-40B4-BE49-F238E27FC236}">
                  <a16:creationId xmlns:a16="http://schemas.microsoft.com/office/drawing/2014/main" id="{F1220F62-7B38-62B4-7D0D-398070892A4D}"/>
                </a:ext>
              </a:extLst>
            </p:cNvPr>
            <p:cNvCxnSpPr>
              <a:cxnSpLocks/>
              <a:stCxn id="21" idx="3"/>
              <a:endCxn id="20" idx="1"/>
            </p:cNvCxnSpPr>
            <p:nvPr/>
          </p:nvCxnSpPr>
          <p:spPr>
            <a:xfrm flipV="1">
              <a:off x="4446676" y="2059683"/>
              <a:ext cx="3145790" cy="95434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79D7400-B0C1-3D2C-069A-DB64A4156A42}"/>
                </a:ext>
              </a:extLst>
            </p:cNvPr>
            <p:cNvCxnSpPr>
              <a:cxnSpLocks/>
              <a:stCxn id="24" idx="0"/>
            </p:cNvCxnSpPr>
            <p:nvPr/>
          </p:nvCxnSpPr>
          <p:spPr>
            <a:xfrm flipH="1" flipV="1">
              <a:off x="5428596" y="2773811"/>
              <a:ext cx="622702" cy="1741600"/>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12A7A63D-CFA1-BD98-811F-E32DA14481BD}"/>
                </a:ext>
              </a:extLst>
            </p:cNvPr>
            <p:cNvSpPr/>
            <p:nvPr/>
          </p:nvSpPr>
          <p:spPr>
            <a:xfrm>
              <a:off x="5359950"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Length</a:t>
              </a:r>
            </a:p>
          </p:txBody>
        </p:sp>
        <p:sp>
          <p:nvSpPr>
            <p:cNvPr id="25" name="Rectangle 24">
              <a:extLst>
                <a:ext uri="{FF2B5EF4-FFF2-40B4-BE49-F238E27FC236}">
                  <a16:creationId xmlns:a16="http://schemas.microsoft.com/office/drawing/2014/main" id="{E3972DE3-2AC8-D42A-F7D7-CA5418FB5B2E}"/>
                </a:ext>
              </a:extLst>
            </p:cNvPr>
            <p:cNvSpPr/>
            <p:nvPr/>
          </p:nvSpPr>
          <p:spPr>
            <a:xfrm>
              <a:off x="7549856" y="4515411"/>
              <a:ext cx="1382696" cy="774484"/>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Quality</a:t>
              </a:r>
            </a:p>
          </p:txBody>
        </p:sp>
        <p:cxnSp>
          <p:nvCxnSpPr>
            <p:cNvPr id="26" name="Straight Arrow Connector 25">
              <a:extLst>
                <a:ext uri="{FF2B5EF4-FFF2-40B4-BE49-F238E27FC236}">
                  <a16:creationId xmlns:a16="http://schemas.microsoft.com/office/drawing/2014/main" id="{17388C58-A951-EF50-8808-82277E6377F7}"/>
                </a:ext>
              </a:extLst>
            </p:cNvPr>
            <p:cNvCxnSpPr>
              <a:cxnSpLocks/>
              <a:stCxn id="25" idx="0"/>
            </p:cNvCxnSpPr>
            <p:nvPr/>
          </p:nvCxnSpPr>
          <p:spPr>
            <a:xfrm flipV="1">
              <a:off x="8241204" y="3620607"/>
              <a:ext cx="146271" cy="894804"/>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440C8F5-9A36-7C43-31D7-B6D59197567D}"/>
                </a:ext>
              </a:extLst>
            </p:cNvPr>
            <p:cNvCxnSpPr>
              <a:cxnSpLocks/>
              <a:stCxn id="21" idx="3"/>
              <a:endCxn id="3" idx="1"/>
            </p:cNvCxnSpPr>
            <p:nvPr/>
          </p:nvCxnSpPr>
          <p:spPr>
            <a:xfrm>
              <a:off x="4446676" y="3014023"/>
              <a:ext cx="5454209" cy="774485"/>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D880719A-0412-ADAD-8538-88F633FFA1D0}"/>
                </a:ext>
              </a:extLst>
            </p:cNvPr>
            <p:cNvCxnSpPr>
              <a:cxnSpLocks/>
              <a:stCxn id="24" idx="0"/>
            </p:cNvCxnSpPr>
            <p:nvPr/>
          </p:nvCxnSpPr>
          <p:spPr>
            <a:xfrm flipV="1">
              <a:off x="6051298" y="3358579"/>
              <a:ext cx="192094" cy="1156832"/>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A3FC58D3-D2CB-3571-551B-DE5508DA6F79}"/>
                </a:ext>
              </a:extLst>
            </p:cNvPr>
            <p:cNvCxnSpPr>
              <a:cxnSpLocks/>
              <a:stCxn id="25" idx="0"/>
            </p:cNvCxnSpPr>
            <p:nvPr/>
          </p:nvCxnSpPr>
          <p:spPr>
            <a:xfrm flipH="1" flipV="1">
              <a:off x="7306163" y="2177329"/>
              <a:ext cx="935040" cy="2338081"/>
            </a:xfrm>
            <a:prstGeom prst="straightConnector1">
              <a:avLst/>
            </a:prstGeom>
            <a:ln>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0" name="Right Brace 29">
              <a:extLst>
                <a:ext uri="{FF2B5EF4-FFF2-40B4-BE49-F238E27FC236}">
                  <a16:creationId xmlns:a16="http://schemas.microsoft.com/office/drawing/2014/main" id="{025D15E5-93D6-4D4A-0202-2AA458F83595}"/>
                </a:ext>
              </a:extLst>
            </p:cNvPr>
            <p:cNvSpPr/>
            <p:nvPr/>
          </p:nvSpPr>
          <p:spPr>
            <a:xfrm rot="5400000">
              <a:off x="7033285" y="1812333"/>
              <a:ext cx="280310" cy="7953390"/>
            </a:xfrm>
            <a:prstGeom prst="rightBrace">
              <a:avLst>
                <a:gd name="adj1" fmla="val 41330"/>
                <a:gd name="adj2" fmla="val 50000"/>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200"/>
            </a:p>
          </p:txBody>
        </p:sp>
        <p:sp>
          <p:nvSpPr>
            <p:cNvPr id="31" name="TextBox 30">
              <a:extLst>
                <a:ext uri="{FF2B5EF4-FFF2-40B4-BE49-F238E27FC236}">
                  <a16:creationId xmlns:a16="http://schemas.microsoft.com/office/drawing/2014/main" id="{FEFC1DC5-8BEA-21FA-1286-41CBAA488207}"/>
                </a:ext>
              </a:extLst>
            </p:cNvPr>
            <p:cNvSpPr txBox="1"/>
            <p:nvPr/>
          </p:nvSpPr>
          <p:spPr>
            <a:xfrm>
              <a:off x="3197426" y="5991836"/>
              <a:ext cx="1744875" cy="475645"/>
            </a:xfrm>
            <a:prstGeom prst="rect">
              <a:avLst/>
            </a:prstGeom>
            <a:noFill/>
            <a:ln>
              <a:noFill/>
            </a:ln>
          </p:spPr>
          <p:txBody>
            <a:bodyPr wrap="none" rtlCol="0">
              <a:spAutoFit/>
            </a:bodyPr>
            <a:lstStyle/>
            <a:p>
              <a:r>
                <a:rPr lang="en-US" altLang="zh-CN" sz="1200" dirty="0"/>
                <a:t>Fast</a:t>
              </a:r>
              <a:r>
                <a:rPr lang="en-US" sz="1200" dirty="0"/>
                <a:t> Processing</a:t>
              </a:r>
            </a:p>
          </p:txBody>
        </p:sp>
        <p:sp>
          <p:nvSpPr>
            <p:cNvPr id="32" name="TextBox 31">
              <a:extLst>
                <a:ext uri="{FF2B5EF4-FFF2-40B4-BE49-F238E27FC236}">
                  <a16:creationId xmlns:a16="http://schemas.microsoft.com/office/drawing/2014/main" id="{405646BE-FD90-5B96-A496-6AFFEC1B014B}"/>
                </a:ext>
              </a:extLst>
            </p:cNvPr>
            <p:cNvSpPr txBox="1"/>
            <p:nvPr/>
          </p:nvSpPr>
          <p:spPr>
            <a:xfrm>
              <a:off x="9168734" y="5950596"/>
              <a:ext cx="1817036" cy="475645"/>
            </a:xfrm>
            <a:prstGeom prst="rect">
              <a:avLst/>
            </a:prstGeom>
            <a:noFill/>
            <a:ln>
              <a:noFill/>
            </a:ln>
          </p:spPr>
          <p:txBody>
            <a:bodyPr wrap="none" rtlCol="0">
              <a:spAutoFit/>
            </a:bodyPr>
            <a:lstStyle/>
            <a:p>
              <a:r>
                <a:rPr lang="en-US" altLang="zh-CN" sz="1200" dirty="0"/>
                <a:t>Slow</a:t>
              </a:r>
              <a:r>
                <a:rPr lang="en-US" sz="1200" dirty="0"/>
                <a:t> Processing</a:t>
              </a:r>
            </a:p>
          </p:txBody>
        </p:sp>
      </p:grpSp>
      <p:sp>
        <p:nvSpPr>
          <p:cNvPr id="33" name="TextBox 32">
            <a:extLst>
              <a:ext uri="{FF2B5EF4-FFF2-40B4-BE49-F238E27FC236}">
                <a16:creationId xmlns:a16="http://schemas.microsoft.com/office/drawing/2014/main" id="{5132ADA7-FD79-F822-BB90-F64FB7294AC3}"/>
              </a:ext>
            </a:extLst>
          </p:cNvPr>
          <p:cNvSpPr txBox="1"/>
          <p:nvPr/>
        </p:nvSpPr>
        <p:spPr>
          <a:xfrm>
            <a:off x="6454417" y="2034461"/>
            <a:ext cx="2689583" cy="1351588"/>
          </a:xfrm>
          <a:prstGeom prst="rect">
            <a:avLst/>
          </a:prstGeom>
          <a:noFill/>
        </p:spPr>
        <p:txBody>
          <a:bodyPr wrap="square" rtlCol="0">
            <a:spAutoFit/>
          </a:bodyPr>
          <a:lstStyle/>
          <a:p>
            <a:pPr>
              <a:lnSpc>
                <a:spcPct val="150000"/>
              </a:lnSpc>
            </a:pPr>
            <a:r>
              <a:rPr lang="en-US" altLang="zh-CN" sz="1400" dirty="0">
                <a:latin typeface="+mj-lt"/>
              </a:rPr>
              <a:t>Based</a:t>
            </a:r>
            <a:r>
              <a:rPr lang="zh-CN" altLang="en-US" sz="1400" dirty="0">
                <a:latin typeface="+mj-lt"/>
              </a:rPr>
              <a:t> </a:t>
            </a:r>
            <a:r>
              <a:rPr lang="en-US" altLang="zh-CN" sz="1400" dirty="0">
                <a:latin typeface="+mj-lt"/>
              </a:rPr>
              <a:t>on</a:t>
            </a:r>
            <a:r>
              <a:rPr lang="zh-CN" altLang="en-US" sz="1400" dirty="0">
                <a:latin typeface="+mj-lt"/>
              </a:rPr>
              <a:t> </a:t>
            </a:r>
            <a:r>
              <a:rPr lang="en-US" altLang="zh-CN" sz="1400" dirty="0">
                <a:latin typeface="+mj-lt"/>
              </a:rPr>
              <a:t>Kahneman</a:t>
            </a:r>
            <a:r>
              <a:rPr lang="zh-CN" altLang="en-US" sz="1400" dirty="0">
                <a:latin typeface="+mj-lt"/>
              </a:rPr>
              <a:t> </a:t>
            </a:r>
            <a:r>
              <a:rPr lang="en-US" altLang="zh-CN" sz="1400" dirty="0">
                <a:latin typeface="+mj-lt"/>
              </a:rPr>
              <a:t>(2011)</a:t>
            </a:r>
            <a:endParaRPr lang="en-US" sz="1400" dirty="0">
              <a:latin typeface="+mj-lt"/>
            </a:endParaRPr>
          </a:p>
          <a:p>
            <a:pPr>
              <a:lnSpc>
                <a:spcPct val="150000"/>
              </a:lnSpc>
            </a:pPr>
            <a:r>
              <a:rPr lang="en-US" sz="1400" dirty="0">
                <a:latin typeface="+mj-lt"/>
              </a:rPr>
              <a:t>Answer</a:t>
            </a:r>
            <a:r>
              <a:rPr lang="en-US" altLang="zh-CN" sz="1400" dirty="0">
                <a:latin typeface="+mj-lt"/>
              </a:rPr>
              <a:t>er</a:t>
            </a:r>
            <a:r>
              <a:rPr lang="en-US" sz="1400" dirty="0">
                <a:latin typeface="+mj-lt"/>
              </a:rPr>
              <a:t>s make two decisions </a:t>
            </a:r>
          </a:p>
          <a:p>
            <a:pPr>
              <a:lnSpc>
                <a:spcPct val="150000"/>
              </a:lnSpc>
            </a:pPr>
            <a:r>
              <a:rPr lang="en-US" sz="1400" dirty="0">
                <a:latin typeface="+mj-lt"/>
              </a:rPr>
              <a:t>1) </a:t>
            </a:r>
            <a:r>
              <a:rPr lang="en-US" altLang="zh-CN" sz="1400" dirty="0">
                <a:latin typeface="+mj-lt"/>
              </a:rPr>
              <a:t>Fast:</a:t>
            </a:r>
            <a:r>
              <a:rPr lang="zh-CN" altLang="en-US" sz="1400" dirty="0">
                <a:latin typeface="+mj-lt"/>
              </a:rPr>
              <a:t> </a:t>
            </a:r>
            <a:r>
              <a:rPr lang="en-US" sz="1400" dirty="0">
                <a:latin typeface="+mj-lt"/>
              </a:rPr>
              <a:t>whether to participate</a:t>
            </a:r>
          </a:p>
          <a:p>
            <a:pPr>
              <a:lnSpc>
                <a:spcPct val="150000"/>
              </a:lnSpc>
            </a:pPr>
            <a:r>
              <a:rPr lang="en-US" sz="1400" dirty="0">
                <a:latin typeface="+mj-lt"/>
              </a:rPr>
              <a:t>2) </a:t>
            </a:r>
            <a:r>
              <a:rPr lang="en-US" altLang="zh-CN" sz="1400" dirty="0">
                <a:latin typeface="+mj-lt"/>
              </a:rPr>
              <a:t>Slow:</a:t>
            </a:r>
            <a:r>
              <a:rPr lang="zh-CN" altLang="en-US" sz="1400" dirty="0">
                <a:latin typeface="+mj-lt"/>
              </a:rPr>
              <a:t> </a:t>
            </a:r>
            <a:r>
              <a:rPr lang="en-US" sz="1400" dirty="0">
                <a:latin typeface="+mj-lt"/>
              </a:rPr>
              <a:t>how to contribute</a:t>
            </a:r>
          </a:p>
        </p:txBody>
      </p:sp>
      <p:sp>
        <p:nvSpPr>
          <p:cNvPr id="34" name="TextBox 33">
            <a:extLst>
              <a:ext uri="{FF2B5EF4-FFF2-40B4-BE49-F238E27FC236}">
                <a16:creationId xmlns:a16="http://schemas.microsoft.com/office/drawing/2014/main" id="{7F4F033B-01C7-34EC-BA03-BAEC4E9DA379}"/>
              </a:ext>
            </a:extLst>
          </p:cNvPr>
          <p:cNvSpPr txBox="1"/>
          <p:nvPr/>
        </p:nvSpPr>
        <p:spPr>
          <a:xfrm>
            <a:off x="0" y="4913581"/>
            <a:ext cx="6013246" cy="261610"/>
          </a:xfrm>
          <a:prstGeom prst="rect">
            <a:avLst/>
          </a:prstGeom>
          <a:noFill/>
        </p:spPr>
        <p:txBody>
          <a:bodyPr wrap="square">
            <a:spAutoFit/>
          </a:bodyPr>
          <a:lstStyle/>
          <a:p>
            <a:r>
              <a:rPr lang="en-US" sz="1100" b="0" i="0" dirty="0">
                <a:solidFill>
                  <a:srgbClr val="222222"/>
                </a:solidFill>
                <a:effectLst/>
                <a:latin typeface="Arial" panose="020B0604020202020204" pitchFamily="34" charset="0"/>
              </a:rPr>
              <a:t>Kahneman, D. (2011). Thinking, fast and slow. </a:t>
            </a:r>
            <a:r>
              <a:rPr lang="en-US" sz="1100" b="0" i="1" dirty="0">
                <a:solidFill>
                  <a:srgbClr val="222222"/>
                </a:solidFill>
                <a:effectLst/>
                <a:latin typeface="Arial" panose="020B0604020202020204" pitchFamily="34" charset="0"/>
              </a:rPr>
              <a:t>Farrar, Straus and Giroux</a:t>
            </a:r>
            <a:r>
              <a:rPr lang="en-US" sz="1100" b="0" i="0" dirty="0">
                <a:solidFill>
                  <a:srgbClr val="222222"/>
                </a:solidFill>
                <a:effectLst/>
                <a:latin typeface="Arial" panose="020B0604020202020204" pitchFamily="34" charset="0"/>
              </a:rPr>
              <a:t>.</a:t>
            </a:r>
            <a:endParaRPr lang="en-US" sz="1100" dirty="0"/>
          </a:p>
        </p:txBody>
      </p:sp>
      <p:sp>
        <p:nvSpPr>
          <p:cNvPr id="5" name="Slide Number Placeholder 4">
            <a:extLst>
              <a:ext uri="{FF2B5EF4-FFF2-40B4-BE49-F238E27FC236}">
                <a16:creationId xmlns:a16="http://schemas.microsoft.com/office/drawing/2014/main" id="{2ECE0F62-83E2-536C-96FA-E586B6AF7AC4}"/>
              </a:ext>
            </a:extLst>
          </p:cNvPr>
          <p:cNvSpPr>
            <a:spLocks noGrp="1"/>
          </p:cNvSpPr>
          <p:nvPr>
            <p:ph type="sldNum" sz="quarter" idx="12"/>
          </p:nvPr>
        </p:nvSpPr>
        <p:spPr/>
        <p:txBody>
          <a:bodyPr/>
          <a:lstStyle/>
          <a:p>
            <a:fld id="{80E9C1D4-69BA-4B09-8A24-1CCDDD1AB85B}" type="slidenum">
              <a:rPr lang="zh-CN" altLang="en-US" smtClean="0"/>
              <a:t>10</a:t>
            </a:fld>
            <a:endParaRPr lang="zh-CN" altLang="en-US"/>
          </a:p>
        </p:txBody>
      </p:sp>
      <p:sp>
        <p:nvSpPr>
          <p:cNvPr id="6" name="TextBox 5">
            <a:extLst>
              <a:ext uri="{FF2B5EF4-FFF2-40B4-BE49-F238E27FC236}">
                <a16:creationId xmlns:a16="http://schemas.microsoft.com/office/drawing/2014/main" id="{D58083A7-AE38-5303-7D44-3EA92A452A90}"/>
              </a:ext>
            </a:extLst>
          </p:cNvPr>
          <p:cNvSpPr txBox="1"/>
          <p:nvPr/>
        </p:nvSpPr>
        <p:spPr>
          <a:xfrm>
            <a:off x="2058185" y="1637116"/>
            <a:ext cx="300082" cy="369332"/>
          </a:xfrm>
          <a:prstGeom prst="rect">
            <a:avLst/>
          </a:prstGeom>
          <a:noFill/>
        </p:spPr>
        <p:txBody>
          <a:bodyPr wrap="none" rtlCol="0">
            <a:spAutoFit/>
          </a:bodyPr>
          <a:lstStyle/>
          <a:p>
            <a:r>
              <a:rPr lang="en-US" altLang="zh-CN" dirty="0"/>
              <a:t>+</a:t>
            </a:r>
            <a:endParaRPr lang="en-US" dirty="0"/>
          </a:p>
        </p:txBody>
      </p:sp>
      <p:sp>
        <p:nvSpPr>
          <p:cNvPr id="7" name="TextBox 6">
            <a:extLst>
              <a:ext uri="{FF2B5EF4-FFF2-40B4-BE49-F238E27FC236}">
                <a16:creationId xmlns:a16="http://schemas.microsoft.com/office/drawing/2014/main" id="{B3393DBB-8417-F7C9-BFC2-8D28946E5128}"/>
              </a:ext>
            </a:extLst>
          </p:cNvPr>
          <p:cNvSpPr txBox="1"/>
          <p:nvPr/>
        </p:nvSpPr>
        <p:spPr>
          <a:xfrm>
            <a:off x="2813975" y="2173667"/>
            <a:ext cx="255198" cy="369332"/>
          </a:xfrm>
          <a:prstGeom prst="rect">
            <a:avLst/>
          </a:prstGeom>
          <a:noFill/>
        </p:spPr>
        <p:txBody>
          <a:bodyPr wrap="none" rtlCol="0">
            <a:spAutoFit/>
          </a:bodyPr>
          <a:lstStyle/>
          <a:p>
            <a:r>
              <a:rPr lang="en-US" altLang="zh-CN" dirty="0"/>
              <a:t>-</a:t>
            </a:r>
            <a:endParaRPr lang="en-US" dirty="0"/>
          </a:p>
        </p:txBody>
      </p:sp>
      <p:sp>
        <p:nvSpPr>
          <p:cNvPr id="8" name="TextBox 7">
            <a:extLst>
              <a:ext uri="{FF2B5EF4-FFF2-40B4-BE49-F238E27FC236}">
                <a16:creationId xmlns:a16="http://schemas.microsoft.com/office/drawing/2014/main" id="{D9310205-C398-34ED-537C-45D39D6BB3ED}"/>
              </a:ext>
            </a:extLst>
          </p:cNvPr>
          <p:cNvSpPr txBox="1"/>
          <p:nvPr/>
        </p:nvSpPr>
        <p:spPr>
          <a:xfrm>
            <a:off x="3938202" y="2712148"/>
            <a:ext cx="255198" cy="369332"/>
          </a:xfrm>
          <a:prstGeom prst="rect">
            <a:avLst/>
          </a:prstGeom>
          <a:noFill/>
        </p:spPr>
        <p:txBody>
          <a:bodyPr wrap="none" rtlCol="0">
            <a:spAutoFit/>
          </a:bodyPr>
          <a:lstStyle/>
          <a:p>
            <a:r>
              <a:rPr lang="en-US" altLang="zh-CN" dirty="0"/>
              <a:t>-</a:t>
            </a:r>
            <a:endParaRPr lang="en-US" dirty="0"/>
          </a:p>
        </p:txBody>
      </p:sp>
      <p:sp>
        <p:nvSpPr>
          <p:cNvPr id="9" name="TextBox 8">
            <a:extLst>
              <a:ext uri="{FF2B5EF4-FFF2-40B4-BE49-F238E27FC236}">
                <a16:creationId xmlns:a16="http://schemas.microsoft.com/office/drawing/2014/main" id="{A71783D1-EFC4-9EC7-8E47-00D80369CF5F}"/>
              </a:ext>
            </a:extLst>
          </p:cNvPr>
          <p:cNvSpPr txBox="1"/>
          <p:nvPr/>
        </p:nvSpPr>
        <p:spPr>
          <a:xfrm>
            <a:off x="1952168" y="2633408"/>
            <a:ext cx="255198" cy="369332"/>
          </a:xfrm>
          <a:prstGeom prst="rect">
            <a:avLst/>
          </a:prstGeom>
          <a:noFill/>
        </p:spPr>
        <p:txBody>
          <a:bodyPr wrap="none" rtlCol="0">
            <a:spAutoFit/>
          </a:bodyPr>
          <a:lstStyle/>
          <a:p>
            <a:r>
              <a:rPr lang="en-US" altLang="zh-CN" dirty="0"/>
              <a:t>-</a:t>
            </a:r>
            <a:endParaRPr lang="en-US" dirty="0"/>
          </a:p>
        </p:txBody>
      </p:sp>
    </p:spTree>
    <p:extLst>
      <p:ext uri="{BB962C8B-B14F-4D97-AF65-F5344CB8AC3E}">
        <p14:creationId xmlns:p14="http://schemas.microsoft.com/office/powerpoint/2010/main" val="4124422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A152-B720-4919-9709-02FB6A3BE02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9169F5-E427-B82E-A3D9-9CBF03DF0B8E}"/>
              </a:ext>
            </a:extLst>
          </p:cNvPr>
          <p:cNvSpPr>
            <a:spLocks noGrp="1"/>
          </p:cNvSpPr>
          <p:nvPr>
            <p:ph type="title"/>
          </p:nvPr>
        </p:nvSpPr>
        <p:spPr/>
        <p:txBody>
          <a:bodyPr>
            <a:normAutofit fontScale="90000"/>
          </a:bodyPr>
          <a:lstStyle/>
          <a:p>
            <a:r>
              <a:rPr lang="en-US" dirty="0"/>
              <a:t>Theor</a:t>
            </a:r>
            <a:r>
              <a:rPr lang="en-US" altLang="zh-CN" dirty="0"/>
              <a:t>etical</a:t>
            </a:r>
            <a:r>
              <a:rPr lang="zh-CN" altLang="en-US" dirty="0"/>
              <a:t> </a:t>
            </a:r>
            <a:r>
              <a:rPr lang="en-US" altLang="zh-CN" dirty="0"/>
              <a:t>Development</a:t>
            </a:r>
            <a:r>
              <a:rPr lang="en-US" dirty="0"/>
              <a:t>: </a:t>
            </a:r>
            <a:br>
              <a:rPr lang="en-US" dirty="0"/>
            </a:br>
            <a:r>
              <a:rPr lang="en-US" altLang="en-US" dirty="0"/>
              <a:t>Competition with a "Weaker" Competitor</a:t>
            </a:r>
          </a:p>
        </p:txBody>
      </p:sp>
      <p:sp>
        <p:nvSpPr>
          <p:cNvPr id="6" name="Content Placeholder 2">
            <a:extLst>
              <a:ext uri="{FF2B5EF4-FFF2-40B4-BE49-F238E27FC236}">
                <a16:creationId xmlns:a16="http://schemas.microsoft.com/office/drawing/2014/main" id="{BA8FF815-E6EE-D03F-BE5E-5635CE322EEB}"/>
              </a:ext>
            </a:extLst>
          </p:cNvPr>
          <p:cNvSpPr txBox="1">
            <a:spLocks/>
          </p:cNvSpPr>
          <p:nvPr/>
        </p:nvSpPr>
        <p:spPr>
          <a:xfrm>
            <a:off x="628650" y="1190847"/>
            <a:ext cx="7886700" cy="3441876"/>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lvl="1">
              <a:spcBef>
                <a:spcPts val="750"/>
              </a:spcBef>
            </a:pPr>
            <a:r>
              <a:rPr lang="en-US" altLang="en-US" sz="2100" dirty="0">
                <a:latin typeface="+mj-lt"/>
              </a:rPr>
              <a:t>Humans </a:t>
            </a:r>
            <a:r>
              <a:rPr lang="en-US" altLang="zh-CN" sz="2100" dirty="0">
                <a:latin typeface="+mj-lt"/>
              </a:rPr>
              <a:t>first</a:t>
            </a:r>
            <a:r>
              <a:rPr lang="zh-CN" altLang="en-US" sz="2100" dirty="0">
                <a:latin typeface="+mj-lt"/>
              </a:rPr>
              <a:t> </a:t>
            </a:r>
            <a:r>
              <a:rPr lang="en-US" altLang="en-US" sz="2100" dirty="0">
                <a:latin typeface="+mj-lt"/>
              </a:rPr>
              <a:t>view AI as a weak competitor</a:t>
            </a:r>
            <a:r>
              <a:rPr lang="zh-CN" altLang="en-US" sz="2100" dirty="0">
                <a:latin typeface="+mj-lt"/>
              </a:rPr>
              <a:t> </a:t>
            </a:r>
            <a:r>
              <a:rPr lang="en-US" altLang="zh-CN" sz="2100" dirty="0">
                <a:latin typeface="+mj-lt"/>
              </a:rPr>
              <a:t>(before</a:t>
            </a:r>
            <a:r>
              <a:rPr lang="zh-CN" altLang="en-US" sz="2100" dirty="0">
                <a:latin typeface="+mj-lt"/>
              </a:rPr>
              <a:t> </a:t>
            </a:r>
            <a:r>
              <a:rPr lang="en-US" altLang="zh-CN" sz="2100" dirty="0">
                <a:latin typeface="+mj-lt"/>
              </a:rPr>
              <a:t>seeing</a:t>
            </a:r>
            <a:r>
              <a:rPr lang="zh-CN" altLang="en-US" sz="2100" dirty="0">
                <a:latin typeface="+mj-lt"/>
              </a:rPr>
              <a:t> </a:t>
            </a:r>
            <a:r>
              <a:rPr lang="en-US" altLang="zh-CN" sz="2100" dirty="0">
                <a:latin typeface="+mj-lt"/>
              </a:rPr>
              <a:t>content)</a:t>
            </a:r>
            <a:r>
              <a:rPr lang="en-US" altLang="en-US" sz="2100" dirty="0">
                <a:latin typeface="+mj-lt"/>
              </a:rPr>
              <a:t>, </a:t>
            </a:r>
          </a:p>
          <a:p>
            <a:pPr marL="171450" lvl="1">
              <a:spcBef>
                <a:spcPts val="750"/>
              </a:spcBef>
            </a:pPr>
            <a:r>
              <a:rPr lang="en-US" altLang="zh-CN" sz="2100" dirty="0">
                <a:latin typeface="+mj-lt"/>
              </a:rPr>
              <a:t>Then,</a:t>
            </a:r>
            <a:r>
              <a:rPr lang="en-US" altLang="en-US" sz="2100" dirty="0">
                <a:latin typeface="+mj-lt"/>
              </a:rPr>
              <a:t> AI </a:t>
            </a:r>
            <a:r>
              <a:rPr lang="en-US" altLang="zh-CN" sz="2100" dirty="0">
                <a:latin typeface="+mj-lt"/>
              </a:rPr>
              <a:t>content</a:t>
            </a:r>
            <a:r>
              <a:rPr lang="en-US" altLang="en-US" sz="2100" dirty="0">
                <a:latin typeface="+mj-lt"/>
              </a:rPr>
              <a:t> </a:t>
            </a:r>
            <a:r>
              <a:rPr lang="en-US" altLang="zh-CN" sz="2100" dirty="0">
                <a:latin typeface="+mj-lt"/>
              </a:rPr>
              <a:t>generates</a:t>
            </a:r>
            <a:r>
              <a:rPr lang="en-US" altLang="en-US" sz="2100" dirty="0">
                <a:latin typeface="+mj-lt"/>
              </a:rPr>
              <a:t> </a:t>
            </a:r>
            <a:r>
              <a:rPr lang="en-US" altLang="zh-CN" sz="2100" dirty="0">
                <a:latin typeface="+mj-lt"/>
              </a:rPr>
              <a:t>real</a:t>
            </a:r>
            <a:r>
              <a:rPr lang="zh-CN" altLang="en-US" sz="2100" dirty="0">
                <a:latin typeface="+mj-lt"/>
              </a:rPr>
              <a:t> </a:t>
            </a:r>
            <a:r>
              <a:rPr lang="en-US" altLang="en-US" sz="2100" dirty="0">
                <a:latin typeface="+mj-lt"/>
              </a:rPr>
              <a:t>competitive dynamics</a:t>
            </a:r>
            <a:endParaRPr lang="en-US" altLang="en-US" dirty="0">
              <a:latin typeface="+mj-lt"/>
            </a:endParaRPr>
          </a:p>
        </p:txBody>
      </p:sp>
      <p:graphicFrame>
        <p:nvGraphicFramePr>
          <p:cNvPr id="9" name="Table 8">
            <a:extLst>
              <a:ext uri="{FF2B5EF4-FFF2-40B4-BE49-F238E27FC236}">
                <a16:creationId xmlns:a16="http://schemas.microsoft.com/office/drawing/2014/main" id="{43204B9A-264D-6EB6-D096-DF7CFC744356}"/>
              </a:ext>
            </a:extLst>
          </p:cNvPr>
          <p:cNvGraphicFramePr>
            <a:graphicFrameLocks noGrp="1"/>
          </p:cNvGraphicFramePr>
          <p:nvPr>
            <p:extLst>
              <p:ext uri="{D42A27DB-BD31-4B8C-83A1-F6EECF244321}">
                <p14:modId xmlns:p14="http://schemas.microsoft.com/office/powerpoint/2010/main" val="1497133511"/>
              </p:ext>
            </p:extLst>
          </p:nvPr>
        </p:nvGraphicFramePr>
        <p:xfrm>
          <a:off x="628650" y="2058401"/>
          <a:ext cx="7869238" cy="2574321"/>
        </p:xfrm>
        <a:graphic>
          <a:graphicData uri="http://schemas.openxmlformats.org/drawingml/2006/table">
            <a:tbl>
              <a:tblPr>
                <a:tableStyleId>{2D5ABB26-0587-4C30-8999-92F81FD0307C}</a:tableStyleId>
              </a:tblPr>
              <a:tblGrid>
                <a:gridCol w="1670431">
                  <a:extLst>
                    <a:ext uri="{9D8B030D-6E8A-4147-A177-3AD203B41FA5}">
                      <a16:colId xmlns:a16="http://schemas.microsoft.com/office/drawing/2014/main" val="467291939"/>
                    </a:ext>
                  </a:extLst>
                </a:gridCol>
                <a:gridCol w="2791968">
                  <a:extLst>
                    <a:ext uri="{9D8B030D-6E8A-4147-A177-3AD203B41FA5}">
                      <a16:colId xmlns:a16="http://schemas.microsoft.com/office/drawing/2014/main" val="3768826293"/>
                    </a:ext>
                  </a:extLst>
                </a:gridCol>
                <a:gridCol w="3406839">
                  <a:extLst>
                    <a:ext uri="{9D8B030D-6E8A-4147-A177-3AD203B41FA5}">
                      <a16:colId xmlns:a16="http://schemas.microsoft.com/office/drawing/2014/main" val="2119890597"/>
                    </a:ext>
                  </a:extLst>
                </a:gridCol>
              </a:tblGrid>
              <a:tr h="409551">
                <a:tc>
                  <a:txBody>
                    <a:bodyPr/>
                    <a:lstStyle/>
                    <a:p>
                      <a:pPr algn="l">
                        <a:buNone/>
                      </a:pPr>
                      <a:r>
                        <a:rPr lang="en-US" altLang="zh-CN" sz="1600" dirty="0">
                          <a:latin typeface="+mj-lt"/>
                        </a:rPr>
                        <a:t>DV</a:t>
                      </a:r>
                      <a:endParaRPr lang="en-US" sz="1600" dirty="0">
                        <a:latin typeface="+mj-lt"/>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Contribution (Fast)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Answer Quality (Slow)</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2209051"/>
                  </a:ext>
                </a:extLst>
              </a:tr>
              <a:tr h="721590">
                <a:tc>
                  <a:txBody>
                    <a:bodyPr/>
                    <a:lstStyle/>
                    <a:p>
                      <a:pPr>
                        <a:buNone/>
                      </a:pPr>
                      <a:r>
                        <a:rPr lang="en-US" sz="1600" b="0" dirty="0">
                          <a:latin typeface="+mj-lt"/>
                        </a:rPr>
                        <a:t>AI </a:t>
                      </a:r>
                      <a:r>
                        <a:rPr lang="en-US" altLang="zh-CN" sz="1600" b="0" dirty="0">
                          <a:latin typeface="+mj-lt"/>
                        </a:rPr>
                        <a:t>Label</a:t>
                      </a:r>
                      <a:endParaRPr lang="en-US" sz="1600" b="0" dirty="0">
                        <a:latin typeface="+mj-lt"/>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H1: </a:t>
                      </a:r>
                      <a:r>
                        <a:rPr lang="en-US" sz="1600" b="1" dirty="0">
                          <a:latin typeface="+mj-lt"/>
                        </a:rPr>
                        <a:t>↑</a:t>
                      </a:r>
                      <a:r>
                        <a:rPr lang="en-US" sz="1600" dirty="0">
                          <a:latin typeface="+mj-lt"/>
                        </a:rPr>
                        <a:t> </a:t>
                      </a:r>
                      <a:br>
                        <a:rPr lang="en-US" sz="1600" dirty="0">
                          <a:latin typeface="+mj-lt"/>
                        </a:rPr>
                      </a:br>
                      <a:r>
                        <a:rPr lang="en-US" sz="1600" dirty="0">
                          <a:latin typeface="+mj-lt"/>
                        </a:rPr>
                        <a:t>(</a:t>
                      </a:r>
                      <a:r>
                        <a:rPr lang="en-US" altLang="zh-CN" sz="1600" dirty="0">
                          <a:latin typeface="+mj-lt"/>
                        </a:rPr>
                        <a:t>Competitive</a:t>
                      </a:r>
                      <a:r>
                        <a:rPr lang="zh-CN" altLang="en-US" sz="1600" dirty="0">
                          <a:latin typeface="+mj-lt"/>
                        </a:rPr>
                        <a:t> </a:t>
                      </a:r>
                      <a:r>
                        <a:rPr lang="en-US" altLang="zh-CN" sz="1600" dirty="0">
                          <a:latin typeface="+mj-lt"/>
                        </a:rPr>
                        <a:t>Arousal</a:t>
                      </a:r>
                      <a:r>
                        <a:rPr lang="zh-CN" altLang="en-US" sz="1600" dirty="0">
                          <a:latin typeface="+mj-lt"/>
                        </a:rPr>
                        <a:t> </a:t>
                      </a:r>
                      <a:r>
                        <a:rPr lang="en-US" altLang="zh-CN" sz="1600" dirty="0">
                          <a:latin typeface="+mj-lt"/>
                        </a:rPr>
                        <a:t>Theory</a:t>
                      </a: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latin typeface="+mj-lt"/>
                        </a:rPr>
                        <a:t>H3: </a:t>
                      </a:r>
                      <a:r>
                        <a:rPr lang="en-US" sz="1600" b="1" dirty="0">
                          <a:latin typeface="+mj-lt"/>
                        </a:rPr>
                        <a:t>↓</a:t>
                      </a:r>
                      <a:r>
                        <a:rPr lang="en-US" sz="1600" dirty="0">
                          <a:latin typeface="+mj-lt"/>
                        </a:rPr>
                        <a:t> </a:t>
                      </a:r>
                      <a:br>
                        <a:rPr lang="en-US" sz="1600" dirty="0">
                          <a:latin typeface="+mj-lt"/>
                        </a:rPr>
                      </a:br>
                      <a:r>
                        <a:rPr lang="en-US" sz="1600" dirty="0">
                          <a:latin typeface="+mj-lt"/>
                        </a:rPr>
                        <a:t>(</a:t>
                      </a:r>
                      <a:r>
                        <a:rPr lang="en-US" sz="1600" kern="1200" dirty="0">
                          <a:solidFill>
                            <a:schemeClr val="tx1"/>
                          </a:solidFill>
                          <a:latin typeface="+mj-lt"/>
                          <a:ea typeface="+mn-ea"/>
                          <a:cs typeface="+mn-cs"/>
                        </a:rPr>
                        <a:t>Downward Social Comparison</a:t>
                      </a:r>
                      <a:r>
                        <a:rPr lang="zh-CN" altLang="en-US" sz="1600" kern="1200" dirty="0">
                          <a:solidFill>
                            <a:schemeClr val="tx1"/>
                          </a:solidFill>
                          <a:latin typeface="+mj-lt"/>
                          <a:ea typeface="+mn-ea"/>
                          <a:cs typeface="+mn-cs"/>
                        </a:rPr>
                        <a:t> </a:t>
                      </a:r>
                      <a:r>
                        <a:rPr lang="en-US" altLang="zh-CN" sz="1600" kern="1200" dirty="0">
                          <a:solidFill>
                            <a:schemeClr val="tx1"/>
                          </a:solidFill>
                          <a:latin typeface="+mj-lt"/>
                          <a:ea typeface="+mn-ea"/>
                          <a:cs typeface="+mn-cs"/>
                        </a:rPr>
                        <a:t>Theory</a:t>
                      </a: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6073917"/>
                  </a:ext>
                </a:extLst>
              </a:tr>
              <a:tr h="721590">
                <a:tc>
                  <a:txBody>
                    <a:bodyPr/>
                    <a:lstStyle/>
                    <a:p>
                      <a:pPr>
                        <a:buNone/>
                      </a:pPr>
                      <a:r>
                        <a:rPr lang="en-US" altLang="zh-CN" sz="1600" b="0" dirty="0">
                          <a:latin typeface="+mj-lt"/>
                        </a:rPr>
                        <a:t>AI</a:t>
                      </a:r>
                      <a:r>
                        <a:rPr lang="zh-CN" altLang="en-US" sz="1600" b="0" dirty="0">
                          <a:latin typeface="+mj-lt"/>
                        </a:rPr>
                        <a:t> </a:t>
                      </a:r>
                      <a:r>
                        <a:rPr lang="en-US" altLang="zh-CN" sz="1600" b="0" dirty="0">
                          <a:latin typeface="+mj-lt"/>
                        </a:rPr>
                        <a:t>Answer</a:t>
                      </a:r>
                      <a:r>
                        <a:rPr lang="zh-CN" altLang="en-US" sz="1600" b="0" dirty="0">
                          <a:latin typeface="+mj-lt"/>
                        </a:rPr>
                        <a:t> </a:t>
                      </a:r>
                      <a:r>
                        <a:rPr lang="en-US" sz="1600" b="0" dirty="0">
                          <a:latin typeface="+mj-lt"/>
                        </a:rPr>
                        <a:t>Length</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latin typeface="+mj-lt"/>
                        </a:rPr>
                        <a:t>H2: </a:t>
                      </a:r>
                      <a:r>
                        <a:rPr lang="en-US" sz="1600" b="1" dirty="0">
                          <a:latin typeface="+mj-lt"/>
                        </a:rPr>
                        <a:t>attenuates H1</a:t>
                      </a:r>
                      <a:r>
                        <a:rPr lang="en-US" sz="1600" dirty="0">
                          <a:latin typeface="+mj-lt"/>
                        </a:rPr>
                        <a:t> </a:t>
                      </a:r>
                      <a:br>
                        <a:rPr lang="en-US" sz="1600" dirty="0">
                          <a:latin typeface="+mj-lt"/>
                        </a:rPr>
                      </a:br>
                      <a:r>
                        <a:rPr lang="en-US" sz="1600" dirty="0">
                          <a:latin typeface="+mj-lt"/>
                        </a:rPr>
                        <a:t>(</a:t>
                      </a:r>
                      <a:r>
                        <a:rPr lang="en-US" sz="1600" kern="1200" dirty="0">
                          <a:solidFill>
                            <a:schemeClr val="tx1"/>
                          </a:solidFill>
                          <a:latin typeface="+mj-lt"/>
                          <a:ea typeface="+mn-ea"/>
                          <a:cs typeface="+mn-cs"/>
                        </a:rPr>
                        <a:t>Competitive Dynamics Theory)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703508"/>
                  </a:ext>
                </a:extLst>
              </a:tr>
              <a:tr h="721590">
                <a:tc>
                  <a:txBody>
                    <a:bodyPr/>
                    <a:lstStyle/>
                    <a:p>
                      <a:pPr>
                        <a:buNone/>
                      </a:pPr>
                      <a:r>
                        <a:rPr lang="en-US" altLang="zh-CN" sz="1600" b="0" dirty="0">
                          <a:latin typeface="+mj-lt"/>
                        </a:rPr>
                        <a:t>AI</a:t>
                      </a:r>
                      <a:r>
                        <a:rPr lang="zh-CN" altLang="en-US" sz="1600" b="0" dirty="0">
                          <a:latin typeface="+mj-lt"/>
                        </a:rPr>
                        <a:t> </a:t>
                      </a:r>
                      <a:r>
                        <a:rPr lang="en-US" altLang="zh-CN" sz="1600" b="0" dirty="0">
                          <a:latin typeface="+mj-lt"/>
                        </a:rPr>
                        <a:t>Answer</a:t>
                      </a:r>
                      <a:r>
                        <a:rPr lang="zh-CN" altLang="en-US" sz="1600" b="0" dirty="0">
                          <a:latin typeface="+mj-lt"/>
                        </a:rPr>
                        <a:t> </a:t>
                      </a:r>
                      <a:r>
                        <a:rPr lang="en-US" sz="1600" b="0" dirty="0">
                          <a:latin typeface="+mj-lt"/>
                        </a:rPr>
                        <a:t>Quality</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600" dirty="0">
                          <a:latin typeface="+mj-lt"/>
                        </a:rPr>
                        <a:t>H4: </a:t>
                      </a:r>
                      <a:r>
                        <a:rPr lang="en-US" sz="1600" b="1" dirty="0">
                          <a:latin typeface="+mj-lt"/>
                        </a:rPr>
                        <a:t>reverses H3</a:t>
                      </a:r>
                      <a:r>
                        <a:rPr lang="en-US" sz="1600" dirty="0">
                          <a:latin typeface="+mj-lt"/>
                        </a:rPr>
                        <a:t> </a:t>
                      </a:r>
                      <a:br>
                        <a:rPr lang="en-US" sz="1600" dirty="0">
                          <a:latin typeface="+mj-lt"/>
                        </a:rPr>
                      </a:br>
                      <a:r>
                        <a:rPr lang="en-US" sz="1600" dirty="0">
                          <a:latin typeface="+mj-lt"/>
                        </a:rPr>
                        <a:t>(</a:t>
                      </a:r>
                      <a:r>
                        <a:rPr lang="en-US" altLang="zh-CN" sz="1600" kern="1200" dirty="0">
                          <a:solidFill>
                            <a:schemeClr val="tx1"/>
                          </a:solidFill>
                          <a:latin typeface="+mj-lt"/>
                          <a:ea typeface="+mn-ea"/>
                          <a:cs typeface="+mn-cs"/>
                        </a:rPr>
                        <a:t>Goal</a:t>
                      </a:r>
                      <a:r>
                        <a:rPr lang="zh-CN" altLang="en-US" sz="1600" kern="1200" dirty="0">
                          <a:solidFill>
                            <a:schemeClr val="tx1"/>
                          </a:solidFill>
                          <a:latin typeface="+mj-lt"/>
                          <a:ea typeface="+mn-ea"/>
                          <a:cs typeface="+mn-cs"/>
                        </a:rPr>
                        <a:t> </a:t>
                      </a:r>
                      <a:r>
                        <a:rPr lang="en-US" altLang="zh-CN" sz="1600" kern="1200" dirty="0">
                          <a:solidFill>
                            <a:schemeClr val="tx1"/>
                          </a:solidFill>
                          <a:latin typeface="+mj-lt"/>
                          <a:ea typeface="+mn-ea"/>
                          <a:cs typeface="+mn-cs"/>
                        </a:rPr>
                        <a:t>Setting</a:t>
                      </a:r>
                      <a:r>
                        <a:rPr lang="zh-CN" altLang="en-US" sz="1600" kern="1200" dirty="0">
                          <a:solidFill>
                            <a:schemeClr val="tx1"/>
                          </a:solidFill>
                          <a:latin typeface="+mj-lt"/>
                          <a:ea typeface="+mn-ea"/>
                          <a:cs typeface="+mn-cs"/>
                        </a:rPr>
                        <a:t> </a:t>
                      </a:r>
                      <a:r>
                        <a:rPr lang="en-US" altLang="zh-CN" sz="1600" kern="1200" dirty="0">
                          <a:solidFill>
                            <a:schemeClr val="tx1"/>
                          </a:solidFill>
                          <a:latin typeface="+mj-lt"/>
                          <a:ea typeface="+mn-ea"/>
                          <a:cs typeface="+mn-cs"/>
                        </a:rPr>
                        <a:t>Theory</a:t>
                      </a:r>
                      <a:r>
                        <a:rPr lang="en-US" sz="1600" dirty="0">
                          <a:latin typeface="+mj-lt"/>
                        </a:rPr>
                        <a:t>)</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683457"/>
                  </a:ext>
                </a:extLst>
              </a:tr>
            </a:tbl>
          </a:graphicData>
        </a:graphic>
      </p:graphicFrame>
      <p:sp>
        <p:nvSpPr>
          <p:cNvPr id="2" name="Slide Number Placeholder 1">
            <a:extLst>
              <a:ext uri="{FF2B5EF4-FFF2-40B4-BE49-F238E27FC236}">
                <a16:creationId xmlns:a16="http://schemas.microsoft.com/office/drawing/2014/main" id="{B61F5E24-985A-8EF2-B400-C196B4A298F8}"/>
              </a:ext>
            </a:extLst>
          </p:cNvPr>
          <p:cNvSpPr>
            <a:spLocks noGrp="1"/>
          </p:cNvSpPr>
          <p:nvPr>
            <p:ph type="sldNum" sz="quarter" idx="12"/>
          </p:nvPr>
        </p:nvSpPr>
        <p:spPr/>
        <p:txBody>
          <a:bodyPr/>
          <a:lstStyle/>
          <a:p>
            <a:fld id="{80E9C1D4-69BA-4B09-8A24-1CCDDD1AB85B}" type="slidenum">
              <a:rPr lang="zh-CN" altLang="en-US" smtClean="0"/>
              <a:t>11</a:t>
            </a:fld>
            <a:endParaRPr lang="zh-CN" altLang="en-US"/>
          </a:p>
        </p:txBody>
      </p:sp>
    </p:spTree>
    <p:extLst>
      <p:ext uri="{BB962C8B-B14F-4D97-AF65-F5344CB8AC3E}">
        <p14:creationId xmlns:p14="http://schemas.microsoft.com/office/powerpoint/2010/main" val="2843246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9167-48E4-1187-AB80-4A054A8559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FFF0AD8-00A9-F7B8-CCC3-475E4A69317D}"/>
              </a:ext>
            </a:extLst>
          </p:cNvPr>
          <p:cNvSpPr>
            <a:spLocks noGrp="1"/>
          </p:cNvSpPr>
          <p:nvPr>
            <p:ph type="title"/>
          </p:nvPr>
        </p:nvSpPr>
        <p:spPr/>
        <p:txBody>
          <a:bodyPr>
            <a:normAutofit/>
          </a:bodyPr>
          <a:lstStyle/>
          <a:p>
            <a:r>
              <a:rPr lang="en-US" altLang="zh-CN" dirty="0"/>
              <a:t>New</a:t>
            </a:r>
            <a:r>
              <a:rPr lang="zh-CN" altLang="en-US" dirty="0"/>
              <a:t> </a:t>
            </a:r>
            <a:r>
              <a:rPr lang="en-US" altLang="zh-CN" dirty="0"/>
              <a:t>results</a:t>
            </a:r>
          </a:p>
        </p:txBody>
      </p:sp>
      <p:sp>
        <p:nvSpPr>
          <p:cNvPr id="3" name="TextBox 2">
            <a:extLst>
              <a:ext uri="{FF2B5EF4-FFF2-40B4-BE49-F238E27FC236}">
                <a16:creationId xmlns:a16="http://schemas.microsoft.com/office/drawing/2014/main" id="{4534B309-7896-66B3-04A0-B04AC1143691}"/>
              </a:ext>
            </a:extLst>
          </p:cNvPr>
          <p:cNvSpPr txBox="1"/>
          <p:nvPr/>
        </p:nvSpPr>
        <p:spPr>
          <a:xfrm>
            <a:off x="770465" y="992375"/>
            <a:ext cx="3846267" cy="707886"/>
          </a:xfrm>
          <a:prstGeom prst="rect">
            <a:avLst/>
          </a:prstGeom>
          <a:noFill/>
        </p:spPr>
        <p:txBody>
          <a:bodyPr wrap="square">
            <a:spAutoFit/>
          </a:bodyPr>
          <a:lstStyle/>
          <a:p>
            <a:r>
              <a:rPr lang="en-US" altLang="zh-CN" sz="2000" dirty="0">
                <a:latin typeface="+mj-lt"/>
              </a:rPr>
              <a:t>Fast:</a:t>
            </a:r>
            <a:r>
              <a:rPr lang="zh-CN" altLang="en-US" sz="2000" dirty="0">
                <a:latin typeface="+mj-lt"/>
              </a:rPr>
              <a:t> </a:t>
            </a:r>
            <a:r>
              <a:rPr lang="en-US" altLang="zh-CN" sz="2000" dirty="0">
                <a:latin typeface="+mj-lt"/>
              </a:rPr>
              <a:t>AI</a:t>
            </a:r>
            <a:r>
              <a:rPr lang="zh-CN" altLang="en-US" sz="2000" dirty="0">
                <a:latin typeface="+mj-lt"/>
              </a:rPr>
              <a:t> </a:t>
            </a:r>
            <a:r>
              <a:rPr lang="en-US" altLang="zh-CN" sz="2000" dirty="0">
                <a:latin typeface="+mj-lt"/>
              </a:rPr>
              <a:t>deter</a:t>
            </a:r>
            <a:r>
              <a:rPr lang="zh-CN" altLang="en-US" sz="2000" dirty="0">
                <a:latin typeface="+mj-lt"/>
              </a:rPr>
              <a:t> </a:t>
            </a:r>
            <a:r>
              <a:rPr lang="en-US" altLang="zh-CN" sz="2000" dirty="0">
                <a:latin typeface="+mj-lt"/>
              </a:rPr>
              <a:t>human</a:t>
            </a:r>
            <a:r>
              <a:rPr lang="zh-CN" altLang="en-US" sz="2000" dirty="0">
                <a:latin typeface="+mj-lt"/>
              </a:rPr>
              <a:t> </a:t>
            </a:r>
            <a:r>
              <a:rPr lang="en-US" altLang="zh-CN" sz="2000" dirty="0">
                <a:latin typeface="+mj-lt"/>
              </a:rPr>
              <a:t>participation</a:t>
            </a:r>
            <a:r>
              <a:rPr lang="zh-CN" altLang="en-US" sz="2000" dirty="0">
                <a:latin typeface="+mj-lt"/>
              </a:rPr>
              <a:t> </a:t>
            </a:r>
            <a:br>
              <a:rPr lang="en-US" altLang="zh-CN" sz="2000" dirty="0">
                <a:latin typeface="+mj-lt"/>
              </a:rPr>
            </a:br>
            <a:r>
              <a:rPr lang="en-US" altLang="zh-CN" sz="2000" dirty="0">
                <a:latin typeface="+mj-lt"/>
              </a:rPr>
              <a:t>when</a:t>
            </a:r>
            <a:r>
              <a:rPr lang="zh-CN" altLang="en-US" sz="2000" dirty="0">
                <a:latin typeface="+mj-lt"/>
              </a:rPr>
              <a:t> </a:t>
            </a:r>
            <a:r>
              <a:rPr lang="en-US" altLang="zh-CN" sz="2000" dirty="0">
                <a:latin typeface="+mj-lt"/>
              </a:rPr>
              <a:t>answer</a:t>
            </a:r>
            <a:r>
              <a:rPr lang="zh-CN" altLang="en-US" sz="2000" dirty="0">
                <a:latin typeface="+mj-lt"/>
              </a:rPr>
              <a:t> </a:t>
            </a:r>
            <a:r>
              <a:rPr lang="en-US" altLang="zh-CN" sz="2000" dirty="0">
                <a:latin typeface="+mj-lt"/>
              </a:rPr>
              <a:t>is</a:t>
            </a:r>
            <a:r>
              <a:rPr lang="zh-CN" altLang="en-US" sz="2000" dirty="0">
                <a:latin typeface="+mj-lt"/>
              </a:rPr>
              <a:t> </a:t>
            </a:r>
            <a:r>
              <a:rPr lang="en-US" altLang="zh-CN" sz="2000" dirty="0">
                <a:latin typeface="+mj-lt"/>
              </a:rPr>
              <a:t>lengthy</a:t>
            </a:r>
            <a:endParaRPr lang="en-US" sz="2000" dirty="0">
              <a:latin typeface="+mj-lt"/>
            </a:endParaRPr>
          </a:p>
        </p:txBody>
      </p:sp>
      <p:sp>
        <p:nvSpPr>
          <p:cNvPr id="5" name="TextBox 4">
            <a:extLst>
              <a:ext uri="{FF2B5EF4-FFF2-40B4-BE49-F238E27FC236}">
                <a16:creationId xmlns:a16="http://schemas.microsoft.com/office/drawing/2014/main" id="{977D1A3B-F0C1-112C-7327-6CED1E650436}"/>
              </a:ext>
            </a:extLst>
          </p:cNvPr>
          <p:cNvSpPr txBox="1"/>
          <p:nvPr/>
        </p:nvSpPr>
        <p:spPr>
          <a:xfrm>
            <a:off x="4954502" y="992375"/>
            <a:ext cx="3846267" cy="707886"/>
          </a:xfrm>
          <a:prstGeom prst="rect">
            <a:avLst/>
          </a:prstGeom>
          <a:noFill/>
        </p:spPr>
        <p:txBody>
          <a:bodyPr wrap="square">
            <a:spAutoFit/>
          </a:bodyPr>
          <a:lstStyle/>
          <a:p>
            <a:r>
              <a:rPr lang="en-US" altLang="zh-CN" sz="2000" dirty="0">
                <a:latin typeface="+mj-lt"/>
              </a:rPr>
              <a:t>Slow:</a:t>
            </a:r>
            <a:r>
              <a:rPr lang="zh-CN" altLang="en-US" sz="2000" dirty="0">
                <a:latin typeface="+mj-lt"/>
              </a:rPr>
              <a:t> </a:t>
            </a:r>
            <a:r>
              <a:rPr lang="en-US" altLang="zh-CN" sz="2000" dirty="0">
                <a:latin typeface="+mj-lt"/>
              </a:rPr>
              <a:t>AI</a:t>
            </a:r>
            <a:r>
              <a:rPr lang="zh-CN" altLang="en-US" sz="2000" dirty="0">
                <a:latin typeface="+mj-lt"/>
              </a:rPr>
              <a:t> </a:t>
            </a:r>
            <a:r>
              <a:rPr lang="en-US" altLang="zh-CN" sz="2000" dirty="0">
                <a:latin typeface="+mj-lt"/>
              </a:rPr>
              <a:t>elevate</a:t>
            </a:r>
            <a:r>
              <a:rPr lang="zh-CN" altLang="en-US" sz="2000" dirty="0">
                <a:latin typeface="+mj-lt"/>
              </a:rPr>
              <a:t> </a:t>
            </a:r>
            <a:r>
              <a:rPr lang="en-US" altLang="zh-CN" sz="2000" dirty="0">
                <a:latin typeface="+mj-lt"/>
              </a:rPr>
              <a:t>human</a:t>
            </a:r>
            <a:r>
              <a:rPr lang="zh-CN" altLang="en-US" sz="2000" dirty="0">
                <a:latin typeface="+mj-lt"/>
              </a:rPr>
              <a:t> </a:t>
            </a:r>
            <a:r>
              <a:rPr lang="en-US" altLang="zh-CN" sz="2000" dirty="0">
                <a:latin typeface="+mj-lt"/>
              </a:rPr>
              <a:t>answer</a:t>
            </a:r>
            <a:r>
              <a:rPr lang="zh-CN" altLang="en-US" sz="2000" dirty="0">
                <a:latin typeface="+mj-lt"/>
              </a:rPr>
              <a:t> </a:t>
            </a:r>
            <a:r>
              <a:rPr lang="en-US" altLang="zh-CN" sz="2000" dirty="0">
                <a:latin typeface="+mj-lt"/>
              </a:rPr>
              <a:t>quality</a:t>
            </a:r>
            <a:r>
              <a:rPr lang="zh-CN" altLang="en-US" sz="2000" dirty="0">
                <a:latin typeface="+mj-lt"/>
              </a:rPr>
              <a:t> </a:t>
            </a:r>
            <a:r>
              <a:rPr lang="en-US" altLang="zh-CN" sz="2000" dirty="0">
                <a:latin typeface="+mj-lt"/>
              </a:rPr>
              <a:t>when</a:t>
            </a:r>
            <a:r>
              <a:rPr lang="zh-CN" altLang="en-US" sz="2000" dirty="0">
                <a:latin typeface="+mj-lt"/>
              </a:rPr>
              <a:t> </a:t>
            </a:r>
            <a:r>
              <a:rPr lang="en-US" altLang="zh-CN" sz="2000" dirty="0">
                <a:latin typeface="+mj-lt"/>
              </a:rPr>
              <a:t>answer</a:t>
            </a:r>
            <a:r>
              <a:rPr lang="zh-CN" altLang="en-US" sz="2000" dirty="0">
                <a:latin typeface="+mj-lt"/>
              </a:rPr>
              <a:t> </a:t>
            </a:r>
            <a:r>
              <a:rPr lang="en-US" altLang="zh-CN" sz="2000" dirty="0">
                <a:latin typeface="+mj-lt"/>
              </a:rPr>
              <a:t>is</a:t>
            </a:r>
            <a:r>
              <a:rPr lang="zh-CN" altLang="en-US" sz="2000" dirty="0">
                <a:latin typeface="+mj-lt"/>
              </a:rPr>
              <a:t> </a:t>
            </a:r>
            <a:r>
              <a:rPr lang="en-US" altLang="zh-CN" sz="2000" dirty="0">
                <a:latin typeface="+mj-lt"/>
              </a:rPr>
              <a:t>high-quality</a:t>
            </a:r>
            <a:endParaRPr lang="en-US" sz="2000" dirty="0">
              <a:latin typeface="+mj-lt"/>
            </a:endParaRPr>
          </a:p>
        </p:txBody>
      </p:sp>
      <p:pic>
        <p:nvPicPr>
          <p:cNvPr id="6" name="Picture 5">
            <a:extLst>
              <a:ext uri="{FF2B5EF4-FFF2-40B4-BE49-F238E27FC236}">
                <a16:creationId xmlns:a16="http://schemas.microsoft.com/office/drawing/2014/main" id="{21254D46-7F83-A8FF-E47E-DC49CAA829C8}"/>
              </a:ext>
            </a:extLst>
          </p:cNvPr>
          <p:cNvPicPr>
            <a:picLocks noChangeAspect="1"/>
          </p:cNvPicPr>
          <p:nvPr/>
        </p:nvPicPr>
        <p:blipFill>
          <a:blip r:embed="rId3"/>
          <a:stretch>
            <a:fillRect/>
          </a:stretch>
        </p:blipFill>
        <p:spPr>
          <a:xfrm>
            <a:off x="755457" y="1733368"/>
            <a:ext cx="3523508" cy="2792912"/>
          </a:xfrm>
          <a:prstGeom prst="rect">
            <a:avLst/>
          </a:prstGeom>
        </p:spPr>
      </p:pic>
      <p:pic>
        <p:nvPicPr>
          <p:cNvPr id="7" name="Picture 6">
            <a:extLst>
              <a:ext uri="{FF2B5EF4-FFF2-40B4-BE49-F238E27FC236}">
                <a16:creationId xmlns:a16="http://schemas.microsoft.com/office/drawing/2014/main" id="{5262913B-5AF5-4E24-8B1B-FFAADE3F0524}"/>
              </a:ext>
            </a:extLst>
          </p:cNvPr>
          <p:cNvPicPr>
            <a:picLocks noChangeAspect="1"/>
          </p:cNvPicPr>
          <p:nvPr/>
        </p:nvPicPr>
        <p:blipFill>
          <a:blip r:embed="rId4"/>
          <a:stretch>
            <a:fillRect/>
          </a:stretch>
        </p:blipFill>
        <p:spPr>
          <a:xfrm>
            <a:off x="4954501" y="1733368"/>
            <a:ext cx="3357044" cy="2792912"/>
          </a:xfrm>
          <a:prstGeom prst="rect">
            <a:avLst/>
          </a:prstGeom>
        </p:spPr>
      </p:pic>
      <p:sp>
        <p:nvSpPr>
          <p:cNvPr id="2" name="Slide Number Placeholder 1">
            <a:extLst>
              <a:ext uri="{FF2B5EF4-FFF2-40B4-BE49-F238E27FC236}">
                <a16:creationId xmlns:a16="http://schemas.microsoft.com/office/drawing/2014/main" id="{A6FE4353-F779-ABFD-277C-F9E8FB9B0FE7}"/>
              </a:ext>
            </a:extLst>
          </p:cNvPr>
          <p:cNvSpPr>
            <a:spLocks noGrp="1"/>
          </p:cNvSpPr>
          <p:nvPr>
            <p:ph type="sldNum" sz="quarter" idx="12"/>
          </p:nvPr>
        </p:nvSpPr>
        <p:spPr/>
        <p:txBody>
          <a:bodyPr/>
          <a:lstStyle/>
          <a:p>
            <a:fld id="{80E9C1D4-69BA-4B09-8A24-1CCDDD1AB85B}" type="slidenum">
              <a:rPr lang="zh-CN" altLang="en-US" smtClean="0"/>
              <a:t>12</a:t>
            </a:fld>
            <a:endParaRPr lang="zh-CN" altLang="en-US"/>
          </a:p>
        </p:txBody>
      </p:sp>
    </p:spTree>
    <p:extLst>
      <p:ext uri="{BB962C8B-B14F-4D97-AF65-F5344CB8AC3E}">
        <p14:creationId xmlns:p14="http://schemas.microsoft.com/office/powerpoint/2010/main" val="3281919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39BE3-A37C-7DBC-B059-455F96F5C2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4790AB-1EDB-1F16-BFBE-942848FCAC9B}"/>
              </a:ext>
            </a:extLst>
          </p:cNvPr>
          <p:cNvSpPr>
            <a:spLocks noGrp="1"/>
          </p:cNvSpPr>
          <p:nvPr>
            <p:ph type="title"/>
          </p:nvPr>
        </p:nvSpPr>
        <p:spPr/>
        <p:txBody>
          <a:bodyPr>
            <a:normAutofit/>
          </a:bodyPr>
          <a:lstStyle/>
          <a:p>
            <a:r>
              <a:rPr lang="en-US" altLang="zh-CN" dirty="0"/>
              <a:t>Reconcile</a:t>
            </a:r>
            <a:r>
              <a:rPr lang="zh-CN" altLang="en-US" dirty="0"/>
              <a:t> </a:t>
            </a:r>
            <a:r>
              <a:rPr lang="en-US" altLang="zh-CN" dirty="0"/>
              <a:t>p</a:t>
            </a:r>
            <a:r>
              <a:rPr lang="en-US" dirty="0"/>
              <a:t>rior </a:t>
            </a:r>
            <a:r>
              <a:rPr lang="en-US" altLang="zh-CN" dirty="0"/>
              <a:t>f</a:t>
            </a:r>
            <a:r>
              <a:rPr lang="en-US" dirty="0"/>
              <a:t>indings (Su et</a:t>
            </a:r>
            <a:r>
              <a:rPr lang="en-US" altLang="zh-CN" dirty="0"/>
              <a:t>.</a:t>
            </a:r>
            <a:r>
              <a:rPr lang="en-US" dirty="0"/>
              <a:t> al</a:t>
            </a:r>
            <a:r>
              <a:rPr lang="en-US" altLang="zh-CN" dirty="0"/>
              <a:t>,</a:t>
            </a:r>
            <a:r>
              <a:rPr lang="zh-CN" altLang="en-US" dirty="0"/>
              <a:t> </a:t>
            </a:r>
            <a:r>
              <a:rPr lang="en-US" altLang="zh-CN" dirty="0"/>
              <a:t>2023</a:t>
            </a:r>
            <a:r>
              <a:rPr lang="en-US" dirty="0"/>
              <a:t>)</a:t>
            </a:r>
            <a:endParaRPr lang="en-US" altLang="zh-CN" dirty="0"/>
          </a:p>
        </p:txBody>
      </p:sp>
      <p:pic>
        <p:nvPicPr>
          <p:cNvPr id="2" name="Picture 1">
            <a:extLst>
              <a:ext uri="{FF2B5EF4-FFF2-40B4-BE49-F238E27FC236}">
                <a16:creationId xmlns:a16="http://schemas.microsoft.com/office/drawing/2014/main" id="{ED66AC6E-9C3D-468C-A065-EF8E483FD8AC}"/>
              </a:ext>
            </a:extLst>
          </p:cNvPr>
          <p:cNvPicPr>
            <a:picLocks noChangeAspect="1"/>
          </p:cNvPicPr>
          <p:nvPr/>
        </p:nvPicPr>
        <p:blipFill>
          <a:blip r:embed="rId3"/>
          <a:stretch>
            <a:fillRect/>
          </a:stretch>
        </p:blipFill>
        <p:spPr>
          <a:xfrm>
            <a:off x="2721404" y="1219172"/>
            <a:ext cx="3464674" cy="2746277"/>
          </a:xfrm>
          <a:prstGeom prst="rect">
            <a:avLst/>
          </a:prstGeom>
        </p:spPr>
      </p:pic>
      <p:sp>
        <p:nvSpPr>
          <p:cNvPr id="8" name="Right Arrow 7">
            <a:extLst>
              <a:ext uri="{FF2B5EF4-FFF2-40B4-BE49-F238E27FC236}">
                <a16:creationId xmlns:a16="http://schemas.microsoft.com/office/drawing/2014/main" id="{BEC9B71D-2F3E-8373-9BAE-6DBB1F543C9F}"/>
              </a:ext>
            </a:extLst>
          </p:cNvPr>
          <p:cNvSpPr/>
          <p:nvPr/>
        </p:nvSpPr>
        <p:spPr>
          <a:xfrm>
            <a:off x="2206266" y="2048256"/>
            <a:ext cx="1139664" cy="110116"/>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2739D51-A5CF-C3C6-2639-CA2CD498A6E8}"/>
              </a:ext>
            </a:extLst>
          </p:cNvPr>
          <p:cNvSpPr txBox="1"/>
          <p:nvPr/>
        </p:nvSpPr>
        <p:spPr>
          <a:xfrm>
            <a:off x="0" y="1867474"/>
            <a:ext cx="2816352" cy="923330"/>
          </a:xfrm>
          <a:prstGeom prst="rect">
            <a:avLst/>
          </a:prstGeom>
          <a:noFill/>
        </p:spPr>
        <p:txBody>
          <a:bodyPr wrap="square">
            <a:spAutoFit/>
          </a:bodyPr>
          <a:lstStyle/>
          <a:p>
            <a:pPr algn="ctr"/>
            <a:r>
              <a:rPr lang="en-US" dirty="0">
                <a:latin typeface="+mj-lt"/>
              </a:rPr>
              <a:t>Su et</a:t>
            </a:r>
            <a:r>
              <a:rPr lang="en-US" altLang="zh-CN" dirty="0">
                <a:latin typeface="+mj-lt"/>
              </a:rPr>
              <a:t>.</a:t>
            </a:r>
            <a:r>
              <a:rPr lang="en-US" dirty="0">
                <a:latin typeface="+mj-lt"/>
              </a:rPr>
              <a:t> al </a:t>
            </a:r>
            <a:r>
              <a:rPr lang="en-US" altLang="zh-CN" dirty="0">
                <a:latin typeface="+mj-lt"/>
              </a:rPr>
              <a:t>(</a:t>
            </a:r>
            <a:r>
              <a:rPr lang="en-US" dirty="0">
                <a:latin typeface="+mj-lt"/>
              </a:rPr>
              <a:t>2023</a:t>
            </a:r>
            <a:r>
              <a:rPr lang="en-US" altLang="zh-CN" dirty="0">
                <a:latin typeface="+mj-lt"/>
              </a:rPr>
              <a:t>) </a:t>
            </a:r>
          </a:p>
          <a:p>
            <a:pPr algn="ctr"/>
            <a:r>
              <a:rPr lang="en-US" dirty="0">
                <a:latin typeface="+mj-lt"/>
              </a:rPr>
              <a:t>AI </a:t>
            </a:r>
            <a:r>
              <a:rPr lang="en-US" altLang="zh-CN" dirty="0">
                <a:latin typeface="+mj-lt"/>
              </a:rPr>
              <a:t>label</a:t>
            </a:r>
            <a:r>
              <a:rPr lang="zh-CN" altLang="en-US" dirty="0">
                <a:latin typeface="+mj-lt"/>
              </a:rPr>
              <a:t> </a:t>
            </a:r>
            <a:r>
              <a:rPr lang="en-US" dirty="0">
                <a:latin typeface="+mj-lt"/>
              </a:rPr>
              <a:t>encourage</a:t>
            </a:r>
            <a:r>
              <a:rPr lang="en-US" altLang="zh-CN" dirty="0">
                <a:latin typeface="+mj-lt"/>
              </a:rPr>
              <a:t>s</a:t>
            </a:r>
            <a:r>
              <a:rPr lang="en-US" dirty="0">
                <a:latin typeface="+mj-lt"/>
              </a:rPr>
              <a:t> </a:t>
            </a:r>
            <a:r>
              <a:rPr lang="en-US" altLang="zh-CN" dirty="0">
                <a:latin typeface="+mj-lt"/>
              </a:rPr>
              <a:t>participation</a:t>
            </a:r>
            <a:r>
              <a:rPr lang="en-US" dirty="0">
                <a:latin typeface="+mj-lt"/>
              </a:rPr>
              <a:t> </a:t>
            </a:r>
          </a:p>
        </p:txBody>
      </p:sp>
      <p:sp>
        <p:nvSpPr>
          <p:cNvPr id="10" name="TextBox 9">
            <a:extLst>
              <a:ext uri="{FF2B5EF4-FFF2-40B4-BE49-F238E27FC236}">
                <a16:creationId xmlns:a16="http://schemas.microsoft.com/office/drawing/2014/main" id="{F39AADD1-4BF1-C6A1-309E-702EC04FE178}"/>
              </a:ext>
            </a:extLst>
          </p:cNvPr>
          <p:cNvSpPr txBox="1"/>
          <p:nvPr/>
        </p:nvSpPr>
        <p:spPr>
          <a:xfrm>
            <a:off x="6387872" y="2325945"/>
            <a:ext cx="2894069" cy="646331"/>
          </a:xfrm>
          <a:prstGeom prst="rect">
            <a:avLst/>
          </a:prstGeom>
          <a:noFill/>
        </p:spPr>
        <p:txBody>
          <a:bodyPr wrap="square">
            <a:spAutoFit/>
          </a:bodyPr>
          <a:lstStyle/>
          <a:p>
            <a:pPr algn="ctr"/>
            <a:r>
              <a:rPr lang="en-US" dirty="0">
                <a:latin typeface="+mj-lt"/>
              </a:rPr>
              <a:t>Our finding</a:t>
            </a:r>
            <a:r>
              <a:rPr lang="en-US" altLang="zh-CN" dirty="0">
                <a:latin typeface="+mj-lt"/>
              </a:rPr>
              <a:t>s</a:t>
            </a:r>
            <a:r>
              <a:rPr lang="en-US" dirty="0">
                <a:latin typeface="+mj-lt"/>
              </a:rPr>
              <a:t> in las</a:t>
            </a:r>
            <a:r>
              <a:rPr lang="en-US" altLang="zh-CN" dirty="0">
                <a:latin typeface="+mj-lt"/>
              </a:rPr>
              <a:t>t</a:t>
            </a:r>
            <a:r>
              <a:rPr lang="en-US" dirty="0">
                <a:latin typeface="+mj-lt"/>
              </a:rPr>
              <a:t> round</a:t>
            </a:r>
            <a:r>
              <a:rPr lang="en-US" altLang="zh-CN" dirty="0">
                <a:latin typeface="+mj-lt"/>
              </a:rPr>
              <a:t>:</a:t>
            </a:r>
            <a:endParaRPr lang="en-US" dirty="0">
              <a:latin typeface="+mj-lt"/>
            </a:endParaRPr>
          </a:p>
          <a:p>
            <a:pPr algn="ctr"/>
            <a:r>
              <a:rPr lang="en-US" dirty="0">
                <a:latin typeface="+mj-lt"/>
              </a:rPr>
              <a:t>AI deter</a:t>
            </a:r>
            <a:r>
              <a:rPr lang="en-US" altLang="zh-CN" dirty="0">
                <a:latin typeface="+mj-lt"/>
              </a:rPr>
              <a:t>s</a:t>
            </a:r>
            <a:r>
              <a:rPr lang="en-US" dirty="0">
                <a:latin typeface="+mj-lt"/>
              </a:rPr>
              <a:t> </a:t>
            </a:r>
            <a:r>
              <a:rPr lang="en-US" altLang="zh-CN" dirty="0">
                <a:latin typeface="+mj-lt"/>
              </a:rPr>
              <a:t>participation</a:t>
            </a:r>
            <a:r>
              <a:rPr lang="en-US" dirty="0">
                <a:latin typeface="+mj-lt"/>
              </a:rPr>
              <a:t> </a:t>
            </a:r>
          </a:p>
        </p:txBody>
      </p:sp>
      <p:sp>
        <p:nvSpPr>
          <p:cNvPr id="11" name="Right Arrow 10">
            <a:extLst>
              <a:ext uri="{FF2B5EF4-FFF2-40B4-BE49-F238E27FC236}">
                <a16:creationId xmlns:a16="http://schemas.microsoft.com/office/drawing/2014/main" id="{50592698-3573-7906-7E56-DADA72D84D6F}"/>
              </a:ext>
            </a:extLst>
          </p:cNvPr>
          <p:cNvSpPr/>
          <p:nvPr/>
        </p:nvSpPr>
        <p:spPr>
          <a:xfrm rot="9529928">
            <a:off x="5514771" y="2879099"/>
            <a:ext cx="1139664" cy="95134"/>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latin typeface="+mj-lt"/>
            </a:endParaRPr>
          </a:p>
        </p:txBody>
      </p:sp>
      <p:sp>
        <p:nvSpPr>
          <p:cNvPr id="12" name="TextBox 11">
            <a:extLst>
              <a:ext uri="{FF2B5EF4-FFF2-40B4-BE49-F238E27FC236}">
                <a16:creationId xmlns:a16="http://schemas.microsoft.com/office/drawing/2014/main" id="{474D7D92-5C70-889E-B363-979BCEDDBD73}"/>
              </a:ext>
            </a:extLst>
          </p:cNvPr>
          <p:cNvSpPr txBox="1"/>
          <p:nvPr/>
        </p:nvSpPr>
        <p:spPr>
          <a:xfrm>
            <a:off x="0" y="4033576"/>
            <a:ext cx="9144000" cy="400110"/>
          </a:xfrm>
          <a:prstGeom prst="rect">
            <a:avLst/>
          </a:prstGeom>
          <a:noFill/>
        </p:spPr>
        <p:txBody>
          <a:bodyPr wrap="square">
            <a:spAutoFit/>
          </a:bodyPr>
          <a:lstStyle/>
          <a:p>
            <a:pPr algn="ctr"/>
            <a:r>
              <a:rPr lang="en-US" altLang="zh-CN" sz="2000" dirty="0">
                <a:latin typeface="+mj-lt"/>
              </a:rPr>
              <a:t>AI</a:t>
            </a:r>
            <a:r>
              <a:rPr lang="zh-CN" altLang="en-US" sz="2000" dirty="0">
                <a:latin typeface="+mj-lt"/>
              </a:rPr>
              <a:t> </a:t>
            </a:r>
            <a:r>
              <a:rPr lang="en-US" altLang="zh-CN" sz="2000" dirty="0">
                <a:latin typeface="+mj-lt"/>
              </a:rPr>
              <a:t>l</a:t>
            </a:r>
            <a:r>
              <a:rPr lang="en-US" sz="2000" dirty="0">
                <a:latin typeface="+mj-lt"/>
              </a:rPr>
              <a:t>abel encourage</a:t>
            </a:r>
            <a:r>
              <a:rPr lang="en-US" altLang="zh-CN" sz="2000" dirty="0">
                <a:latin typeface="+mj-lt"/>
              </a:rPr>
              <a:t>s</a:t>
            </a:r>
            <a:r>
              <a:rPr lang="en-US" sz="2000" dirty="0">
                <a:latin typeface="+mj-lt"/>
              </a:rPr>
              <a:t> </a:t>
            </a:r>
            <a:r>
              <a:rPr lang="en-US" altLang="zh-CN" sz="2000" dirty="0">
                <a:latin typeface="+mj-lt"/>
              </a:rPr>
              <a:t>participation;</a:t>
            </a:r>
            <a:r>
              <a:rPr lang="en-US" sz="2000" dirty="0">
                <a:latin typeface="+mj-lt"/>
              </a:rPr>
              <a:t> </a:t>
            </a:r>
            <a:r>
              <a:rPr lang="en-US" altLang="zh-CN" sz="2000" dirty="0">
                <a:latin typeface="+mj-lt"/>
              </a:rPr>
              <a:t>AI</a:t>
            </a:r>
            <a:r>
              <a:rPr lang="zh-CN" altLang="en-US" sz="2000" dirty="0">
                <a:latin typeface="+mj-lt"/>
              </a:rPr>
              <a:t> </a:t>
            </a:r>
            <a:r>
              <a:rPr lang="en-US" altLang="zh-CN" sz="2000" dirty="0">
                <a:latin typeface="+mj-lt"/>
              </a:rPr>
              <a:t>c</a:t>
            </a:r>
            <a:r>
              <a:rPr lang="en-US" sz="2000" dirty="0">
                <a:latin typeface="+mj-lt"/>
              </a:rPr>
              <a:t>ontent deter</a:t>
            </a:r>
            <a:r>
              <a:rPr lang="en-US" altLang="zh-CN" sz="2000" dirty="0">
                <a:latin typeface="+mj-lt"/>
              </a:rPr>
              <a:t>s</a:t>
            </a:r>
            <a:r>
              <a:rPr lang="en-US" sz="2000" dirty="0">
                <a:latin typeface="+mj-lt"/>
              </a:rPr>
              <a:t> </a:t>
            </a:r>
            <a:r>
              <a:rPr lang="en-US" altLang="zh-CN" sz="2000" dirty="0">
                <a:latin typeface="+mj-lt"/>
              </a:rPr>
              <a:t>participation</a:t>
            </a:r>
            <a:endParaRPr lang="en-US" sz="2000" dirty="0">
              <a:latin typeface="+mj-lt"/>
            </a:endParaRPr>
          </a:p>
        </p:txBody>
      </p:sp>
      <p:sp>
        <p:nvSpPr>
          <p:cNvPr id="3" name="Slide Number Placeholder 2">
            <a:extLst>
              <a:ext uri="{FF2B5EF4-FFF2-40B4-BE49-F238E27FC236}">
                <a16:creationId xmlns:a16="http://schemas.microsoft.com/office/drawing/2014/main" id="{C417207F-7714-FC79-3F4A-419B2D1A5F99}"/>
              </a:ext>
            </a:extLst>
          </p:cNvPr>
          <p:cNvSpPr>
            <a:spLocks noGrp="1"/>
          </p:cNvSpPr>
          <p:nvPr>
            <p:ph type="sldNum" sz="quarter" idx="12"/>
          </p:nvPr>
        </p:nvSpPr>
        <p:spPr/>
        <p:txBody>
          <a:bodyPr/>
          <a:lstStyle/>
          <a:p>
            <a:fld id="{80E9C1D4-69BA-4B09-8A24-1CCDDD1AB85B}" type="slidenum">
              <a:rPr lang="zh-CN" altLang="en-US" smtClean="0"/>
              <a:t>13</a:t>
            </a:fld>
            <a:endParaRPr lang="zh-CN" altLang="en-US"/>
          </a:p>
        </p:txBody>
      </p:sp>
    </p:spTree>
    <p:extLst>
      <p:ext uri="{BB962C8B-B14F-4D97-AF65-F5344CB8AC3E}">
        <p14:creationId xmlns:p14="http://schemas.microsoft.com/office/powerpoint/2010/main" val="1592277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89247-24B1-96EA-6814-53E486531F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EF4F306-A362-CC61-902A-7ED9B428378D}"/>
              </a:ext>
            </a:extLst>
          </p:cNvPr>
          <p:cNvSpPr>
            <a:spLocks noGrp="1"/>
          </p:cNvSpPr>
          <p:nvPr>
            <p:ph type="title"/>
          </p:nvPr>
        </p:nvSpPr>
        <p:spPr>
          <a:xfrm>
            <a:off x="628650" y="2148942"/>
            <a:ext cx="7886700" cy="669131"/>
          </a:xfrm>
        </p:spPr>
        <p:txBody>
          <a:bodyPr>
            <a:noAutofit/>
          </a:bodyPr>
          <a:lstStyle/>
          <a:p>
            <a:pPr algn="ctr"/>
            <a:r>
              <a:rPr lang="en-US" altLang="zh-CN" sz="3600" dirty="0"/>
              <a:t>Thank</a:t>
            </a:r>
            <a:r>
              <a:rPr lang="zh-CN" altLang="en-US" sz="3600" dirty="0"/>
              <a:t> </a:t>
            </a:r>
            <a:r>
              <a:rPr lang="en-US" altLang="zh-CN" sz="3600" dirty="0"/>
              <a:t>you</a:t>
            </a:r>
            <a:endParaRPr lang="en-US" altLang="en-US" sz="2800" dirty="0"/>
          </a:p>
        </p:txBody>
      </p:sp>
      <p:sp>
        <p:nvSpPr>
          <p:cNvPr id="2" name="Slide Number Placeholder 1">
            <a:extLst>
              <a:ext uri="{FF2B5EF4-FFF2-40B4-BE49-F238E27FC236}">
                <a16:creationId xmlns:a16="http://schemas.microsoft.com/office/drawing/2014/main" id="{9112DC99-0EB0-A05B-19DD-0495D411EDAD}"/>
              </a:ext>
            </a:extLst>
          </p:cNvPr>
          <p:cNvSpPr>
            <a:spLocks noGrp="1"/>
          </p:cNvSpPr>
          <p:nvPr>
            <p:ph type="sldNum" sz="quarter" idx="12"/>
          </p:nvPr>
        </p:nvSpPr>
        <p:spPr/>
        <p:txBody>
          <a:bodyPr/>
          <a:lstStyle/>
          <a:p>
            <a:fld id="{80E9C1D4-69BA-4B09-8A24-1CCDDD1AB85B}" type="slidenum">
              <a:rPr lang="zh-CN" altLang="en-US" smtClean="0"/>
              <a:t>14</a:t>
            </a:fld>
            <a:endParaRPr lang="zh-CN" altLang="en-US"/>
          </a:p>
        </p:txBody>
      </p:sp>
    </p:spTree>
    <p:extLst>
      <p:ext uri="{BB962C8B-B14F-4D97-AF65-F5344CB8AC3E}">
        <p14:creationId xmlns:p14="http://schemas.microsoft.com/office/powerpoint/2010/main" val="526952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9B6A0-4343-03E1-D877-877E87E3B1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A68786-2808-1C96-AC37-AF114626A783}"/>
              </a:ext>
            </a:extLst>
          </p:cNvPr>
          <p:cNvSpPr>
            <a:spLocks noGrp="1"/>
          </p:cNvSpPr>
          <p:nvPr>
            <p:ph type="title"/>
          </p:nvPr>
        </p:nvSpPr>
        <p:spPr>
          <a:xfrm>
            <a:off x="628650" y="2148942"/>
            <a:ext cx="7886700" cy="669131"/>
          </a:xfrm>
        </p:spPr>
        <p:txBody>
          <a:bodyPr>
            <a:noAutofit/>
          </a:bodyPr>
          <a:lstStyle/>
          <a:p>
            <a:pPr algn="ctr"/>
            <a:r>
              <a:rPr lang="en-US" altLang="zh-CN" sz="3600" dirty="0"/>
              <a:t>Appendix</a:t>
            </a:r>
            <a:endParaRPr lang="en-US" altLang="en-US" sz="2800" dirty="0"/>
          </a:p>
        </p:txBody>
      </p:sp>
      <p:sp>
        <p:nvSpPr>
          <p:cNvPr id="2" name="Slide Number Placeholder 1">
            <a:extLst>
              <a:ext uri="{FF2B5EF4-FFF2-40B4-BE49-F238E27FC236}">
                <a16:creationId xmlns:a16="http://schemas.microsoft.com/office/drawing/2014/main" id="{12E4DBE9-F6CA-4EBA-115C-D297C09F2AA8}"/>
              </a:ext>
            </a:extLst>
          </p:cNvPr>
          <p:cNvSpPr>
            <a:spLocks noGrp="1"/>
          </p:cNvSpPr>
          <p:nvPr>
            <p:ph type="sldNum" sz="quarter" idx="12"/>
          </p:nvPr>
        </p:nvSpPr>
        <p:spPr/>
        <p:txBody>
          <a:bodyPr/>
          <a:lstStyle/>
          <a:p>
            <a:fld id="{80E9C1D4-69BA-4B09-8A24-1CCDDD1AB85B}" type="slidenum">
              <a:rPr lang="zh-CN" altLang="en-US" smtClean="0"/>
              <a:t>15</a:t>
            </a:fld>
            <a:endParaRPr lang="zh-CN" altLang="en-US"/>
          </a:p>
        </p:txBody>
      </p:sp>
    </p:spTree>
    <p:extLst>
      <p:ext uri="{BB962C8B-B14F-4D97-AF65-F5344CB8AC3E}">
        <p14:creationId xmlns:p14="http://schemas.microsoft.com/office/powerpoint/2010/main" val="2191861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67D84-BF4E-D4E4-79F0-9ED193A9125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4EC16F9-12D5-EF4E-4569-E7163EA84D16}"/>
              </a:ext>
            </a:extLst>
          </p:cNvPr>
          <p:cNvSpPr>
            <a:spLocks noGrp="1"/>
          </p:cNvSpPr>
          <p:nvPr>
            <p:ph type="title"/>
          </p:nvPr>
        </p:nvSpPr>
        <p:spPr/>
        <p:txBody>
          <a:bodyPr>
            <a:normAutofit/>
          </a:bodyPr>
          <a:lstStyle/>
          <a:p>
            <a:r>
              <a:rPr lang="en-US" altLang="zh-CN" dirty="0"/>
              <a:t>Our</a:t>
            </a:r>
            <a:r>
              <a:rPr lang="zh-CN" altLang="en-US" dirty="0"/>
              <a:t> </a:t>
            </a:r>
            <a:r>
              <a:rPr lang="en-US" altLang="zh-CN" dirty="0"/>
              <a:t>new</a:t>
            </a:r>
            <a:r>
              <a:rPr lang="zh-CN" altLang="en-US" dirty="0"/>
              <a:t> </a:t>
            </a:r>
            <a:r>
              <a:rPr lang="en-US" altLang="zh-CN" dirty="0"/>
              <a:t>main</a:t>
            </a:r>
            <a:r>
              <a:rPr lang="zh-CN" altLang="en-US" dirty="0"/>
              <a:t> </a:t>
            </a:r>
            <a:r>
              <a:rPr lang="en-US" altLang="zh-CN" dirty="0"/>
              <a:t>results</a:t>
            </a:r>
          </a:p>
        </p:txBody>
      </p:sp>
      <p:graphicFrame>
        <p:nvGraphicFramePr>
          <p:cNvPr id="2" name="Table 1">
            <a:extLst>
              <a:ext uri="{FF2B5EF4-FFF2-40B4-BE49-F238E27FC236}">
                <a16:creationId xmlns:a16="http://schemas.microsoft.com/office/drawing/2014/main" id="{6E125DA3-ED4B-962C-3017-C14DFEED806F}"/>
              </a:ext>
            </a:extLst>
          </p:cNvPr>
          <p:cNvGraphicFramePr>
            <a:graphicFrameLocks noGrp="1"/>
          </p:cNvGraphicFramePr>
          <p:nvPr>
            <p:extLst>
              <p:ext uri="{D42A27DB-BD31-4B8C-83A1-F6EECF244321}">
                <p14:modId xmlns:p14="http://schemas.microsoft.com/office/powerpoint/2010/main" val="3780503211"/>
              </p:ext>
            </p:extLst>
          </p:nvPr>
        </p:nvGraphicFramePr>
        <p:xfrm>
          <a:off x="628650" y="976874"/>
          <a:ext cx="7886700" cy="3668283"/>
        </p:xfrm>
        <a:graphic>
          <a:graphicData uri="http://schemas.openxmlformats.org/drawingml/2006/table">
            <a:tbl>
              <a:tblPr/>
              <a:tblGrid>
                <a:gridCol w="2162669">
                  <a:extLst>
                    <a:ext uri="{9D8B030D-6E8A-4147-A177-3AD203B41FA5}">
                      <a16:colId xmlns:a16="http://schemas.microsoft.com/office/drawing/2014/main" val="2194831079"/>
                    </a:ext>
                  </a:extLst>
                </a:gridCol>
                <a:gridCol w="1369663">
                  <a:extLst>
                    <a:ext uri="{9D8B030D-6E8A-4147-A177-3AD203B41FA5}">
                      <a16:colId xmlns:a16="http://schemas.microsoft.com/office/drawing/2014/main" val="3377069532"/>
                    </a:ext>
                  </a:extLst>
                </a:gridCol>
                <a:gridCol w="1695196">
                  <a:extLst>
                    <a:ext uri="{9D8B030D-6E8A-4147-A177-3AD203B41FA5}">
                      <a16:colId xmlns:a16="http://schemas.microsoft.com/office/drawing/2014/main" val="204925023"/>
                    </a:ext>
                  </a:extLst>
                </a:gridCol>
                <a:gridCol w="1239345">
                  <a:extLst>
                    <a:ext uri="{9D8B030D-6E8A-4147-A177-3AD203B41FA5}">
                      <a16:colId xmlns:a16="http://schemas.microsoft.com/office/drawing/2014/main" val="3863096390"/>
                    </a:ext>
                  </a:extLst>
                </a:gridCol>
                <a:gridCol w="1419827">
                  <a:extLst>
                    <a:ext uri="{9D8B030D-6E8A-4147-A177-3AD203B41FA5}">
                      <a16:colId xmlns:a16="http://schemas.microsoft.com/office/drawing/2014/main" val="67674783"/>
                    </a:ext>
                  </a:extLst>
                </a:gridCol>
              </a:tblGrid>
              <a:tr h="297147">
                <a:tc>
                  <a:txBody>
                    <a:bodyPr/>
                    <a:lstStyle/>
                    <a:p>
                      <a:pPr algn="l" fontAlgn="t">
                        <a:buNone/>
                      </a:pPr>
                      <a:r>
                        <a:rPr lang="en-US" sz="1800" b="0" i="0" u="none" strike="noStrike">
                          <a:solidFill>
                            <a:srgbClr val="000000"/>
                          </a:solidFill>
                          <a:effectLst/>
                          <a:latin typeface="Georgia" panose="02040502050405020303" pitchFamily="18" charset="0"/>
                        </a:rPr>
                        <a:t> </a:t>
                      </a:r>
                    </a:p>
                  </a:txBody>
                  <a:tcPr marL="6825" marR="6825" marT="68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(2)</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(4)</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8002163"/>
                  </a:ext>
                </a:extLst>
              </a:tr>
              <a:tr h="399666">
                <a:tc>
                  <a:txBody>
                    <a:bodyPr/>
                    <a:lstStyle/>
                    <a:p>
                      <a:pPr marL="0" algn="l" defTabSz="685800" rtl="0" eaLnBrk="1" fontAlgn="ctr" latinLnBrk="0" hangingPunct="1">
                        <a:buNone/>
                      </a:pPr>
                      <a:r>
                        <a:rPr lang="zh-CN" altLang="en-US" sz="1800" b="0" i="0" u="none" strike="noStrike" kern="1200" dirty="0">
                          <a:solidFill>
                            <a:srgbClr val="000000"/>
                          </a:solidFill>
                          <a:effectLst/>
                          <a:latin typeface="Times New Roman" panose="02020603050405020304" pitchFamily="18" charset="0"/>
                          <a:ea typeface="+mn-ea"/>
                          <a:cs typeface="+mn-cs"/>
                        </a:rPr>
                        <a:t> </a:t>
                      </a:r>
                      <a:r>
                        <a:rPr lang="en-US" sz="1800" b="0" i="0" u="none" strike="noStrike" kern="1200" dirty="0">
                          <a:solidFill>
                            <a:srgbClr val="000000"/>
                          </a:solidFill>
                          <a:effectLst/>
                          <a:latin typeface="Times New Roman" panose="02020603050405020304" pitchFamily="18" charset="0"/>
                          <a:ea typeface="+mn-ea"/>
                          <a:cs typeface="+mn-cs"/>
                        </a:rPr>
                        <a:t>DV</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fontAlgn="ctr">
                        <a:buNone/>
                      </a:pPr>
                      <a:r>
                        <a:rPr lang="en-US" altLang="zh-CN" sz="1800" b="0" i="0" u="none" strike="noStrike" dirty="0">
                          <a:solidFill>
                            <a:srgbClr val="000000"/>
                          </a:solidFill>
                          <a:effectLst/>
                          <a:latin typeface="Times New Roman" panose="02020603050405020304" pitchFamily="18" charset="0"/>
                        </a:rPr>
                        <a:t>Log(answer</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number</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in</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7</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days)</a:t>
                      </a:r>
                      <a:endParaRPr lang="en-US" sz="1800" b="0" i="0"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2">
                  <a:txBody>
                    <a:bodyPr/>
                    <a:lstStyle/>
                    <a:p>
                      <a:pPr algn="ctr" fontAlgn="ctr">
                        <a:buNone/>
                      </a:pPr>
                      <a:r>
                        <a:rPr lang="en-US" altLang="zh-CN" sz="1800" b="0" i="0" u="none" strike="noStrike" dirty="0">
                          <a:solidFill>
                            <a:srgbClr val="000000"/>
                          </a:solidFill>
                          <a:effectLst/>
                          <a:latin typeface="Times New Roman" panose="02020603050405020304" pitchFamily="18" charset="0"/>
                        </a:rPr>
                        <a:t>F</a:t>
                      </a:r>
                      <a:r>
                        <a:rPr lang="en-US" sz="1800" b="0" i="0" u="none" strike="noStrike" dirty="0">
                          <a:solidFill>
                            <a:srgbClr val="000000"/>
                          </a:solidFill>
                          <a:effectLst/>
                          <a:latin typeface="Times New Roman" panose="02020603050405020304" pitchFamily="18" charset="0"/>
                        </a:rPr>
                        <a:t>irst answer quality</a:t>
                      </a:r>
                      <a:r>
                        <a:rPr lang="zh-CN" altLang="en-US" sz="1800" b="0" i="0" u="none" strike="noStrike" dirty="0">
                          <a:solidFill>
                            <a:srgbClr val="000000"/>
                          </a:solidFill>
                          <a:effectLst/>
                          <a:latin typeface="Times New Roman" panose="02020603050405020304" pitchFamily="18" charset="0"/>
                        </a:rPr>
                        <a:t> </a:t>
                      </a:r>
                      <a:r>
                        <a:rPr lang="en-US" altLang="zh-CN" sz="1800" b="0" i="0" u="none" strike="noStrike" dirty="0">
                          <a:solidFill>
                            <a:srgbClr val="000000"/>
                          </a:solidFill>
                          <a:effectLst/>
                          <a:latin typeface="Times New Roman" panose="02020603050405020304" pitchFamily="18" charset="0"/>
                        </a:rPr>
                        <a:t>(LLM)</a:t>
                      </a:r>
                      <a:endParaRPr lang="en-US" sz="1800" b="0" i="0"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933944480"/>
                  </a:ext>
                </a:extLst>
              </a:tr>
              <a:tr h="297147">
                <a:tc rowSpan="2">
                  <a:txBody>
                    <a:bodyPr/>
                    <a:lstStyle/>
                    <a:p>
                      <a:pPr algn="l" fontAlgn="ctr">
                        <a:buNone/>
                      </a:pPr>
                      <a:r>
                        <a:rPr lang="en-US" sz="1800" b="0" i="1" u="none" strike="noStrike" dirty="0">
                          <a:solidFill>
                            <a:srgbClr val="000000"/>
                          </a:solidFill>
                          <a:effectLst/>
                          <a:latin typeface="Times New Roman" panose="02020603050405020304" pitchFamily="18" charset="0"/>
                        </a:rPr>
                        <a:t>AI</a:t>
                      </a: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-0.046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0.226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0.000</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-0.120 </a:t>
                      </a:r>
                      <a:r>
                        <a:rPr lang="en-US" altLang="zh-CN" sz="1800" b="0" i="0" u="none" strike="noStrike" dirty="0">
                          <a:solidFill>
                            <a:srgbClr val="FF0000"/>
                          </a:solidFill>
                          <a:effectLst/>
                          <a:latin typeface="Times New Roman" panose="02020603050405020304" pitchFamily="18" charset="0"/>
                        </a:rPr>
                        <a:t>#</a:t>
                      </a:r>
                      <a:endParaRPr lang="en-US" sz="1800" b="0" i="0" u="none" strike="noStrike" dirty="0">
                        <a:solidFill>
                          <a:srgbClr val="FF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5373219"/>
                  </a:ext>
                </a:extLst>
              </a:tr>
              <a:tr h="297147">
                <a:tc vMerge="1">
                  <a:txBody>
                    <a:bodyPr/>
                    <a:lstStyle/>
                    <a:p>
                      <a:endParaRPr lang="en-US"/>
                    </a:p>
                  </a:txBody>
                  <a:tcPr/>
                </a:tc>
                <a:tc>
                  <a:txBody>
                    <a:bodyPr/>
                    <a:lstStyle/>
                    <a:p>
                      <a:pPr algn="ctr" fontAlgn="ctr">
                        <a:buNone/>
                      </a:pPr>
                      <a:r>
                        <a:rPr lang="en-US" sz="1800" b="0" i="0" u="none" strike="noStrike">
                          <a:solidFill>
                            <a:srgbClr val="000000"/>
                          </a:solidFill>
                          <a:effectLst/>
                          <a:latin typeface="Times New Roman" panose="02020603050405020304" pitchFamily="18" charset="0"/>
                        </a:rPr>
                        <a:t>(0.011)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(0.085)</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(0.007)</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(0.067)</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5601719"/>
                  </a:ext>
                </a:extLst>
              </a:tr>
              <a:tr h="297147">
                <a:tc rowSpan="2">
                  <a:txBody>
                    <a:bodyPr/>
                    <a:lstStyle/>
                    <a:p>
                      <a:pPr algn="l" fontAlgn="ctr">
                        <a:buNone/>
                      </a:pPr>
                      <a:r>
                        <a:rPr lang="en-US" sz="1800" b="0" i="1" u="none" strike="noStrike" dirty="0">
                          <a:solidFill>
                            <a:srgbClr val="000000"/>
                          </a:solidFill>
                          <a:effectLst/>
                          <a:latin typeface="Times New Roman" panose="02020603050405020304" pitchFamily="18" charset="0"/>
                        </a:rPr>
                        <a:t>AI * </a:t>
                      </a:r>
                      <a:r>
                        <a:rPr lang="en-US" altLang="zh-CN" sz="1800" b="0" i="1" u="none" strike="noStrike" dirty="0" err="1">
                          <a:solidFill>
                            <a:srgbClr val="000000"/>
                          </a:solidFill>
                          <a:effectLst/>
                          <a:latin typeface="Times New Roman" panose="02020603050405020304" pitchFamily="18" charset="0"/>
                        </a:rPr>
                        <a:t>Answer</a:t>
                      </a:r>
                      <a:r>
                        <a:rPr lang="en-US" sz="1800" b="0" i="1" u="none" strike="noStrike" dirty="0" err="1">
                          <a:solidFill>
                            <a:srgbClr val="000000"/>
                          </a:solidFill>
                          <a:effectLst/>
                          <a:latin typeface="Times New Roman" panose="02020603050405020304" pitchFamily="18" charset="0"/>
                        </a:rPr>
                        <a:t>Length</a:t>
                      </a:r>
                      <a:endParaRPr lang="en-US" sz="1800" b="0" i="1"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-0.045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-0.013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3967539"/>
                  </a:ext>
                </a:extLst>
              </a:tr>
              <a:tr h="297147">
                <a:tc vMerge="1">
                  <a:txBody>
                    <a:bodyPr/>
                    <a:lstStyle/>
                    <a:p>
                      <a:endParaRPr lang="en-US"/>
                    </a:p>
                  </a:txBody>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(0.014)</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(0.011)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9395254"/>
                  </a:ext>
                </a:extLst>
              </a:tr>
              <a:tr h="297147">
                <a:tc rowSpan="2">
                  <a:txBody>
                    <a:bodyPr/>
                    <a:lstStyle/>
                    <a:p>
                      <a:pPr algn="l" fontAlgn="ctr">
                        <a:buNone/>
                      </a:pPr>
                      <a:r>
                        <a:rPr lang="en-US" sz="1800" b="0" i="1" u="none" strike="noStrike" dirty="0">
                          <a:solidFill>
                            <a:srgbClr val="000000"/>
                          </a:solidFill>
                          <a:effectLst/>
                          <a:latin typeface="Times New Roman" panose="02020603050405020304" pitchFamily="18" charset="0"/>
                        </a:rPr>
                        <a:t>AI * </a:t>
                      </a:r>
                      <a:r>
                        <a:rPr lang="en-US" sz="1800" b="0" i="1" u="none" strike="noStrike" dirty="0" err="1">
                          <a:solidFill>
                            <a:srgbClr val="000000"/>
                          </a:solidFill>
                          <a:effectLst/>
                          <a:latin typeface="Times New Roman" panose="02020603050405020304" pitchFamily="18" charset="0"/>
                        </a:rPr>
                        <a:t>A</a:t>
                      </a:r>
                      <a:r>
                        <a:rPr lang="en-US" altLang="zh-CN" sz="1800" b="0" i="1" u="none" strike="noStrike" dirty="0" err="1">
                          <a:solidFill>
                            <a:srgbClr val="000000"/>
                          </a:solidFill>
                          <a:effectLst/>
                          <a:latin typeface="Times New Roman" panose="02020603050405020304" pitchFamily="18" charset="0"/>
                        </a:rPr>
                        <a:t>nswerQuality</a:t>
                      </a:r>
                      <a:endParaRPr lang="en-US" sz="1800" b="0" i="1" u="none" strike="noStrike" dirty="0">
                        <a:solidFill>
                          <a:srgbClr val="000000"/>
                        </a:solidFill>
                        <a:effectLst/>
                        <a:latin typeface="Times New Roman" panose="02020603050405020304" pitchFamily="18" charset="0"/>
                      </a:endParaRPr>
                    </a:p>
                  </a:txBody>
                  <a:tcPr marL="88049" marR="88049" marT="44025" marB="44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-0.038</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sz="1800" b="0" i="0" u="none" strike="noStrike" dirty="0">
                        <a:solidFill>
                          <a:srgbClr val="000000"/>
                        </a:solidFill>
                        <a:effectLst/>
                        <a:latin typeface="Times New Roman" panose="02020603050405020304" pitchFamily="18" charset="0"/>
                      </a:endParaRP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0.350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5025830"/>
                  </a:ext>
                </a:extLst>
              </a:tr>
              <a:tr h="297147">
                <a:tc vMerge="1">
                  <a:txBody>
                    <a:bodyPr/>
                    <a:lstStyle/>
                    <a:p>
                      <a:endParaRPr lang="en-US"/>
                    </a:p>
                  </a:txBody>
                  <a:tcPr/>
                </a:tc>
                <a:tc>
                  <a:txBody>
                    <a:bodyPr/>
                    <a:lstStyle/>
                    <a:p>
                      <a:pPr algn="ctr" fontAlgn="ctr">
                        <a:buNone/>
                      </a:pPr>
                      <a:r>
                        <a:rPr lang="en-US" sz="1800" b="0" i="0" u="none" strike="noStrike">
                          <a:solidFill>
                            <a:srgbClr val="000000"/>
                          </a:solidFill>
                          <a:effectLst/>
                          <a:latin typeface="Times New Roman" panose="02020603050405020304" pitchFamily="18" charset="0"/>
                        </a:rPr>
                        <a:t>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(0.051)</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 </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FF0000"/>
                          </a:solidFill>
                          <a:effectLst/>
                          <a:latin typeface="Times New Roman" panose="02020603050405020304" pitchFamily="18" charset="0"/>
                        </a:rPr>
                        <a:t>(0.034)</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975476"/>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question controls</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0207335"/>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questioner controls</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2989340"/>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question timing FE</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832091"/>
                  </a:ext>
                </a:extLst>
              </a:tr>
              <a:tr h="297147">
                <a:tc>
                  <a:txBody>
                    <a:bodyPr/>
                    <a:lstStyle/>
                    <a:p>
                      <a:pPr algn="l" fontAlgn="ctr">
                        <a:buNone/>
                      </a:pPr>
                      <a:r>
                        <a:rPr lang="zh-CN" altLang="en-US" sz="1800" b="0" i="0" u="none" strike="noStrike" dirty="0">
                          <a:solidFill>
                            <a:srgbClr val="000000"/>
                          </a:solidFill>
                          <a:effectLst/>
                          <a:latin typeface="Times New Roman" panose="02020603050405020304" pitchFamily="18" charset="0"/>
                        </a:rPr>
                        <a:t> </a:t>
                      </a:r>
                      <a:r>
                        <a:rPr lang="en-US" sz="1800" b="0" i="0" u="none" strike="noStrike" dirty="0">
                          <a:solidFill>
                            <a:srgbClr val="000000"/>
                          </a:solidFill>
                          <a:effectLst/>
                          <a:latin typeface="Times New Roman" panose="02020603050405020304" pitchFamily="18" charset="0"/>
                        </a:rPr>
                        <a:t>N</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3,613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a:solidFill>
                            <a:srgbClr val="000000"/>
                          </a:solidFill>
                          <a:effectLst/>
                          <a:latin typeface="Times New Roman" panose="02020603050405020304" pitchFamily="18" charset="0"/>
                        </a:rPr>
                        <a:t>3,603</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2,685</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800" b="0" i="0" u="none" strike="noStrike" dirty="0">
                          <a:solidFill>
                            <a:srgbClr val="000000"/>
                          </a:solidFill>
                          <a:effectLst/>
                          <a:latin typeface="Times New Roman" panose="02020603050405020304" pitchFamily="18" charset="0"/>
                        </a:rPr>
                        <a:t>2,685</a:t>
                      </a:r>
                    </a:p>
                  </a:txBody>
                  <a:tcPr marL="6825" marR="6825" marT="68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171558"/>
                  </a:ext>
                </a:extLst>
              </a:tr>
            </a:tbl>
          </a:graphicData>
        </a:graphic>
      </p:graphicFrame>
      <p:sp>
        <p:nvSpPr>
          <p:cNvPr id="3" name="Slide Number Placeholder 2">
            <a:extLst>
              <a:ext uri="{FF2B5EF4-FFF2-40B4-BE49-F238E27FC236}">
                <a16:creationId xmlns:a16="http://schemas.microsoft.com/office/drawing/2014/main" id="{FFC4745E-9629-A916-E06D-62DEB5270667}"/>
              </a:ext>
            </a:extLst>
          </p:cNvPr>
          <p:cNvSpPr>
            <a:spLocks noGrp="1"/>
          </p:cNvSpPr>
          <p:nvPr>
            <p:ph type="sldNum" sz="quarter" idx="12"/>
          </p:nvPr>
        </p:nvSpPr>
        <p:spPr/>
        <p:txBody>
          <a:bodyPr/>
          <a:lstStyle/>
          <a:p>
            <a:fld id="{80E9C1D4-69BA-4B09-8A24-1CCDDD1AB85B}" type="slidenum">
              <a:rPr lang="zh-CN" altLang="en-US" smtClean="0"/>
              <a:t>16</a:t>
            </a:fld>
            <a:endParaRPr lang="zh-CN" altLang="en-US"/>
          </a:p>
        </p:txBody>
      </p:sp>
      <p:sp>
        <p:nvSpPr>
          <p:cNvPr id="5" name="TextBox 4">
            <a:extLst>
              <a:ext uri="{FF2B5EF4-FFF2-40B4-BE49-F238E27FC236}">
                <a16:creationId xmlns:a16="http://schemas.microsoft.com/office/drawing/2014/main" id="{DC5EBC02-B170-E80B-AB28-04B8616088BD}"/>
              </a:ext>
            </a:extLst>
          </p:cNvPr>
          <p:cNvSpPr txBox="1"/>
          <p:nvPr/>
        </p:nvSpPr>
        <p:spPr>
          <a:xfrm>
            <a:off x="628650" y="4684990"/>
            <a:ext cx="4785990" cy="369332"/>
          </a:xfrm>
          <a:prstGeom prst="rect">
            <a:avLst/>
          </a:prstGeom>
          <a:noFill/>
        </p:spPr>
        <p:txBody>
          <a:bodyPr wrap="none" rtlCol="0">
            <a:spAutoFit/>
          </a:bodyPr>
          <a:lstStyle/>
          <a:p>
            <a:r>
              <a:rPr lang="en-US" altLang="zh-CN" dirty="0"/>
              <a:t>Notes:</a:t>
            </a:r>
            <a:r>
              <a:rPr lang="zh-CN" altLang="en-US" dirty="0"/>
              <a:t> </a:t>
            </a:r>
            <a:r>
              <a:rPr lang="en-US" altLang="zh-CN" dirty="0"/>
              <a:t>#</a:t>
            </a:r>
            <a:r>
              <a:rPr lang="zh-CN" altLang="en-US" dirty="0"/>
              <a:t> </a:t>
            </a:r>
            <a:r>
              <a:rPr lang="en-US" altLang="zh-CN" dirty="0"/>
              <a:t>p&lt;0.1,</a:t>
            </a:r>
            <a:r>
              <a:rPr lang="zh-CN" altLang="en-US" dirty="0"/>
              <a:t> * </a:t>
            </a:r>
            <a:r>
              <a:rPr lang="en-US" altLang="zh-CN" dirty="0"/>
              <a:t>p&lt;0.05,</a:t>
            </a:r>
            <a:r>
              <a:rPr lang="zh-CN" altLang="en-US" dirty="0"/>
              <a:t> ** </a:t>
            </a:r>
            <a:r>
              <a:rPr lang="en-US" altLang="zh-CN" dirty="0"/>
              <a:t>p&lt;0.01,</a:t>
            </a:r>
            <a:r>
              <a:rPr lang="zh-CN" altLang="en-US" dirty="0"/>
              <a:t> *** </a:t>
            </a:r>
            <a:r>
              <a:rPr lang="en-US" altLang="zh-CN" dirty="0"/>
              <a:t>p&lt;0.001</a:t>
            </a:r>
            <a:endParaRPr lang="en-US" dirty="0"/>
          </a:p>
        </p:txBody>
      </p:sp>
    </p:spTree>
    <p:extLst>
      <p:ext uri="{BB962C8B-B14F-4D97-AF65-F5344CB8AC3E}">
        <p14:creationId xmlns:p14="http://schemas.microsoft.com/office/powerpoint/2010/main" val="2150637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B8865-479E-020B-598B-4CC4C1DE098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BA42F86-65FF-EC54-3AA5-D3C035E41F8A}"/>
              </a:ext>
            </a:extLst>
          </p:cNvPr>
          <p:cNvSpPr>
            <a:spLocks noGrp="1"/>
          </p:cNvSpPr>
          <p:nvPr>
            <p:ph type="title"/>
          </p:nvPr>
        </p:nvSpPr>
        <p:spPr/>
        <p:txBody>
          <a:bodyPr>
            <a:noAutofit/>
          </a:bodyPr>
          <a:lstStyle/>
          <a:p>
            <a:r>
              <a:rPr lang="en-US" altLang="en-US" sz="2800" dirty="0"/>
              <a:t>Competition Effect on Contribution </a:t>
            </a:r>
            <a:br>
              <a:rPr lang="en-US" altLang="en-US" sz="2800" dirty="0"/>
            </a:br>
            <a:r>
              <a:rPr lang="en-US" altLang="en-US" sz="2400" dirty="0"/>
              <a:t>(Fast Processing — Length as Signal)</a:t>
            </a:r>
            <a:endParaRPr lang="en-US" altLang="en-US" sz="2800" dirty="0"/>
          </a:p>
        </p:txBody>
      </p:sp>
      <p:sp>
        <p:nvSpPr>
          <p:cNvPr id="17" name="Rectangle 16">
            <a:extLst>
              <a:ext uri="{FF2B5EF4-FFF2-40B4-BE49-F238E27FC236}">
                <a16:creationId xmlns:a16="http://schemas.microsoft.com/office/drawing/2014/main" id="{B208F7C9-4A9C-1F9F-BA57-4D49B0CC1856}"/>
              </a:ext>
            </a:extLst>
          </p:cNvPr>
          <p:cNvSpPr/>
          <p:nvPr/>
        </p:nvSpPr>
        <p:spPr>
          <a:xfrm>
            <a:off x="5657064" y="1260888"/>
            <a:ext cx="1252317" cy="47811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a:t>
            </a:r>
            <a:r>
              <a:rPr lang="en-US" altLang="zh-CN" sz="1200" dirty="0"/>
              <a:t>er</a:t>
            </a:r>
            <a:r>
              <a:rPr lang="en-US" sz="1200" dirty="0"/>
              <a:t> Participation</a:t>
            </a:r>
          </a:p>
        </p:txBody>
      </p:sp>
      <p:sp>
        <p:nvSpPr>
          <p:cNvPr id="18" name="Rectangle 17">
            <a:extLst>
              <a:ext uri="{FF2B5EF4-FFF2-40B4-BE49-F238E27FC236}">
                <a16:creationId xmlns:a16="http://schemas.microsoft.com/office/drawing/2014/main" id="{7E946679-34AF-90CE-80B5-0ED9711DBCC3}"/>
              </a:ext>
            </a:extLst>
          </p:cNvPr>
          <p:cNvSpPr/>
          <p:nvPr/>
        </p:nvSpPr>
        <p:spPr>
          <a:xfrm>
            <a:off x="2385168" y="1273337"/>
            <a:ext cx="1161971" cy="46130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19" name="Straight Arrow Connector 18">
            <a:extLst>
              <a:ext uri="{FF2B5EF4-FFF2-40B4-BE49-F238E27FC236}">
                <a16:creationId xmlns:a16="http://schemas.microsoft.com/office/drawing/2014/main" id="{A0FBC2D5-E3EA-56C8-6ABC-47DD504C91A5}"/>
              </a:ext>
            </a:extLst>
          </p:cNvPr>
          <p:cNvCxnSpPr>
            <a:cxnSpLocks/>
            <a:stCxn id="18" idx="3"/>
            <a:endCxn id="17" idx="1"/>
          </p:cNvCxnSpPr>
          <p:nvPr/>
        </p:nvCxnSpPr>
        <p:spPr>
          <a:xfrm flipV="1">
            <a:off x="3547139" y="1499947"/>
            <a:ext cx="2109925" cy="4041"/>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FA56E17-74DF-D9A6-7061-44E6249916BB}"/>
              </a:ext>
            </a:extLst>
          </p:cNvPr>
          <p:cNvCxnSpPr>
            <a:cxnSpLocks/>
            <a:stCxn id="21" idx="0"/>
          </p:cNvCxnSpPr>
          <p:nvPr/>
        </p:nvCxnSpPr>
        <p:spPr>
          <a:xfrm flipV="1">
            <a:off x="4609827" y="1508988"/>
            <a:ext cx="0" cy="293816"/>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05E8233C-584F-5A85-CF30-510DA440557A}"/>
              </a:ext>
            </a:extLst>
          </p:cNvPr>
          <p:cNvSpPr/>
          <p:nvPr/>
        </p:nvSpPr>
        <p:spPr>
          <a:xfrm>
            <a:off x="4160151" y="1802804"/>
            <a:ext cx="899352" cy="451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Length</a:t>
            </a:r>
          </a:p>
        </p:txBody>
      </p:sp>
      <p:sp>
        <p:nvSpPr>
          <p:cNvPr id="26" name="Content Placeholder 2">
            <a:extLst>
              <a:ext uri="{FF2B5EF4-FFF2-40B4-BE49-F238E27FC236}">
                <a16:creationId xmlns:a16="http://schemas.microsoft.com/office/drawing/2014/main" id="{15F01599-37F9-F2BE-54CE-D513EFD0917D}"/>
              </a:ext>
            </a:extLst>
          </p:cNvPr>
          <p:cNvSpPr txBox="1">
            <a:spLocks/>
          </p:cNvSpPr>
          <p:nvPr/>
        </p:nvSpPr>
        <p:spPr>
          <a:xfrm>
            <a:off x="628650" y="2482850"/>
            <a:ext cx="7962457" cy="24427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1600" dirty="0">
                <a:latin typeface="+mj-lt"/>
              </a:rPr>
              <a:t>H1: AI presence increases human contribution.</a:t>
            </a:r>
            <a:r>
              <a:rPr lang="zh-CN" altLang="en-US" sz="1600" dirty="0">
                <a:latin typeface="+mj-lt"/>
              </a:rPr>
              <a:t> </a:t>
            </a:r>
            <a:r>
              <a:rPr lang="en-US" sz="1600" b="1" dirty="0">
                <a:solidFill>
                  <a:srgbClr val="000000"/>
                </a:solidFill>
                <a:latin typeface="+mj-lt"/>
              </a:rPr>
              <a:t>(Competitive Arousal Theory)</a:t>
            </a:r>
            <a:endParaRPr lang="en-US" altLang="en-US" sz="1600" dirty="0">
              <a:latin typeface="+mj-lt"/>
            </a:endParaRPr>
          </a:p>
          <a:p>
            <a:pPr lvl="1"/>
            <a:r>
              <a:rPr lang="en-US" sz="1400" dirty="0">
                <a:latin typeface="+mj-lt"/>
              </a:rPr>
              <a:t>The mere presence of </a:t>
            </a:r>
            <a:r>
              <a:rPr lang="en-US" altLang="zh-CN" sz="1400" dirty="0">
                <a:latin typeface="+mj-lt"/>
              </a:rPr>
              <a:t>AI</a:t>
            </a:r>
            <a:r>
              <a:rPr lang="zh-CN" altLang="en-US" sz="1400" dirty="0">
                <a:latin typeface="+mj-lt"/>
              </a:rPr>
              <a:t> </a:t>
            </a:r>
            <a:r>
              <a:rPr lang="en-US" altLang="zh-CN" sz="1400" dirty="0">
                <a:latin typeface="+mj-lt"/>
              </a:rPr>
              <a:t>answer</a:t>
            </a:r>
            <a:r>
              <a:rPr lang="en-US" sz="1400" dirty="0">
                <a:latin typeface="+mj-lt"/>
              </a:rPr>
              <a:t> triggers competitive arousal — a heightened motivation to act (Ku et al., 2005)</a:t>
            </a:r>
          </a:p>
          <a:p>
            <a:pPr lvl="1"/>
            <a:r>
              <a:rPr lang="en-US" sz="1400" dirty="0">
                <a:latin typeface="+mj-lt"/>
              </a:rPr>
              <a:t>Human experts perceive AI as a "weak" intruder in their domain → high winning probability → arousal converts into action</a:t>
            </a:r>
          </a:p>
          <a:p>
            <a:pPr lvl="1"/>
            <a:r>
              <a:rPr lang="en-US" sz="1400" dirty="0">
                <a:latin typeface="+mj-lt"/>
              </a:rPr>
              <a:t>This is a fast, label-driven response: seeing "AI" is enough to trigger the impulse to compete</a:t>
            </a:r>
            <a:endParaRPr lang="en-US" altLang="en-US" sz="1400" dirty="0">
              <a:latin typeface="+mj-lt"/>
            </a:endParaRPr>
          </a:p>
          <a:p>
            <a:r>
              <a:rPr lang="en-US" altLang="en-US" sz="1600" dirty="0">
                <a:latin typeface="+mj-lt"/>
              </a:rPr>
              <a:t>H2: </a:t>
            </a:r>
            <a:r>
              <a:rPr lang="en-US" sz="1600" dirty="0">
                <a:latin typeface="+mj-lt"/>
              </a:rPr>
              <a:t>AI answer length attenuates H1</a:t>
            </a:r>
            <a:r>
              <a:rPr lang="en-US" altLang="en-US" sz="1600" dirty="0">
                <a:latin typeface="+mj-lt"/>
              </a:rPr>
              <a:t>.</a:t>
            </a:r>
            <a:r>
              <a:rPr lang="zh-CN" altLang="en-US" sz="1600" dirty="0">
                <a:latin typeface="+mj-lt"/>
              </a:rPr>
              <a:t> </a:t>
            </a:r>
            <a:r>
              <a:rPr lang="en-US" altLang="zh-CN" sz="1600" b="1" dirty="0">
                <a:latin typeface="+mj-lt"/>
              </a:rPr>
              <a:t>(</a:t>
            </a:r>
            <a:r>
              <a:rPr lang="en-US" sz="1600" b="1" dirty="0">
                <a:latin typeface="+mj-lt"/>
              </a:rPr>
              <a:t>Competitive Dynamics Theory</a:t>
            </a:r>
            <a:r>
              <a:rPr lang="en-US" altLang="zh-CN" sz="1600" b="1" dirty="0">
                <a:latin typeface="+mj-lt"/>
              </a:rPr>
              <a:t>)</a:t>
            </a:r>
            <a:endParaRPr lang="en-US" altLang="en-US" sz="1600" b="1" dirty="0">
              <a:latin typeface="+mj-lt"/>
            </a:endParaRPr>
          </a:p>
          <a:p>
            <a:pPr lvl="1"/>
            <a:r>
              <a:rPr lang="en-US" sz="1400" dirty="0">
                <a:latin typeface="+mj-lt"/>
              </a:rPr>
              <a:t>Competitive Dynamics Theory: "If the response will require substantial resource commitment, rivals are less likely to respond and will respond more slowly" (Chen, 1996).</a:t>
            </a:r>
            <a:endParaRPr lang="en-US" altLang="en-US" sz="1400" dirty="0">
              <a:latin typeface="+mj-lt"/>
            </a:endParaRPr>
          </a:p>
          <a:p>
            <a:pPr lvl="1"/>
            <a:r>
              <a:rPr lang="en-US" sz="1400" dirty="0">
                <a:latin typeface="+mj-lt"/>
              </a:rPr>
              <a:t>Length is a fast-processed heuristic — humans see a long AI answer without reading it carefully → signals high resource commitment needed to compete</a:t>
            </a:r>
            <a:r>
              <a:rPr lang="zh-CN" altLang="en-US" sz="1400" dirty="0">
                <a:latin typeface="+mj-lt"/>
              </a:rPr>
              <a:t> </a:t>
            </a:r>
            <a:r>
              <a:rPr lang="en-US" sz="1400" dirty="0">
                <a:latin typeface="+mj-lt"/>
              </a:rPr>
              <a:t>→ contribution effect attenuated.</a:t>
            </a:r>
          </a:p>
          <a:p>
            <a:endParaRPr lang="en-US" dirty="0">
              <a:latin typeface="+mj-lt"/>
            </a:endParaRPr>
          </a:p>
        </p:txBody>
      </p:sp>
      <p:sp>
        <p:nvSpPr>
          <p:cNvPr id="2" name="Slide Number Placeholder 1">
            <a:extLst>
              <a:ext uri="{FF2B5EF4-FFF2-40B4-BE49-F238E27FC236}">
                <a16:creationId xmlns:a16="http://schemas.microsoft.com/office/drawing/2014/main" id="{244FE439-04A5-549B-C9BE-C45C9D9539C9}"/>
              </a:ext>
            </a:extLst>
          </p:cNvPr>
          <p:cNvSpPr>
            <a:spLocks noGrp="1"/>
          </p:cNvSpPr>
          <p:nvPr>
            <p:ph type="sldNum" sz="quarter" idx="12"/>
          </p:nvPr>
        </p:nvSpPr>
        <p:spPr/>
        <p:txBody>
          <a:bodyPr/>
          <a:lstStyle/>
          <a:p>
            <a:fld id="{80E9C1D4-69BA-4B09-8A24-1CCDDD1AB85B}" type="slidenum">
              <a:rPr lang="zh-CN" altLang="en-US" smtClean="0"/>
              <a:t>17</a:t>
            </a:fld>
            <a:endParaRPr lang="zh-CN" altLang="en-US" dirty="0"/>
          </a:p>
        </p:txBody>
      </p:sp>
    </p:spTree>
    <p:extLst>
      <p:ext uri="{BB962C8B-B14F-4D97-AF65-F5344CB8AC3E}">
        <p14:creationId xmlns:p14="http://schemas.microsoft.com/office/powerpoint/2010/main" val="3701123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1FAF9-E469-862E-3CAB-A18E4AE5FD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653790-ABBD-D212-2A6A-5AF0AE86CFF6}"/>
              </a:ext>
            </a:extLst>
          </p:cNvPr>
          <p:cNvSpPr>
            <a:spLocks noGrp="1"/>
          </p:cNvSpPr>
          <p:nvPr>
            <p:ph type="title"/>
          </p:nvPr>
        </p:nvSpPr>
        <p:spPr/>
        <p:txBody>
          <a:bodyPr>
            <a:noAutofit/>
          </a:bodyPr>
          <a:lstStyle/>
          <a:p>
            <a:r>
              <a:rPr lang="en-US" altLang="en-US" sz="2800" dirty="0"/>
              <a:t>Competition Effect on Answer Quality </a:t>
            </a:r>
            <a:br>
              <a:rPr lang="en-US" altLang="en-US" sz="2800" dirty="0"/>
            </a:br>
            <a:r>
              <a:rPr lang="en-US" altLang="en-US" sz="2400" dirty="0"/>
              <a:t>(Slow Processing — Quality as Benchmark)</a:t>
            </a:r>
            <a:endParaRPr lang="en-US" altLang="en-US" sz="2000" dirty="0"/>
          </a:p>
        </p:txBody>
      </p:sp>
      <p:sp>
        <p:nvSpPr>
          <p:cNvPr id="26" name="Content Placeholder 2">
            <a:extLst>
              <a:ext uri="{FF2B5EF4-FFF2-40B4-BE49-F238E27FC236}">
                <a16:creationId xmlns:a16="http://schemas.microsoft.com/office/drawing/2014/main" id="{F930E884-9728-7412-F7E0-DD37B209E0CF}"/>
              </a:ext>
            </a:extLst>
          </p:cNvPr>
          <p:cNvSpPr txBox="1">
            <a:spLocks/>
          </p:cNvSpPr>
          <p:nvPr/>
        </p:nvSpPr>
        <p:spPr>
          <a:xfrm>
            <a:off x="628650" y="2145575"/>
            <a:ext cx="7962457" cy="244277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en-US" sz="1600" dirty="0">
                <a:latin typeface="+mj-lt"/>
              </a:rPr>
              <a:t>H3: AI presence decreases human answer quality.</a:t>
            </a:r>
            <a:r>
              <a:rPr lang="zh-CN" altLang="en-US" sz="1600" dirty="0">
                <a:latin typeface="+mj-lt"/>
              </a:rPr>
              <a:t> </a:t>
            </a:r>
            <a:r>
              <a:rPr lang="en-US" altLang="zh-CN" sz="1600" b="1" dirty="0">
                <a:latin typeface="+mj-lt"/>
              </a:rPr>
              <a:t>(</a:t>
            </a:r>
            <a:r>
              <a:rPr lang="en-US" sz="1600" b="1" dirty="0">
                <a:latin typeface="+mj-lt"/>
              </a:rPr>
              <a:t>Downward Social Comparison Theory</a:t>
            </a:r>
            <a:r>
              <a:rPr lang="en-US" altLang="zh-CN" sz="1600" b="1" dirty="0">
                <a:latin typeface="+mj-lt"/>
              </a:rPr>
              <a:t>)</a:t>
            </a:r>
            <a:endParaRPr lang="en-US" altLang="en-US" sz="1800" dirty="0">
              <a:solidFill>
                <a:srgbClr val="000000"/>
              </a:solidFill>
              <a:latin typeface="+mj-lt"/>
            </a:endParaRPr>
          </a:p>
          <a:p>
            <a:pPr lvl="1" fontAlgn="base">
              <a:spcAft>
                <a:spcPct val="0"/>
              </a:spcAft>
            </a:pPr>
            <a:r>
              <a:rPr lang="en-US" altLang="en-US" sz="1400" dirty="0">
                <a:latin typeface="+mj-lt"/>
              </a:rPr>
              <a:t>Downward Social Comparison Theory: comparing with a weaker target is a psychological strategy that substitutes for instrumental action (Wills, 1981). </a:t>
            </a:r>
          </a:p>
          <a:p>
            <a:pPr lvl="1" fontAlgn="base">
              <a:spcAft>
                <a:spcPct val="0"/>
              </a:spcAft>
            </a:pPr>
            <a:r>
              <a:rPr lang="en-US" altLang="en-US" sz="1400" dirty="0">
                <a:latin typeface="+mj-lt"/>
              </a:rPr>
              <a:t>Humans perceive AI as inferior → downward comparison provides self-enhancement (“I‘m already better”) → replaces actual effort to improve</a:t>
            </a:r>
            <a:r>
              <a:rPr lang="zh-CN" altLang="en-US" sz="1400" dirty="0">
                <a:latin typeface="+mj-lt"/>
              </a:rPr>
              <a:t> </a:t>
            </a:r>
            <a:r>
              <a:rPr lang="en-US" altLang="en-US" sz="1400" dirty="0">
                <a:latin typeface="+mj-lt"/>
              </a:rPr>
              <a:t>→ lower quality.</a:t>
            </a:r>
          </a:p>
          <a:p>
            <a:r>
              <a:rPr lang="en-US" altLang="en-US" sz="1600" dirty="0">
                <a:latin typeface="+mj-lt"/>
              </a:rPr>
              <a:t>H4: </a:t>
            </a:r>
            <a:r>
              <a:rPr lang="en-US" sz="1600" dirty="0">
                <a:latin typeface="+mj-lt"/>
              </a:rPr>
              <a:t>AI answer quality reverses H3.</a:t>
            </a:r>
          </a:p>
          <a:p>
            <a:pPr lvl="1"/>
            <a:r>
              <a:rPr lang="en-US" sz="1400" dirty="0">
                <a:latin typeface="+mj-lt"/>
              </a:rPr>
              <a:t>Goal Setting Theory: "The highest or most difficult goals produced the highest levels of effort and performance" (Locke &amp; Latham, 2002).</a:t>
            </a:r>
            <a:endParaRPr lang="en-US" altLang="en-US" sz="1400" dirty="0">
              <a:latin typeface="+mj-lt"/>
            </a:endParaRPr>
          </a:p>
          <a:p>
            <a:pPr lvl="1"/>
            <a:r>
              <a:rPr lang="en-US" altLang="en-US" sz="1400" dirty="0">
                <a:latin typeface="+mj-lt"/>
              </a:rPr>
              <a:t>High AI quality can only be assessed through slow, deliberate processing → once recognized, it shatters the "weak competitor" assumption.</a:t>
            </a:r>
          </a:p>
          <a:p>
            <a:pPr lvl="1"/>
            <a:r>
              <a:rPr lang="en-US" sz="1400" dirty="0">
                <a:latin typeface="+mj-lt"/>
              </a:rPr>
              <a:t>A high-quality AI answer serves as a specific, challenging goal to surpass → triggers genuine effort investment → quality rises.</a:t>
            </a:r>
          </a:p>
          <a:p>
            <a:pPr lvl="1"/>
            <a:r>
              <a:rPr lang="en-US" altLang="en-US" sz="1400" b="1" i="1" dirty="0">
                <a:latin typeface="+mj-lt"/>
              </a:rPr>
              <a:t>"The AI is actually good — I must prove I'm better."</a:t>
            </a:r>
            <a:endParaRPr lang="en-US" altLang="en-US" sz="1400" b="1" dirty="0">
              <a:latin typeface="+mj-lt"/>
            </a:endParaRPr>
          </a:p>
        </p:txBody>
      </p:sp>
      <p:sp>
        <p:nvSpPr>
          <p:cNvPr id="2" name="Rectangle 1">
            <a:extLst>
              <a:ext uri="{FF2B5EF4-FFF2-40B4-BE49-F238E27FC236}">
                <a16:creationId xmlns:a16="http://schemas.microsoft.com/office/drawing/2014/main" id="{737DE470-EC30-0ABA-A837-D0D08F949255}"/>
              </a:ext>
            </a:extLst>
          </p:cNvPr>
          <p:cNvSpPr/>
          <p:nvPr/>
        </p:nvSpPr>
        <p:spPr>
          <a:xfrm>
            <a:off x="5657064" y="1108488"/>
            <a:ext cx="1252317" cy="478118"/>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Answer </a:t>
            </a:r>
            <a:r>
              <a:rPr lang="en-US" altLang="zh-CN" sz="1200" dirty="0"/>
              <a:t>Quality</a:t>
            </a:r>
            <a:endParaRPr lang="en-US" sz="1200" dirty="0"/>
          </a:p>
        </p:txBody>
      </p:sp>
      <p:sp>
        <p:nvSpPr>
          <p:cNvPr id="3" name="Rectangle 2">
            <a:extLst>
              <a:ext uri="{FF2B5EF4-FFF2-40B4-BE49-F238E27FC236}">
                <a16:creationId xmlns:a16="http://schemas.microsoft.com/office/drawing/2014/main" id="{2B8E1A41-363D-9F46-97EA-13AAE170B262}"/>
              </a:ext>
            </a:extLst>
          </p:cNvPr>
          <p:cNvSpPr/>
          <p:nvPr/>
        </p:nvSpPr>
        <p:spPr>
          <a:xfrm>
            <a:off x="2385168" y="1120937"/>
            <a:ext cx="1161971" cy="46130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Has AI Answer</a:t>
            </a:r>
          </a:p>
        </p:txBody>
      </p:sp>
      <p:cxnSp>
        <p:nvCxnSpPr>
          <p:cNvPr id="5" name="Straight Arrow Connector 4">
            <a:extLst>
              <a:ext uri="{FF2B5EF4-FFF2-40B4-BE49-F238E27FC236}">
                <a16:creationId xmlns:a16="http://schemas.microsoft.com/office/drawing/2014/main" id="{C67DD72D-D887-D931-A0D5-C475475C33C1}"/>
              </a:ext>
            </a:extLst>
          </p:cNvPr>
          <p:cNvCxnSpPr>
            <a:cxnSpLocks/>
            <a:stCxn id="3" idx="3"/>
            <a:endCxn id="2" idx="1"/>
          </p:cNvCxnSpPr>
          <p:nvPr/>
        </p:nvCxnSpPr>
        <p:spPr>
          <a:xfrm flipV="1">
            <a:off x="3547139" y="1347547"/>
            <a:ext cx="2109925" cy="4041"/>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FE73F53-BDB1-14F8-5F06-CB62372E610C}"/>
              </a:ext>
            </a:extLst>
          </p:cNvPr>
          <p:cNvCxnSpPr>
            <a:cxnSpLocks/>
            <a:stCxn id="7" idx="0"/>
          </p:cNvCxnSpPr>
          <p:nvPr/>
        </p:nvCxnSpPr>
        <p:spPr>
          <a:xfrm flipV="1">
            <a:off x="4609827" y="1356588"/>
            <a:ext cx="0" cy="293816"/>
          </a:xfrm>
          <a:prstGeom prst="straightConnector1">
            <a:avLst/>
          </a:prstGeom>
          <a:ln w="317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B105E9E7-5F4A-9AF3-0FF5-4EAEA7346675}"/>
              </a:ext>
            </a:extLst>
          </p:cNvPr>
          <p:cNvSpPr/>
          <p:nvPr/>
        </p:nvSpPr>
        <p:spPr>
          <a:xfrm>
            <a:off x="4160151" y="1650404"/>
            <a:ext cx="899352" cy="451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AI Answer </a:t>
            </a:r>
            <a:r>
              <a:rPr lang="en-US" altLang="zh-CN" sz="1200" dirty="0"/>
              <a:t>Quality</a:t>
            </a:r>
            <a:endParaRPr lang="en-US" sz="1200" dirty="0"/>
          </a:p>
        </p:txBody>
      </p:sp>
      <p:sp>
        <p:nvSpPr>
          <p:cNvPr id="8" name="Slide Number Placeholder 7">
            <a:extLst>
              <a:ext uri="{FF2B5EF4-FFF2-40B4-BE49-F238E27FC236}">
                <a16:creationId xmlns:a16="http://schemas.microsoft.com/office/drawing/2014/main" id="{9FA78C4F-BD07-61A5-BC2F-23B4B65A07CD}"/>
              </a:ext>
            </a:extLst>
          </p:cNvPr>
          <p:cNvSpPr>
            <a:spLocks noGrp="1"/>
          </p:cNvSpPr>
          <p:nvPr>
            <p:ph type="sldNum" sz="quarter" idx="12"/>
          </p:nvPr>
        </p:nvSpPr>
        <p:spPr/>
        <p:txBody>
          <a:bodyPr/>
          <a:lstStyle/>
          <a:p>
            <a:fld id="{80E9C1D4-69BA-4B09-8A24-1CCDDD1AB85B}" type="slidenum">
              <a:rPr lang="zh-CN" altLang="en-US" smtClean="0"/>
              <a:t>18</a:t>
            </a:fld>
            <a:endParaRPr lang="zh-CN" altLang="en-US"/>
          </a:p>
        </p:txBody>
      </p:sp>
    </p:spTree>
    <p:extLst>
      <p:ext uri="{BB962C8B-B14F-4D97-AF65-F5344CB8AC3E}">
        <p14:creationId xmlns:p14="http://schemas.microsoft.com/office/powerpoint/2010/main" val="153831729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95431</TotalTime>
  <Words>3500</Words>
  <Application>Microsoft Macintosh PowerPoint</Application>
  <PresentationFormat>On-screen Show (16:9)</PresentationFormat>
  <Paragraphs>312</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Calibri</vt:lpstr>
      <vt:lpstr>Georgia</vt:lpstr>
      <vt:lpstr>Times New Roman</vt:lpstr>
      <vt:lpstr>等线</vt:lpstr>
      <vt:lpstr>Arial</vt:lpstr>
      <vt:lpstr>Calibri Light</vt:lpstr>
      <vt:lpstr>Office 2013 - 2022 Theme</vt:lpstr>
      <vt:lpstr>MISQ Paper Revision Plan</vt:lpstr>
      <vt:lpstr>Outline</vt:lpstr>
      <vt:lpstr>Background</vt:lpstr>
      <vt:lpstr>A randomized field experiment on SegmentFault</vt:lpstr>
      <vt:lpstr>Original framing (not drawn in the paper)</vt:lpstr>
      <vt:lpstr>Review panel’s major concerns</vt:lpstr>
      <vt:lpstr>SE’s suggestions</vt:lpstr>
      <vt:lpstr>Simplify the model</vt:lpstr>
      <vt:lpstr>New framework</vt:lpstr>
      <vt:lpstr>AI’s two roles in competition</vt:lpstr>
      <vt:lpstr>Fast and slow: two different decisions</vt:lpstr>
      <vt:lpstr>Theoretical Development:  Competition with a "Weaker" Competitor</vt:lpstr>
      <vt:lpstr>New results</vt:lpstr>
      <vt:lpstr>Reconcile prior findings (Su et. al, 2023)</vt:lpstr>
      <vt:lpstr>Thank you</vt:lpstr>
      <vt:lpstr>Appendix</vt:lpstr>
      <vt:lpstr>Our new main results</vt:lpstr>
      <vt:lpstr>Competition Effect on Contribution  (Fast Processing — Length as Signal)</vt:lpstr>
      <vt:lpstr>Competition Effect on Answer Quality  (Slow Processing — Quality as Benchmark)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Zhang Siyu</dc:creator>
  <cp:keywords/>
  <dc:description/>
  <cp:lastModifiedBy>Dylan CHEN</cp:lastModifiedBy>
  <cp:revision>454</cp:revision>
  <dcterms:created xsi:type="dcterms:W3CDTF">2020-04-20T03:29:34Z</dcterms:created>
  <dcterms:modified xsi:type="dcterms:W3CDTF">2026-06-15T09:53:02Z</dcterms:modified>
  <cp:category/>
</cp:coreProperties>
</file>