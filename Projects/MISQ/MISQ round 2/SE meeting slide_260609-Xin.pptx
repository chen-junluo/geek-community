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54" r:id="rId1"/>
  </p:sldMasterIdLst>
  <p:notesMasterIdLst>
    <p:notesMasterId r:id="rId17"/>
  </p:notesMasterIdLst>
  <p:sldIdLst>
    <p:sldId id="351" r:id="rId2"/>
    <p:sldId id="352" r:id="rId3"/>
    <p:sldId id="353" r:id="rId4"/>
    <p:sldId id="354" r:id="rId5"/>
    <p:sldId id="355" r:id="rId6"/>
    <p:sldId id="356" r:id="rId7"/>
    <p:sldId id="357" r:id="rId8"/>
    <p:sldId id="358" r:id="rId9"/>
    <p:sldId id="360" r:id="rId10"/>
    <p:sldId id="359" r:id="rId11"/>
    <p:sldId id="347" r:id="rId12"/>
    <p:sldId id="363" r:id="rId13"/>
    <p:sldId id="364" r:id="rId14"/>
    <p:sldId id="344" r:id="rId15"/>
    <p:sldId id="346" r:id="rId16"/>
  </p:sldIdLst>
  <p:sldSz cx="9144000" cy="5143500" type="screen16x9"/>
  <p:notesSz cx="6858000" cy="9144000"/>
  <p:embeddedFontLst>
    <p:embeddedFont>
      <p:font typeface="等线" panose="02010600030101010101" pitchFamily="2" charset="-122"/>
      <p:regular r:id="rId18"/>
      <p:bold r:id="rId19"/>
    </p:embeddedFont>
    <p:embeddedFont>
      <p:font typeface="微软雅黑" panose="020B0503020204020204" pitchFamily="34" charset="-122"/>
      <p:regular r:id="rId20"/>
      <p:bold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Lato Black" panose="020F0502020204030203" pitchFamily="34" charset="0"/>
      <p:bold r:id="rId30"/>
      <p:italic r:id="rId31"/>
      <p:boldItalic r:id="rId32"/>
    </p:embeddedFont>
    <p:embeddedFont>
      <p:font typeface="Lato Light" panose="020F0502020204030203" pitchFamily="34" charset="0"/>
      <p:regular r:id="rId33"/>
      <p:italic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60"/>
            <p14:sldId id="359"/>
            <p14:sldId id="347"/>
            <p14:sldId id="363"/>
            <p14:sldId id="364"/>
            <p14:sldId id="344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1" pos="311" userDrawn="1">
          <p15:clr>
            <a:srgbClr val="A4A3A4"/>
          </p15:clr>
        </p15:guide>
        <p15:guide id="2" pos="5449" userDrawn="1">
          <p15:clr>
            <a:srgbClr val="A4A3A4"/>
          </p15:clr>
        </p15:guide>
        <p15:guide id="3" orient="horz" pos="486" userDrawn="1">
          <p15:clr>
            <a:srgbClr val="A4A3A4"/>
          </p15:clr>
        </p15:guide>
        <p15:guide id="4" orient="horz" pos="534" userDrawn="1">
          <p15:clr>
            <a:srgbClr val="A4A3A4"/>
          </p15:clr>
        </p15:guide>
        <p15:guide id="5" orient="horz" pos="2946" userDrawn="1">
          <p15:clr>
            <a:srgbClr val="A4A3A4"/>
          </p15:clr>
        </p15:guide>
        <p15:guide id="6" orient="horz" pos="5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E6201-549C-3341-B46E-126B5BECB262}" v="102" dt="2026-04-27T08:20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2" autoAdjust="0"/>
    <p:restoredTop sz="95480" autoAdjust="0"/>
  </p:normalViewPr>
  <p:slideViewPr>
    <p:cSldViewPr snapToGrid="0" showGuides="1">
      <p:cViewPr>
        <p:scale>
          <a:sx n="100" d="100"/>
          <a:sy n="100" d="100"/>
        </p:scale>
        <p:origin x="952" y="436"/>
      </p:cViewPr>
      <p:guideLst>
        <p:guide pos="311"/>
        <p:guide pos="5449"/>
        <p:guide orient="horz" pos="486"/>
        <p:guide orient="horz" pos="534"/>
        <p:guide orient="horz" pos="2946"/>
        <p:guide orient="horz" pos="5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microsoft.com/office/2015/10/relationships/revisionInfo" Target="revisionInfo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1pPr>
    <a:lvl2pPr marL="303947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2pPr>
    <a:lvl3pPr marL="607893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3pPr>
    <a:lvl4pPr marL="911840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4pPr>
    <a:lvl5pPr marL="1215786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5pPr>
    <a:lvl6pPr marL="1519733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6pPr>
    <a:lvl7pPr marL="1823679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7pPr>
    <a:lvl8pPr marL="2127626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8pPr>
    <a:lvl9pPr marL="2431572" algn="l" defTabSz="607893" rtl="0" eaLnBrk="1" latinLnBrk="0" hangingPunct="1">
      <a:defRPr sz="7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6B9C-2966-DE80-4EDA-E1BF5633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D2D25-3E49-BFBA-83C1-830337FB7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94652-A131-9D70-958D-04BF77BD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4FE27-FF58-02C8-4961-461AE9E84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83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2B7C-AD8A-6A2F-F2BB-B03289A9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A9B27-7924-A438-B2C7-42651235B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B4D90-1038-248B-9308-0F93708A0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851E-9A30-E95A-E392-3B38960A7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48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7CB9-3EAF-D267-4421-A4A9B0B4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E4118-5BF3-78C5-A971-4F31AE722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96B6E-B4C7-E98E-ACD3-BE3961231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3CA94-4357-FC76-5C98-9DDEAEB17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060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57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7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9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50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05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2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3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26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48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065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4624057" y="-5"/>
            <a:ext cx="4519943" cy="232415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4676775"/>
            <a:ext cx="9144000" cy="466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2799" y="4713650"/>
            <a:ext cx="454399" cy="159786"/>
          </a:xfrm>
          <a:prstGeom prst="rect">
            <a:avLst/>
          </a:prstGeom>
        </p:spPr>
        <p:txBody>
          <a:bodyPr/>
          <a:lstStyle>
            <a:lvl1pPr algn="ctr">
              <a:defRPr sz="688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125" y="232410"/>
            <a:ext cx="8631556" cy="539115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20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8127" y="868636"/>
            <a:ext cx="8631556" cy="4084811"/>
          </a:xfrm>
          <a:prstGeom prst="rect">
            <a:avLst/>
          </a:prstGeom>
        </p:spPr>
        <p:txBody>
          <a:bodyPr/>
          <a:lstStyle>
            <a:lvl1pPr marL="0" indent="-157488" algn="just" defTabSz="571454" rtl="0" eaLnBrk="1" latinLnBrk="0" hangingPunct="1">
              <a:lnSpc>
                <a:spcPct val="130000"/>
              </a:lnSpc>
              <a:spcBef>
                <a:spcPts val="375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0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336067" indent="-178580" algn="just" defTabSz="571454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875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449964" indent="-142864" algn="just" defTabSz="571454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875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607451" indent="-143989" algn="just" defTabSz="571454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688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571454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125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607451" lvl="3" indent="-143989" algn="just" defTabSz="571454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607451" lvl="3" indent="-143989" algn="just" defTabSz="571454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41602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4" y="0"/>
            <a:ext cx="5692252" cy="51435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2187510" y="-1815460"/>
            <a:ext cx="4768987" cy="91440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4195033" y="-4195034"/>
            <a:ext cx="753929" cy="91440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4676775"/>
            <a:ext cx="9144000" cy="466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9144000" cy="51435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9144000" cy="51435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8121655" cy="105875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6319840" y="2319341"/>
            <a:ext cx="5143501" cy="50482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7150" tIns="28575" rIns="57150" bIns="285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125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7557188" y="4734307"/>
            <a:ext cx="998089" cy="175163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70682" y="3004418"/>
            <a:ext cx="4517749" cy="606522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25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0682" y="3578535"/>
            <a:ext cx="4517749" cy="25782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125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528638" y="4690131"/>
            <a:ext cx="2962275" cy="206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57145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88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688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688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698" y="158743"/>
            <a:ext cx="1455466" cy="8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407" y="-2233"/>
            <a:ext cx="9143593" cy="51435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9144000" cy="51435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4379527"/>
            <a:ext cx="6872489" cy="761747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674" y="1892468"/>
            <a:ext cx="6582365" cy="69998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5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677" y="2774997"/>
            <a:ext cx="3883613" cy="23342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0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0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677" y="3039910"/>
            <a:ext cx="3883613" cy="2349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0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0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0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209172" y="4647231"/>
            <a:ext cx="2212309" cy="35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75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75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698" y="158743"/>
            <a:ext cx="1455466" cy="8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7150" tIns="28575" rIns="57150" bIns="285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125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78521" y="68370"/>
            <a:ext cx="8986961" cy="500676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7150" tIns="28575" rIns="57150" bIns="285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125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7149" y="243815"/>
            <a:ext cx="1222180" cy="68572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61902" y="4713650"/>
            <a:ext cx="420202" cy="159786"/>
          </a:xfrm>
          <a:prstGeom prst="rect">
            <a:avLst/>
          </a:prstGeom>
        </p:spPr>
        <p:txBody>
          <a:bodyPr/>
          <a:lstStyle>
            <a:lvl1pPr algn="ctr">
              <a:defRPr sz="688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4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668" r:id="rId13"/>
    <p:sldLayoutId id="2147483662" r:id="rId14"/>
    <p:sldLayoutId id="2147483664" r:id="rId15"/>
    <p:sldLayoutId id="2147483665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99090-93D0-E0A3-DC82-466C1D100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MIS Paper Revision Plan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609E67-40B5-3E5B-2B9D-2DA14A5C3E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0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200C-F79E-CEF3-9151-1B73923D1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BF02-F119-69CF-1539-948FF6AA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of paper idea (page 1~5)</a:t>
            </a:r>
          </a:p>
          <a:p>
            <a:r>
              <a:rPr lang="en-US" dirty="0"/>
              <a:t>Review panel’s major concern (page 6~7)</a:t>
            </a:r>
          </a:p>
          <a:p>
            <a:r>
              <a:rPr lang="en-US" dirty="0"/>
              <a:t>SE’s suggestion</a:t>
            </a:r>
          </a:p>
          <a:p>
            <a:r>
              <a:rPr lang="en-US" dirty="0"/>
              <a:t>Our plan</a:t>
            </a:r>
          </a:p>
        </p:txBody>
      </p:sp>
    </p:spTree>
    <p:extLst>
      <p:ext uri="{BB962C8B-B14F-4D97-AF65-F5344CB8AC3E}">
        <p14:creationId xmlns:p14="http://schemas.microsoft.com/office/powerpoint/2010/main" val="18454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FC77-AA78-2257-A2F4-E1818478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6E759-D6F5-BB3D-636F-1FE6EF1866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35" y="1093954"/>
            <a:ext cx="6541580" cy="295559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26231F-2802-6416-D4F2-B6690E459C70}"/>
              </a:ext>
            </a:extLst>
          </p:cNvPr>
          <p:cNvSpPr txBox="1"/>
          <p:nvPr/>
        </p:nvSpPr>
        <p:spPr>
          <a:xfrm>
            <a:off x="919844" y="4299857"/>
            <a:ext cx="506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Research Question: </a:t>
            </a:r>
            <a:r>
              <a:rPr lang="en-US" dirty="0">
                <a:solidFill>
                  <a:srgbClr val="FF0000"/>
                </a:solidFill>
              </a:rPr>
              <a:t>????????????????????????????</a:t>
            </a:r>
          </a:p>
        </p:txBody>
      </p:sp>
    </p:spTree>
    <p:extLst>
      <p:ext uri="{BB962C8B-B14F-4D97-AF65-F5344CB8AC3E}">
        <p14:creationId xmlns:p14="http://schemas.microsoft.com/office/powerpoint/2010/main" val="392207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E1AE-7FD4-99EE-79E1-646AC5D8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Framing (not drawn in the paper)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1CEBBA-1FEB-FCF8-A04D-8376337D67A6}"/>
              </a:ext>
            </a:extLst>
          </p:cNvPr>
          <p:cNvSpPr/>
          <p:nvPr/>
        </p:nvSpPr>
        <p:spPr>
          <a:xfrm>
            <a:off x="4458095" y="3401983"/>
            <a:ext cx="949890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Participation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5A3A7E-5DAB-F83F-F96F-C360DC393834}"/>
              </a:ext>
            </a:extLst>
          </p:cNvPr>
          <p:cNvSpPr/>
          <p:nvPr/>
        </p:nvSpPr>
        <p:spPr>
          <a:xfrm>
            <a:off x="2095079" y="2709253"/>
            <a:ext cx="1009025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Has AI Answer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A7A1E2-DBC8-65CB-E7F2-8D59840E28A1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3104104" y="2909278"/>
            <a:ext cx="1353991" cy="692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BB0932D-0284-5470-38A0-C53AD7F36603}"/>
              </a:ext>
            </a:extLst>
          </p:cNvPr>
          <p:cNvSpPr/>
          <p:nvPr/>
        </p:nvSpPr>
        <p:spPr>
          <a:xfrm>
            <a:off x="6018786" y="3925121"/>
            <a:ext cx="949890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Position</a:t>
            </a:r>
            <a:r>
              <a:rPr lang="zh-CN" altLang="en-US" sz="748" dirty="0"/>
              <a:t> </a:t>
            </a:r>
            <a:r>
              <a:rPr lang="en-US" altLang="zh-CN" sz="748" dirty="0"/>
              <a:t>Effect</a:t>
            </a:r>
            <a:endParaRPr lang="en-US" sz="748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CD972-1EA3-3C4A-6C10-9B13D0C0BAAD}"/>
              </a:ext>
            </a:extLst>
          </p:cNvPr>
          <p:cNvSpPr/>
          <p:nvPr/>
        </p:nvSpPr>
        <p:spPr>
          <a:xfrm>
            <a:off x="4482799" y="1822635"/>
            <a:ext cx="949890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Viewer Recognition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8222CE-5584-7E35-6483-142B8158105E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 flipV="1">
            <a:off x="3104104" y="2022660"/>
            <a:ext cx="1378695" cy="886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245573D-E16A-F29F-BE44-355DC1B2E0DC}"/>
              </a:ext>
            </a:extLst>
          </p:cNvPr>
          <p:cNvSpPr/>
          <p:nvPr/>
        </p:nvSpPr>
        <p:spPr>
          <a:xfrm>
            <a:off x="6018785" y="3402653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48" dirty="0"/>
              <a:t>Content</a:t>
            </a:r>
            <a:r>
              <a:rPr lang="zh-CN" altLang="en-US" sz="748" dirty="0"/>
              <a:t> </a:t>
            </a:r>
            <a:r>
              <a:rPr lang="en-US" altLang="zh-CN" sz="748" dirty="0"/>
              <a:t>Effect</a:t>
            </a:r>
            <a:endParaRPr lang="en-US" sz="748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C91A5F-7013-43FD-C8AA-551E2BDEF851}"/>
              </a:ext>
            </a:extLst>
          </p:cNvPr>
          <p:cNvSpPr/>
          <p:nvPr/>
        </p:nvSpPr>
        <p:spPr>
          <a:xfrm>
            <a:off x="6018785" y="2880185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Source</a:t>
            </a:r>
            <a:r>
              <a:rPr lang="zh-CN" altLang="en-US" sz="748" dirty="0"/>
              <a:t> </a:t>
            </a:r>
            <a:r>
              <a:rPr lang="en-US" altLang="zh-CN" sz="748" dirty="0"/>
              <a:t>Effect</a:t>
            </a:r>
            <a:endParaRPr lang="en-US" sz="748" dirty="0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F7570805-1BCE-0364-9860-8E0358406F11}"/>
              </a:ext>
            </a:extLst>
          </p:cNvPr>
          <p:cNvSpPr/>
          <p:nvPr/>
        </p:nvSpPr>
        <p:spPr>
          <a:xfrm rot="10800000">
            <a:off x="5641708" y="2880185"/>
            <a:ext cx="332734" cy="1444986"/>
          </a:xfrm>
          <a:prstGeom prst="rightBrace">
            <a:avLst>
              <a:gd name="adj1" fmla="val 39413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87BC8D-C0F1-F6CC-52C7-59F8432A9089}"/>
              </a:ext>
            </a:extLst>
          </p:cNvPr>
          <p:cNvSpPr/>
          <p:nvPr/>
        </p:nvSpPr>
        <p:spPr>
          <a:xfrm>
            <a:off x="6021922" y="1284181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Quality</a:t>
            </a:r>
            <a:r>
              <a:rPr lang="zh-CN" altLang="en-US" sz="748" dirty="0"/>
              <a:t> </a:t>
            </a:r>
            <a:r>
              <a:rPr lang="en-US" altLang="zh-CN" sz="748" dirty="0"/>
              <a:t>Degradation</a:t>
            </a:r>
            <a:endParaRPr lang="en-US" sz="748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DDAD36-AF8F-8ED9-F319-E7275E626284}"/>
              </a:ext>
            </a:extLst>
          </p:cNvPr>
          <p:cNvSpPr/>
          <p:nvPr/>
        </p:nvSpPr>
        <p:spPr>
          <a:xfrm>
            <a:off x="6021923" y="1822635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Attention</a:t>
            </a:r>
            <a:r>
              <a:rPr lang="zh-CN" altLang="en-US" sz="748" dirty="0"/>
              <a:t> </a:t>
            </a:r>
            <a:r>
              <a:rPr lang="en-US" altLang="zh-CN" sz="748" dirty="0"/>
              <a:t>Diversion</a:t>
            </a:r>
            <a:endParaRPr lang="en-US" sz="748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A66812-7CEC-C57C-E47C-04D800C75D95}"/>
              </a:ext>
            </a:extLst>
          </p:cNvPr>
          <p:cNvSpPr/>
          <p:nvPr/>
        </p:nvSpPr>
        <p:spPr>
          <a:xfrm>
            <a:off x="6025057" y="2292081"/>
            <a:ext cx="943619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48" dirty="0"/>
              <a:t>E</a:t>
            </a:r>
            <a:r>
              <a:rPr lang="en-US" sz="748" dirty="0"/>
              <a:t>levated </a:t>
            </a:r>
            <a:r>
              <a:rPr lang="en-US" altLang="zh-CN" sz="748" dirty="0"/>
              <a:t>E</a:t>
            </a:r>
            <a:r>
              <a:rPr lang="en-US" sz="748" dirty="0"/>
              <a:t>xpectations 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0CF41174-329E-25AE-FB38-A575A00568F4}"/>
              </a:ext>
            </a:extLst>
          </p:cNvPr>
          <p:cNvSpPr/>
          <p:nvPr/>
        </p:nvSpPr>
        <p:spPr>
          <a:xfrm rot="10800000" flipV="1">
            <a:off x="5562248" y="1268016"/>
            <a:ext cx="333250" cy="1434503"/>
          </a:xfrm>
          <a:prstGeom prst="rightBrace">
            <a:avLst>
              <a:gd name="adj1" fmla="val 8673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F5ED7-EA7B-4733-D8E9-A5702E0FE69C}"/>
              </a:ext>
            </a:extLst>
          </p:cNvPr>
          <p:cNvSpPr txBox="1"/>
          <p:nvPr/>
        </p:nvSpPr>
        <p:spPr>
          <a:xfrm>
            <a:off x="4107987" y="2257355"/>
            <a:ext cx="271228" cy="207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48" dirty="0">
                <a:solidFill>
                  <a:srgbClr val="FF0000"/>
                </a:solidFill>
              </a:rPr>
              <a:t>(-)</a:t>
            </a:r>
            <a:endParaRPr lang="en-US" sz="748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B2FB0-0AC6-371E-2B8C-3D4565EA01AC}"/>
              </a:ext>
            </a:extLst>
          </p:cNvPr>
          <p:cNvSpPr txBox="1"/>
          <p:nvPr/>
        </p:nvSpPr>
        <p:spPr>
          <a:xfrm>
            <a:off x="4107987" y="3298268"/>
            <a:ext cx="271228" cy="207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48" dirty="0">
                <a:solidFill>
                  <a:srgbClr val="FF0000"/>
                </a:solidFill>
              </a:rPr>
              <a:t>(-)</a:t>
            </a:r>
            <a:endParaRPr lang="en-US" sz="748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72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EFF5-E33B-B355-873A-90A91BA9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Reviewer’s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F2BEC-2686-5538-BB04-438584853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not have </a:t>
            </a:r>
            <a:r>
              <a:rPr lang="en-US" dirty="0" err="1"/>
              <a:t>theretical</a:t>
            </a:r>
            <a:r>
              <a:rPr lang="en-US" dirty="0"/>
              <a:t> XXXXXXX</a:t>
            </a:r>
          </a:p>
        </p:txBody>
      </p:sp>
    </p:spTree>
    <p:extLst>
      <p:ext uri="{BB962C8B-B14F-4D97-AF65-F5344CB8AC3E}">
        <p14:creationId xmlns:p14="http://schemas.microsoft.com/office/powerpoint/2010/main" val="2809478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E162-E131-495A-E241-A647A48F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SE’s </a:t>
            </a:r>
            <a:r>
              <a:rPr lang="en-US" dirty="0" err="1"/>
              <a:t>suggection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58D9-7F89-0016-A224-661E75B74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Xxxx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Xxxx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Xxxxxx</a:t>
            </a:r>
            <a:r>
              <a:rPr lang="en-US" dirty="0"/>
              <a:t>  : </a:t>
            </a:r>
            <a:r>
              <a:rPr lang="en-US" dirty="0">
                <a:solidFill>
                  <a:srgbClr val="FF0000"/>
                </a:solidFill>
              </a:rPr>
              <a:t>Our pick √</a:t>
            </a:r>
          </a:p>
        </p:txBody>
      </p:sp>
    </p:spTree>
    <p:extLst>
      <p:ext uri="{BB962C8B-B14F-4D97-AF65-F5344CB8AC3E}">
        <p14:creationId xmlns:p14="http://schemas.microsoft.com/office/powerpoint/2010/main" val="44244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1DD952-95C7-7558-A7AE-4572A513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 of the </a:t>
            </a:r>
            <a:r>
              <a:rPr lang="en-US" dirty="0" err="1"/>
              <a:t>Focuse</a:t>
            </a:r>
            <a:r>
              <a:rPr lang="en-US" dirty="0"/>
              <a:t> of the Paper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4C134-C25E-B330-9776-1BF1AF6B4D69}"/>
              </a:ext>
            </a:extLst>
          </p:cNvPr>
          <p:cNvSpPr/>
          <p:nvPr/>
        </p:nvSpPr>
        <p:spPr>
          <a:xfrm>
            <a:off x="2651057" y="3401983"/>
            <a:ext cx="949890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Participation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BD594F-7902-896C-624B-98EA34DC8B08}"/>
              </a:ext>
            </a:extLst>
          </p:cNvPr>
          <p:cNvSpPr/>
          <p:nvPr/>
        </p:nvSpPr>
        <p:spPr>
          <a:xfrm>
            <a:off x="288041" y="2709253"/>
            <a:ext cx="1009025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Has AI Answer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14B368-B746-DF88-CDF2-95D405D33D5E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1297066" y="2909278"/>
            <a:ext cx="1353991" cy="692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C778205-711B-4CE0-9AD4-021B6C27C327}"/>
              </a:ext>
            </a:extLst>
          </p:cNvPr>
          <p:cNvSpPr/>
          <p:nvPr/>
        </p:nvSpPr>
        <p:spPr>
          <a:xfrm>
            <a:off x="4211748" y="3925121"/>
            <a:ext cx="949890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Position</a:t>
            </a:r>
            <a:r>
              <a:rPr lang="zh-CN" altLang="en-US" sz="748" dirty="0"/>
              <a:t> </a:t>
            </a:r>
            <a:r>
              <a:rPr lang="en-US" altLang="zh-CN" sz="748" dirty="0"/>
              <a:t>Effect</a:t>
            </a:r>
            <a:endParaRPr lang="en-US" sz="748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581B7-ACCC-8D55-A4F5-C857F9A24616}"/>
              </a:ext>
            </a:extLst>
          </p:cNvPr>
          <p:cNvSpPr/>
          <p:nvPr/>
        </p:nvSpPr>
        <p:spPr>
          <a:xfrm>
            <a:off x="2675761" y="1822635"/>
            <a:ext cx="949890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Viewer Recognition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EF591A-811D-A6C8-1696-F738E86D368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297066" y="2022660"/>
            <a:ext cx="1378695" cy="886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1A9284A-EA71-6DE8-CDF5-0BF74BE410C5}"/>
              </a:ext>
            </a:extLst>
          </p:cNvPr>
          <p:cNvSpPr/>
          <p:nvPr/>
        </p:nvSpPr>
        <p:spPr>
          <a:xfrm>
            <a:off x="4211747" y="3402653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48" dirty="0"/>
              <a:t>Content</a:t>
            </a:r>
            <a:r>
              <a:rPr lang="zh-CN" altLang="en-US" sz="748" dirty="0"/>
              <a:t> </a:t>
            </a:r>
            <a:r>
              <a:rPr lang="en-US" altLang="zh-CN" sz="748" dirty="0"/>
              <a:t>Effect</a:t>
            </a:r>
            <a:endParaRPr lang="en-US" sz="748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402CAD-AEE0-B87C-C13F-034BDA298655}"/>
              </a:ext>
            </a:extLst>
          </p:cNvPr>
          <p:cNvSpPr/>
          <p:nvPr/>
        </p:nvSpPr>
        <p:spPr>
          <a:xfrm>
            <a:off x="4211747" y="2880185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Source</a:t>
            </a:r>
            <a:r>
              <a:rPr lang="zh-CN" altLang="en-US" sz="748" dirty="0"/>
              <a:t> </a:t>
            </a:r>
            <a:r>
              <a:rPr lang="en-US" altLang="zh-CN" sz="748" dirty="0"/>
              <a:t>Effect</a:t>
            </a:r>
            <a:endParaRPr lang="en-US" sz="748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9FCFFD94-5728-E882-C0AC-1DE1A5B80155}"/>
              </a:ext>
            </a:extLst>
          </p:cNvPr>
          <p:cNvSpPr/>
          <p:nvPr/>
        </p:nvSpPr>
        <p:spPr>
          <a:xfrm rot="10800000">
            <a:off x="3834670" y="2880185"/>
            <a:ext cx="332734" cy="1444986"/>
          </a:xfrm>
          <a:prstGeom prst="rightBrace">
            <a:avLst>
              <a:gd name="adj1" fmla="val 39413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44B1F5-8AED-EDEA-637C-66C51D3238CE}"/>
              </a:ext>
            </a:extLst>
          </p:cNvPr>
          <p:cNvSpPr/>
          <p:nvPr/>
        </p:nvSpPr>
        <p:spPr>
          <a:xfrm>
            <a:off x="4214884" y="1284181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Quality</a:t>
            </a:r>
            <a:r>
              <a:rPr lang="zh-CN" altLang="en-US" sz="748" dirty="0"/>
              <a:t> </a:t>
            </a:r>
            <a:r>
              <a:rPr lang="en-US" altLang="zh-CN" sz="748" dirty="0"/>
              <a:t>Degradation</a:t>
            </a:r>
            <a:endParaRPr lang="en-US" sz="748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DE300D-93A1-FF50-64D4-4C7B79CB6C8C}"/>
              </a:ext>
            </a:extLst>
          </p:cNvPr>
          <p:cNvSpPr/>
          <p:nvPr/>
        </p:nvSpPr>
        <p:spPr>
          <a:xfrm>
            <a:off x="4214885" y="1822635"/>
            <a:ext cx="949891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Attention</a:t>
            </a:r>
            <a:r>
              <a:rPr lang="zh-CN" altLang="en-US" sz="748" dirty="0"/>
              <a:t> </a:t>
            </a:r>
            <a:r>
              <a:rPr lang="en-US" altLang="zh-CN" sz="748" dirty="0"/>
              <a:t>Diversion</a:t>
            </a:r>
            <a:endParaRPr lang="en-US" sz="748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65FEC4-6071-F130-7485-18F4C6C3A0BD}"/>
              </a:ext>
            </a:extLst>
          </p:cNvPr>
          <p:cNvSpPr/>
          <p:nvPr/>
        </p:nvSpPr>
        <p:spPr>
          <a:xfrm>
            <a:off x="4218019" y="2292081"/>
            <a:ext cx="943619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48" dirty="0"/>
              <a:t>E</a:t>
            </a:r>
            <a:r>
              <a:rPr lang="en-US" sz="748" dirty="0"/>
              <a:t>levated </a:t>
            </a:r>
            <a:r>
              <a:rPr lang="en-US" altLang="zh-CN" sz="748" dirty="0"/>
              <a:t>E</a:t>
            </a:r>
            <a:r>
              <a:rPr lang="en-US" sz="748" dirty="0"/>
              <a:t>xpectations 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76EF1B6C-219B-1C17-FAD1-AE8407BC0FE7}"/>
              </a:ext>
            </a:extLst>
          </p:cNvPr>
          <p:cNvSpPr/>
          <p:nvPr/>
        </p:nvSpPr>
        <p:spPr>
          <a:xfrm rot="10800000" flipV="1">
            <a:off x="3755210" y="1268016"/>
            <a:ext cx="333250" cy="1434503"/>
          </a:xfrm>
          <a:prstGeom prst="rightBrace">
            <a:avLst>
              <a:gd name="adj1" fmla="val 8673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6C4E93-4EB3-8297-C688-D54A843E853A}"/>
              </a:ext>
            </a:extLst>
          </p:cNvPr>
          <p:cNvSpPr txBox="1"/>
          <p:nvPr/>
        </p:nvSpPr>
        <p:spPr>
          <a:xfrm>
            <a:off x="2300949" y="2257355"/>
            <a:ext cx="271228" cy="207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48" dirty="0">
                <a:solidFill>
                  <a:srgbClr val="FF0000"/>
                </a:solidFill>
              </a:rPr>
              <a:t>(-)</a:t>
            </a:r>
            <a:endParaRPr lang="en-US" sz="748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AA3CA-E926-1E54-86AE-2750C0010EFA}"/>
              </a:ext>
            </a:extLst>
          </p:cNvPr>
          <p:cNvSpPr txBox="1"/>
          <p:nvPr/>
        </p:nvSpPr>
        <p:spPr>
          <a:xfrm>
            <a:off x="2300949" y="3298268"/>
            <a:ext cx="271228" cy="207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48" dirty="0">
                <a:solidFill>
                  <a:srgbClr val="FF0000"/>
                </a:solidFill>
              </a:rPr>
              <a:t>(-)</a:t>
            </a:r>
            <a:endParaRPr lang="en-US" sz="748" dirty="0">
              <a:solidFill>
                <a:srgbClr val="FF00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3A91C8-ED3E-78B5-4E00-E0795000CB6D}"/>
              </a:ext>
            </a:extLst>
          </p:cNvPr>
          <p:cNvSpPr/>
          <p:nvPr/>
        </p:nvSpPr>
        <p:spPr>
          <a:xfrm>
            <a:off x="1997154" y="1116993"/>
            <a:ext cx="3244729" cy="1640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47" name="Multiply 46">
            <a:extLst>
              <a:ext uri="{FF2B5EF4-FFF2-40B4-BE49-F238E27FC236}">
                <a16:creationId xmlns:a16="http://schemas.microsoft.com/office/drawing/2014/main" id="{2A3978F9-C393-9BB9-22EE-D13BCBB9A141}"/>
              </a:ext>
            </a:extLst>
          </p:cNvPr>
          <p:cNvSpPr/>
          <p:nvPr/>
        </p:nvSpPr>
        <p:spPr>
          <a:xfrm>
            <a:off x="4837346" y="1937380"/>
            <a:ext cx="886181" cy="87392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633B30-337F-2C8F-7550-AAABA8290A66}"/>
              </a:ext>
            </a:extLst>
          </p:cNvPr>
          <p:cNvSpPr txBox="1"/>
          <p:nvPr/>
        </p:nvSpPr>
        <p:spPr>
          <a:xfrm>
            <a:off x="5796633" y="1768929"/>
            <a:ext cx="2759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Reason: Less </a:t>
            </a:r>
            <a:r>
              <a:rPr lang="en-US" dirty="0" err="1"/>
              <a:t>thretical</a:t>
            </a:r>
            <a:r>
              <a:rPr lang="en-US" dirty="0"/>
              <a:t> value</a:t>
            </a:r>
          </a:p>
          <a:p>
            <a:r>
              <a:rPr lang="en-US" dirty="0" err="1"/>
              <a:t>Xxxx</a:t>
            </a:r>
            <a:endParaRPr lang="en-US" dirty="0"/>
          </a:p>
          <a:p>
            <a:r>
              <a:rPr lang="en-US" dirty="0"/>
              <a:t>xxx</a:t>
            </a: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F296C19E-F651-7C9F-9C94-F1A089A62D3C}"/>
              </a:ext>
            </a:extLst>
          </p:cNvPr>
          <p:cNvSpPr/>
          <p:nvPr/>
        </p:nvSpPr>
        <p:spPr>
          <a:xfrm>
            <a:off x="4798792" y="3802033"/>
            <a:ext cx="886181" cy="87392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6BDEF9-C710-731B-252B-4833EB486132}"/>
              </a:ext>
            </a:extLst>
          </p:cNvPr>
          <p:cNvSpPr txBox="1"/>
          <p:nvPr/>
        </p:nvSpPr>
        <p:spPr>
          <a:xfrm>
            <a:off x="5793026" y="3777329"/>
            <a:ext cx="2829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Reason: Difficult to identify, </a:t>
            </a:r>
          </a:p>
          <a:p>
            <a:r>
              <a:rPr lang="en-US" dirty="0"/>
              <a:t>Questioned by reviewers</a:t>
            </a:r>
          </a:p>
        </p:txBody>
      </p:sp>
    </p:spTree>
    <p:extLst>
      <p:ext uri="{BB962C8B-B14F-4D97-AF65-F5344CB8AC3E}">
        <p14:creationId xmlns:p14="http://schemas.microsoft.com/office/powerpoint/2010/main" val="417478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0514-12F4-B45B-2B58-4F511EC8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Framework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F55CB7-CA95-38F6-4BD0-E4986099DA9B}"/>
              </a:ext>
            </a:extLst>
          </p:cNvPr>
          <p:cNvSpPr/>
          <p:nvPr/>
        </p:nvSpPr>
        <p:spPr>
          <a:xfrm>
            <a:off x="6574091" y="2577692"/>
            <a:ext cx="830091" cy="40005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</a:t>
            </a:r>
            <a:r>
              <a:rPr lang="en-US" altLang="zh-CN" sz="748" dirty="0"/>
              <a:t>Quality</a:t>
            </a:r>
            <a:endParaRPr lang="en-US" sz="748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4777AF-C3E7-4983-3C49-AA8B3192F4AE}"/>
              </a:ext>
            </a:extLst>
          </p:cNvPr>
          <p:cNvSpPr/>
          <p:nvPr/>
        </p:nvSpPr>
        <p:spPr>
          <a:xfrm>
            <a:off x="5040215" y="1441851"/>
            <a:ext cx="949890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Participation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735E3B-A306-8B54-0E43-CA5D5C770015}"/>
              </a:ext>
            </a:extLst>
          </p:cNvPr>
          <p:cNvSpPr/>
          <p:nvPr/>
        </p:nvSpPr>
        <p:spPr>
          <a:xfrm>
            <a:off x="2119838" y="1934189"/>
            <a:ext cx="830091" cy="67772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Has AI Answer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D415182-C9BE-7140-6FE8-1EDA95AFFA42}"/>
              </a:ext>
            </a:extLst>
          </p:cNvPr>
          <p:cNvCxnSpPr>
            <a:cxnSpLocks/>
            <a:stCxn id="52" idx="3"/>
            <a:endCxn id="51" idx="1"/>
          </p:cNvCxnSpPr>
          <p:nvPr/>
        </p:nvCxnSpPr>
        <p:spPr>
          <a:xfrm flipV="1">
            <a:off x="2949929" y="1641876"/>
            <a:ext cx="2090286" cy="6311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C0826DD-FBBE-6EDD-F919-0475F9BF6636}"/>
              </a:ext>
            </a:extLst>
          </p:cNvPr>
          <p:cNvCxnSpPr>
            <a:cxnSpLocks/>
            <a:stCxn id="55" idx="0"/>
          </p:cNvCxnSpPr>
          <p:nvPr/>
        </p:nvCxnSpPr>
        <p:spPr>
          <a:xfrm flipH="1" flipV="1">
            <a:off x="3602702" y="2085575"/>
            <a:ext cx="347138" cy="11572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B6B8B02-740A-8E9C-B04B-CC6CB27143B6}"/>
              </a:ext>
            </a:extLst>
          </p:cNvPr>
          <p:cNvSpPr/>
          <p:nvPr/>
        </p:nvSpPr>
        <p:spPr>
          <a:xfrm>
            <a:off x="3557089" y="3242817"/>
            <a:ext cx="78550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AI Answer Length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DA5872-B401-391B-AEBD-707D2AB3C4A7}"/>
              </a:ext>
            </a:extLst>
          </p:cNvPr>
          <p:cNvSpPr/>
          <p:nvPr/>
        </p:nvSpPr>
        <p:spPr>
          <a:xfrm>
            <a:off x="5025756" y="3260332"/>
            <a:ext cx="78550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AI Answer Quality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1EB463F-9549-A791-0A9F-CCC2CE67E64F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5418507" y="2630797"/>
            <a:ext cx="94638" cy="629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E1ADC3B-A5D6-60C9-00A9-C23CF1006955}"/>
              </a:ext>
            </a:extLst>
          </p:cNvPr>
          <p:cNvCxnSpPr>
            <a:cxnSpLocks/>
            <a:stCxn id="52" idx="3"/>
            <a:endCxn id="50" idx="1"/>
          </p:cNvCxnSpPr>
          <p:nvPr/>
        </p:nvCxnSpPr>
        <p:spPr>
          <a:xfrm>
            <a:off x="2949929" y="2273052"/>
            <a:ext cx="3624162" cy="504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BBFA70C-E987-4F07-BD58-283E90D949B4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3949840" y="2460529"/>
            <a:ext cx="112477" cy="7822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31A3D7E-B03A-3268-6AC1-AFDEE7F34984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4863829" y="1706747"/>
            <a:ext cx="554678" cy="1553585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ight Brace 61">
            <a:extLst>
              <a:ext uri="{FF2B5EF4-FFF2-40B4-BE49-F238E27FC236}">
                <a16:creationId xmlns:a16="http://schemas.microsoft.com/office/drawing/2014/main" id="{F051CB36-DA1C-987C-A4D0-EF8239D1AD5B}"/>
              </a:ext>
            </a:extLst>
          </p:cNvPr>
          <p:cNvSpPr/>
          <p:nvPr/>
        </p:nvSpPr>
        <p:spPr>
          <a:xfrm rot="5400000">
            <a:off x="4668655" y="1154166"/>
            <a:ext cx="186258" cy="5284795"/>
          </a:xfrm>
          <a:prstGeom prst="rightBrace">
            <a:avLst>
              <a:gd name="adj1" fmla="val 4133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B88760-99B8-72BA-E6D4-6A289A9EC724}"/>
              </a:ext>
            </a:extLst>
          </p:cNvPr>
          <p:cNvSpPr txBox="1"/>
          <p:nvPr/>
        </p:nvSpPr>
        <p:spPr>
          <a:xfrm>
            <a:off x="2119838" y="3931324"/>
            <a:ext cx="779381" cy="2074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48" dirty="0"/>
              <a:t>Fast</a:t>
            </a:r>
            <a:r>
              <a:rPr lang="en-US" sz="748" dirty="0"/>
              <a:t> Processing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60A52F-0989-F938-F88E-994D94F67510}"/>
              </a:ext>
            </a:extLst>
          </p:cNvPr>
          <p:cNvSpPr txBox="1"/>
          <p:nvPr/>
        </p:nvSpPr>
        <p:spPr>
          <a:xfrm>
            <a:off x="6087599" y="3903921"/>
            <a:ext cx="806631" cy="2074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48" dirty="0"/>
              <a:t>Slow</a:t>
            </a:r>
            <a:r>
              <a:rPr lang="en-US" sz="748" dirty="0"/>
              <a:t> Processing</a:t>
            </a:r>
          </a:p>
        </p:txBody>
      </p:sp>
      <p:sp>
        <p:nvSpPr>
          <p:cNvPr id="23" name="Callout: Line 22">
            <a:extLst>
              <a:ext uri="{FF2B5EF4-FFF2-40B4-BE49-F238E27FC236}">
                <a16:creationId xmlns:a16="http://schemas.microsoft.com/office/drawing/2014/main" id="{38C90AF6-5E2D-9E3C-774C-BC007B8F217D}"/>
              </a:ext>
            </a:extLst>
          </p:cNvPr>
          <p:cNvSpPr/>
          <p:nvPr/>
        </p:nvSpPr>
        <p:spPr>
          <a:xfrm>
            <a:off x="364671" y="3020786"/>
            <a:ext cx="1012372" cy="622081"/>
          </a:xfrm>
          <a:prstGeom prst="borderCallout1">
            <a:avLst>
              <a:gd name="adj1" fmla="val 376"/>
              <a:gd name="adj2" fmla="val 56721"/>
              <a:gd name="adj3" fmla="val -121110"/>
              <a:gd name="adj4" fmla="val 170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Previous Source Effect</a:t>
            </a:r>
          </a:p>
        </p:txBody>
      </p:sp>
      <p:sp>
        <p:nvSpPr>
          <p:cNvPr id="24" name="Callout: Line 23">
            <a:extLst>
              <a:ext uri="{FF2B5EF4-FFF2-40B4-BE49-F238E27FC236}">
                <a16:creationId xmlns:a16="http://schemas.microsoft.com/office/drawing/2014/main" id="{5DDF8887-C5D1-8C44-21DD-690AD2F943A7}"/>
              </a:ext>
            </a:extLst>
          </p:cNvPr>
          <p:cNvSpPr/>
          <p:nvPr/>
        </p:nvSpPr>
        <p:spPr>
          <a:xfrm>
            <a:off x="3995072" y="4193329"/>
            <a:ext cx="1228321" cy="622081"/>
          </a:xfrm>
          <a:prstGeom prst="borderCallout1">
            <a:avLst>
              <a:gd name="adj1" fmla="val 376"/>
              <a:gd name="adj2" fmla="val 56721"/>
              <a:gd name="adj3" fmla="val -95158"/>
              <a:gd name="adj4" fmla="val 543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Previous Content Effect</a:t>
            </a:r>
          </a:p>
        </p:txBody>
      </p:sp>
      <p:sp>
        <p:nvSpPr>
          <p:cNvPr id="25" name="Callout: Line 24">
            <a:extLst>
              <a:ext uri="{FF2B5EF4-FFF2-40B4-BE49-F238E27FC236}">
                <a16:creationId xmlns:a16="http://schemas.microsoft.com/office/drawing/2014/main" id="{0F867777-D8D2-BF5E-6A50-4430D2F2C801}"/>
              </a:ext>
            </a:extLst>
          </p:cNvPr>
          <p:cNvSpPr/>
          <p:nvPr/>
        </p:nvSpPr>
        <p:spPr>
          <a:xfrm>
            <a:off x="4070075" y="661913"/>
            <a:ext cx="1228321" cy="622081"/>
          </a:xfrm>
          <a:prstGeom prst="borderCallout1">
            <a:avLst>
              <a:gd name="adj1" fmla="val 101691"/>
              <a:gd name="adj2" fmla="val 40739"/>
              <a:gd name="adj3" fmla="val 207128"/>
              <a:gd name="adj4" fmla="val 34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 last version</a:t>
            </a:r>
          </a:p>
        </p:txBody>
      </p:sp>
      <p:sp>
        <p:nvSpPr>
          <p:cNvPr id="26" name="Callout: Line 25">
            <a:extLst>
              <a:ext uri="{FF2B5EF4-FFF2-40B4-BE49-F238E27FC236}">
                <a16:creationId xmlns:a16="http://schemas.microsoft.com/office/drawing/2014/main" id="{9AC1A950-3BF2-AA9D-2F6B-A5BEBD6C86ED}"/>
              </a:ext>
            </a:extLst>
          </p:cNvPr>
          <p:cNvSpPr/>
          <p:nvPr/>
        </p:nvSpPr>
        <p:spPr>
          <a:xfrm>
            <a:off x="7377142" y="3516672"/>
            <a:ext cx="1228321" cy="622081"/>
          </a:xfrm>
          <a:prstGeom prst="borderCallout1">
            <a:avLst>
              <a:gd name="adj1" fmla="val 46050"/>
              <a:gd name="adj2" fmla="val -478"/>
              <a:gd name="adj3" fmla="val -13773"/>
              <a:gd name="adj4" fmla="val -12444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Questioned by reviewer</a:t>
            </a:r>
          </a:p>
        </p:txBody>
      </p:sp>
      <p:sp>
        <p:nvSpPr>
          <p:cNvPr id="27" name="Callout: Line 26">
            <a:extLst>
              <a:ext uri="{FF2B5EF4-FFF2-40B4-BE49-F238E27FC236}">
                <a16:creationId xmlns:a16="http://schemas.microsoft.com/office/drawing/2014/main" id="{67E03B3C-C6AC-A17E-4B2D-25641F6BB2C5}"/>
              </a:ext>
            </a:extLst>
          </p:cNvPr>
          <p:cNvSpPr/>
          <p:nvPr/>
        </p:nvSpPr>
        <p:spPr>
          <a:xfrm>
            <a:off x="7761974" y="1211279"/>
            <a:ext cx="1228321" cy="622081"/>
          </a:xfrm>
          <a:prstGeom prst="borderCallout1">
            <a:avLst>
              <a:gd name="adj1" fmla="val 46050"/>
              <a:gd name="adj2" fmla="val -478"/>
              <a:gd name="adj3" fmla="val 213772"/>
              <a:gd name="adj4" fmla="val -7313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27026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72BA-C9AD-BFCA-EFAA-521BECA1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AI’s Two Roles in Competition with Human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2A47E4-9968-49F2-8806-B4BAF929DA33}"/>
              </a:ext>
            </a:extLst>
          </p:cNvPr>
          <p:cNvSpPr/>
          <p:nvPr/>
        </p:nvSpPr>
        <p:spPr>
          <a:xfrm>
            <a:off x="8087759" y="2403857"/>
            <a:ext cx="83009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</a:t>
            </a:r>
            <a:r>
              <a:rPr lang="en-US" altLang="zh-CN" sz="748" dirty="0"/>
              <a:t>Quality</a:t>
            </a:r>
            <a:endParaRPr lang="en-US" sz="748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9CDF5-A494-EE35-4474-814F786CBCC9}"/>
              </a:ext>
            </a:extLst>
          </p:cNvPr>
          <p:cNvSpPr/>
          <p:nvPr/>
        </p:nvSpPr>
        <p:spPr>
          <a:xfrm>
            <a:off x="6553883" y="1268016"/>
            <a:ext cx="949890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Participation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80A111-71F4-1DB4-EB1F-BE71C56F5A88}"/>
              </a:ext>
            </a:extLst>
          </p:cNvPr>
          <p:cNvSpPr/>
          <p:nvPr/>
        </p:nvSpPr>
        <p:spPr>
          <a:xfrm>
            <a:off x="3633506" y="1760354"/>
            <a:ext cx="830091" cy="67772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Has AI Answer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FA8EB7-3365-6EC6-54E8-B575D820BD99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4463597" y="1468041"/>
            <a:ext cx="2090286" cy="631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6F6E94-67C8-8445-DCB3-8D9A37053414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116370" y="1911740"/>
            <a:ext cx="347138" cy="1157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01B76E7-CDE0-8B93-AD68-6B2285C8F008}"/>
              </a:ext>
            </a:extLst>
          </p:cNvPr>
          <p:cNvSpPr/>
          <p:nvPr/>
        </p:nvSpPr>
        <p:spPr>
          <a:xfrm>
            <a:off x="5070757" y="3068982"/>
            <a:ext cx="78550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AI Answer Length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63EA18-FB01-4C77-1FA9-BE025D173C6A}"/>
              </a:ext>
            </a:extLst>
          </p:cNvPr>
          <p:cNvSpPr/>
          <p:nvPr/>
        </p:nvSpPr>
        <p:spPr>
          <a:xfrm>
            <a:off x="6539424" y="3086497"/>
            <a:ext cx="78550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AI 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8130C5-E844-7631-5029-9A33F829122E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932175" y="2456962"/>
            <a:ext cx="94638" cy="629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21FDA-E442-50FE-B53C-4E17AE94F2E7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4463597" y="2099217"/>
            <a:ext cx="3624162" cy="504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3BEE23-C827-7A1C-4E9B-B1B823B59C2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463508" y="2286694"/>
            <a:ext cx="112477" cy="7822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CCAC80-AC22-4F73-AFA7-E0462E081C43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6377497" y="1532912"/>
            <a:ext cx="554678" cy="155358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A57BBDF3-DE46-A683-81E2-792CF7F1EF0C}"/>
              </a:ext>
            </a:extLst>
          </p:cNvPr>
          <p:cNvSpPr/>
          <p:nvPr/>
        </p:nvSpPr>
        <p:spPr>
          <a:xfrm rot="5400000">
            <a:off x="6182323" y="980331"/>
            <a:ext cx="186258" cy="5284795"/>
          </a:xfrm>
          <a:prstGeom prst="rightBrace">
            <a:avLst>
              <a:gd name="adj1" fmla="val 4133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ACDE6-33AD-BB3E-1B4A-F1E0C0676B9C}"/>
              </a:ext>
            </a:extLst>
          </p:cNvPr>
          <p:cNvSpPr txBox="1"/>
          <p:nvPr/>
        </p:nvSpPr>
        <p:spPr>
          <a:xfrm>
            <a:off x="3633506" y="3757489"/>
            <a:ext cx="779381" cy="2074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48" dirty="0"/>
              <a:t>Fast</a:t>
            </a:r>
            <a:r>
              <a:rPr lang="en-US" sz="748" dirty="0"/>
              <a:t> Processing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724263-F550-76B2-6AE5-B9F976DC21B2}"/>
              </a:ext>
            </a:extLst>
          </p:cNvPr>
          <p:cNvSpPr txBox="1"/>
          <p:nvPr/>
        </p:nvSpPr>
        <p:spPr>
          <a:xfrm>
            <a:off x="7601267" y="3730086"/>
            <a:ext cx="806631" cy="2074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48" dirty="0"/>
              <a:t>Slow</a:t>
            </a:r>
            <a:r>
              <a:rPr lang="en-US" sz="748" dirty="0"/>
              <a:t> Processing</a:t>
            </a:r>
          </a:p>
        </p:txBody>
      </p: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8DEFF7C6-61C0-721B-92C1-CE4DECE8234B}"/>
              </a:ext>
            </a:extLst>
          </p:cNvPr>
          <p:cNvSpPr/>
          <p:nvPr/>
        </p:nvSpPr>
        <p:spPr>
          <a:xfrm>
            <a:off x="793457" y="2832604"/>
            <a:ext cx="1644944" cy="622081"/>
          </a:xfrm>
          <a:prstGeom prst="borderCallout1">
            <a:avLst>
              <a:gd name="adj1" fmla="val 376"/>
              <a:gd name="adj2" fmla="val 56721"/>
              <a:gd name="adj3" fmla="val -121110"/>
              <a:gd name="adj4" fmla="val 170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/>
              <a:t>Humans view AI as a weaker competitor</a:t>
            </a:r>
            <a:endParaRPr lang="en-US" sz="1200" dirty="0"/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2161B8C5-FC92-287E-E247-6C528BE520DF}"/>
              </a:ext>
            </a:extLst>
          </p:cNvPr>
          <p:cNvSpPr/>
          <p:nvPr/>
        </p:nvSpPr>
        <p:spPr>
          <a:xfrm>
            <a:off x="3534074" y="4249510"/>
            <a:ext cx="1644944" cy="622081"/>
          </a:xfrm>
          <a:prstGeom prst="borderCallout1">
            <a:avLst>
              <a:gd name="adj1" fmla="val 376"/>
              <a:gd name="adj2" fmla="val 56721"/>
              <a:gd name="adj3" fmla="val -121110"/>
              <a:gd name="adj4" fmla="val 170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dirty="0"/>
              <a:t>AI </a:t>
            </a:r>
            <a:r>
              <a:rPr lang="en-US" altLang="zh-CN" sz="1200" dirty="0"/>
              <a:t>content</a:t>
            </a:r>
            <a:r>
              <a:rPr lang="en-US" altLang="en-US" sz="1200" dirty="0"/>
              <a:t> generate concrete competition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6743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ACD3-5EAC-E03A-A582-9E62374F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Different Content Signals for Two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6FE68E-AFA1-65D1-1FBE-365BE01C2CB2}"/>
              </a:ext>
            </a:extLst>
          </p:cNvPr>
          <p:cNvSpPr/>
          <p:nvPr/>
        </p:nvSpPr>
        <p:spPr>
          <a:xfrm>
            <a:off x="5354891" y="2539592"/>
            <a:ext cx="83009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</a:t>
            </a:r>
            <a:r>
              <a:rPr lang="en-US" altLang="zh-CN" sz="748" dirty="0"/>
              <a:t>Quality</a:t>
            </a:r>
            <a:endParaRPr lang="en-US" sz="748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DBC00-6E4C-26F0-3C9E-90BBB2BD08AB}"/>
              </a:ext>
            </a:extLst>
          </p:cNvPr>
          <p:cNvSpPr/>
          <p:nvPr/>
        </p:nvSpPr>
        <p:spPr>
          <a:xfrm>
            <a:off x="3821015" y="1403751"/>
            <a:ext cx="949890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Answer Participation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1C16C-B0DC-12B4-C280-219D9FA8D708}"/>
              </a:ext>
            </a:extLst>
          </p:cNvPr>
          <p:cNvSpPr/>
          <p:nvPr/>
        </p:nvSpPr>
        <p:spPr>
          <a:xfrm>
            <a:off x="900638" y="1896089"/>
            <a:ext cx="830091" cy="67772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Has AI Answer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DCAE15-98C8-D68A-F3C8-8874A47A78E8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1730729" y="1603776"/>
            <a:ext cx="2090286" cy="631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E5397C-81BC-E00F-894B-7DC794E0F0AF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2383502" y="2047475"/>
            <a:ext cx="347138" cy="1157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BD436C5-C057-A028-960E-D07C293A56B0}"/>
              </a:ext>
            </a:extLst>
          </p:cNvPr>
          <p:cNvSpPr/>
          <p:nvPr/>
        </p:nvSpPr>
        <p:spPr>
          <a:xfrm>
            <a:off x="2337889" y="3204717"/>
            <a:ext cx="78550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AI Answer Length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7D5D40-E8D4-026B-69F5-87B2738031C3}"/>
              </a:ext>
            </a:extLst>
          </p:cNvPr>
          <p:cNvSpPr/>
          <p:nvPr/>
        </p:nvSpPr>
        <p:spPr>
          <a:xfrm>
            <a:off x="3806556" y="3222232"/>
            <a:ext cx="785501" cy="4000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48" dirty="0"/>
              <a:t>AI 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7A3FE3-0BD4-C800-A79C-6DEC1AFCB384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199307" y="2592697"/>
            <a:ext cx="94638" cy="629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4B37B7-581C-A6C8-404C-5B138F9E7EB7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1730729" y="2234952"/>
            <a:ext cx="3624162" cy="504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7EA909-D7AF-C3B3-17F3-7BD8EF02A50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730640" y="2422429"/>
            <a:ext cx="112477" cy="7822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A80122-251A-D6B4-F755-52B520ECEA06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644629" y="1668647"/>
            <a:ext cx="554678" cy="155358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62345A06-FB52-6610-DAB0-7904C027A7CE}"/>
              </a:ext>
            </a:extLst>
          </p:cNvPr>
          <p:cNvSpPr/>
          <p:nvPr/>
        </p:nvSpPr>
        <p:spPr>
          <a:xfrm rot="5400000">
            <a:off x="3449455" y="1116066"/>
            <a:ext cx="186258" cy="5284795"/>
          </a:xfrm>
          <a:prstGeom prst="rightBrace">
            <a:avLst>
              <a:gd name="adj1" fmla="val 4133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8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0C890-61C6-6F52-E174-A0B534E8F508}"/>
              </a:ext>
            </a:extLst>
          </p:cNvPr>
          <p:cNvSpPr txBox="1"/>
          <p:nvPr/>
        </p:nvSpPr>
        <p:spPr>
          <a:xfrm>
            <a:off x="900638" y="3893224"/>
            <a:ext cx="779381" cy="2074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48" dirty="0"/>
              <a:t>Fast</a:t>
            </a:r>
            <a:r>
              <a:rPr lang="en-US" sz="748" dirty="0"/>
              <a:t> Processing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DB963-ECC0-F899-D75F-9090B3C4FF61}"/>
              </a:ext>
            </a:extLst>
          </p:cNvPr>
          <p:cNvSpPr txBox="1"/>
          <p:nvPr/>
        </p:nvSpPr>
        <p:spPr>
          <a:xfrm>
            <a:off x="4868399" y="3865821"/>
            <a:ext cx="806631" cy="2074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48" dirty="0"/>
              <a:t>Slow</a:t>
            </a:r>
            <a:r>
              <a:rPr lang="en-US" sz="748" dirty="0"/>
              <a:t> 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B62871-1073-A28B-0550-1BA2F466F80D}"/>
              </a:ext>
            </a:extLst>
          </p:cNvPr>
          <p:cNvSpPr txBox="1"/>
          <p:nvPr/>
        </p:nvSpPr>
        <p:spPr>
          <a:xfrm>
            <a:off x="2775872" y="4207953"/>
            <a:ext cx="1658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6E0C77-3FF7-B4EB-3D5F-B1E08452D271}"/>
              </a:ext>
            </a:extLst>
          </p:cNvPr>
          <p:cNvSpPr txBox="1"/>
          <p:nvPr/>
        </p:nvSpPr>
        <p:spPr>
          <a:xfrm>
            <a:off x="6175915" y="1268016"/>
            <a:ext cx="28606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Answers make two decisions </a:t>
            </a:r>
          </a:p>
          <a:p>
            <a:r>
              <a:rPr lang="en-US" sz="1600" dirty="0"/>
              <a:t>1) whether to participate </a:t>
            </a:r>
          </a:p>
          <a:p>
            <a:r>
              <a:rPr lang="en-US" sz="1600" dirty="0"/>
              <a:t>2) how to contribute</a:t>
            </a:r>
          </a:p>
          <a:p>
            <a:endParaRPr lang="en-US" sz="1600" dirty="0"/>
          </a:p>
          <a:p>
            <a:r>
              <a:rPr lang="en-US" sz="1600" dirty="0"/>
              <a:t>Participation is a fast decision which relies on fast signals, such as length</a:t>
            </a:r>
          </a:p>
          <a:p>
            <a:endParaRPr lang="en-US" sz="1600" dirty="0"/>
          </a:p>
          <a:p>
            <a:r>
              <a:rPr lang="en-US" sz="1600" dirty="0"/>
              <a:t>Contribution is a slow decision  which relies on slow signals, such as quality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22224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369E-7899-96C6-0242-CCA912B8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78E4AA-15EE-FBE9-483E-83AF296B48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Hypotheses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562B5C-D9E6-02FA-9A08-EB105CCC11BB}"/>
              </a:ext>
            </a:extLst>
          </p:cNvPr>
          <p:cNvSpPr txBox="1">
            <a:spLocks/>
          </p:cNvSpPr>
          <p:nvPr/>
        </p:nvSpPr>
        <p:spPr>
          <a:xfrm>
            <a:off x="238125" y="1117191"/>
            <a:ext cx="8705556" cy="3404009"/>
          </a:xfrm>
          <a:prstGeom prst="rect">
            <a:avLst/>
          </a:prstGeom>
        </p:spPr>
        <p:txBody>
          <a:bodyPr vert="horz" lIns="57150" tIns="28575" rIns="57150" bIns="28575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71454">
              <a:lnSpc>
                <a:spcPct val="120000"/>
              </a:lnSpc>
            </a:pPr>
            <a:r>
              <a:rPr lang="en-US" altLang="en-US" sz="1250" dirty="0"/>
              <a:t>Core Logic: </a:t>
            </a:r>
          </a:p>
          <a:p>
            <a:pPr lvl="1" defTabSz="571454">
              <a:lnSpc>
                <a:spcPct val="120000"/>
              </a:lnSpc>
            </a:pPr>
            <a:r>
              <a:rPr lang="en-US" altLang="en-US" sz="1125" dirty="0"/>
              <a:t>Humans view AI as a weaker competitor</a:t>
            </a:r>
            <a:r>
              <a:rPr lang="zh-CN" altLang="en-US" sz="1125" dirty="0"/>
              <a:t> </a:t>
            </a:r>
            <a:r>
              <a:rPr lang="en-US" altLang="zh-CN" sz="1125" dirty="0"/>
              <a:t>(without</a:t>
            </a:r>
            <a:r>
              <a:rPr lang="zh-CN" altLang="en-US" sz="1125" dirty="0"/>
              <a:t> </a:t>
            </a:r>
            <a:r>
              <a:rPr lang="en-US" altLang="zh-CN" sz="1125" dirty="0"/>
              <a:t>seeing</a:t>
            </a:r>
            <a:r>
              <a:rPr lang="zh-CN" altLang="en-US" sz="1125" dirty="0"/>
              <a:t> </a:t>
            </a:r>
            <a:r>
              <a:rPr lang="en-US" altLang="zh-CN" sz="1125" dirty="0"/>
              <a:t>content)</a:t>
            </a:r>
            <a:r>
              <a:rPr lang="en-US" altLang="en-US" sz="1125" dirty="0"/>
              <a:t>, </a:t>
            </a:r>
          </a:p>
          <a:p>
            <a:pPr lvl="1" defTabSz="571454">
              <a:lnSpc>
                <a:spcPct val="120000"/>
              </a:lnSpc>
            </a:pPr>
            <a:r>
              <a:rPr lang="en-US" altLang="en-US" sz="1125" dirty="0"/>
              <a:t>yet AI </a:t>
            </a:r>
            <a:r>
              <a:rPr lang="en-US" altLang="zh-CN" sz="1125" dirty="0"/>
              <a:t>content</a:t>
            </a:r>
            <a:r>
              <a:rPr lang="en-US" altLang="en-US" sz="1125" dirty="0"/>
              <a:t> triggers strong competitive dynamics that </a:t>
            </a:r>
            <a:r>
              <a:rPr lang="en-US" altLang="zh-CN" sz="1125" dirty="0">
                <a:solidFill>
                  <a:srgbClr val="FF0000"/>
                </a:solidFill>
              </a:rPr>
              <a:t>deter</a:t>
            </a:r>
            <a:r>
              <a:rPr lang="zh-CN" altLang="en-US" sz="1125" dirty="0">
                <a:solidFill>
                  <a:srgbClr val="FF0000"/>
                </a:solidFill>
              </a:rPr>
              <a:t> </a:t>
            </a:r>
            <a:r>
              <a:rPr lang="en-US" altLang="zh-CN" sz="1125" dirty="0">
                <a:solidFill>
                  <a:srgbClr val="FF0000"/>
                </a:solidFill>
              </a:rPr>
              <a:t>human</a:t>
            </a:r>
            <a:r>
              <a:rPr lang="zh-CN" altLang="en-US" sz="1125" dirty="0">
                <a:solidFill>
                  <a:srgbClr val="FF0000"/>
                </a:solidFill>
              </a:rPr>
              <a:t> </a:t>
            </a:r>
            <a:r>
              <a:rPr lang="en-US" altLang="zh-CN" sz="1125" dirty="0">
                <a:solidFill>
                  <a:srgbClr val="FF0000"/>
                </a:solidFill>
              </a:rPr>
              <a:t>contributions</a:t>
            </a:r>
            <a:r>
              <a:rPr lang="zh-CN" altLang="en-US" sz="1125" dirty="0">
                <a:solidFill>
                  <a:srgbClr val="FF0000"/>
                </a:solidFill>
              </a:rPr>
              <a:t> </a:t>
            </a:r>
            <a:r>
              <a:rPr lang="en-US" altLang="zh-CN" sz="1125" dirty="0"/>
              <a:t>and</a:t>
            </a:r>
            <a:r>
              <a:rPr lang="zh-CN" altLang="en-US" sz="1125" dirty="0"/>
              <a:t> </a:t>
            </a:r>
            <a:r>
              <a:rPr lang="en-US" altLang="zh-CN" sz="1125" dirty="0">
                <a:solidFill>
                  <a:srgbClr val="FF0000"/>
                </a:solidFill>
              </a:rPr>
              <a:t>elevate</a:t>
            </a:r>
            <a:r>
              <a:rPr lang="zh-CN" altLang="en-US" sz="1125" dirty="0">
                <a:solidFill>
                  <a:srgbClr val="FF0000"/>
                </a:solidFill>
              </a:rPr>
              <a:t> </a:t>
            </a:r>
            <a:r>
              <a:rPr lang="en-US" altLang="zh-CN" sz="1125" dirty="0">
                <a:solidFill>
                  <a:srgbClr val="FF0000"/>
                </a:solidFill>
              </a:rPr>
              <a:t>human</a:t>
            </a:r>
            <a:r>
              <a:rPr lang="zh-CN" altLang="en-US" sz="1125" dirty="0">
                <a:solidFill>
                  <a:srgbClr val="FF0000"/>
                </a:solidFill>
              </a:rPr>
              <a:t> </a:t>
            </a:r>
            <a:r>
              <a:rPr lang="en-US" altLang="zh-CN" sz="1125" dirty="0">
                <a:solidFill>
                  <a:srgbClr val="FF0000"/>
                </a:solidFill>
              </a:rPr>
              <a:t>answer</a:t>
            </a:r>
            <a:r>
              <a:rPr lang="zh-CN" altLang="en-US" sz="1125" dirty="0">
                <a:solidFill>
                  <a:srgbClr val="FF0000"/>
                </a:solidFill>
              </a:rPr>
              <a:t> </a:t>
            </a:r>
            <a:r>
              <a:rPr lang="en-US" altLang="zh-CN" sz="1125" dirty="0">
                <a:solidFill>
                  <a:srgbClr val="FF0000"/>
                </a:solidFill>
              </a:rPr>
              <a:t>quality</a:t>
            </a:r>
            <a:r>
              <a:rPr lang="en-US" altLang="en-US" sz="1125" dirty="0"/>
              <a:t>.</a:t>
            </a:r>
          </a:p>
          <a:p>
            <a:pPr defTabSz="571454">
              <a:lnSpc>
                <a:spcPct val="120000"/>
              </a:lnSpc>
            </a:pPr>
            <a:endParaRPr lang="en-US" altLang="en-US" sz="1125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86F0B5-67DD-702A-41A7-EDC33DC1E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357618"/>
              </p:ext>
            </p:extLst>
          </p:nvPr>
        </p:nvGraphicFramePr>
        <p:xfrm>
          <a:off x="629047" y="2300783"/>
          <a:ext cx="7885908" cy="1870470"/>
        </p:xfrm>
        <a:graphic>
          <a:graphicData uri="http://schemas.openxmlformats.org/drawingml/2006/table">
            <a:tbl>
              <a:tblPr/>
              <a:tblGrid>
                <a:gridCol w="2628636">
                  <a:extLst>
                    <a:ext uri="{9D8B030D-6E8A-4147-A177-3AD203B41FA5}">
                      <a16:colId xmlns:a16="http://schemas.microsoft.com/office/drawing/2014/main" val="467291939"/>
                    </a:ext>
                  </a:extLst>
                </a:gridCol>
                <a:gridCol w="2628636">
                  <a:extLst>
                    <a:ext uri="{9D8B030D-6E8A-4147-A177-3AD203B41FA5}">
                      <a16:colId xmlns:a16="http://schemas.microsoft.com/office/drawing/2014/main" val="3768826293"/>
                    </a:ext>
                  </a:extLst>
                </a:gridCol>
                <a:gridCol w="2628636">
                  <a:extLst>
                    <a:ext uri="{9D8B030D-6E8A-4147-A177-3AD203B41FA5}">
                      <a16:colId xmlns:a16="http://schemas.microsoft.com/office/drawing/2014/main" val="2119890597"/>
                    </a:ext>
                  </a:extLst>
                </a:gridCol>
              </a:tblGrid>
              <a:tr h="34008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100" dirty="0"/>
                        <a:t>DV:</a:t>
                      </a:r>
                      <a:r>
                        <a:rPr lang="zh-CN" altLang="en-US" sz="1100" dirty="0"/>
                        <a:t> </a:t>
                      </a:r>
                      <a:endParaRPr lang="en-US" sz="1100" dirty="0"/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Contribution (Fast)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Answer Quality (Slow)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09051"/>
                  </a:ext>
                </a:extLst>
              </a:tr>
              <a:tr h="34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AI Presence (as</a:t>
                      </a:r>
                      <a:r>
                        <a:rPr lang="zh-CN" altLang="en-US" sz="1100" b="1" dirty="0"/>
                        <a:t> </a:t>
                      </a:r>
                      <a:r>
                        <a:rPr lang="en-US" altLang="zh-CN" sz="1100" b="1" dirty="0"/>
                        <a:t>a</a:t>
                      </a:r>
                      <a:r>
                        <a:rPr lang="zh-CN" altLang="en-US" sz="1100" b="1" dirty="0"/>
                        <a:t> </a:t>
                      </a:r>
                      <a:r>
                        <a:rPr lang="en-US" altLang="zh-CN" sz="1100" b="1" dirty="0"/>
                        <a:t>weaker</a:t>
                      </a:r>
                      <a:r>
                        <a:rPr lang="zh-CN" altLang="en-US" sz="1100" b="1" dirty="0"/>
                        <a:t> </a:t>
                      </a:r>
                      <a:r>
                        <a:rPr lang="en-US" altLang="zh-CN" sz="1100" b="1" dirty="0"/>
                        <a:t>competitor</a:t>
                      </a:r>
                      <a:r>
                        <a:rPr lang="en-US" sz="1100" b="1" dirty="0"/>
                        <a:t>)</a:t>
                      </a:r>
                      <a:endParaRPr lang="en-US" sz="1100" dirty="0"/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H1: </a:t>
                      </a:r>
                      <a:r>
                        <a:rPr lang="en-US" sz="1100" b="1" dirty="0"/>
                        <a:t>↑</a:t>
                      </a:r>
                      <a:r>
                        <a:rPr lang="en-US" sz="1100" dirty="0"/>
                        <a:t> (easy win → motivates entry)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H3: </a:t>
                      </a:r>
                      <a:r>
                        <a:rPr lang="en-US" sz="1100" b="1"/>
                        <a:t>↓</a:t>
                      </a:r>
                      <a:r>
                        <a:rPr lang="en-US" sz="1100"/>
                        <a:t> (weak rival → complacency)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073917"/>
                  </a:ext>
                </a:extLst>
              </a:tr>
              <a:tr h="59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Moderated by Length</a:t>
                      </a:r>
                      <a:endParaRPr lang="en-US" sz="1100"/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H2: </a:t>
                      </a:r>
                      <a:r>
                        <a:rPr lang="en-US" sz="1100" b="1" dirty="0"/>
                        <a:t>attenuates H1</a:t>
                      </a:r>
                      <a:r>
                        <a:rPr lang="en-US" sz="1100" dirty="0"/>
                        <a:t>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(occupied space → deters entry)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—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03508"/>
                  </a:ext>
                </a:extLst>
              </a:tr>
              <a:tr h="59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Moderated by Quality</a:t>
                      </a:r>
                      <a:endParaRPr lang="en-US" sz="1100" dirty="0"/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—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H4: </a:t>
                      </a:r>
                      <a:r>
                        <a:rPr lang="en-US" sz="1100" b="1" dirty="0"/>
                        <a:t>reverses H3</a:t>
                      </a:r>
                      <a:r>
                        <a:rPr lang="en-US" sz="1100" dirty="0"/>
                        <a:t>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(credible rival → raises the bar)</a:t>
                      </a:r>
                    </a:p>
                  </a:txBody>
                  <a:tcPr marL="57150" marR="57150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834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78B1B1-9203-7CE3-C4B5-B1B6961FD6F9}"/>
              </a:ext>
            </a:extLst>
          </p:cNvPr>
          <p:cNvSpPr txBox="1"/>
          <p:nvPr/>
        </p:nvSpPr>
        <p:spPr>
          <a:xfrm>
            <a:off x="6194796" y="4465341"/>
            <a:ext cx="2079415" cy="207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48" dirty="0"/>
              <a:t>Detailed</a:t>
            </a:r>
            <a:r>
              <a:rPr lang="zh-CN" altLang="en-US" sz="748" dirty="0"/>
              <a:t> </a:t>
            </a:r>
            <a:r>
              <a:rPr lang="en-US" altLang="zh-CN" sz="748" dirty="0"/>
              <a:t>theoretical</a:t>
            </a:r>
            <a:r>
              <a:rPr lang="zh-CN" altLang="en-US" sz="748" dirty="0"/>
              <a:t> </a:t>
            </a:r>
            <a:r>
              <a:rPr lang="en-US" altLang="zh-CN" sz="748" dirty="0"/>
              <a:t>development,</a:t>
            </a:r>
            <a:r>
              <a:rPr lang="zh-CN" altLang="en-US" sz="748" dirty="0"/>
              <a:t> </a:t>
            </a:r>
            <a:r>
              <a:rPr lang="en-US" altLang="zh-CN" sz="748" dirty="0"/>
              <a:t>see</a:t>
            </a:r>
            <a:r>
              <a:rPr lang="zh-CN" altLang="en-US" sz="748" dirty="0"/>
              <a:t> </a:t>
            </a:r>
            <a:r>
              <a:rPr lang="en-US" altLang="zh-CN" sz="748" dirty="0"/>
              <a:t>next</a:t>
            </a:r>
            <a:r>
              <a:rPr lang="zh-CN" altLang="en-US" sz="748" dirty="0"/>
              <a:t> </a:t>
            </a:r>
            <a:r>
              <a:rPr lang="en-US" altLang="zh-CN" sz="748" dirty="0"/>
              <a:t>slide</a:t>
            </a:r>
            <a:endParaRPr lang="en-US" sz="748" dirty="0"/>
          </a:p>
        </p:txBody>
      </p:sp>
    </p:spTree>
    <p:extLst>
      <p:ext uri="{BB962C8B-B14F-4D97-AF65-F5344CB8AC3E}">
        <p14:creationId xmlns:p14="http://schemas.microsoft.com/office/powerpoint/2010/main" val="148645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6924-2478-1F4E-2D93-7F17A414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161E-4BE9-30EB-78B2-DB8D82E4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Finding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B35D6E-4969-9CF3-D045-3425CB11A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764982"/>
              </p:ext>
            </p:extLst>
          </p:nvPr>
        </p:nvGraphicFramePr>
        <p:xfrm>
          <a:off x="5062779" y="1724694"/>
          <a:ext cx="3574967" cy="2467213"/>
        </p:xfrm>
        <a:graphic>
          <a:graphicData uri="http://schemas.openxmlformats.org/drawingml/2006/table">
            <a:tbl>
              <a:tblPr/>
              <a:tblGrid>
                <a:gridCol w="1255956">
                  <a:extLst>
                    <a:ext uri="{9D8B030D-6E8A-4147-A177-3AD203B41FA5}">
                      <a16:colId xmlns:a16="http://schemas.microsoft.com/office/drawing/2014/main" val="2194831079"/>
                    </a:ext>
                  </a:extLst>
                </a:gridCol>
                <a:gridCol w="761137">
                  <a:extLst>
                    <a:ext uri="{9D8B030D-6E8A-4147-A177-3AD203B41FA5}">
                      <a16:colId xmlns:a16="http://schemas.microsoft.com/office/drawing/2014/main" val="3377069532"/>
                    </a:ext>
                  </a:extLst>
                </a:gridCol>
                <a:gridCol w="529744">
                  <a:extLst>
                    <a:ext uri="{9D8B030D-6E8A-4147-A177-3AD203B41FA5}">
                      <a16:colId xmlns:a16="http://schemas.microsoft.com/office/drawing/2014/main" val="204925023"/>
                    </a:ext>
                  </a:extLst>
                </a:gridCol>
                <a:gridCol w="413857">
                  <a:extLst>
                    <a:ext uri="{9D8B030D-6E8A-4147-A177-3AD203B41FA5}">
                      <a16:colId xmlns:a16="http://schemas.microsoft.com/office/drawing/2014/main" val="3863096390"/>
                    </a:ext>
                  </a:extLst>
                </a:gridCol>
                <a:gridCol w="614273">
                  <a:extLst>
                    <a:ext uri="{9D8B030D-6E8A-4147-A177-3AD203B41FA5}">
                      <a16:colId xmlns:a16="http://schemas.microsoft.com/office/drawing/2014/main" val="67674783"/>
                    </a:ext>
                  </a:extLst>
                </a:gridCol>
              </a:tblGrid>
              <a:tr h="1765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 </a:t>
                      </a:r>
                    </a:p>
                  </a:txBody>
                  <a:tcPr marL="5316" marR="5316" marT="5316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(2)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(3)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(4)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002163"/>
                  </a:ext>
                </a:extLst>
              </a:tr>
              <a:tr h="52504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DV: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number of human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answers within 7 days</a:t>
                      </a:r>
                    </a:p>
                  </a:txBody>
                  <a:tcPr marL="66003" marR="66003" marT="33001" marB="33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first human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answer quality</a:t>
                      </a:r>
                    </a:p>
                  </a:txBody>
                  <a:tcPr marL="66003" marR="66003" marT="33001" marB="33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944480"/>
                  </a:ext>
                </a:extLst>
              </a:tr>
              <a:tr h="17656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0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03" marR="66003" marT="33001" marB="33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-0.046 ***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0.226 **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-0.120 .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73219"/>
                  </a:ext>
                </a:extLst>
              </a:tr>
              <a:tr h="17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(0.085)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(0.007)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(0.067)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01719"/>
                  </a:ext>
                </a:extLst>
              </a:tr>
              <a:tr h="17656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0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AILength</a:t>
                      </a:r>
                      <a:r>
                        <a:rPr lang="en-US" sz="10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03" marR="66003" marT="33001" marB="33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-0.045 **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-0.013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67539"/>
                  </a:ext>
                </a:extLst>
              </a:tr>
              <a:tr h="17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(0.014)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95254"/>
                  </a:ext>
                </a:extLst>
              </a:tr>
              <a:tr h="17656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0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AISimWithLLM</a:t>
                      </a:r>
                      <a:r>
                        <a:rPr lang="en-US" sz="10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003" marR="66003" marT="33001" marB="33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-0.038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0.350 ***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025830"/>
                  </a:ext>
                </a:extLst>
              </a:tr>
              <a:tr h="17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(0.051)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(0.034)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975476"/>
                  </a:ext>
                </a:extLst>
              </a:tr>
              <a:tr h="1765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controls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207335"/>
                  </a:ext>
                </a:extLst>
              </a:tr>
              <a:tr h="1765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questioner controls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89340"/>
                  </a:ext>
                </a:extLst>
              </a:tr>
              <a:tr h="1765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timing FE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2091"/>
                  </a:ext>
                </a:extLst>
              </a:tr>
              <a:tr h="1765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3,613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3,603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5316" marR="5316" marT="53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17155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E415AC9-EB38-4438-45B9-24AF21D08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08" y="1070746"/>
            <a:ext cx="2821678" cy="1977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CF47FD-B277-83B1-E96B-0D6102DAC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08" y="3063377"/>
            <a:ext cx="2821678" cy="197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1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2A9F-FFB3-7774-15A2-D8F010D3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Inclusion of Prior Findings (Su et 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3A1EA-2135-5E1C-EBF2-484CFBDC3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65" y="1483241"/>
            <a:ext cx="4017862" cy="2815709"/>
          </a:xfrm>
          <a:prstGeom prst="rect">
            <a:avLst/>
          </a:prstGeom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A8A74E0C-B63C-21CF-8716-73B80AF934FB}"/>
              </a:ext>
            </a:extLst>
          </p:cNvPr>
          <p:cNvSpPr/>
          <p:nvPr/>
        </p:nvSpPr>
        <p:spPr>
          <a:xfrm>
            <a:off x="578639" y="1483242"/>
            <a:ext cx="1550276" cy="927315"/>
          </a:xfrm>
          <a:prstGeom prst="borderCallout1">
            <a:avLst>
              <a:gd name="adj1" fmla="val 55159"/>
              <a:gd name="adj2" fmla="val 103021"/>
              <a:gd name="adj3" fmla="val 86537"/>
              <a:gd name="adj4" fmla="val 1462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 et al.  2023</a:t>
            </a:r>
          </a:p>
          <a:p>
            <a:pPr algn="ctr"/>
            <a:r>
              <a:rPr lang="en-US" dirty="0"/>
              <a:t>AI encourage contribution 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DC8E05CF-88A3-A618-97B0-78208705B35B}"/>
              </a:ext>
            </a:extLst>
          </p:cNvPr>
          <p:cNvSpPr/>
          <p:nvPr/>
        </p:nvSpPr>
        <p:spPr>
          <a:xfrm>
            <a:off x="6457627" y="1483241"/>
            <a:ext cx="2375863" cy="927315"/>
          </a:xfrm>
          <a:prstGeom prst="borderCallout1">
            <a:avLst>
              <a:gd name="adj1" fmla="val 92423"/>
              <a:gd name="adj2" fmla="val 36151"/>
              <a:gd name="adj3" fmla="val 192648"/>
              <a:gd name="adj4" fmla="val -299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finding in las round</a:t>
            </a:r>
          </a:p>
          <a:p>
            <a:pPr algn="ctr"/>
            <a:r>
              <a:rPr lang="en-US" dirty="0"/>
              <a:t>AI deter contribution </a:t>
            </a: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42E89D86-80D3-B7B7-9DCE-638CDB0316A9}"/>
              </a:ext>
            </a:extLst>
          </p:cNvPr>
          <p:cNvSpPr/>
          <p:nvPr/>
        </p:nvSpPr>
        <p:spPr>
          <a:xfrm>
            <a:off x="5793783" y="4050517"/>
            <a:ext cx="3166067" cy="927315"/>
          </a:xfrm>
          <a:prstGeom prst="borderCallout1">
            <a:avLst>
              <a:gd name="adj1" fmla="val -3956"/>
              <a:gd name="adj2" fmla="val 46806"/>
              <a:gd name="adj3" fmla="val -13469"/>
              <a:gd name="adj4" fmla="val -101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 reason:</a:t>
            </a:r>
          </a:p>
          <a:p>
            <a:pPr algn="ctr"/>
            <a:r>
              <a:rPr lang="en-US" dirty="0"/>
              <a:t>Content deter contribution; Label encourage contribution </a:t>
            </a:r>
          </a:p>
        </p:txBody>
      </p:sp>
    </p:spTree>
    <p:extLst>
      <p:ext uri="{BB962C8B-B14F-4D97-AF65-F5344CB8AC3E}">
        <p14:creationId xmlns:p14="http://schemas.microsoft.com/office/powerpoint/2010/main" val="897524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63D3-175B-A25F-3591-D11CD4CA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A83E5F-D8E2-4F96-E463-BF81724D06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Contribution </a:t>
            </a:r>
            <a:r>
              <a:rPr lang="en-US" altLang="en-US" sz="1250" dirty="0"/>
              <a:t>(Fast Processing — Length as Signal)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D0882-D713-5CDC-AD76-E8E9E9A51548}"/>
              </a:ext>
            </a:extLst>
          </p:cNvPr>
          <p:cNvSpPr txBox="1">
            <a:spLocks/>
          </p:cNvSpPr>
          <p:nvPr/>
        </p:nvSpPr>
        <p:spPr>
          <a:xfrm>
            <a:off x="238125" y="2775373"/>
            <a:ext cx="8705556" cy="1855940"/>
          </a:xfrm>
          <a:prstGeom prst="rect">
            <a:avLst/>
          </a:prstGeom>
        </p:spPr>
        <p:txBody>
          <a:bodyPr vert="horz" lIns="57150" tIns="28575" rIns="57150" bIns="28575" rtlCol="0">
            <a:normAutofit lnSpcReduction="10000"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/>
              <a:t>H1: AI presence increases human contribution.</a:t>
            </a:r>
          </a:p>
          <a:p>
            <a:pPr lvl="1"/>
            <a:r>
              <a:rPr lang="en-US" altLang="en-US" sz="875" dirty="0"/>
              <a:t>Humans perceive AI as a</a:t>
            </a:r>
            <a:r>
              <a:rPr lang="zh-CN" altLang="en-US" sz="875" dirty="0"/>
              <a:t> </a:t>
            </a:r>
            <a:r>
              <a:rPr lang="en-US" altLang="zh-CN" sz="875" dirty="0"/>
              <a:t>“weak”</a:t>
            </a:r>
            <a:r>
              <a:rPr lang="zh-CN" altLang="en-US" sz="875" dirty="0"/>
              <a:t> </a:t>
            </a:r>
            <a:r>
              <a:rPr lang="en-US" altLang="en-US" sz="875" dirty="0"/>
              <a:t>competitor</a:t>
            </a:r>
            <a:r>
              <a:rPr lang="zh-CN" altLang="en-US" sz="875" dirty="0"/>
              <a:t> </a:t>
            </a:r>
            <a:r>
              <a:rPr lang="en-US" altLang="zh-CN" sz="875" dirty="0"/>
              <a:t>(because</a:t>
            </a:r>
            <a:r>
              <a:rPr lang="zh-CN" altLang="en-US" sz="875" dirty="0"/>
              <a:t> </a:t>
            </a:r>
            <a:r>
              <a:rPr lang="en-US" altLang="zh-CN" sz="875" dirty="0"/>
              <a:t>of</a:t>
            </a:r>
            <a:r>
              <a:rPr lang="zh-CN" altLang="en-US" sz="875" dirty="0"/>
              <a:t> </a:t>
            </a:r>
            <a:r>
              <a:rPr lang="en-US" altLang="zh-CN" sz="875" dirty="0"/>
              <a:t>competitive</a:t>
            </a:r>
            <a:r>
              <a:rPr lang="zh-CN" altLang="en-US" sz="875" dirty="0"/>
              <a:t> </a:t>
            </a:r>
            <a:r>
              <a:rPr lang="en-US" altLang="zh-CN" sz="875" dirty="0"/>
              <a:t>arousal</a:t>
            </a:r>
            <a:r>
              <a:rPr lang="zh-CN" altLang="en-US" sz="875" dirty="0"/>
              <a:t> </a:t>
            </a:r>
            <a:r>
              <a:rPr lang="en-US" altLang="zh-CN" sz="875" dirty="0"/>
              <a:t>–</a:t>
            </a:r>
            <a:r>
              <a:rPr lang="zh-CN" altLang="en-US" sz="875" dirty="0"/>
              <a:t> </a:t>
            </a:r>
            <a:r>
              <a:rPr lang="en-US" altLang="zh-CN" sz="875" dirty="0"/>
              <a:t>experts</a:t>
            </a:r>
            <a:r>
              <a:rPr lang="zh-CN" altLang="en-US" sz="875" dirty="0"/>
              <a:t> </a:t>
            </a:r>
            <a:r>
              <a:rPr lang="en-US" altLang="zh-CN" sz="875" dirty="0"/>
              <a:t>believe</a:t>
            </a:r>
            <a:r>
              <a:rPr lang="zh-CN" altLang="en-US" sz="875" dirty="0"/>
              <a:t> </a:t>
            </a:r>
            <a:r>
              <a:rPr lang="en-US" altLang="zh-CN" sz="875" dirty="0" err="1"/>
              <a:t>SegementFault</a:t>
            </a:r>
            <a:r>
              <a:rPr lang="zh-CN" altLang="en-US" sz="875" dirty="0"/>
              <a:t> </a:t>
            </a:r>
            <a:r>
              <a:rPr lang="en-US" altLang="zh-CN" sz="875" dirty="0"/>
              <a:t>is</a:t>
            </a:r>
            <a:r>
              <a:rPr lang="zh-CN" altLang="en-US" sz="875" dirty="0"/>
              <a:t> </a:t>
            </a:r>
            <a:r>
              <a:rPr lang="en-US" altLang="zh-CN" sz="875" dirty="0"/>
              <a:t>their</a:t>
            </a:r>
            <a:r>
              <a:rPr lang="zh-CN" altLang="en-US" sz="875" dirty="0"/>
              <a:t> </a:t>
            </a:r>
            <a:r>
              <a:rPr lang="en-US" altLang="zh-CN" sz="875" dirty="0"/>
              <a:t>expert-specific</a:t>
            </a:r>
            <a:r>
              <a:rPr lang="zh-CN" altLang="en-US" sz="875" dirty="0"/>
              <a:t> </a:t>
            </a:r>
            <a:r>
              <a:rPr lang="en-US" altLang="zh-CN" sz="875" dirty="0"/>
              <a:t>area)</a:t>
            </a:r>
            <a:endParaRPr lang="en-US" altLang="en-US" sz="875" dirty="0"/>
          </a:p>
          <a:p>
            <a:pPr lvl="1"/>
            <a:r>
              <a:rPr lang="en-US" altLang="en-US" sz="875" i="1" dirty="0"/>
              <a:t>Regardless of AI answer length or quality, the competitive trigger stimulates a baseline impulse to respond.</a:t>
            </a:r>
          </a:p>
          <a:p>
            <a:pPr lvl="1"/>
            <a:endParaRPr lang="en-US" altLang="en-US" sz="875" dirty="0"/>
          </a:p>
          <a:p>
            <a:r>
              <a:rPr lang="en-US" altLang="en-US" sz="1000" dirty="0"/>
              <a:t>H2: The competitive crowding-out is stronger when the AI answer is longer.</a:t>
            </a:r>
          </a:p>
          <a:p>
            <a:pPr lvl="1"/>
            <a:r>
              <a:rPr lang="en-US" altLang="en-US" sz="875" dirty="0"/>
              <a:t>Length is a fast-processed heuristic for how </a:t>
            </a:r>
            <a:r>
              <a:rPr lang="en-US" altLang="zh-CN" sz="875" dirty="0"/>
              <a:t>“comprehensive</a:t>
            </a:r>
            <a:r>
              <a:rPr lang="en-US" altLang="en-US" sz="875" dirty="0"/>
              <a:t>" the competitive space is.</a:t>
            </a:r>
          </a:p>
          <a:p>
            <a:pPr lvl="1"/>
            <a:r>
              <a:rPr lang="en-US" altLang="en-US" sz="875" dirty="0"/>
              <a:t>A longer AI answer signals a more formidable competitive barrier → the "easy win" perception erodes → the baseline positive contribution effect is attenuated or reversed.</a:t>
            </a:r>
          </a:p>
          <a:p>
            <a:pPr indent="0" defTabSz="571454">
              <a:lnSpc>
                <a:spcPct val="120000"/>
              </a:lnSpc>
              <a:buNone/>
            </a:pPr>
            <a:endParaRPr lang="en-US" altLang="zh-CN" sz="1125" dirty="0"/>
          </a:p>
          <a:p>
            <a:pPr defTabSz="571454">
              <a:lnSpc>
                <a:spcPct val="120000"/>
              </a:lnSpc>
            </a:pPr>
            <a:endParaRPr lang="en-US" altLang="en-US" sz="1125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5AE4A9-CDFC-7257-D58D-3BC7BD50AAF5}"/>
              </a:ext>
            </a:extLst>
          </p:cNvPr>
          <p:cNvGrpSpPr/>
          <p:nvPr/>
        </p:nvGrpSpPr>
        <p:grpSpPr>
          <a:xfrm>
            <a:off x="2612065" y="1160099"/>
            <a:ext cx="3919871" cy="1586525"/>
            <a:chOff x="4622948" y="1114461"/>
            <a:chExt cx="5931088" cy="396878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3E8E5-7CA3-48AA-9D2B-CB2BB71A0944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48" dirty="0"/>
                <a:t>Answer Participation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07924E-8BBF-5B76-A3FD-FF7A7E5CD305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48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6E2B76-04A2-B8A9-B0AB-F776E357EFED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CD2B1A1-C004-29E9-F87E-AC27B91D6F45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B48F2A-E462-0F4B-0331-61553C7FD962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48" dirty="0"/>
                <a:t>AI Answer Length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4C791110-CBA9-C127-0C14-FA289E7301EF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748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A12F70-59FC-6F31-7D6E-0AF635CD4AB4}"/>
                </a:ext>
              </a:extLst>
            </p:cNvPr>
            <p:cNvSpPr txBox="1"/>
            <p:nvPr/>
          </p:nvSpPr>
          <p:spPr>
            <a:xfrm>
              <a:off x="6712258" y="4564350"/>
              <a:ext cx="1179268" cy="518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48" dirty="0"/>
                <a:t>Fast</a:t>
              </a:r>
              <a:r>
                <a:rPr lang="en-US" sz="748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60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E7C2-861B-74EC-7200-27CFF3FC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2E2521-DC5E-518F-C516-C987079C56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Answer Quality </a:t>
            </a:r>
            <a:r>
              <a:rPr lang="en-US" altLang="en-US" sz="1500" dirty="0"/>
              <a:t>(Slow Processing — Quality as Benchmark)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16406A-3C10-69BA-A13C-6C054BE8ECE2}"/>
              </a:ext>
            </a:extLst>
          </p:cNvPr>
          <p:cNvSpPr txBox="1">
            <a:spLocks/>
          </p:cNvSpPr>
          <p:nvPr/>
        </p:nvSpPr>
        <p:spPr>
          <a:xfrm>
            <a:off x="219222" y="2821533"/>
            <a:ext cx="8705556" cy="1855940"/>
          </a:xfrm>
          <a:prstGeom prst="rect">
            <a:avLst/>
          </a:prstGeom>
        </p:spPr>
        <p:txBody>
          <a:bodyPr vert="horz" lIns="57150" tIns="28575" rIns="57150" bIns="28575" rtlCol="0">
            <a:normAutofit lnSpcReduction="10000"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 dirty="0"/>
              <a:t>H3: AI presence decreases human answer quality.</a:t>
            </a:r>
          </a:p>
          <a:p>
            <a:pPr lvl="1"/>
            <a:r>
              <a:rPr lang="en-US" altLang="en-US" sz="875" b="0" dirty="0"/>
              <a:t>Facing a perceived weaker competitor, humans become complacent → reduced effort investment → "I don't need to try hard to beat this" → lower quality.</a:t>
            </a:r>
          </a:p>
          <a:p>
            <a:pPr lvl="1"/>
            <a:r>
              <a:rPr lang="en-US" altLang="en-US" sz="875" b="0" i="1" dirty="0"/>
              <a:t>Regardless of AI answer length or quality, </a:t>
            </a:r>
            <a:r>
              <a:rPr lang="en-US" altLang="en-US" sz="875" i="1" dirty="0"/>
              <a:t>the baseline competitive posture toward a "weak" rival lowers the quality bar humans set for themselves.</a:t>
            </a:r>
          </a:p>
          <a:p>
            <a:pPr lvl="1"/>
            <a:endParaRPr lang="en-US" altLang="en-US" sz="875" dirty="0"/>
          </a:p>
          <a:p>
            <a:r>
              <a:rPr lang="en-US" altLang="en-US" sz="1000" dirty="0"/>
              <a:t>H4: The negative quality effect reverses when AI answer quality is high.</a:t>
            </a:r>
          </a:p>
          <a:p>
            <a:pPr lvl="1"/>
            <a:r>
              <a:rPr lang="en-US" altLang="en-US" sz="875" b="0" dirty="0"/>
              <a:t>High AI quality can only be assessed through slow, deliberate processing → once recognized, it shatters the "weak competitor" assumption.</a:t>
            </a:r>
          </a:p>
          <a:p>
            <a:pPr lvl="1"/>
            <a:r>
              <a:rPr lang="en-US" altLang="en-US" sz="875" b="0" dirty="0"/>
              <a:t>A high-quality AI answer serves as a visible benchmark to surpass → triggers genuine competitive effort → humans invest more to demonstrate superiority → quality rises</a:t>
            </a:r>
            <a:r>
              <a:rPr lang="en-US" altLang="en-US" sz="875" dirty="0"/>
              <a:t>.</a:t>
            </a:r>
          </a:p>
          <a:p>
            <a:pPr lvl="1"/>
            <a:r>
              <a:rPr lang="en-US" altLang="en-US" sz="875" i="1" dirty="0"/>
              <a:t>"The AI is actually good — I must prove I'm better."</a:t>
            </a:r>
            <a:endParaRPr lang="en-US" altLang="en-US" sz="875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0AD598-334E-2F95-EC07-A95E39B65786}"/>
              </a:ext>
            </a:extLst>
          </p:cNvPr>
          <p:cNvGrpSpPr/>
          <p:nvPr/>
        </p:nvGrpSpPr>
        <p:grpSpPr>
          <a:xfrm>
            <a:off x="2694195" y="1141584"/>
            <a:ext cx="3919871" cy="1586525"/>
            <a:chOff x="4622948" y="1114461"/>
            <a:chExt cx="5931088" cy="396878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BD89BA4-CB65-CB0C-1C8D-47352DCC76C0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48" dirty="0"/>
                <a:t>Answer </a:t>
              </a:r>
              <a:r>
                <a:rPr lang="en-US" altLang="zh-CN" sz="748" dirty="0"/>
                <a:t>Quality</a:t>
              </a:r>
              <a:endParaRPr lang="en-US" sz="748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9B48FB-0E12-1864-A22D-89D010638B9E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48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F42235F-90D5-385B-80D6-8A9B0645B0D4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51A4F7-BD28-C7C2-22A1-829E39C131B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4AE7A6-2041-8AFB-5219-A19E8C2C5A7B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48" dirty="0"/>
                <a:t>AI Answer Quality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8C97F723-5CD0-0A02-195A-8F07B0756D9B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748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3DF411-7DE2-BD91-910F-F57C387A3FE6}"/>
                </a:ext>
              </a:extLst>
            </p:cNvPr>
            <p:cNvSpPr txBox="1"/>
            <p:nvPr/>
          </p:nvSpPr>
          <p:spPr>
            <a:xfrm>
              <a:off x="6712258" y="4564350"/>
              <a:ext cx="1220499" cy="518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48" dirty="0"/>
                <a:t>Slow</a:t>
              </a:r>
              <a:r>
                <a:rPr lang="en-US" sz="748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1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94955</TotalTime>
  <Words>804</Words>
  <Application>Microsoft Office PowerPoint</Application>
  <PresentationFormat>On-screen Show (16:9)</PresentationFormat>
  <Paragraphs>189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Georgia</vt:lpstr>
      <vt:lpstr>Arial</vt:lpstr>
      <vt:lpstr>Lato</vt:lpstr>
      <vt:lpstr>Lato Light</vt:lpstr>
      <vt:lpstr>微软雅黑</vt:lpstr>
      <vt:lpstr>Lato Black</vt:lpstr>
      <vt:lpstr>Calibri</vt:lpstr>
      <vt:lpstr>等线</vt:lpstr>
      <vt:lpstr>Calibri Light</vt:lpstr>
      <vt:lpstr>Times New Roman</vt:lpstr>
      <vt:lpstr>Wingdings</vt:lpstr>
      <vt:lpstr>Office 2013 - 2022 Theme</vt:lpstr>
      <vt:lpstr>MIS Paper Revision Plan</vt:lpstr>
      <vt:lpstr>Outline</vt:lpstr>
      <vt:lpstr>Background</vt:lpstr>
      <vt:lpstr>Original Framing (not drawn in the paper)</vt:lpstr>
      <vt:lpstr>Reviewer’s concerns</vt:lpstr>
      <vt:lpstr>SE’s suggection</vt:lpstr>
      <vt:lpstr>Revise of the Focuse of the Paper</vt:lpstr>
      <vt:lpstr>New Framework</vt:lpstr>
      <vt:lpstr>AI’s Two Roles in Competition with Human</vt:lpstr>
      <vt:lpstr>Two Different Content Signals for Two Decisions</vt:lpstr>
      <vt:lpstr>PowerPoint Presentation</vt:lpstr>
      <vt:lpstr>Preliminary Finding</vt:lpstr>
      <vt:lpstr>Inclusion of Prior Findings (Su et al)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Xin Li</cp:lastModifiedBy>
  <cp:revision>428</cp:revision>
  <dcterms:created xsi:type="dcterms:W3CDTF">2020-04-20T03:29:34Z</dcterms:created>
  <dcterms:modified xsi:type="dcterms:W3CDTF">2026-06-09T09:36:46Z</dcterms:modified>
  <cp:category/>
</cp:coreProperties>
</file>