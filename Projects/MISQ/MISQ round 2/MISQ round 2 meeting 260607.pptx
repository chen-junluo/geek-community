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0" r:id="rId3"/>
    <p:sldId id="281" r:id="rId4"/>
    <p:sldId id="286" r:id="rId5"/>
    <p:sldId id="28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6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6546-45D6-3397-6685-D5EB850E6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5477F-7305-A8E6-DB76-85AC26231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13E1-F78C-C5C8-6531-3581FBC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C2680-B447-AD7E-3A29-7058B78B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3258-F303-E9AE-DB85-CFEE01678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7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BFF8-D5B1-AF04-E61F-0E079B09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3186-57D8-1B91-1FA6-BC6C7779A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3541E-2362-FCFF-7E85-D7FF259E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C0904-1EE7-0D4B-4531-B6E6FE9D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70C46-8705-2E1E-1505-F1F8FE25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FF258-8788-889B-63A2-BB30AB373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1E8FE-AF2F-8824-CA06-EAAE2BD9B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04647-9688-6E98-94D0-AF9005C18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8DE02-92DD-6870-88C4-95292CA65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1A08-291C-162C-EDDF-D7541F453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998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1FC1-B5E9-2401-6874-74954DEA5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E453-DA24-0CF7-8661-CCF7128F5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46E24E-3AF1-1C02-C23E-EFB1C2C82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A5D9-7216-D6F1-2050-2BCDFBC0D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615B-0B5B-F30E-F999-0589ECB7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9BF4A-9ABA-AE98-0FD7-8DBA3018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77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39389-8B92-8C8B-4948-A27CA21A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D48F6-4C84-3581-1D57-B2F079DEC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A4A94-0F74-64F9-6280-B6085B57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301091-B7BB-BA9D-E60A-1DB254F7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F4657-6FE2-E145-BA9C-0C24B7069F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1B72-1270-85BC-2E4D-13CA3D946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4F045E-4783-F4B4-330D-11CD20C97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B2BA0-A7E9-B2ED-3F6C-03610E7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9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781E-0D29-4C8B-C4E8-E88C760A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30284-BE08-10CE-5C11-7CFCA9F2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4FA06-B56F-CC5E-D776-597A6016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BF62F4-A12C-511D-F236-5D7A48CC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8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050A27-2DEE-968A-2A53-96BFFF40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41F7A0-AD9F-B5BE-CB15-2F127F96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D4DA-F2D7-8164-FD63-FBBFD2D3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0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4C15-62ED-CAEA-4A79-CF0CD0D7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5C3BA-F65E-2BDC-02D8-B6A4A57E4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1F51E-D5C0-D663-5DC1-D2CAF7682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8031A-A8F4-8A34-9EE4-1244F9BD3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5EC8F-F2F5-73F1-6D79-0953C34AD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CA9B7-3125-5AEA-E0A5-526E3829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52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9EA9F-325E-77A3-BA3F-35684DEF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D85A86-DCDA-3D19-EF33-4604A291A7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F341E8-E418-6D31-7EC8-45A97655E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00EBE-DEF1-23CB-7AAB-A24399A0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E09D3F-2A78-C646-D206-06D72D40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6A637-3AE1-A36E-0F69-CC6204F2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4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BCE-BC2F-BFFB-0014-52A8120A6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C5806-4A0B-645C-1F41-FA1CE5E9AE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7337D-5E84-5198-D2FB-315492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59F18-1049-8CF0-0D4C-8DD5C562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2EAA0-D76D-CABE-BB23-60C19FCCC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6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5D258-F781-9A5D-EC79-458C2557D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8E1EB-3B2F-7DEC-1299-4AE21928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810E6-C046-4D69-6003-0B5E7195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FF4E0-39D0-7D44-CAE2-7FAEFDF0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4590-EBD9-029E-FED6-B43E6B4F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299B6D-9A4D-454B-F38A-EEB69D92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63D50-94D2-31BE-C936-F6B1C87F2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10032-A3FD-D679-F675-FF9EE11228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75E44-BF68-4D37-A7A3-8A7D48E34B1E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71BF-C234-41FA-01FE-7ECC3535D1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948D-FC1E-8ADE-7ED8-0FDCD7D97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E8921-5C89-4282-969C-FF5904734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180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06048-46E8-7166-5D91-F34D7A9F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8AF8BC2-58C6-794D-C271-DD234105EAC5}"/>
              </a:ext>
            </a:extLst>
          </p:cNvPr>
          <p:cNvSpPr/>
          <p:nvPr/>
        </p:nvSpPr>
        <p:spPr>
          <a:xfrm>
            <a:off x="9270134" y="403422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6C115A-10CD-605C-8836-EA71D41B1C3F}"/>
              </a:ext>
            </a:extLst>
          </p:cNvPr>
          <p:cNvSpPr/>
          <p:nvPr/>
        </p:nvSpPr>
        <p:spPr>
          <a:xfrm>
            <a:off x="9270134" y="3108960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Participation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DA90EB-6C5C-BB70-C663-8773905E8F31}"/>
              </a:ext>
            </a:extLst>
          </p:cNvPr>
          <p:cNvSpPr/>
          <p:nvPr/>
        </p:nvSpPr>
        <p:spPr>
          <a:xfrm>
            <a:off x="2798410" y="28622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Prior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C64F4-210C-9B84-8502-4785777B7DEC}"/>
              </a:ext>
            </a:extLst>
          </p:cNvPr>
          <p:cNvSpPr/>
          <p:nvPr/>
        </p:nvSpPr>
        <p:spPr>
          <a:xfrm>
            <a:off x="2798410" y="4354261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Quality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0543269-AAD2-E172-CCDD-24804ED736F7}"/>
              </a:ext>
            </a:extLst>
          </p:cNvPr>
          <p:cNvCxnSpPr>
            <a:cxnSpLocks/>
            <a:stCxn id="33" idx="3"/>
            <a:endCxn id="23" idx="1"/>
          </p:cNvCxnSpPr>
          <p:nvPr/>
        </p:nvCxnSpPr>
        <p:spPr>
          <a:xfrm flipV="1">
            <a:off x="4790841" y="3429000"/>
            <a:ext cx="4479293" cy="51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E5E069-4505-40F1-0C4C-C5C52150D3B2}"/>
              </a:ext>
            </a:extLst>
          </p:cNvPr>
          <p:cNvCxnSpPr>
            <a:cxnSpLocks/>
            <a:stCxn id="33" idx="3"/>
            <a:endCxn id="13" idx="1"/>
          </p:cNvCxnSpPr>
          <p:nvPr/>
        </p:nvCxnSpPr>
        <p:spPr>
          <a:xfrm>
            <a:off x="4790841" y="3941588"/>
            <a:ext cx="4479293" cy="412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6DDC00D-DC45-08FF-C157-0588400DF14A}"/>
              </a:ext>
            </a:extLst>
          </p:cNvPr>
          <p:cNvSpPr/>
          <p:nvPr/>
        </p:nvSpPr>
        <p:spPr>
          <a:xfrm>
            <a:off x="2798410" y="362154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Length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12593E-F048-4A0C-DCBA-862F6B956875}"/>
              </a:ext>
            </a:extLst>
          </p:cNvPr>
          <p:cNvSpPr txBox="1"/>
          <p:nvPr/>
        </p:nvSpPr>
        <p:spPr>
          <a:xfrm>
            <a:off x="1632053" y="2812991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597091-4AB4-D3AB-0CBA-A9351382DDDF}"/>
              </a:ext>
            </a:extLst>
          </p:cNvPr>
          <p:cNvSpPr txBox="1"/>
          <p:nvPr/>
        </p:nvSpPr>
        <p:spPr>
          <a:xfrm>
            <a:off x="1632053" y="4809675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4A04090-9A6D-A421-DC52-6EC8A64BE2E7}"/>
              </a:ext>
            </a:extLst>
          </p:cNvPr>
          <p:cNvSpPr txBox="1"/>
          <p:nvPr/>
        </p:nvSpPr>
        <p:spPr>
          <a:xfrm>
            <a:off x="5962350" y="3509274"/>
            <a:ext cx="20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F0A993-EC76-FA80-4FFF-FE9383C46CC4}"/>
              </a:ext>
            </a:extLst>
          </p:cNvPr>
          <p:cNvSpPr txBox="1"/>
          <p:nvPr/>
        </p:nvSpPr>
        <p:spPr>
          <a:xfrm>
            <a:off x="7208907" y="258861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BF350B-5962-82AA-E4ED-5A10CE14A1CB}"/>
              </a:ext>
            </a:extLst>
          </p:cNvPr>
          <p:cNvSpPr txBox="1"/>
          <p:nvPr/>
        </p:nvSpPr>
        <p:spPr>
          <a:xfrm>
            <a:off x="6205912" y="397653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621279-B148-DC94-3768-FFBEF09961D9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298313" cy="158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ight Brace 29">
            <a:extLst>
              <a:ext uri="{FF2B5EF4-FFF2-40B4-BE49-F238E27FC236}">
                <a16:creationId xmlns:a16="http://schemas.microsoft.com/office/drawing/2014/main" id="{D3BD823A-F25B-AA07-858B-20E83EBE3161}"/>
              </a:ext>
            </a:extLst>
          </p:cNvPr>
          <p:cNvSpPr/>
          <p:nvPr/>
        </p:nvSpPr>
        <p:spPr>
          <a:xfrm rot="10800000">
            <a:off x="2288025" y="2813777"/>
            <a:ext cx="369334" cy="2255622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8965FE-7209-3777-3F97-F9F09F5B3C9F}"/>
              </a:ext>
            </a:extLst>
          </p:cNvPr>
          <p:cNvSpPr txBox="1"/>
          <p:nvPr/>
        </p:nvSpPr>
        <p:spPr>
          <a:xfrm>
            <a:off x="423721" y="3756922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6445F47-C3F6-D2A7-49A8-2A9CFB66FF4C}"/>
              </a:ext>
            </a:extLst>
          </p:cNvPr>
          <p:cNvCxnSpPr>
            <a:cxnSpLocks/>
            <a:stCxn id="61" idx="2"/>
          </p:cNvCxnSpPr>
          <p:nvPr/>
        </p:nvCxnSpPr>
        <p:spPr>
          <a:xfrm>
            <a:off x="7130656" y="2588614"/>
            <a:ext cx="730012" cy="1841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B642CAF-A6C3-4590-8C35-2BB389DD0E05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783272" y="2588614"/>
            <a:ext cx="347384" cy="696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68138F8-63B7-A6EB-9E25-4E08A56097D6}"/>
              </a:ext>
            </a:extLst>
          </p:cNvPr>
          <p:cNvSpPr/>
          <p:nvPr/>
        </p:nvSpPr>
        <p:spPr>
          <a:xfrm>
            <a:off x="6367866" y="1948534"/>
            <a:ext cx="1525579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C460E6-7891-B5B6-0B69-4E3E4EFBB83B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6956964" y="2588614"/>
            <a:ext cx="173692" cy="1105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56530F4-9494-21BB-B050-EB00E74A36FE}"/>
              </a:ext>
            </a:extLst>
          </p:cNvPr>
          <p:cNvCxnSpPr>
            <a:cxnSpLocks/>
            <a:stCxn id="25" idx="3"/>
            <a:endCxn id="23" idx="1"/>
          </p:cNvCxnSpPr>
          <p:nvPr/>
        </p:nvCxnSpPr>
        <p:spPr>
          <a:xfrm>
            <a:off x="4790841" y="3182323"/>
            <a:ext cx="4479293" cy="2466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D25CCA9-96BD-63C9-40D7-27359F7F4C74}"/>
              </a:ext>
            </a:extLst>
          </p:cNvPr>
          <p:cNvCxnSpPr>
            <a:cxnSpLocks/>
            <a:stCxn id="2" idx="3"/>
            <a:endCxn id="13" idx="1"/>
          </p:cNvCxnSpPr>
          <p:nvPr/>
        </p:nvCxnSpPr>
        <p:spPr>
          <a:xfrm flipV="1">
            <a:off x="4790841" y="4354261"/>
            <a:ext cx="4479293" cy="320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793BD73-D73D-4C72-070D-7E8791DC26D4}"/>
              </a:ext>
            </a:extLst>
          </p:cNvPr>
          <p:cNvSpPr txBox="1"/>
          <p:nvPr/>
        </p:nvSpPr>
        <p:spPr>
          <a:xfrm>
            <a:off x="6469126" y="4446894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92E2BA-60FA-BEFE-3D9D-8975556DA432}"/>
              </a:ext>
            </a:extLst>
          </p:cNvPr>
          <p:cNvSpPr txBox="1"/>
          <p:nvPr/>
        </p:nvSpPr>
        <p:spPr>
          <a:xfrm>
            <a:off x="5651071" y="2967035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116B8-78AE-400B-4EEC-F3CA611EFB89}"/>
              </a:ext>
            </a:extLst>
          </p:cNvPr>
          <p:cNvSpPr txBox="1"/>
          <p:nvPr/>
        </p:nvSpPr>
        <p:spPr>
          <a:xfrm>
            <a:off x="203457" y="128587"/>
            <a:ext cx="219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Xin’s</a:t>
            </a:r>
            <a:r>
              <a:rPr lang="zh-CN" altLang="en-US" dirty="0"/>
              <a:t> </a:t>
            </a:r>
            <a:r>
              <a:rPr lang="en-US" altLang="zh-CN" dirty="0"/>
              <a:t>original</a:t>
            </a:r>
            <a:r>
              <a:rPr lang="zh-CN" altLang="en-US" dirty="0"/>
              <a:t> </a:t>
            </a:r>
            <a:r>
              <a:rPr lang="en-US" altLang="zh-CN" dirty="0"/>
              <a:t>version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0F908E-DDAE-15DE-6650-0C14D3FFB60F}"/>
              </a:ext>
            </a:extLst>
          </p:cNvPr>
          <p:cNvSpPr txBox="1"/>
          <p:nvPr/>
        </p:nvSpPr>
        <p:spPr>
          <a:xfrm>
            <a:off x="263471" y="774915"/>
            <a:ext cx="86224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participation,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innovation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But,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setup</a:t>
            </a:r>
            <a:r>
              <a:rPr lang="zh-CN" altLang="en-US" dirty="0"/>
              <a:t> </a:t>
            </a:r>
            <a:r>
              <a:rPr lang="en-US" altLang="zh-CN" dirty="0"/>
              <a:t>1,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don’t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length/quality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effect.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frame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main</a:t>
            </a:r>
            <a:r>
              <a:rPr lang="zh-CN" altLang="en-US" dirty="0"/>
              <a:t> </a:t>
            </a:r>
            <a:r>
              <a:rPr lang="en-US" altLang="zh-CN" dirty="0"/>
              <a:t>effect,</a:t>
            </a:r>
            <a:r>
              <a:rPr lang="zh-CN" altLang="en-US" dirty="0"/>
              <a:t> </a:t>
            </a:r>
            <a:r>
              <a:rPr lang="en-US" altLang="zh-CN" dirty="0"/>
              <a:t>(AI)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length/quality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moderator</a:t>
            </a:r>
          </a:p>
        </p:txBody>
      </p:sp>
    </p:spTree>
    <p:extLst>
      <p:ext uri="{BB962C8B-B14F-4D97-AF65-F5344CB8AC3E}">
        <p14:creationId xmlns:p14="http://schemas.microsoft.com/office/powerpoint/2010/main" val="1791130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5565-7A8C-4687-3F8E-2DF67A0AB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BBC832-1BE3-C3F3-FF29-80CC71D394BA}"/>
              </a:ext>
            </a:extLst>
          </p:cNvPr>
          <p:cNvSpPr/>
          <p:nvPr/>
        </p:nvSpPr>
        <p:spPr>
          <a:xfrm>
            <a:off x="9255847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7321FF-A6D9-D9D8-60FB-9356BA837A25}"/>
              </a:ext>
            </a:extLst>
          </p:cNvPr>
          <p:cNvSpPr/>
          <p:nvPr/>
        </p:nvSpPr>
        <p:spPr>
          <a:xfrm>
            <a:off x="9155650" y="2355583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8BE21-8C7A-2948-F3EE-785542CD3C52}"/>
              </a:ext>
            </a:extLst>
          </p:cNvPr>
          <p:cNvSpPr/>
          <p:nvPr/>
        </p:nvSpPr>
        <p:spPr>
          <a:xfrm>
            <a:off x="7016199" y="4402018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Quality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EFC45B0-8D9A-6B7D-0970-D04FFAFF2C4A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5721838" y="5042098"/>
            <a:ext cx="864608" cy="58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BD9C20D-E1A3-F221-EFC1-7DD23D50743D}"/>
              </a:ext>
            </a:extLst>
          </p:cNvPr>
          <p:cNvSpPr/>
          <p:nvPr/>
        </p:nvSpPr>
        <p:spPr>
          <a:xfrm>
            <a:off x="4725622" y="4402018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dirty="0"/>
              <a:t>Answer Length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8C5B7EF-1EFF-AED8-EA81-681A19A9D7C7}"/>
              </a:ext>
            </a:extLst>
          </p:cNvPr>
          <p:cNvCxnSpPr>
            <a:cxnSpLocks/>
            <a:stCxn id="61" idx="3"/>
            <a:endCxn id="13" idx="1"/>
          </p:cNvCxnSpPr>
          <p:nvPr/>
        </p:nvCxnSpPr>
        <p:spPr>
          <a:xfrm>
            <a:off x="4607626" y="5650395"/>
            <a:ext cx="4648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37CBE7BB-16CE-0412-50BE-50BEBED9B6C6}"/>
              </a:ext>
            </a:extLst>
          </p:cNvPr>
          <p:cNvSpPr/>
          <p:nvPr/>
        </p:nvSpPr>
        <p:spPr>
          <a:xfrm>
            <a:off x="2615195" y="53303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Prior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human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B20AA13-624C-B826-16FB-DE101F6B3FD7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7582662" y="5042098"/>
            <a:ext cx="429753" cy="6082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45FC41-F8D7-7F97-DAA7-45E27045306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721838" y="1919092"/>
            <a:ext cx="864608" cy="702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B11233B-2F14-C0B0-2452-3127A12DB2F6}"/>
              </a:ext>
            </a:extLst>
          </p:cNvPr>
          <p:cNvSpPr/>
          <p:nvPr/>
        </p:nvSpPr>
        <p:spPr>
          <a:xfrm>
            <a:off x="7016200" y="1253014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FE77C-B75B-1F11-3310-44DBD1F6479B}"/>
              </a:ext>
            </a:extLst>
          </p:cNvPr>
          <p:cNvSpPr/>
          <p:nvPr/>
        </p:nvSpPr>
        <p:spPr>
          <a:xfrm>
            <a:off x="4725622" y="1279012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6A77BFA-FC65-D45F-EAC1-5F7531E33695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481375" y="1893094"/>
            <a:ext cx="531041" cy="72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39A1D72-D4C2-6769-8C5D-E6B53F5D9A46}"/>
              </a:ext>
            </a:extLst>
          </p:cNvPr>
          <p:cNvSpPr/>
          <p:nvPr/>
        </p:nvSpPr>
        <p:spPr>
          <a:xfrm>
            <a:off x="2615195" y="2256671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AI</a:t>
            </a:r>
            <a:r>
              <a:rPr lang="zh-CN" altLang="en-US" dirty="0"/>
              <a:t> </a:t>
            </a:r>
            <a:r>
              <a:rPr lang="en-US" altLang="zh-CN" dirty="0"/>
              <a:t>answer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B26752-9FD1-2C3D-A02C-7D5A2AC10021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>
            <a:off x="4607626" y="2576711"/>
            <a:ext cx="4548024" cy="989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A9E0640-3E70-B56C-847C-F7D7DB9F81D6}"/>
              </a:ext>
            </a:extLst>
          </p:cNvPr>
          <p:cNvSpPr txBox="1"/>
          <p:nvPr/>
        </p:nvSpPr>
        <p:spPr>
          <a:xfrm>
            <a:off x="5091610" y="376454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B66206-50D4-8FDB-366D-5D1A426716E6}"/>
              </a:ext>
            </a:extLst>
          </p:cNvPr>
          <p:cNvSpPr txBox="1"/>
          <p:nvPr/>
        </p:nvSpPr>
        <p:spPr>
          <a:xfrm>
            <a:off x="7942696" y="403591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43930A1D-C311-8792-50A9-C4B7742768C7}"/>
              </a:ext>
            </a:extLst>
          </p:cNvPr>
          <p:cNvSpPr/>
          <p:nvPr/>
        </p:nvSpPr>
        <p:spPr>
          <a:xfrm rot="16046947">
            <a:off x="6642759" y="187279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F36B0F-BC3F-B644-A9A4-C2BFA0B470AE}"/>
              </a:ext>
            </a:extLst>
          </p:cNvPr>
          <p:cNvSpPr txBox="1"/>
          <p:nvPr/>
        </p:nvSpPr>
        <p:spPr>
          <a:xfrm>
            <a:off x="5924554" y="9360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7AD3EE-9EDE-245F-69C4-9C432A09D307}"/>
              </a:ext>
            </a:extLst>
          </p:cNvPr>
          <p:cNvSpPr txBox="1"/>
          <p:nvPr/>
        </p:nvSpPr>
        <p:spPr>
          <a:xfrm>
            <a:off x="5091610" y="3535892"/>
            <a:ext cx="613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C370C2-9316-8827-64C6-F4706145E4D0}"/>
              </a:ext>
            </a:extLst>
          </p:cNvPr>
          <p:cNvSpPr txBox="1"/>
          <p:nvPr/>
        </p:nvSpPr>
        <p:spPr>
          <a:xfrm>
            <a:off x="7942696" y="3563029"/>
            <a:ext cx="664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</a:t>
            </a:r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D73A06A7-CF0B-A36F-A9FE-EA160013DF5C}"/>
              </a:ext>
            </a:extLst>
          </p:cNvPr>
          <p:cNvSpPr/>
          <p:nvPr/>
        </p:nvSpPr>
        <p:spPr>
          <a:xfrm rot="16046947">
            <a:off x="6642759" y="3346717"/>
            <a:ext cx="369334" cy="1447851"/>
          </a:xfrm>
          <a:prstGeom prst="rightBrace">
            <a:avLst>
              <a:gd name="adj1" fmla="val 4133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B6DD0C-B41C-4117-C5AB-7A5B503E6342}"/>
              </a:ext>
            </a:extLst>
          </p:cNvPr>
          <p:cNvSpPr txBox="1"/>
          <p:nvPr/>
        </p:nvSpPr>
        <p:spPr>
          <a:xfrm>
            <a:off x="5924554" y="3171125"/>
            <a:ext cx="1793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Dual Processing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37DF92E-23EA-73AB-D27C-53869354BEC5}"/>
              </a:ext>
            </a:extLst>
          </p:cNvPr>
          <p:cNvSpPr txBox="1"/>
          <p:nvPr/>
        </p:nvSpPr>
        <p:spPr>
          <a:xfrm>
            <a:off x="203457" y="128587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exactly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8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5E2F1-0D35-30BD-E58E-49613D60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56367E-E97E-A0CF-8FFF-F95D2021A22A}"/>
              </a:ext>
            </a:extLst>
          </p:cNvPr>
          <p:cNvSpPr/>
          <p:nvPr/>
        </p:nvSpPr>
        <p:spPr>
          <a:xfrm>
            <a:off x="8826514" y="5530977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Answer Innovation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7A3378-0A68-DC31-33AC-9CE2B45FCB2F}"/>
              </a:ext>
            </a:extLst>
          </p:cNvPr>
          <p:cNvSpPr/>
          <p:nvPr/>
        </p:nvSpPr>
        <p:spPr>
          <a:xfrm>
            <a:off x="8741313" y="309725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Human</a:t>
            </a:r>
            <a:r>
              <a:rPr lang="zh-CN" altLang="en-US" dirty="0"/>
              <a:t> </a:t>
            </a:r>
            <a:r>
              <a:rPr lang="en-US" dirty="0"/>
              <a:t>Answer Participation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0B7FD01-8D37-AB63-3565-CCE24490089B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>
            <a:off x="4193289" y="4229875"/>
            <a:ext cx="4633225" cy="1621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85D65B7-EA44-0C86-4020-BD4449218244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7501" y="2660764"/>
            <a:ext cx="267448" cy="209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A096F67-EF2F-B2EB-D14C-7F00BB44513C}"/>
              </a:ext>
            </a:extLst>
          </p:cNvPr>
          <p:cNvSpPr/>
          <p:nvPr/>
        </p:nvSpPr>
        <p:spPr>
          <a:xfrm>
            <a:off x="6601863" y="1994686"/>
            <a:ext cx="1992431" cy="64008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921101-2D81-93F7-E39F-70EC78050317}"/>
              </a:ext>
            </a:extLst>
          </p:cNvPr>
          <p:cNvSpPr/>
          <p:nvPr/>
        </p:nvSpPr>
        <p:spPr>
          <a:xfrm>
            <a:off x="4311285" y="2020684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Length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89CE316-6021-FA27-7008-EC96C1ED4FAD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7067039" y="2634766"/>
            <a:ext cx="531040" cy="1070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8854D61-7D27-D7AC-C51D-79D546146B82}"/>
              </a:ext>
            </a:extLst>
          </p:cNvPr>
          <p:cNvSpPr/>
          <p:nvPr/>
        </p:nvSpPr>
        <p:spPr>
          <a:xfrm>
            <a:off x="2200858" y="3909835"/>
            <a:ext cx="1992431" cy="6400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AI</a:t>
            </a:r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A4B5EA-7985-33D1-14E5-1BB8EEC92D8F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4193289" y="3417295"/>
            <a:ext cx="4548024" cy="812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57576E5-1317-1ACF-F12E-2E97E6574E27}"/>
              </a:ext>
            </a:extLst>
          </p:cNvPr>
          <p:cNvSpPr txBox="1"/>
          <p:nvPr/>
        </p:nvSpPr>
        <p:spPr>
          <a:xfrm>
            <a:off x="4587530" y="1254450"/>
            <a:ext cx="16970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br>
              <a:rPr lang="en-US" altLang="zh-CN" dirty="0"/>
            </a:br>
            <a:r>
              <a:rPr lang="en-US" altLang="zh-CN" dirty="0"/>
              <a:t>fast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20F17C-0DC3-3942-9092-6163A2B67644}"/>
              </a:ext>
            </a:extLst>
          </p:cNvPr>
          <p:cNvSpPr txBox="1"/>
          <p:nvPr/>
        </p:nvSpPr>
        <p:spPr>
          <a:xfrm>
            <a:off x="6810426" y="1256681"/>
            <a:ext cx="1785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br>
              <a:rPr lang="en-US" altLang="zh-CN" dirty="0"/>
            </a:br>
            <a:r>
              <a:rPr lang="en-US" altLang="zh-CN" dirty="0"/>
              <a:t>slow</a:t>
            </a:r>
            <a:r>
              <a:rPr lang="zh-CN" altLang="en-US" dirty="0"/>
              <a:t> </a:t>
            </a:r>
            <a:r>
              <a:rPr lang="en-US" altLang="zh-CN" dirty="0"/>
              <a:t>processing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29E469-24F3-D4AB-344C-4040F5BB96A7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5006042" y="2660764"/>
            <a:ext cx="301459" cy="1342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1DDCE9-D24C-5650-86A7-3883002D221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598079" y="2634766"/>
            <a:ext cx="253959" cy="28962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9BAD1A8-1502-5454-194C-DBCD35C7901D}"/>
              </a:ext>
            </a:extLst>
          </p:cNvPr>
          <p:cNvSpPr txBox="1"/>
          <p:nvPr/>
        </p:nvSpPr>
        <p:spPr>
          <a:xfrm>
            <a:off x="203457" y="128587"/>
            <a:ext cx="2508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260606</a:t>
            </a:r>
            <a:r>
              <a:rPr lang="zh-CN" altLang="en-US" dirty="0"/>
              <a:t> </a:t>
            </a:r>
            <a:r>
              <a:rPr lang="en-US" altLang="zh-CN" dirty="0"/>
              <a:t>comprehensive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ACC775-5988-30C0-96F8-392AEE8549CF}"/>
              </a:ext>
            </a:extLst>
          </p:cNvPr>
          <p:cNvSpPr txBox="1"/>
          <p:nvPr/>
        </p:nvSpPr>
        <p:spPr>
          <a:xfrm>
            <a:off x="1849521" y="1254450"/>
            <a:ext cx="2461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Stage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br>
              <a:rPr lang="en-US" altLang="zh-CN" dirty="0"/>
            </a:br>
            <a:r>
              <a:rPr lang="en-US" altLang="zh-CN" dirty="0"/>
              <a:t>Pre-attentive</a:t>
            </a:r>
            <a:r>
              <a:rPr lang="zh-CN" altLang="en-US" dirty="0"/>
              <a:t> </a:t>
            </a:r>
            <a:r>
              <a:rPr lang="en-US" altLang="zh-CN" dirty="0"/>
              <a:t>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63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3BA987-C755-D03B-1C5C-F12FE4F8A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069251"/>
              </p:ext>
            </p:extLst>
          </p:nvPr>
        </p:nvGraphicFramePr>
        <p:xfrm>
          <a:off x="499703" y="699433"/>
          <a:ext cx="11471564" cy="5317137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360593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212984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Theory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Relates to Which Reviewer Perspective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sz="1600" b="1" dirty="0">
                          <a:effectLst/>
                        </a:rPr>
                        <a:t>reduces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perceived marginal value reduction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perceived comprehensiveness heuristic; re</a:t>
                      </a:r>
                      <a:r>
                        <a:rPr lang="en-US" altLang="zh-CN" sz="1600" dirty="0">
                          <a:effectLst/>
                        </a:rPr>
                        <a:t>ducing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perceived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marginal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value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negatively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Perceived completeness constrains imagined solution space; anchoring narrows divergent thinking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sz="1600" b="1" dirty="0">
                          <a:effectLst/>
                        </a:rPr>
                        <a:t>amplified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perceived marginal value reduction</a:t>
                      </a:r>
                      <a:r>
                        <a:rPr lang="en-US" altLang="zh-CN" sz="1600" dirty="0">
                          <a:effectLst/>
                        </a:rPr>
                        <a:t>;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strengthen the attribution of authority to the AI source</a:t>
                      </a:r>
                    </a:p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(Incentives);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Suggestion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(Authority)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activates related concepts via spreading activation (Collins &amp; Loftus, 1975)</a:t>
                      </a:r>
                    </a:p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99DC2D-2B71-F8A9-CBE6-66D1EBF4D991}"/>
              </a:ext>
            </a:extLst>
          </p:cNvPr>
          <p:cNvSpPr txBox="1"/>
          <p:nvPr/>
        </p:nvSpPr>
        <p:spPr>
          <a:xfrm>
            <a:off x="203457" y="128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8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33BD-EE76-8A93-9C67-4307C462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8C07ED-647B-21EC-30A6-486FE37A6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594101"/>
              </p:ext>
            </p:extLst>
          </p:nvPr>
        </p:nvGraphicFramePr>
        <p:xfrm>
          <a:off x="499703" y="699433"/>
          <a:ext cx="11471564" cy="5686781"/>
        </p:xfrm>
        <a:graphic>
          <a:graphicData uri="http://schemas.openxmlformats.org/drawingml/2006/table">
            <a:tbl>
              <a:tblPr/>
              <a:tblGrid>
                <a:gridCol w="1701057">
                  <a:extLst>
                    <a:ext uri="{9D8B030D-6E8A-4147-A177-3AD203B41FA5}">
                      <a16:colId xmlns:a16="http://schemas.microsoft.com/office/drawing/2014/main" val="2908120753"/>
                    </a:ext>
                  </a:extLst>
                </a:gridCol>
                <a:gridCol w="4034725">
                  <a:extLst>
                    <a:ext uri="{9D8B030D-6E8A-4147-A177-3AD203B41FA5}">
                      <a16:colId xmlns:a16="http://schemas.microsoft.com/office/drawing/2014/main" val="2501153878"/>
                    </a:ext>
                  </a:extLst>
                </a:gridCol>
                <a:gridCol w="3605939">
                  <a:extLst>
                    <a:ext uri="{9D8B030D-6E8A-4147-A177-3AD203B41FA5}">
                      <a16:colId xmlns:a16="http://schemas.microsoft.com/office/drawing/2014/main" val="3579802653"/>
                    </a:ext>
                  </a:extLst>
                </a:gridCol>
                <a:gridCol w="2129843">
                  <a:extLst>
                    <a:ext uri="{9D8B030D-6E8A-4147-A177-3AD203B41FA5}">
                      <a16:colId xmlns:a16="http://schemas.microsoft.com/office/drawing/2014/main" val="609358242"/>
                    </a:ext>
                  </a:extLst>
                </a:gridCol>
              </a:tblGrid>
              <a:tr h="4217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Theoretical Prediction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Theory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Relates to Which Reviewer Perspective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234593"/>
                  </a:ext>
                </a:extLst>
              </a:tr>
              <a:tr h="615334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(Pre-attentive Awareness)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H1a: The mere availability of an AI answer </a:t>
                      </a:r>
                      <a:r>
                        <a:rPr lang="en-US" altLang="zh-CN" sz="1600" b="1" dirty="0">
                          <a:effectLst/>
                        </a:rPr>
                        <a:t>increases</a:t>
                      </a:r>
                      <a:r>
                        <a:rPr lang="en-US" sz="1600" dirty="0">
                          <a:effectLst/>
                        </a:rPr>
                        <a:t> human participation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Competitive arousal</a:t>
                      </a:r>
                      <a:b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600" dirty="0"/>
                        <a:t>Perceived inadequacy of AI for context-specific knowledge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1555"/>
                  </a:ext>
                </a:extLst>
              </a:tr>
              <a:tr h="75884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H1b</a:t>
                      </a:r>
                      <a:r>
                        <a:rPr lang="en-US" altLang="zh-CN" sz="1600" dirty="0">
                          <a:effectLst/>
                        </a:rPr>
                        <a:t>:</a:t>
                      </a:r>
                      <a:r>
                        <a:rPr lang="en-US" sz="1600" dirty="0">
                          <a:effectLst/>
                        </a:rPr>
                        <a:t> The mere availability of an AI answer </a:t>
                      </a:r>
                      <a:r>
                        <a:rPr lang="en-US" sz="1600" b="1" dirty="0">
                          <a:effectLst/>
                        </a:rPr>
                        <a:t>has no effect on</a:t>
                      </a:r>
                      <a:r>
                        <a:rPr lang="en-US" sz="1600" dirty="0">
                          <a:effectLst/>
                        </a:rPr>
                        <a:t> innovation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No content engagement at the awareness stage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220317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2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(Fast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attenuated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ELM peripheral processing; perceived comprehensiveness heuristic; re</a:t>
                      </a:r>
                      <a:r>
                        <a:rPr lang="en-US" altLang="zh-CN" sz="1600" dirty="0">
                          <a:effectLst/>
                        </a:rPr>
                        <a:t>ducing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perceived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marginal</a:t>
                      </a:r>
                      <a:r>
                        <a:rPr lang="zh-CN" altLang="en-US" sz="1600" dirty="0">
                          <a:effectLst/>
                        </a:rPr>
                        <a:t> </a:t>
                      </a:r>
                      <a:r>
                        <a:rPr lang="en-US" altLang="zh-CN" sz="1600" dirty="0">
                          <a:effectLst/>
                        </a:rPr>
                        <a:t>value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</a:t>
                      </a:r>
                      <a:r>
                        <a:rPr lang="en-US" altLang="zh-CN" sz="16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280069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H2b: The effect of AI answer availability on innovation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en-US" sz="1600" b="1" dirty="0">
                          <a:effectLst/>
                        </a:rPr>
                        <a:t> moderated</a:t>
                      </a:r>
                      <a:r>
                        <a:rPr lang="en-US" sz="1600" dirty="0">
                          <a:effectLst/>
                        </a:rPr>
                        <a:t> by AI answer length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Peripheral cues do not reach content-level processing; no substantive cognitive influence on answer composition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-</a:t>
                      </a: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892770"/>
                  </a:ext>
                </a:extLst>
              </a:tr>
              <a:tr h="758841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Stage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(Slow Processing)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H3a: The effect of AI answer availability on participation is </a:t>
                      </a:r>
                      <a:r>
                        <a:rPr lang="en-US" altLang="zh-CN" sz="1600" b="1" dirty="0">
                          <a:effectLst/>
                        </a:rPr>
                        <a:t>not</a:t>
                      </a:r>
                      <a:r>
                        <a:rPr lang="zh-CN" altLang="en-US" sz="1600" b="1" dirty="0">
                          <a:effectLst/>
                        </a:rPr>
                        <a:t> </a:t>
                      </a:r>
                      <a:r>
                        <a:rPr lang="en-US" altLang="zh-CN" sz="1600" b="1" dirty="0">
                          <a:effectLst/>
                        </a:rPr>
                        <a:t>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Commitment to contribute already formed at Stages 1–2; offsetting discouragement and challenge effects cancel out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1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(Incentives)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331151"/>
                  </a:ext>
                </a:extLst>
              </a:tr>
              <a:tr h="80893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H3b: The effect of AI answer availability on innovation is </a:t>
                      </a:r>
                      <a:r>
                        <a:rPr lang="en-US" sz="1600" b="1" dirty="0">
                          <a:effectLst/>
                        </a:rPr>
                        <a:t>positively moderated</a:t>
                      </a:r>
                      <a:r>
                        <a:rPr lang="en-US" sz="1600" dirty="0">
                          <a:effectLst/>
                        </a:rPr>
                        <a:t> by AI answer quality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activates related concepts via spreading activation (Collins &amp; Loftus, 1975)</a:t>
                      </a:r>
                    </a:p>
                    <a:p>
                      <a:pPr algn="l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Suggestion 3 </a:t>
                      </a:r>
                      <a:br>
                        <a:rPr lang="en-US" sz="1600" dirty="0">
                          <a:effectLst/>
                        </a:rPr>
                      </a:br>
                      <a:r>
                        <a:rPr lang="en-US" sz="1600" dirty="0">
                          <a:effectLst/>
                        </a:rPr>
                        <a:t>(Competition)</a:t>
                      </a:r>
                    </a:p>
                  </a:txBody>
                  <a:tcPr marL="43513" marR="43513" marT="21757" marB="2175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6068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15256D-B146-29E0-6015-C9846E1DF3C3}"/>
              </a:ext>
            </a:extLst>
          </p:cNvPr>
          <p:cNvSpPr txBox="1"/>
          <p:nvPr/>
        </p:nvSpPr>
        <p:spPr>
          <a:xfrm>
            <a:off x="203457" y="128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Plan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086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6430</TotalTime>
  <Words>573</Words>
  <Application>Microsoft Macintosh PowerPoint</Application>
  <PresentationFormat>Widescreen</PresentationFormat>
  <Paragraphs>92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 Li</dc:creator>
  <cp:lastModifiedBy>Dylan CHEN</cp:lastModifiedBy>
  <cp:revision>66</cp:revision>
  <dcterms:created xsi:type="dcterms:W3CDTF">2026-03-16T05:50:08Z</dcterms:created>
  <dcterms:modified xsi:type="dcterms:W3CDTF">2026-06-07T10:35:12Z</dcterms:modified>
</cp:coreProperties>
</file>