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embedTrueTypeFonts="1" saveSubsetFonts="1" bookmarkIdSeed="3">
  <p:sldMasterIdLst>
    <p:sldMasterId id="2147483754" r:id="rId1"/>
  </p:sldMasterIdLst>
  <p:notesMasterIdLst>
    <p:notesMasterId r:id="rId4"/>
  </p:notesMasterIdLst>
  <p:sldIdLst>
    <p:sldId id="380" r:id="rId2"/>
    <p:sldId id="381" r:id="rId3"/>
  </p:sldIdLst>
  <p:sldSz cx="9144000" cy="5143500" type="screen16x9"/>
  <p:notesSz cx="6858000" cy="9144000"/>
  <p:embeddedFontLst>
    <p:embeddedFont>
      <p:font typeface="等线" panose="02010600030101010101" pitchFamily="2" charset="-122"/>
      <p:regular r:id="rId5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rmal" id="{BB674D8F-EA6E-4E7A-BB36-51CE4AEB7194}">
          <p14:sldIdLst>
            <p14:sldId id="380"/>
            <p14:sldId id="381"/>
          </p14:sldIdLst>
        </p14:section>
      </p14:sectionLst>
    </p:ext>
    <p:ext uri="{EFAFB233-063F-42B5-8137-9DF3F51BA10A}">
      <p15:sldGuideLst xmlns:p15="http://schemas.microsoft.com/office/powerpoint/2012/main">
        <p15:guide id="1" pos="311" userDrawn="1">
          <p15:clr>
            <a:srgbClr val="A4A3A4"/>
          </p15:clr>
        </p15:guide>
        <p15:guide id="2" pos="5449" userDrawn="1">
          <p15:clr>
            <a:srgbClr val="A4A3A4"/>
          </p15:clr>
        </p15:guide>
        <p15:guide id="3" orient="horz" pos="486" userDrawn="1">
          <p15:clr>
            <a:srgbClr val="A4A3A4"/>
          </p15:clr>
        </p15:guide>
        <p15:guide id="4" orient="horz" pos="534" userDrawn="1">
          <p15:clr>
            <a:srgbClr val="A4A3A4"/>
          </p15:clr>
        </p15:guide>
        <p15:guide id="5" orient="horz" pos="2946" userDrawn="1">
          <p15:clr>
            <a:srgbClr val="A4A3A4"/>
          </p15:clr>
        </p15:guide>
        <p15:guide id="6" orient="horz" pos="5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7F7F7F"/>
    <a:srgbClr val="BFBFBF"/>
    <a:srgbClr val="FB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12" autoAdjust="0"/>
    <p:restoredTop sz="77134" autoAdjust="0"/>
  </p:normalViewPr>
  <p:slideViewPr>
    <p:cSldViewPr snapToGrid="0" showGuides="1">
      <p:cViewPr varScale="1">
        <p:scale>
          <a:sx n="125" d="100"/>
          <a:sy n="125" d="100"/>
        </p:scale>
        <p:origin x="176" y="392"/>
      </p:cViewPr>
      <p:guideLst>
        <p:guide pos="311"/>
        <p:guide pos="5449"/>
        <p:guide orient="horz" pos="486"/>
        <p:guide orient="horz" pos="534"/>
        <p:guide orient="horz" pos="2946"/>
        <p:guide orient="horz" pos="5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8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768B4A-600B-4E47-A44F-5C9458F0BBBB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5172E2-DACC-4E2B-A3E0-ED1661E9ED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34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1pPr>
    <a:lvl2pPr marL="303947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2pPr>
    <a:lvl3pPr marL="607893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3pPr>
    <a:lvl4pPr marL="911840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4pPr>
    <a:lvl5pPr marL="1215786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5pPr>
    <a:lvl6pPr marL="1519733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6pPr>
    <a:lvl7pPr marL="1823679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7pPr>
    <a:lvl8pPr marL="2127626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8pPr>
    <a:lvl9pPr marL="2431572" algn="l" defTabSz="607893" rtl="0" eaLnBrk="1" latinLnBrk="0" hangingPunct="1">
      <a:defRPr sz="7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FA524-9F9D-571F-3C21-66999BF3F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46E33-2671-B230-1B80-7C2270DE9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173EA-3276-7D67-89A3-3B6E7F7DE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52FDD-1BAF-6868-5F73-C77D7B7C29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347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EFF28-51E0-7CE7-11F0-9A5340CA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CAE93-7821-FEF9-7399-6DEA647E6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EB0EF-8CC0-D366-FAD1-E9F8E3A97E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1A50-B84D-89CA-DE03-F9D3A1435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172E2-DACC-4E2B-A3E0-ED1661E9ED5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8726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4FBED-F89D-E64E-839F-277148744889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7578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942975"/>
            <a:ext cx="7886700" cy="36897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85E37-E16F-804C-8A4A-A4CBD622B30D}" type="datetime1">
              <a:rPr lang="en-US" smtClean="0"/>
              <a:t>6/22/26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5CB9FAF-4194-4EAD-452C-A94164F17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669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471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6AF72-F30E-3246-B7B3-276B30CCF4A4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0710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942975"/>
            <a:ext cx="3886200" cy="36897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942975"/>
            <a:ext cx="3886200" cy="36897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4F7F4-4304-7F4B-B785-EEC50ABD970A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20E6608-C9E1-51A7-4447-9582DB1E0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669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696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960829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596618"/>
            <a:ext cx="3868340" cy="30456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960829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596618"/>
            <a:ext cx="3887391" cy="30456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DA2AD-866F-9348-BEC7-B30D4CD77602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7025B06-33BC-4034-F02A-34F7DEC61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669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04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669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2741D-E476-F04E-ADB3-06D1BCCC0E35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4051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DCEA-8899-3641-AF8B-710C1453795F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3423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621A6-18EE-0F47-9D42-814C4CC0255E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537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E9E2C-7ACC-6841-81A2-3C89227E3D34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026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7C6E-DB06-F24C-85D5-0587351F72F5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2065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4F9B46-8700-9649-BA2F-7622601F67EB}" type="datetime1">
              <a:rPr lang="en-US" altLang="zh-CN" smtClean="0"/>
              <a:t>6/22/26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9C1D4-69BA-4B09-8A24-1CCDDD1AB8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43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5" r:id="rId1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b="0" i="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b="0" i="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5DDE4-01BB-7591-DF38-126AF369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16756D-3AD5-67AC-043C-385727531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How</a:t>
            </a:r>
            <a:r>
              <a:rPr lang="zh-CN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zh-CN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our</a:t>
            </a:r>
            <a:r>
              <a:rPr lang="zh-CN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work</a:t>
            </a:r>
            <a:r>
              <a:rPr lang="zh-CN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go</a:t>
            </a:r>
            <a:r>
              <a:rPr lang="zh-CN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dirty="0">
                <a:latin typeface="Calibri" panose="020F0502020204030204" pitchFamily="34" charset="0"/>
                <a:cs typeface="Calibri" panose="020F0502020204030204" pitchFamily="34" charset="0"/>
              </a:rPr>
              <a:t>beyond</a:t>
            </a:r>
            <a:endParaRPr lang="en-US" altLang="en-US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B738BC8-1C57-E779-2D69-C0EAC8C7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0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7B4F8B0-A399-3EDC-CFEE-07A759F6D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030178"/>
              </p:ext>
            </p:extLst>
          </p:nvPr>
        </p:nvGraphicFramePr>
        <p:xfrm>
          <a:off x="628650" y="1297245"/>
          <a:ext cx="7886700" cy="2549010"/>
        </p:xfrm>
        <a:graphic>
          <a:graphicData uri="http://schemas.openxmlformats.org/drawingml/2006/table">
            <a:tbl>
              <a:tblPr/>
              <a:tblGrid>
                <a:gridCol w="1314415">
                  <a:extLst>
                    <a:ext uri="{9D8B030D-6E8A-4147-A177-3AD203B41FA5}">
                      <a16:colId xmlns:a16="http://schemas.microsoft.com/office/drawing/2014/main" val="2058616507"/>
                    </a:ext>
                  </a:extLst>
                </a:gridCol>
                <a:gridCol w="3286066">
                  <a:extLst>
                    <a:ext uri="{9D8B030D-6E8A-4147-A177-3AD203B41FA5}">
                      <a16:colId xmlns:a16="http://schemas.microsoft.com/office/drawing/2014/main" val="892835355"/>
                    </a:ext>
                  </a:extLst>
                </a:gridCol>
                <a:gridCol w="3286219">
                  <a:extLst>
                    <a:ext uri="{9D8B030D-6E8A-4147-A177-3AD203B41FA5}">
                      <a16:colId xmlns:a16="http://schemas.microsoft.com/office/drawing/2014/main" val="3003006836"/>
                    </a:ext>
                  </a:extLst>
                </a:gridCol>
              </a:tblGrid>
              <a:tr h="240300"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Dimension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Shan &amp; Qiu (2025)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Paper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E40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2442008"/>
                  </a:ext>
                </a:extLst>
              </a:tr>
              <a:tr h="573024"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1" i="0">
                          <a:solidFill>
                            <a:srgbClr val="1E40A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Role of AI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as </a:t>
                      </a:r>
                      <a:r>
                        <a:rPr lang="en-US" sz="1100" b="1" i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tool</a:t>
                      </a:r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users adopt ChatGPT to assist their own writing</a:t>
                      </a:r>
                      <a:b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 dirty="0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Human–AI collaboration</a:t>
                      </a: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as </a:t>
                      </a:r>
                      <a:r>
                        <a:rPr lang="en-US" sz="1100" b="1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competitor</a:t>
                      </a: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platform deploys AI bot competing alongside humans</a:t>
                      </a:r>
                      <a:b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Human–AI competition</a:t>
                      </a:r>
                      <a:endParaRPr lang="en-US" sz="11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361309"/>
                  </a:ext>
                </a:extLst>
              </a:tr>
              <a:tr h="739385"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1" i="0">
                          <a:solidFill>
                            <a:srgbClr val="1E40A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Explanatory Power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Explains only </a:t>
                      </a:r>
                      <a:r>
                        <a:rPr lang="en-US" sz="1100" b="1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 direction</a:t>
                      </a: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AI use → more output</a:t>
                      </a:r>
                      <a:b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Cannot explain why AI sometimes reduces contribution</a:t>
                      </a:r>
                      <a:endParaRPr lang="en-US" sz="11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Explains </a:t>
                      </a:r>
                      <a:r>
                        <a:rPr lang="en-US" sz="1100" b="1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both directions</a:t>
                      </a: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: AI label encourages entry; AI length discourages entry</a:t>
                      </a:r>
                      <a:b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 effect depends on AI answer length; resolves conflicting findings</a:t>
                      </a:r>
                      <a:endParaRPr lang="en-US" sz="11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2770497"/>
                  </a:ext>
                </a:extLst>
              </a:tr>
              <a:tr h="573024"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1" i="0">
                          <a:solidFill>
                            <a:srgbClr val="1E40A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Social learning + cognitive load</a:t>
                      </a:r>
                      <a:b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"I learn from AI but overuse drains me"</a:t>
                      </a:r>
                      <a:endParaRPr lang="en-US" sz="11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Competition + dual-process (Kahneman)</a:t>
                      </a:r>
                      <a:b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Label → System 1 (enter); Length/Quality → System 1 &amp; 2 (effort)</a:t>
                      </a:r>
                      <a:endParaRPr lang="en-US" sz="11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375947"/>
                  </a:ext>
                </a:extLst>
              </a:tr>
              <a:tr h="406662"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1" i="0">
                          <a:solidFill>
                            <a:srgbClr val="1E40AF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Design &amp; Unit</a:t>
                      </a: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experiment + DID; user-day level</a:t>
                      </a:r>
                      <a:br>
                        <a:rPr lang="en-US" sz="11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GPT-2 detector (83% acc.); self-selection concern</a:t>
                      </a:r>
                      <a:endParaRPr lang="en-US" sz="1100" b="0" i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Randomized field experiment; question level</a:t>
                      </a:r>
                      <a:br>
                        <a:rPr lang="en-US" sz="1100" b="0" i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100" b="0" i="1" dirty="0">
                          <a:solidFill>
                            <a:srgbClr val="4B5563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True randomization; clean causal ID</a:t>
                      </a: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3939" marR="73939" marT="36969" marB="36969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084908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3E18D52-1C2A-8A30-132C-D18675489D08}"/>
              </a:ext>
            </a:extLst>
          </p:cNvPr>
          <p:cNvSpPr txBox="1"/>
          <p:nvPr/>
        </p:nvSpPr>
        <p:spPr>
          <a:xfrm>
            <a:off x="2286000" y="84546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en-US" b="1" i="0" dirty="0">
                <a:solidFill>
                  <a:srgbClr val="1F2937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Key Differences from Shan &amp; Qiu (2025, ISR)</a:t>
            </a:r>
            <a:endParaRPr lang="en-US" b="0" i="1" dirty="0">
              <a:solidFill>
                <a:srgbClr val="6B728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6C2995-1C4C-3AD3-A08A-F3BFE68D2804}"/>
              </a:ext>
            </a:extLst>
          </p:cNvPr>
          <p:cNvSpPr txBox="1"/>
          <p:nvPr/>
        </p:nvSpPr>
        <p:spPr>
          <a:xfrm>
            <a:off x="741680" y="4200525"/>
            <a:ext cx="766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en-US" sz="1400" b="0" i="1" dirty="0">
                <a:solidFill>
                  <a:srgbClr val="6B728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"They ask: what happens to MY answers when I use AI? We ask: what happens to OTHER humans' answers when they see AI competing with them."</a:t>
            </a:r>
          </a:p>
        </p:txBody>
      </p:sp>
    </p:spTree>
    <p:extLst>
      <p:ext uri="{BB962C8B-B14F-4D97-AF65-F5344CB8AC3E}">
        <p14:creationId xmlns:p14="http://schemas.microsoft.com/office/powerpoint/2010/main" val="3355695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4612F-4785-7791-088D-4A4DD1AF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CAA0DE-3251-D229-4379-DA4E856B4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sz="2800" dirty="0"/>
              <a:t>How</a:t>
            </a:r>
            <a:r>
              <a:rPr lang="zh-CN" altLang="en-US" sz="2800" dirty="0"/>
              <a:t> </a:t>
            </a:r>
            <a:r>
              <a:rPr lang="en-US" altLang="zh-CN" sz="2800" dirty="0"/>
              <a:t>does</a:t>
            </a:r>
            <a:r>
              <a:rPr lang="zh-CN" altLang="en-US" sz="2800" dirty="0"/>
              <a:t> </a:t>
            </a:r>
            <a:r>
              <a:rPr lang="en-US" altLang="zh-CN" sz="2800" dirty="0"/>
              <a:t>our</a:t>
            </a:r>
            <a:r>
              <a:rPr lang="zh-CN" altLang="en-US" sz="2800" dirty="0"/>
              <a:t> </a:t>
            </a:r>
            <a:r>
              <a:rPr lang="en-US" altLang="zh-CN" sz="2800" dirty="0"/>
              <a:t>work</a:t>
            </a:r>
            <a:r>
              <a:rPr lang="zh-CN" altLang="en-US" sz="2800" dirty="0"/>
              <a:t> </a:t>
            </a:r>
            <a:r>
              <a:rPr lang="en-US" altLang="zh-CN" sz="2800" dirty="0"/>
              <a:t>go</a:t>
            </a:r>
            <a:r>
              <a:rPr lang="zh-CN" altLang="en-US" sz="2800" dirty="0"/>
              <a:t> </a:t>
            </a:r>
            <a:r>
              <a:rPr lang="en-US" altLang="zh-CN" sz="2800" dirty="0"/>
              <a:t>beyond</a:t>
            </a:r>
            <a:endParaRPr lang="en-US" altLang="en-US" sz="2000" dirty="0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F09850D-B3BE-56F6-609A-59FA5B12732B}"/>
              </a:ext>
            </a:extLst>
          </p:cNvPr>
          <p:cNvSpPr txBox="1">
            <a:spLocks/>
          </p:cNvSpPr>
          <p:nvPr/>
        </p:nvSpPr>
        <p:spPr>
          <a:xfrm>
            <a:off x="628650" y="942975"/>
            <a:ext cx="7962457" cy="1383983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1600" dirty="0">
                <a:latin typeface="+mj-lt"/>
              </a:rPr>
              <a:t>H3: AI presence decreases human answer quality.</a:t>
            </a:r>
            <a:r>
              <a:rPr lang="zh-CN" altLang="en-US" sz="1600" dirty="0">
                <a:latin typeface="+mj-lt"/>
              </a:rPr>
              <a:t> </a:t>
            </a:r>
            <a:r>
              <a:rPr lang="en-US" altLang="zh-CN" sz="1600" b="1" dirty="0">
                <a:latin typeface="+mj-lt"/>
              </a:rPr>
              <a:t>(</a:t>
            </a:r>
            <a:r>
              <a:rPr lang="en-US" sz="1600" b="1" dirty="0">
                <a:latin typeface="+mj-lt"/>
              </a:rPr>
              <a:t>Downward Social Comparison Theory</a:t>
            </a:r>
            <a:r>
              <a:rPr lang="en-US" altLang="zh-CN" sz="1600" b="1" dirty="0">
                <a:latin typeface="+mj-lt"/>
              </a:rPr>
              <a:t>)</a:t>
            </a:r>
            <a:endParaRPr lang="en-US" altLang="en-US" sz="1800" dirty="0">
              <a:solidFill>
                <a:srgbClr val="000000"/>
              </a:solidFill>
              <a:latin typeface="+mj-lt"/>
            </a:endParaRPr>
          </a:p>
          <a:p>
            <a:pPr lvl="1" fontAlgn="base">
              <a:spcAft>
                <a:spcPct val="0"/>
              </a:spcAft>
            </a:pPr>
            <a:r>
              <a:rPr lang="en-US" altLang="en-US" sz="1400" dirty="0">
                <a:latin typeface="+mj-lt"/>
              </a:rPr>
              <a:t>Downward Social Comparison Theory: comparing with a weaker target is a psychological strategy that substitutes for instrumental action (Wills, 1981). </a:t>
            </a:r>
          </a:p>
          <a:p>
            <a:pPr lvl="1" fontAlgn="base">
              <a:spcAft>
                <a:spcPct val="0"/>
              </a:spcAft>
            </a:pPr>
            <a:r>
              <a:rPr lang="en-US" altLang="en-US" sz="1400" dirty="0">
                <a:latin typeface="+mj-lt"/>
              </a:rPr>
              <a:t>Humans perceive AI as inferior → downward comparison provides self-enhancement (“I‘m already better”) → replaces actual effort to improve</a:t>
            </a:r>
            <a:r>
              <a:rPr lang="zh-CN" altLang="en-US" sz="1400" dirty="0">
                <a:latin typeface="+mj-lt"/>
              </a:rPr>
              <a:t> </a:t>
            </a:r>
            <a:r>
              <a:rPr lang="en-US" altLang="en-US" sz="1400" dirty="0">
                <a:latin typeface="+mj-lt"/>
              </a:rPr>
              <a:t>→ lower quality.</a:t>
            </a:r>
          </a:p>
          <a:p>
            <a:r>
              <a:rPr lang="en-US" altLang="en-US" sz="1600" dirty="0">
                <a:latin typeface="+mj-lt"/>
              </a:rPr>
              <a:t>H4: </a:t>
            </a:r>
            <a:r>
              <a:rPr lang="en-US" sz="1600" dirty="0">
                <a:latin typeface="+mj-lt"/>
              </a:rPr>
              <a:t>AI answer quality reverses H3.</a:t>
            </a:r>
          </a:p>
          <a:p>
            <a:pPr lvl="1"/>
            <a:r>
              <a:rPr lang="en-US" sz="1400" dirty="0">
                <a:latin typeface="+mj-lt"/>
              </a:rPr>
              <a:t>Goal Setting Theory: "The highest or most difficult goals produced the highest levels of effort and performance" (Locke &amp; Latham, 2002).</a:t>
            </a:r>
            <a:endParaRPr lang="en-US" altLang="en-US" sz="1400" dirty="0">
              <a:latin typeface="+mj-lt"/>
            </a:endParaRPr>
          </a:p>
          <a:p>
            <a:pPr lvl="1"/>
            <a:r>
              <a:rPr lang="en-US" altLang="en-US" sz="1400" dirty="0">
                <a:latin typeface="+mj-lt"/>
              </a:rPr>
              <a:t>High AI quality can only be assessed through slow, deliberate processing → once recognized, it shatters the "weak competitor" assumption.</a:t>
            </a:r>
          </a:p>
          <a:p>
            <a:pPr lvl="1"/>
            <a:r>
              <a:rPr lang="en-US" sz="1400" dirty="0">
                <a:latin typeface="+mj-lt"/>
              </a:rPr>
              <a:t>A high-quality AI answer serves as a specific, challenging goal to surpass → triggers genuine effort investment → quality rises.</a:t>
            </a:r>
          </a:p>
          <a:p>
            <a:pPr lvl="1"/>
            <a:r>
              <a:rPr lang="en-US" altLang="en-US" sz="1400" b="1" i="1" dirty="0">
                <a:latin typeface="+mj-lt"/>
              </a:rPr>
              <a:t>"The AI is actually good — I must prove I'm better."</a:t>
            </a:r>
            <a:endParaRPr lang="en-US" altLang="en-US" sz="1400" b="1" dirty="0">
              <a:latin typeface="+mj-lt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AF4D101-3069-ED9D-BE2D-6104BC1EF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9C1D4-69BA-4B09-8A24-1CCDDD1AB85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4294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96203</TotalTime>
  <Words>385</Words>
  <Application>Microsoft Macintosh PowerPoint</Application>
  <PresentationFormat>On-screen Show (16:9)</PresentationFormat>
  <Paragraphs>31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等线</vt:lpstr>
      <vt:lpstr>Arial</vt:lpstr>
      <vt:lpstr>Calibri Light</vt:lpstr>
      <vt:lpstr>Calibri</vt:lpstr>
      <vt:lpstr>Office 2013 - 2022 Theme</vt:lpstr>
      <vt:lpstr>How does our work go beyond</vt:lpstr>
      <vt:lpstr>How does our work go beyond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Zhang Siyu</dc:creator>
  <cp:keywords/>
  <dc:description/>
  <cp:lastModifiedBy>Dylan CHEN</cp:lastModifiedBy>
  <cp:revision>457</cp:revision>
  <dcterms:created xsi:type="dcterms:W3CDTF">2020-04-20T03:29:34Z</dcterms:created>
  <dcterms:modified xsi:type="dcterms:W3CDTF">2026-06-22T15:37:51Z</dcterms:modified>
  <cp:category/>
</cp:coreProperties>
</file>