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embedTrueTypeFonts="1" saveSubsetFonts="1" bookmarkIdSeed="3">
  <p:sldMasterIdLst>
    <p:sldMasterId id="2147483754" r:id="rId1"/>
  </p:sldMasterIdLst>
  <p:notesMasterIdLst>
    <p:notesMasterId r:id="rId7"/>
  </p:notesMasterIdLst>
  <p:sldIdLst>
    <p:sldId id="380" r:id="rId2"/>
    <p:sldId id="381" r:id="rId3"/>
    <p:sldId id="370" r:id="rId4"/>
    <p:sldId id="374" r:id="rId5"/>
    <p:sldId id="375" r:id="rId6"/>
  </p:sldIdLst>
  <p:sldSz cx="9144000" cy="5143500" type="screen16x9"/>
  <p:notesSz cx="6858000" cy="9144000"/>
  <p:embeddedFontLst>
    <p:embeddedFont>
      <p:font typeface="等线" panose="02010600030101010101" pitchFamily="2" charset="-122"/>
      <p:regular r:id="rId8"/>
      <p:bold r:id="rId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Formal" id="{BB674D8F-EA6E-4E7A-BB36-51CE4AEB7194}">
          <p14:sldIdLst>
            <p14:sldId id="380"/>
            <p14:sldId id="381"/>
            <p14:sldId id="370"/>
            <p14:sldId id="374"/>
            <p14:sldId id="375"/>
          </p14:sldIdLst>
        </p14:section>
      </p14:sectionLst>
    </p:ext>
    <p:ext uri="{EFAFB233-063F-42B5-8137-9DF3F51BA10A}">
      <p15:sldGuideLst xmlns:p15="http://schemas.microsoft.com/office/powerpoint/2012/main">
        <p15:guide id="1" pos="311" userDrawn="1">
          <p15:clr>
            <a:srgbClr val="A4A3A4"/>
          </p15:clr>
        </p15:guide>
        <p15:guide id="2" pos="5449" userDrawn="1">
          <p15:clr>
            <a:srgbClr val="A4A3A4"/>
          </p15:clr>
        </p15:guide>
        <p15:guide id="3" orient="horz" pos="486" userDrawn="1">
          <p15:clr>
            <a:srgbClr val="A4A3A4"/>
          </p15:clr>
        </p15:guide>
        <p15:guide id="4" orient="horz" pos="534" userDrawn="1">
          <p15:clr>
            <a:srgbClr val="A4A3A4"/>
          </p15:clr>
        </p15:guide>
        <p15:guide id="5" orient="horz" pos="2946" userDrawn="1">
          <p15:clr>
            <a:srgbClr val="A4A3A4"/>
          </p15:clr>
        </p15:guide>
        <p15:guide id="6" orient="horz" pos="53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7F7F7F"/>
    <a:srgbClr val="BFBFBF"/>
    <a:srgbClr val="FBE6E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862" autoAdjust="0"/>
    <p:restoredTop sz="77136" autoAdjust="0"/>
  </p:normalViewPr>
  <p:slideViewPr>
    <p:cSldViewPr snapToGrid="0" showGuides="1">
      <p:cViewPr varScale="1">
        <p:scale>
          <a:sx n="107" d="100"/>
          <a:sy n="107" d="100"/>
        </p:scale>
        <p:origin x="168" y="728"/>
      </p:cViewPr>
      <p:guideLst>
        <p:guide pos="311"/>
        <p:guide pos="5449"/>
        <p:guide orient="horz" pos="486"/>
        <p:guide orient="horz" pos="534"/>
        <p:guide orient="horz" pos="2946"/>
        <p:guide orient="horz" pos="532"/>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1389"/>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768B4A-600B-4E47-A44F-5C9458F0BBBB}" type="datetimeFigureOut">
              <a:rPr lang="zh-CN" altLang="en-US" smtClean="0"/>
              <a:t>2026/6/23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5172E2-DACC-4E2B-A3E0-ED1661E9ED5A}" type="slidenum">
              <a:rPr lang="zh-CN" altLang="en-US" smtClean="0"/>
              <a:t>‹#›</a:t>
            </a:fld>
            <a:endParaRPr lang="zh-CN" altLang="en-US"/>
          </a:p>
        </p:txBody>
      </p:sp>
    </p:spTree>
    <p:extLst>
      <p:ext uri="{BB962C8B-B14F-4D97-AF65-F5344CB8AC3E}">
        <p14:creationId xmlns:p14="http://schemas.microsoft.com/office/powerpoint/2010/main" val="3310344369"/>
      </p:ext>
    </p:extLst>
  </p:cSld>
  <p:clrMap bg1="lt1" tx1="dk1" bg2="lt2" tx2="dk2" accent1="accent1" accent2="accent2" accent3="accent3" accent4="accent4" accent5="accent5" accent6="accent6" hlink="hlink" folHlink="folHlink"/>
  <p:notesStyle>
    <a:lvl1pPr marL="0" algn="l" defTabSz="607893" rtl="0" eaLnBrk="1" latinLnBrk="0" hangingPunct="1">
      <a:defRPr sz="798" kern="1200">
        <a:solidFill>
          <a:schemeClr val="tx1"/>
        </a:solidFill>
        <a:latin typeface="+mn-lt"/>
        <a:ea typeface="+mn-ea"/>
        <a:cs typeface="+mn-cs"/>
      </a:defRPr>
    </a:lvl1pPr>
    <a:lvl2pPr marL="303947" algn="l" defTabSz="607893" rtl="0" eaLnBrk="1" latinLnBrk="0" hangingPunct="1">
      <a:defRPr sz="798" kern="1200">
        <a:solidFill>
          <a:schemeClr val="tx1"/>
        </a:solidFill>
        <a:latin typeface="+mn-lt"/>
        <a:ea typeface="+mn-ea"/>
        <a:cs typeface="+mn-cs"/>
      </a:defRPr>
    </a:lvl2pPr>
    <a:lvl3pPr marL="607893" algn="l" defTabSz="607893" rtl="0" eaLnBrk="1" latinLnBrk="0" hangingPunct="1">
      <a:defRPr sz="798" kern="1200">
        <a:solidFill>
          <a:schemeClr val="tx1"/>
        </a:solidFill>
        <a:latin typeface="+mn-lt"/>
        <a:ea typeface="+mn-ea"/>
        <a:cs typeface="+mn-cs"/>
      </a:defRPr>
    </a:lvl3pPr>
    <a:lvl4pPr marL="911840" algn="l" defTabSz="607893" rtl="0" eaLnBrk="1" latinLnBrk="0" hangingPunct="1">
      <a:defRPr sz="798" kern="1200">
        <a:solidFill>
          <a:schemeClr val="tx1"/>
        </a:solidFill>
        <a:latin typeface="+mn-lt"/>
        <a:ea typeface="+mn-ea"/>
        <a:cs typeface="+mn-cs"/>
      </a:defRPr>
    </a:lvl4pPr>
    <a:lvl5pPr marL="1215786" algn="l" defTabSz="607893" rtl="0" eaLnBrk="1" latinLnBrk="0" hangingPunct="1">
      <a:defRPr sz="798" kern="1200">
        <a:solidFill>
          <a:schemeClr val="tx1"/>
        </a:solidFill>
        <a:latin typeface="+mn-lt"/>
        <a:ea typeface="+mn-ea"/>
        <a:cs typeface="+mn-cs"/>
      </a:defRPr>
    </a:lvl5pPr>
    <a:lvl6pPr marL="1519733" algn="l" defTabSz="607893" rtl="0" eaLnBrk="1" latinLnBrk="0" hangingPunct="1">
      <a:defRPr sz="798" kern="1200">
        <a:solidFill>
          <a:schemeClr val="tx1"/>
        </a:solidFill>
        <a:latin typeface="+mn-lt"/>
        <a:ea typeface="+mn-ea"/>
        <a:cs typeface="+mn-cs"/>
      </a:defRPr>
    </a:lvl6pPr>
    <a:lvl7pPr marL="1823679" algn="l" defTabSz="607893" rtl="0" eaLnBrk="1" latinLnBrk="0" hangingPunct="1">
      <a:defRPr sz="798" kern="1200">
        <a:solidFill>
          <a:schemeClr val="tx1"/>
        </a:solidFill>
        <a:latin typeface="+mn-lt"/>
        <a:ea typeface="+mn-ea"/>
        <a:cs typeface="+mn-cs"/>
      </a:defRPr>
    </a:lvl7pPr>
    <a:lvl8pPr marL="2127626" algn="l" defTabSz="607893" rtl="0" eaLnBrk="1" latinLnBrk="0" hangingPunct="1">
      <a:defRPr sz="798" kern="1200">
        <a:solidFill>
          <a:schemeClr val="tx1"/>
        </a:solidFill>
        <a:latin typeface="+mn-lt"/>
        <a:ea typeface="+mn-ea"/>
        <a:cs typeface="+mn-cs"/>
      </a:defRPr>
    </a:lvl8pPr>
    <a:lvl9pPr marL="2431572" algn="l" defTabSz="607893" rtl="0" eaLnBrk="1" latinLnBrk="0" hangingPunct="1">
      <a:defRPr sz="798"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CFA524-9F9D-571F-3C21-66999BF3F7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546E33-2671-B230-1B80-7C2270DE9F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D173EA-3276-7D67-89A3-3B6E7F7DEE3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E452FDD-1BAF-6868-5F73-C77D7B7C2974}"/>
              </a:ext>
            </a:extLst>
          </p:cNvPr>
          <p:cNvSpPr>
            <a:spLocks noGrp="1"/>
          </p:cNvSpPr>
          <p:nvPr>
            <p:ph type="sldNum" sz="quarter" idx="5"/>
          </p:nvPr>
        </p:nvSpPr>
        <p:spPr/>
        <p:txBody>
          <a:bodyPr/>
          <a:lstStyle/>
          <a:p>
            <a:fld id="{A55172E2-DACC-4E2B-A3E0-ED1661E9ED5A}" type="slidenum">
              <a:rPr lang="zh-CN" altLang="en-US" smtClean="0"/>
              <a:t>0</a:t>
            </a:fld>
            <a:endParaRPr lang="zh-CN" altLang="en-US"/>
          </a:p>
        </p:txBody>
      </p:sp>
    </p:spTree>
    <p:extLst>
      <p:ext uri="{BB962C8B-B14F-4D97-AF65-F5344CB8AC3E}">
        <p14:creationId xmlns:p14="http://schemas.microsoft.com/office/powerpoint/2010/main" val="23883476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EFF28-51E0-7CE7-11F0-9A5340CAE5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5CAE93-7821-FEF9-7399-6DEA647E63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6EB0EF-8CC0-D366-FAD1-E9F8E3A97E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1C71A50-B84D-89CA-DE03-F9D3A1435CF5}"/>
              </a:ext>
            </a:extLst>
          </p:cNvPr>
          <p:cNvSpPr>
            <a:spLocks noGrp="1"/>
          </p:cNvSpPr>
          <p:nvPr>
            <p:ph type="sldNum" sz="quarter" idx="5"/>
          </p:nvPr>
        </p:nvSpPr>
        <p:spPr/>
        <p:txBody>
          <a:bodyPr/>
          <a:lstStyle/>
          <a:p>
            <a:fld id="{A55172E2-DACC-4E2B-A3E0-ED1661E9ED5A}" type="slidenum">
              <a:rPr lang="zh-CN" altLang="en-US" smtClean="0"/>
              <a:t>1</a:t>
            </a:fld>
            <a:endParaRPr lang="zh-CN" altLang="en-US"/>
          </a:p>
        </p:txBody>
      </p:sp>
    </p:spTree>
    <p:extLst>
      <p:ext uri="{BB962C8B-B14F-4D97-AF65-F5344CB8AC3E}">
        <p14:creationId xmlns:p14="http://schemas.microsoft.com/office/powerpoint/2010/main" val="6487268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798" kern="1200" dirty="0">
                <a:solidFill>
                  <a:schemeClr val="tx1"/>
                </a:solidFill>
                <a:effectLst/>
                <a:latin typeface="+mn-lt"/>
                <a:ea typeface="+mn-ea"/>
                <a:cs typeface="+mn-cs"/>
              </a:rPr>
              <a:t>Let me walk through the four hypotheses. They follow directly from this logic.</a:t>
            </a:r>
            <a:br>
              <a:rPr lang="en-US" sz="798" kern="1200" dirty="0">
                <a:solidFill>
                  <a:schemeClr val="tx1"/>
                </a:solidFill>
                <a:effectLst/>
                <a:latin typeface="+mn-lt"/>
                <a:ea typeface="+mn-ea"/>
                <a:cs typeface="+mn-cs"/>
              </a:rPr>
            </a:br>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H1: AI presence increases human contribution. This sounds counterintuitive given our old findings. But here's the logic. When you only see the AI label — before engaging with content — you perceive a weak competitor. Easy win. That motivates entry. "I'll show them a real answer." So the pure label effect is positive.</a:t>
            </a:r>
            <a:br>
              <a:rPr lang="en-US" sz="798" kern="1200" dirty="0">
                <a:solidFill>
                  <a:schemeClr val="tx1"/>
                </a:solidFill>
                <a:effectLst/>
                <a:latin typeface="+mn-lt"/>
                <a:ea typeface="+mn-ea"/>
                <a:cs typeface="+mn-cs"/>
              </a:rPr>
            </a:br>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H2: Longer AI answers attenuate H1. Length is a fast heuristic. A long answer signals: this space is already occupied. The "easy win" feeling disappears. The barrier looks higher. So longer AI answers flip the contribution effect from positive to negative.</a:t>
            </a:r>
            <a:br>
              <a:rPr lang="en-US" sz="798" kern="1200" dirty="0">
                <a:solidFill>
                  <a:schemeClr val="tx1"/>
                </a:solidFill>
                <a:effectLst/>
                <a:latin typeface="+mn-lt"/>
                <a:ea typeface="+mn-ea"/>
                <a:cs typeface="+mn-cs"/>
              </a:rPr>
            </a:br>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Now — and this is crucial — our overall effect in the last round was negative because AI answers on SegmentFault tend to be long. The average AI answer is much longer than the average human answer. So in the aggregate, the length effect dominates, and we see a net negative. But if you decompose it, the label alone would have been positive.</a:t>
            </a:r>
            <a:br>
              <a:rPr lang="en-US" sz="798" kern="1200" dirty="0">
                <a:solidFill>
                  <a:schemeClr val="tx1"/>
                </a:solidFill>
                <a:effectLst/>
                <a:latin typeface="+mn-lt"/>
                <a:ea typeface="+mn-ea"/>
                <a:cs typeface="+mn-cs"/>
              </a:rPr>
            </a:br>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H3: AI presence decreases human answer quality. Same "weak competitor" logic, but for effort. If I think my rival is weak, why try hard? Complacency sets in. I put in less effort. My answer quality drops.</a:t>
            </a:r>
            <a:br>
              <a:rPr lang="en-US" sz="798" kern="1200" dirty="0">
                <a:solidFill>
                  <a:schemeClr val="tx1"/>
                </a:solidFill>
                <a:effectLst/>
                <a:latin typeface="+mn-lt"/>
                <a:ea typeface="+mn-ea"/>
                <a:cs typeface="+mn-cs"/>
              </a:rPr>
            </a:br>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H4: High AI quality reverses H3. Quality is a slow signal. Once you actually read the AI answer and realize it's good, the "weak competitor" assumption shatters. Now you face a credible rival. That triggers real competitive effort. You raise your game. "The AI is actually good — I must prove I'm better."</a:t>
            </a:r>
          </a:p>
          <a:p>
            <a:endParaRPr lang="en-US" dirty="0"/>
          </a:p>
        </p:txBody>
      </p:sp>
      <p:sp>
        <p:nvSpPr>
          <p:cNvPr id="4" name="Slide Number Placeholder 3"/>
          <p:cNvSpPr>
            <a:spLocks noGrp="1"/>
          </p:cNvSpPr>
          <p:nvPr>
            <p:ph type="sldNum" sz="quarter" idx="5"/>
          </p:nvPr>
        </p:nvSpPr>
        <p:spPr/>
        <p:txBody>
          <a:bodyPr/>
          <a:lstStyle/>
          <a:p>
            <a:fld id="{A55172E2-DACC-4E2B-A3E0-ED1661E9ED5A}" type="slidenum">
              <a:rPr lang="zh-CN" altLang="en-US" smtClean="0"/>
              <a:t>2</a:t>
            </a:fld>
            <a:endParaRPr lang="zh-CN" altLang="en-US"/>
          </a:p>
        </p:txBody>
      </p:sp>
    </p:spTree>
    <p:extLst>
      <p:ext uri="{BB962C8B-B14F-4D97-AF65-F5344CB8AC3E}">
        <p14:creationId xmlns:p14="http://schemas.microsoft.com/office/powerpoint/2010/main" val="33438991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07893" rtl="0" eaLnBrk="1" fontAlgn="auto" latinLnBrk="0" hangingPunct="1">
              <a:lnSpc>
                <a:spcPct val="100000"/>
              </a:lnSpc>
              <a:spcBef>
                <a:spcPts val="0"/>
              </a:spcBef>
              <a:spcAft>
                <a:spcPts val="0"/>
              </a:spcAft>
              <a:buClrTx/>
              <a:buSzTx/>
              <a:buFontTx/>
              <a:buNone/>
              <a:tabLst/>
              <a:defRPr/>
            </a:pPr>
            <a:r>
              <a:rPr lang="en-US" sz="798" kern="1200" dirty="0">
                <a:solidFill>
                  <a:schemeClr val="tx1"/>
                </a:solidFill>
                <a:effectLst/>
                <a:latin typeface="+mn-lt"/>
                <a:ea typeface="+mn-ea"/>
                <a:cs typeface="+mn-cs"/>
              </a:rPr>
              <a:t>Slides 16 and 17 have the full theoretical arguments for each hypothesis. I won't read through them now — they're there for reference. But the key logic is what I just walked you through: fast processing drives participation, slow processing drives quality, and the "weak competitor" assumption is the baseline that content signals either reinforce or override.</a:t>
            </a:r>
          </a:p>
          <a:p>
            <a:endParaRPr lang="en-US" dirty="0"/>
          </a:p>
        </p:txBody>
      </p:sp>
      <p:sp>
        <p:nvSpPr>
          <p:cNvPr id="4" name="Slide Number Placeholder 3"/>
          <p:cNvSpPr>
            <a:spLocks noGrp="1"/>
          </p:cNvSpPr>
          <p:nvPr>
            <p:ph type="sldNum" sz="quarter" idx="5"/>
          </p:nvPr>
        </p:nvSpPr>
        <p:spPr/>
        <p:txBody>
          <a:bodyPr/>
          <a:lstStyle/>
          <a:p>
            <a:fld id="{A55172E2-DACC-4E2B-A3E0-ED1661E9ED5A}" type="slidenum">
              <a:rPr lang="zh-CN" altLang="en-US" smtClean="0"/>
              <a:t>3</a:t>
            </a:fld>
            <a:endParaRPr lang="zh-CN" altLang="en-US"/>
          </a:p>
        </p:txBody>
      </p:sp>
    </p:spTree>
    <p:extLst>
      <p:ext uri="{BB962C8B-B14F-4D97-AF65-F5344CB8AC3E}">
        <p14:creationId xmlns:p14="http://schemas.microsoft.com/office/powerpoint/2010/main" val="3002122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5172E2-DACC-4E2B-A3E0-ED1661E9ED5A}" type="slidenum">
              <a:rPr lang="zh-CN" altLang="en-US" smtClean="0"/>
              <a:t>4</a:t>
            </a:fld>
            <a:endParaRPr lang="zh-CN" altLang="en-US"/>
          </a:p>
        </p:txBody>
      </p:sp>
    </p:spTree>
    <p:extLst>
      <p:ext uri="{BB962C8B-B14F-4D97-AF65-F5344CB8AC3E}">
        <p14:creationId xmlns:p14="http://schemas.microsoft.com/office/powerpoint/2010/main" val="8612220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394FBED-F89D-E64E-839F-277148744889}" type="datetime1">
              <a:rPr lang="en-US" altLang="zh-CN" smtClean="0"/>
              <a:t>6/23/26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80E9C1D4-69BA-4B09-8A24-1CCDDD1AB85B}" type="slidenum">
              <a:rPr lang="zh-CN" altLang="en-US" smtClean="0"/>
              <a:t>‹#›</a:t>
            </a:fld>
            <a:endParaRPr lang="zh-CN" altLang="en-US"/>
          </a:p>
        </p:txBody>
      </p:sp>
    </p:spTree>
    <p:extLst>
      <p:ext uri="{BB962C8B-B14F-4D97-AF65-F5344CB8AC3E}">
        <p14:creationId xmlns:p14="http://schemas.microsoft.com/office/powerpoint/2010/main" val="16075781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942975"/>
            <a:ext cx="7886700" cy="36897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9485E37-E16F-804C-8A4A-A4CBD622B30D}" type="datetime1">
              <a:rPr lang="en-US" smtClean="0"/>
              <a:t>6/23/26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
        <p:nvSpPr>
          <p:cNvPr id="7" name="Title 1">
            <a:extLst>
              <a:ext uri="{FF2B5EF4-FFF2-40B4-BE49-F238E27FC236}">
                <a16:creationId xmlns:a16="http://schemas.microsoft.com/office/drawing/2014/main" id="{35CB9FAF-4194-4EAD-452C-A94164F17EDE}"/>
              </a:ext>
            </a:extLst>
          </p:cNvPr>
          <p:cNvSpPr>
            <a:spLocks noGrp="1"/>
          </p:cNvSpPr>
          <p:nvPr>
            <p:ph type="title"/>
          </p:nvPr>
        </p:nvSpPr>
        <p:spPr>
          <a:xfrm>
            <a:off x="628650" y="273844"/>
            <a:ext cx="7886700" cy="669131"/>
          </a:xfrm>
        </p:spPr>
        <p:txBody>
          <a:bodyPr/>
          <a:lstStyle/>
          <a:p>
            <a:r>
              <a:rPr lang="en-US"/>
              <a:t>Click to edit Master title style</a:t>
            </a:r>
            <a:endParaRPr lang="en-US" dirty="0"/>
          </a:p>
        </p:txBody>
      </p:sp>
    </p:spTree>
    <p:extLst>
      <p:ext uri="{BB962C8B-B14F-4D97-AF65-F5344CB8AC3E}">
        <p14:creationId xmlns:p14="http://schemas.microsoft.com/office/powerpoint/2010/main" val="7944711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BD6AF72-F30E-3246-B7B3-276B30CCF4A4}" type="datetime1">
              <a:rPr lang="en-US" altLang="zh-CN" smtClean="0"/>
              <a:t>6/23/26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80E9C1D4-69BA-4B09-8A24-1CCDDD1AB85B}" type="slidenum">
              <a:rPr lang="zh-CN" altLang="en-US" smtClean="0"/>
              <a:t>‹#›</a:t>
            </a:fld>
            <a:endParaRPr lang="zh-CN" altLang="en-US"/>
          </a:p>
        </p:txBody>
      </p:sp>
    </p:spTree>
    <p:extLst>
      <p:ext uri="{BB962C8B-B14F-4D97-AF65-F5344CB8AC3E}">
        <p14:creationId xmlns:p14="http://schemas.microsoft.com/office/powerpoint/2010/main" val="42707109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28650" y="942975"/>
            <a:ext cx="3886200" cy="36897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942975"/>
            <a:ext cx="3886200" cy="368974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9EB4F7F4-4304-7F4B-B785-EEC50ABD970A}" type="datetime1">
              <a:rPr lang="en-US" altLang="zh-CN" smtClean="0"/>
              <a:t>6/23/26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80E9C1D4-69BA-4B09-8A24-1CCDDD1AB85B}" type="slidenum">
              <a:rPr lang="zh-CN" altLang="en-US" smtClean="0"/>
              <a:t>‹#›</a:t>
            </a:fld>
            <a:endParaRPr lang="zh-CN" altLang="en-US"/>
          </a:p>
        </p:txBody>
      </p:sp>
      <p:sp>
        <p:nvSpPr>
          <p:cNvPr id="8" name="Title 1">
            <a:extLst>
              <a:ext uri="{FF2B5EF4-FFF2-40B4-BE49-F238E27FC236}">
                <a16:creationId xmlns:a16="http://schemas.microsoft.com/office/drawing/2014/main" id="{A20E6608-C9E1-51A7-4447-9582DB1E0B94}"/>
              </a:ext>
            </a:extLst>
          </p:cNvPr>
          <p:cNvSpPr>
            <a:spLocks noGrp="1"/>
          </p:cNvSpPr>
          <p:nvPr>
            <p:ph type="title"/>
          </p:nvPr>
        </p:nvSpPr>
        <p:spPr>
          <a:xfrm>
            <a:off x="628650" y="273844"/>
            <a:ext cx="7886700" cy="669131"/>
          </a:xfrm>
        </p:spPr>
        <p:txBody>
          <a:bodyPr/>
          <a:lstStyle/>
          <a:p>
            <a:r>
              <a:rPr lang="en-US"/>
              <a:t>Click to edit Master title style</a:t>
            </a:r>
            <a:endParaRPr lang="en-US" dirty="0"/>
          </a:p>
        </p:txBody>
      </p:sp>
    </p:spTree>
    <p:extLst>
      <p:ext uri="{BB962C8B-B14F-4D97-AF65-F5344CB8AC3E}">
        <p14:creationId xmlns:p14="http://schemas.microsoft.com/office/powerpoint/2010/main" val="3106961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29842" y="960829"/>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629842" y="1596618"/>
            <a:ext cx="3868340" cy="30456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960829"/>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6" name="Content Placeholder 5"/>
          <p:cNvSpPr>
            <a:spLocks noGrp="1"/>
          </p:cNvSpPr>
          <p:nvPr>
            <p:ph sz="quarter" idx="4"/>
          </p:nvPr>
        </p:nvSpPr>
        <p:spPr>
          <a:xfrm>
            <a:off x="4629150" y="1596618"/>
            <a:ext cx="3887391" cy="304563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AE3DA2AD-866F-9348-BEC7-B30D4CD77602}" type="datetime1">
              <a:rPr lang="en-US" altLang="zh-CN" smtClean="0"/>
              <a:t>6/23/26</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80E9C1D4-69BA-4B09-8A24-1CCDDD1AB85B}" type="slidenum">
              <a:rPr lang="zh-CN" altLang="en-US" smtClean="0"/>
              <a:t>‹#›</a:t>
            </a:fld>
            <a:endParaRPr lang="zh-CN" altLang="en-US"/>
          </a:p>
        </p:txBody>
      </p:sp>
      <p:sp>
        <p:nvSpPr>
          <p:cNvPr id="10" name="Title 1">
            <a:extLst>
              <a:ext uri="{FF2B5EF4-FFF2-40B4-BE49-F238E27FC236}">
                <a16:creationId xmlns:a16="http://schemas.microsoft.com/office/drawing/2014/main" id="{97025B06-33BC-4034-F02A-34F7DEC61A04}"/>
              </a:ext>
            </a:extLst>
          </p:cNvPr>
          <p:cNvSpPr>
            <a:spLocks noGrp="1"/>
          </p:cNvSpPr>
          <p:nvPr>
            <p:ph type="title"/>
          </p:nvPr>
        </p:nvSpPr>
        <p:spPr>
          <a:xfrm>
            <a:off x="628650" y="273844"/>
            <a:ext cx="7886700" cy="669131"/>
          </a:xfrm>
        </p:spPr>
        <p:txBody>
          <a:bodyPr/>
          <a:lstStyle/>
          <a:p>
            <a:r>
              <a:rPr lang="en-US"/>
              <a:t>Click to edit Master title style</a:t>
            </a:r>
            <a:endParaRPr lang="en-US" dirty="0"/>
          </a:p>
        </p:txBody>
      </p:sp>
    </p:spTree>
    <p:extLst>
      <p:ext uri="{BB962C8B-B14F-4D97-AF65-F5344CB8AC3E}">
        <p14:creationId xmlns:p14="http://schemas.microsoft.com/office/powerpoint/2010/main" val="12775041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273844"/>
            <a:ext cx="7886700" cy="669131"/>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122741D-E476-F04E-ADB3-06D1BCCC0E35}" type="datetime1">
              <a:rPr lang="en-US" altLang="zh-CN" smtClean="0"/>
              <a:t>6/23/26</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80E9C1D4-69BA-4B09-8A24-1CCDDD1AB85B}" type="slidenum">
              <a:rPr lang="zh-CN" altLang="en-US" smtClean="0"/>
              <a:t>‹#›</a:t>
            </a:fld>
            <a:endParaRPr lang="zh-CN" altLang="en-US"/>
          </a:p>
        </p:txBody>
      </p:sp>
    </p:spTree>
    <p:extLst>
      <p:ext uri="{BB962C8B-B14F-4D97-AF65-F5344CB8AC3E}">
        <p14:creationId xmlns:p14="http://schemas.microsoft.com/office/powerpoint/2010/main" val="27640516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EFDCEA-8899-3641-AF8B-710C1453795F}" type="datetime1">
              <a:rPr lang="en-US" altLang="zh-CN" smtClean="0"/>
              <a:t>6/23/26</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80E9C1D4-69BA-4B09-8A24-1CCDDD1AB85B}" type="slidenum">
              <a:rPr lang="zh-CN" altLang="en-US" smtClean="0"/>
              <a:t>‹#›</a:t>
            </a:fld>
            <a:endParaRPr lang="zh-CN" altLang="en-US"/>
          </a:p>
        </p:txBody>
      </p:sp>
    </p:spTree>
    <p:extLst>
      <p:ext uri="{BB962C8B-B14F-4D97-AF65-F5344CB8AC3E}">
        <p14:creationId xmlns:p14="http://schemas.microsoft.com/office/powerpoint/2010/main" val="40034237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1CD621A6-18EE-0F47-9D42-814C4CC0255E}" type="datetime1">
              <a:rPr lang="en-US" altLang="zh-CN" smtClean="0"/>
              <a:t>6/23/26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80E9C1D4-69BA-4B09-8A24-1CCDDD1AB85B}" type="slidenum">
              <a:rPr lang="zh-CN" altLang="en-US" smtClean="0"/>
              <a:t>‹#›</a:t>
            </a:fld>
            <a:endParaRPr lang="zh-CN" altLang="en-US"/>
          </a:p>
        </p:txBody>
      </p:sp>
    </p:spTree>
    <p:extLst>
      <p:ext uri="{BB962C8B-B14F-4D97-AF65-F5344CB8AC3E}">
        <p14:creationId xmlns:p14="http://schemas.microsoft.com/office/powerpoint/2010/main" val="1925376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1D3E9E2C-7ACC-6841-81A2-3C89227E3D34}" type="datetime1">
              <a:rPr lang="en-US" altLang="zh-CN" smtClean="0"/>
              <a:t>6/23/26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80E9C1D4-69BA-4B09-8A24-1CCDDD1AB85B}" type="slidenum">
              <a:rPr lang="zh-CN" altLang="en-US" smtClean="0"/>
              <a:t>‹#›</a:t>
            </a:fld>
            <a:endParaRPr lang="zh-CN" altLang="en-US"/>
          </a:p>
        </p:txBody>
      </p:sp>
    </p:spTree>
    <p:extLst>
      <p:ext uri="{BB962C8B-B14F-4D97-AF65-F5344CB8AC3E}">
        <p14:creationId xmlns:p14="http://schemas.microsoft.com/office/powerpoint/2010/main" val="10002653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34E7C6E-DB06-F24C-85D5-0587351F72F5}" type="datetime1">
              <a:rPr lang="en-US" altLang="zh-CN" smtClean="0"/>
              <a:t>6/23/26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80E9C1D4-69BA-4B09-8A24-1CCDDD1AB85B}" type="slidenum">
              <a:rPr lang="zh-CN" altLang="en-US" smtClean="0"/>
              <a:t>‹#›</a:t>
            </a:fld>
            <a:endParaRPr lang="zh-CN" altLang="en-US"/>
          </a:p>
        </p:txBody>
      </p:sp>
    </p:spTree>
    <p:extLst>
      <p:ext uri="{BB962C8B-B14F-4D97-AF65-F5344CB8AC3E}">
        <p14:creationId xmlns:p14="http://schemas.microsoft.com/office/powerpoint/2010/main" val="5320656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8B4F9B46-8700-9649-BA2F-7622601F67EB}" type="datetime1">
              <a:rPr lang="en-US" altLang="zh-CN" smtClean="0"/>
              <a:t>6/23/26</a:t>
            </a:fld>
            <a:endParaRPr lang="zh-CN" alt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80E9C1D4-69BA-4B09-8A24-1CCDDD1AB85B}" type="slidenum">
              <a:rPr lang="zh-CN" altLang="en-US" smtClean="0"/>
              <a:t>‹#›</a:t>
            </a:fld>
            <a:endParaRPr lang="zh-CN" altLang="en-US"/>
          </a:p>
        </p:txBody>
      </p:sp>
    </p:spTree>
    <p:extLst>
      <p:ext uri="{BB962C8B-B14F-4D97-AF65-F5344CB8AC3E}">
        <p14:creationId xmlns:p14="http://schemas.microsoft.com/office/powerpoint/2010/main" val="585743034"/>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5" r:id="rId10"/>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Calibri Light" panose="020F0302020204030204" pitchFamily="34" charset="0"/>
          <a:ea typeface="+mn-ea"/>
          <a:cs typeface="Calibri Light" panose="020F030202020403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Calibri Light" panose="020F0302020204030204" pitchFamily="34" charset="0"/>
          <a:ea typeface="+mn-ea"/>
          <a:cs typeface="Calibri Light" panose="020F030202020403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Calibri Light" panose="020F0302020204030204" pitchFamily="34" charset="0"/>
          <a:ea typeface="+mn-ea"/>
          <a:cs typeface="Calibri Light" panose="020F030202020403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Calibri Light" panose="020F0302020204030204" pitchFamily="34" charset="0"/>
          <a:ea typeface="+mn-ea"/>
          <a:cs typeface="Calibri Light" panose="020F030202020403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Calibri Light" panose="020F0302020204030204" pitchFamily="34" charset="0"/>
          <a:ea typeface="+mn-ea"/>
          <a:cs typeface="Calibri Light" panose="020F03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5DDE4-01BB-7591-DF38-126AF3696E3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116756D-3AD5-67AC-043C-385727531945}"/>
              </a:ext>
            </a:extLst>
          </p:cNvPr>
          <p:cNvSpPr>
            <a:spLocks noGrp="1"/>
          </p:cNvSpPr>
          <p:nvPr>
            <p:ph type="title"/>
          </p:nvPr>
        </p:nvSpPr>
        <p:spPr/>
        <p:txBody>
          <a:bodyPr>
            <a:noAutofit/>
          </a:bodyPr>
          <a:lstStyle/>
          <a:p>
            <a:r>
              <a:rPr lang="en-US" altLang="zh-CN" sz="2800" dirty="0">
                <a:latin typeface="Calibri" panose="020F0502020204030204" pitchFamily="34" charset="0"/>
                <a:cs typeface="Calibri" panose="020F0502020204030204" pitchFamily="34" charset="0"/>
              </a:rPr>
              <a:t>How</a:t>
            </a:r>
            <a:r>
              <a:rPr lang="zh-CN" altLang="en-US" sz="2800" dirty="0">
                <a:latin typeface="Calibri" panose="020F0502020204030204" pitchFamily="34" charset="0"/>
                <a:cs typeface="Calibri" panose="020F0502020204030204" pitchFamily="34" charset="0"/>
              </a:rPr>
              <a:t> </a:t>
            </a:r>
            <a:r>
              <a:rPr lang="en-US" altLang="zh-CN" sz="2800" dirty="0">
                <a:latin typeface="Calibri" panose="020F0502020204030204" pitchFamily="34" charset="0"/>
                <a:cs typeface="Calibri" panose="020F0502020204030204" pitchFamily="34" charset="0"/>
              </a:rPr>
              <a:t>does</a:t>
            </a:r>
            <a:r>
              <a:rPr lang="zh-CN" altLang="en-US" sz="2800" dirty="0">
                <a:latin typeface="Calibri" panose="020F0502020204030204" pitchFamily="34" charset="0"/>
                <a:cs typeface="Calibri" panose="020F0502020204030204" pitchFamily="34" charset="0"/>
              </a:rPr>
              <a:t> </a:t>
            </a:r>
            <a:r>
              <a:rPr lang="en-US" altLang="zh-CN" sz="2800" dirty="0">
                <a:latin typeface="Calibri" panose="020F0502020204030204" pitchFamily="34" charset="0"/>
                <a:cs typeface="Calibri" panose="020F0502020204030204" pitchFamily="34" charset="0"/>
              </a:rPr>
              <a:t>our</a:t>
            </a:r>
            <a:r>
              <a:rPr lang="zh-CN" altLang="en-US" sz="2800" dirty="0">
                <a:latin typeface="Calibri" panose="020F0502020204030204" pitchFamily="34" charset="0"/>
                <a:cs typeface="Calibri" panose="020F0502020204030204" pitchFamily="34" charset="0"/>
              </a:rPr>
              <a:t> </a:t>
            </a:r>
            <a:r>
              <a:rPr lang="en-US" altLang="zh-CN" sz="2800" dirty="0">
                <a:latin typeface="Calibri" panose="020F0502020204030204" pitchFamily="34" charset="0"/>
                <a:cs typeface="Calibri" panose="020F0502020204030204" pitchFamily="34" charset="0"/>
              </a:rPr>
              <a:t>work</a:t>
            </a:r>
            <a:r>
              <a:rPr lang="zh-CN" altLang="en-US" sz="2800" dirty="0">
                <a:latin typeface="Calibri" panose="020F0502020204030204" pitchFamily="34" charset="0"/>
                <a:cs typeface="Calibri" panose="020F0502020204030204" pitchFamily="34" charset="0"/>
              </a:rPr>
              <a:t> </a:t>
            </a:r>
            <a:r>
              <a:rPr lang="en-US" altLang="zh-CN" sz="2800" dirty="0">
                <a:latin typeface="Calibri" panose="020F0502020204030204" pitchFamily="34" charset="0"/>
                <a:cs typeface="Calibri" panose="020F0502020204030204" pitchFamily="34" charset="0"/>
              </a:rPr>
              <a:t>go</a:t>
            </a:r>
            <a:r>
              <a:rPr lang="zh-CN" altLang="en-US" sz="2800" dirty="0">
                <a:latin typeface="Calibri" panose="020F0502020204030204" pitchFamily="34" charset="0"/>
                <a:cs typeface="Calibri" panose="020F0502020204030204" pitchFamily="34" charset="0"/>
              </a:rPr>
              <a:t> </a:t>
            </a:r>
            <a:r>
              <a:rPr lang="en-US" altLang="zh-CN" sz="2800" dirty="0">
                <a:latin typeface="Calibri" panose="020F0502020204030204" pitchFamily="34" charset="0"/>
                <a:cs typeface="Calibri" panose="020F0502020204030204" pitchFamily="34" charset="0"/>
              </a:rPr>
              <a:t>beyond</a:t>
            </a:r>
            <a:endParaRPr lang="en-US" altLang="en-US" sz="2000" dirty="0">
              <a:latin typeface="Calibri" panose="020F0502020204030204" pitchFamily="34" charset="0"/>
              <a:cs typeface="Calibri" panose="020F0502020204030204" pitchFamily="34" charset="0"/>
            </a:endParaRPr>
          </a:p>
        </p:txBody>
      </p:sp>
      <p:sp>
        <p:nvSpPr>
          <p:cNvPr id="8" name="Slide Number Placeholder 7">
            <a:extLst>
              <a:ext uri="{FF2B5EF4-FFF2-40B4-BE49-F238E27FC236}">
                <a16:creationId xmlns:a16="http://schemas.microsoft.com/office/drawing/2014/main" id="{8B738BC8-1C57-E779-2D69-C0EAC8C760CB}"/>
              </a:ext>
            </a:extLst>
          </p:cNvPr>
          <p:cNvSpPr>
            <a:spLocks noGrp="1"/>
          </p:cNvSpPr>
          <p:nvPr>
            <p:ph type="sldNum" sz="quarter" idx="12"/>
          </p:nvPr>
        </p:nvSpPr>
        <p:spPr/>
        <p:txBody>
          <a:bodyPr/>
          <a:lstStyle/>
          <a:p>
            <a:fld id="{80E9C1D4-69BA-4B09-8A24-1CCDDD1AB85B}" type="slidenum">
              <a:rPr lang="zh-CN" altLang="en-US" smtClean="0">
                <a:latin typeface="Calibri" panose="020F0502020204030204" pitchFamily="34" charset="0"/>
                <a:cs typeface="Calibri" panose="020F0502020204030204" pitchFamily="34" charset="0"/>
              </a:rPr>
              <a:t>0</a:t>
            </a:fld>
            <a:endParaRPr lang="zh-CN" altLang="en-US">
              <a:latin typeface="Calibri" panose="020F0502020204030204" pitchFamily="34" charset="0"/>
              <a:cs typeface="Calibri" panose="020F0502020204030204" pitchFamily="34" charset="0"/>
            </a:endParaRPr>
          </a:p>
        </p:txBody>
      </p:sp>
      <p:graphicFrame>
        <p:nvGraphicFramePr>
          <p:cNvPr id="9" name="Table 8">
            <a:extLst>
              <a:ext uri="{FF2B5EF4-FFF2-40B4-BE49-F238E27FC236}">
                <a16:creationId xmlns:a16="http://schemas.microsoft.com/office/drawing/2014/main" id="{47B4F8B0-A399-3EDC-CFEE-07A759F6D70C}"/>
              </a:ext>
            </a:extLst>
          </p:cNvPr>
          <p:cNvGraphicFramePr>
            <a:graphicFrameLocks noGrp="1"/>
          </p:cNvGraphicFramePr>
          <p:nvPr>
            <p:extLst>
              <p:ext uri="{D42A27DB-BD31-4B8C-83A1-F6EECF244321}">
                <p14:modId xmlns:p14="http://schemas.microsoft.com/office/powerpoint/2010/main" val="531030178"/>
              </p:ext>
            </p:extLst>
          </p:nvPr>
        </p:nvGraphicFramePr>
        <p:xfrm>
          <a:off x="628650" y="1297245"/>
          <a:ext cx="7886700" cy="2549010"/>
        </p:xfrm>
        <a:graphic>
          <a:graphicData uri="http://schemas.openxmlformats.org/drawingml/2006/table">
            <a:tbl>
              <a:tblPr/>
              <a:tblGrid>
                <a:gridCol w="1314415">
                  <a:extLst>
                    <a:ext uri="{9D8B030D-6E8A-4147-A177-3AD203B41FA5}">
                      <a16:colId xmlns:a16="http://schemas.microsoft.com/office/drawing/2014/main" val="2058616507"/>
                    </a:ext>
                  </a:extLst>
                </a:gridCol>
                <a:gridCol w="3286066">
                  <a:extLst>
                    <a:ext uri="{9D8B030D-6E8A-4147-A177-3AD203B41FA5}">
                      <a16:colId xmlns:a16="http://schemas.microsoft.com/office/drawing/2014/main" val="892835355"/>
                    </a:ext>
                  </a:extLst>
                </a:gridCol>
                <a:gridCol w="3286219">
                  <a:extLst>
                    <a:ext uri="{9D8B030D-6E8A-4147-A177-3AD203B41FA5}">
                      <a16:colId xmlns:a16="http://schemas.microsoft.com/office/drawing/2014/main" val="3003006836"/>
                    </a:ext>
                  </a:extLst>
                </a:gridCol>
              </a:tblGrid>
              <a:tr h="240300">
                <a:tc>
                  <a:txBody>
                    <a:bodyPr/>
                    <a:lstStyle/>
                    <a:p>
                      <a:pPr indent="0" algn="l">
                        <a:buNone/>
                      </a:pPr>
                      <a:r>
                        <a:rPr lang="en-US" sz="1100" b="0" i="0">
                          <a:solidFill>
                            <a:srgbClr val="FFFFFF"/>
                          </a:solidFill>
                          <a:effectLst/>
                          <a:latin typeface="Arial" panose="020B0604020202020204" pitchFamily="34" charset="0"/>
                          <a:cs typeface="Arial" panose="020B0604020202020204" pitchFamily="34" charset="0"/>
                        </a:rPr>
                        <a:t>Dimension</a:t>
                      </a:r>
                    </a:p>
                  </a:txBody>
                  <a:tcPr marL="73939" marR="73939" marT="36969" marB="36969" anchor="ctr">
                    <a:lnL w="9525" cap="flat" cmpd="sng" algn="ctr">
                      <a:solidFill>
                        <a:srgbClr val="1E40AF"/>
                      </a:solidFill>
                      <a:prstDash val="solid"/>
                      <a:round/>
                      <a:headEnd type="none" w="med" len="med"/>
                      <a:tailEnd type="none" w="med" len="med"/>
                    </a:lnL>
                    <a:lnR w="9525" cap="flat" cmpd="sng" algn="ctr">
                      <a:solidFill>
                        <a:srgbClr val="1E40AF"/>
                      </a:solidFill>
                      <a:prstDash val="solid"/>
                      <a:round/>
                      <a:headEnd type="none" w="med" len="med"/>
                      <a:tailEnd type="none" w="med" len="med"/>
                    </a:lnR>
                    <a:lnT w="9525" cap="flat" cmpd="sng" algn="ctr">
                      <a:solidFill>
                        <a:srgbClr val="1E40AF"/>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D4ED8"/>
                    </a:solidFill>
                  </a:tcPr>
                </a:tc>
                <a:tc>
                  <a:txBody>
                    <a:bodyPr/>
                    <a:lstStyle/>
                    <a:p>
                      <a:pPr indent="0" algn="l">
                        <a:buNone/>
                      </a:pPr>
                      <a:r>
                        <a:rPr lang="en-US" sz="1100" b="0" i="0">
                          <a:solidFill>
                            <a:srgbClr val="FFFFFF"/>
                          </a:solidFill>
                          <a:effectLst/>
                          <a:latin typeface="Arial" panose="020B0604020202020204" pitchFamily="34" charset="0"/>
                          <a:cs typeface="Arial" panose="020B0604020202020204" pitchFamily="34" charset="0"/>
                        </a:rPr>
                        <a:t>Shan &amp; Qiu (2025)</a:t>
                      </a:r>
                    </a:p>
                  </a:txBody>
                  <a:tcPr marL="73939" marR="73939" marT="36969" marB="36969" anchor="ctr">
                    <a:lnL w="9525" cap="flat" cmpd="sng" algn="ctr">
                      <a:solidFill>
                        <a:srgbClr val="1E40AF"/>
                      </a:solidFill>
                      <a:prstDash val="solid"/>
                      <a:round/>
                      <a:headEnd type="none" w="med" len="med"/>
                      <a:tailEnd type="none" w="med" len="med"/>
                    </a:lnL>
                    <a:lnR w="9525" cap="flat" cmpd="sng" algn="ctr">
                      <a:solidFill>
                        <a:srgbClr val="1E40AF"/>
                      </a:solidFill>
                      <a:prstDash val="solid"/>
                      <a:round/>
                      <a:headEnd type="none" w="med" len="med"/>
                      <a:tailEnd type="none" w="med" len="med"/>
                    </a:lnR>
                    <a:lnT w="9525" cap="flat" cmpd="sng" algn="ctr">
                      <a:solidFill>
                        <a:srgbClr val="1E40AF"/>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D4ED8"/>
                    </a:solidFill>
                  </a:tcPr>
                </a:tc>
                <a:tc>
                  <a:txBody>
                    <a:bodyPr/>
                    <a:lstStyle/>
                    <a:p>
                      <a:pPr indent="0" algn="l">
                        <a:buNone/>
                      </a:pPr>
                      <a:r>
                        <a:rPr lang="en-US" sz="1100" b="0" i="0">
                          <a:solidFill>
                            <a:srgbClr val="FFFFFF"/>
                          </a:solidFill>
                          <a:effectLst/>
                          <a:latin typeface="Arial" panose="020B0604020202020204" pitchFamily="34" charset="0"/>
                          <a:cs typeface="Arial" panose="020B0604020202020204" pitchFamily="34" charset="0"/>
                        </a:rPr>
                        <a:t>Our Paper</a:t>
                      </a:r>
                    </a:p>
                  </a:txBody>
                  <a:tcPr marL="73939" marR="73939" marT="36969" marB="36969" anchor="ctr">
                    <a:lnL w="9525" cap="flat" cmpd="sng" algn="ctr">
                      <a:solidFill>
                        <a:srgbClr val="1E40AF"/>
                      </a:solidFill>
                      <a:prstDash val="solid"/>
                      <a:round/>
                      <a:headEnd type="none" w="med" len="med"/>
                      <a:tailEnd type="none" w="med" len="med"/>
                    </a:lnL>
                    <a:lnR w="9525" cap="flat" cmpd="sng" algn="ctr">
                      <a:solidFill>
                        <a:srgbClr val="1E40AF"/>
                      </a:solidFill>
                      <a:prstDash val="solid"/>
                      <a:round/>
                      <a:headEnd type="none" w="med" len="med"/>
                      <a:tailEnd type="none" w="med" len="med"/>
                    </a:lnR>
                    <a:lnT w="9525" cap="flat" cmpd="sng" algn="ctr">
                      <a:solidFill>
                        <a:srgbClr val="1E40AF"/>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D4ED8"/>
                    </a:solidFill>
                  </a:tcPr>
                </a:tc>
                <a:extLst>
                  <a:ext uri="{0D108BD9-81ED-4DB2-BD59-A6C34878D82A}">
                    <a16:rowId xmlns:a16="http://schemas.microsoft.com/office/drawing/2014/main" val="3552442008"/>
                  </a:ext>
                </a:extLst>
              </a:tr>
              <a:tr h="573024">
                <a:tc>
                  <a:txBody>
                    <a:bodyPr/>
                    <a:lstStyle/>
                    <a:p>
                      <a:pPr indent="0" algn="l">
                        <a:buNone/>
                      </a:pPr>
                      <a:r>
                        <a:rPr lang="en-US" sz="1100" b="1" i="0">
                          <a:solidFill>
                            <a:srgbClr val="1E40AF"/>
                          </a:solidFill>
                          <a:effectLst/>
                          <a:latin typeface="Arial" panose="020B0604020202020204" pitchFamily="34" charset="0"/>
                          <a:cs typeface="Arial" panose="020B0604020202020204" pitchFamily="34" charset="0"/>
                        </a:rPr>
                        <a:t>Role of AI</a:t>
                      </a:r>
                    </a:p>
                  </a:txBody>
                  <a:tcPr marL="73939" marR="73939" marT="36969" marB="36969"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EFF6FF"/>
                    </a:solidFill>
                  </a:tcPr>
                </a:tc>
                <a:tc>
                  <a:txBody>
                    <a:bodyPr/>
                    <a:lstStyle/>
                    <a:p>
                      <a:pPr indent="0" algn="l">
                        <a:buNone/>
                      </a:pPr>
                      <a:r>
                        <a:rPr lang="en-US" sz="1100" b="0" i="0" dirty="0">
                          <a:solidFill>
                            <a:srgbClr val="000000"/>
                          </a:solidFill>
                          <a:effectLst/>
                          <a:latin typeface="Arial" panose="020B0604020202020204" pitchFamily="34" charset="0"/>
                          <a:cs typeface="Arial" panose="020B0604020202020204" pitchFamily="34" charset="0"/>
                        </a:rPr>
                        <a:t>AI as </a:t>
                      </a:r>
                      <a:r>
                        <a:rPr lang="en-US" sz="1100" b="1" i="0" dirty="0">
                          <a:solidFill>
                            <a:srgbClr val="000000"/>
                          </a:solidFill>
                          <a:effectLst/>
                          <a:latin typeface="Arial" panose="020B0604020202020204" pitchFamily="34" charset="0"/>
                          <a:cs typeface="Arial" panose="020B0604020202020204" pitchFamily="34" charset="0"/>
                        </a:rPr>
                        <a:t>tool</a:t>
                      </a:r>
                      <a:r>
                        <a:rPr lang="en-US" sz="1100" b="0" i="0" dirty="0">
                          <a:solidFill>
                            <a:srgbClr val="000000"/>
                          </a:solidFill>
                          <a:effectLst/>
                          <a:latin typeface="Arial" panose="020B0604020202020204" pitchFamily="34" charset="0"/>
                          <a:cs typeface="Arial" panose="020B0604020202020204" pitchFamily="34" charset="0"/>
                        </a:rPr>
                        <a:t>: users adopt ChatGPT to assist their own writing</a:t>
                      </a:r>
                      <a:br>
                        <a:rPr lang="en-US" sz="1100" b="0" i="0" dirty="0">
                          <a:solidFill>
                            <a:srgbClr val="000000"/>
                          </a:solidFill>
                          <a:effectLst/>
                          <a:latin typeface="Arial" panose="020B0604020202020204" pitchFamily="34" charset="0"/>
                          <a:cs typeface="Arial" panose="020B0604020202020204" pitchFamily="34" charset="0"/>
                        </a:rPr>
                      </a:br>
                      <a:r>
                        <a:rPr lang="en-US" sz="1100" b="0" i="1" dirty="0">
                          <a:solidFill>
                            <a:srgbClr val="4B5563"/>
                          </a:solidFill>
                          <a:effectLst/>
                          <a:latin typeface="Arial" panose="020B0604020202020204" pitchFamily="34" charset="0"/>
                          <a:cs typeface="Arial" panose="020B0604020202020204" pitchFamily="34" charset="0"/>
                        </a:rPr>
                        <a:t>Human–AI collaboration</a:t>
                      </a:r>
                      <a:endParaRPr lang="en-US" sz="1100" b="0" i="0" dirty="0">
                        <a:solidFill>
                          <a:srgbClr val="000000"/>
                        </a:solidFill>
                        <a:effectLst/>
                        <a:latin typeface="Arial" panose="020B0604020202020204" pitchFamily="34" charset="0"/>
                        <a:cs typeface="Arial" panose="020B0604020202020204" pitchFamily="34" charset="0"/>
                      </a:endParaRPr>
                    </a:p>
                  </a:txBody>
                  <a:tcPr marL="73939" marR="73939" marT="36969" marB="36969"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EFF6FF"/>
                    </a:solidFill>
                  </a:tcPr>
                </a:tc>
                <a:tc>
                  <a:txBody>
                    <a:bodyPr/>
                    <a:lstStyle/>
                    <a:p>
                      <a:pPr indent="0" algn="l">
                        <a:buNone/>
                      </a:pPr>
                      <a:r>
                        <a:rPr lang="en-US" sz="1100" b="0" i="0">
                          <a:solidFill>
                            <a:srgbClr val="000000"/>
                          </a:solidFill>
                          <a:effectLst/>
                          <a:latin typeface="Arial" panose="020B0604020202020204" pitchFamily="34" charset="0"/>
                          <a:cs typeface="Arial" panose="020B0604020202020204" pitchFamily="34" charset="0"/>
                        </a:rPr>
                        <a:t>AI as </a:t>
                      </a:r>
                      <a:r>
                        <a:rPr lang="en-US" sz="1100" b="1" i="0">
                          <a:solidFill>
                            <a:srgbClr val="000000"/>
                          </a:solidFill>
                          <a:effectLst/>
                          <a:latin typeface="Arial" panose="020B0604020202020204" pitchFamily="34" charset="0"/>
                          <a:cs typeface="Arial" panose="020B0604020202020204" pitchFamily="34" charset="0"/>
                        </a:rPr>
                        <a:t>competitor</a:t>
                      </a:r>
                      <a:r>
                        <a:rPr lang="en-US" sz="1100" b="0" i="0">
                          <a:solidFill>
                            <a:srgbClr val="000000"/>
                          </a:solidFill>
                          <a:effectLst/>
                          <a:latin typeface="Arial" panose="020B0604020202020204" pitchFamily="34" charset="0"/>
                          <a:cs typeface="Arial" panose="020B0604020202020204" pitchFamily="34" charset="0"/>
                        </a:rPr>
                        <a:t>: platform deploys AI bot competing alongside humans</a:t>
                      </a:r>
                      <a:br>
                        <a:rPr lang="en-US" sz="1100" b="0" i="0">
                          <a:solidFill>
                            <a:srgbClr val="000000"/>
                          </a:solidFill>
                          <a:effectLst/>
                          <a:latin typeface="Arial" panose="020B0604020202020204" pitchFamily="34" charset="0"/>
                          <a:cs typeface="Arial" panose="020B0604020202020204" pitchFamily="34" charset="0"/>
                        </a:rPr>
                      </a:br>
                      <a:r>
                        <a:rPr lang="en-US" sz="1100" b="0" i="1">
                          <a:solidFill>
                            <a:srgbClr val="4B5563"/>
                          </a:solidFill>
                          <a:effectLst/>
                          <a:latin typeface="Arial" panose="020B0604020202020204" pitchFamily="34" charset="0"/>
                          <a:cs typeface="Arial" panose="020B0604020202020204" pitchFamily="34" charset="0"/>
                        </a:rPr>
                        <a:t>Human–AI competition</a:t>
                      </a:r>
                      <a:endParaRPr lang="en-US" sz="1100" b="0" i="0">
                        <a:solidFill>
                          <a:srgbClr val="000000"/>
                        </a:solidFill>
                        <a:effectLst/>
                        <a:latin typeface="Arial" panose="020B0604020202020204" pitchFamily="34" charset="0"/>
                        <a:cs typeface="Arial" panose="020B0604020202020204" pitchFamily="34" charset="0"/>
                      </a:endParaRPr>
                    </a:p>
                  </a:txBody>
                  <a:tcPr marL="73939" marR="73939" marT="36969" marB="36969"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EFF6FF"/>
                    </a:solidFill>
                  </a:tcPr>
                </a:tc>
                <a:extLst>
                  <a:ext uri="{0D108BD9-81ED-4DB2-BD59-A6C34878D82A}">
                    <a16:rowId xmlns:a16="http://schemas.microsoft.com/office/drawing/2014/main" val="2657361309"/>
                  </a:ext>
                </a:extLst>
              </a:tr>
              <a:tr h="739385">
                <a:tc>
                  <a:txBody>
                    <a:bodyPr/>
                    <a:lstStyle/>
                    <a:p>
                      <a:pPr indent="0" algn="l">
                        <a:buNone/>
                      </a:pPr>
                      <a:r>
                        <a:rPr lang="en-US" sz="1100" b="1" i="0">
                          <a:solidFill>
                            <a:srgbClr val="1E40AF"/>
                          </a:solidFill>
                          <a:effectLst/>
                          <a:latin typeface="Arial" panose="020B0604020202020204" pitchFamily="34" charset="0"/>
                          <a:cs typeface="Arial" panose="020B0604020202020204" pitchFamily="34" charset="0"/>
                        </a:rPr>
                        <a:t>Explanatory Power</a:t>
                      </a:r>
                    </a:p>
                  </a:txBody>
                  <a:tcPr marL="73939" marR="73939" marT="36969" marB="36969"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algn="l">
                        <a:buNone/>
                      </a:pPr>
                      <a:r>
                        <a:rPr lang="en-US" sz="1100" b="0" i="0">
                          <a:solidFill>
                            <a:srgbClr val="000000"/>
                          </a:solidFill>
                          <a:effectLst/>
                          <a:latin typeface="Arial" panose="020B0604020202020204" pitchFamily="34" charset="0"/>
                          <a:cs typeface="Arial" panose="020B0604020202020204" pitchFamily="34" charset="0"/>
                        </a:rPr>
                        <a:t>Explains only </a:t>
                      </a:r>
                      <a:r>
                        <a:rPr lang="en-US" sz="1100" b="1" i="0">
                          <a:solidFill>
                            <a:srgbClr val="000000"/>
                          </a:solidFill>
                          <a:effectLst/>
                          <a:latin typeface="Arial" panose="020B0604020202020204" pitchFamily="34" charset="0"/>
                          <a:cs typeface="Arial" panose="020B0604020202020204" pitchFamily="34" charset="0"/>
                        </a:rPr>
                        <a:t>one direction</a:t>
                      </a:r>
                      <a:r>
                        <a:rPr lang="en-US" sz="1100" b="0" i="0">
                          <a:solidFill>
                            <a:srgbClr val="000000"/>
                          </a:solidFill>
                          <a:effectLst/>
                          <a:latin typeface="Arial" panose="020B0604020202020204" pitchFamily="34" charset="0"/>
                          <a:cs typeface="Arial" panose="020B0604020202020204" pitchFamily="34" charset="0"/>
                        </a:rPr>
                        <a:t>: AI use → more output</a:t>
                      </a:r>
                      <a:br>
                        <a:rPr lang="en-US" sz="1100" b="0" i="0">
                          <a:solidFill>
                            <a:srgbClr val="000000"/>
                          </a:solidFill>
                          <a:effectLst/>
                          <a:latin typeface="Arial" panose="020B0604020202020204" pitchFamily="34" charset="0"/>
                          <a:cs typeface="Arial" panose="020B0604020202020204" pitchFamily="34" charset="0"/>
                        </a:rPr>
                      </a:br>
                      <a:r>
                        <a:rPr lang="en-US" sz="1100" b="0" i="1">
                          <a:solidFill>
                            <a:srgbClr val="4B5563"/>
                          </a:solidFill>
                          <a:effectLst/>
                          <a:latin typeface="Arial" panose="020B0604020202020204" pitchFamily="34" charset="0"/>
                          <a:cs typeface="Arial" panose="020B0604020202020204" pitchFamily="34" charset="0"/>
                        </a:rPr>
                        <a:t>Cannot explain why AI sometimes reduces contribution</a:t>
                      </a:r>
                      <a:endParaRPr lang="en-US" sz="1100" b="0" i="0">
                        <a:solidFill>
                          <a:srgbClr val="000000"/>
                        </a:solidFill>
                        <a:effectLst/>
                        <a:latin typeface="Arial" panose="020B0604020202020204" pitchFamily="34" charset="0"/>
                        <a:cs typeface="Arial" panose="020B0604020202020204" pitchFamily="34" charset="0"/>
                      </a:endParaRPr>
                    </a:p>
                  </a:txBody>
                  <a:tcPr marL="73939" marR="73939" marT="36969" marB="36969"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algn="l">
                        <a:buNone/>
                      </a:pPr>
                      <a:r>
                        <a:rPr lang="en-US" sz="1100" b="0" i="0">
                          <a:solidFill>
                            <a:srgbClr val="000000"/>
                          </a:solidFill>
                          <a:effectLst/>
                          <a:latin typeface="Arial" panose="020B0604020202020204" pitchFamily="34" charset="0"/>
                          <a:cs typeface="Arial" panose="020B0604020202020204" pitchFamily="34" charset="0"/>
                        </a:rPr>
                        <a:t>Explains </a:t>
                      </a:r>
                      <a:r>
                        <a:rPr lang="en-US" sz="1100" b="1" i="0">
                          <a:solidFill>
                            <a:srgbClr val="000000"/>
                          </a:solidFill>
                          <a:effectLst/>
                          <a:latin typeface="Arial" panose="020B0604020202020204" pitchFamily="34" charset="0"/>
                          <a:cs typeface="Arial" panose="020B0604020202020204" pitchFamily="34" charset="0"/>
                        </a:rPr>
                        <a:t>both directions</a:t>
                      </a:r>
                      <a:r>
                        <a:rPr lang="en-US" sz="1100" b="0" i="0">
                          <a:solidFill>
                            <a:srgbClr val="000000"/>
                          </a:solidFill>
                          <a:effectLst/>
                          <a:latin typeface="Arial" panose="020B0604020202020204" pitchFamily="34" charset="0"/>
                          <a:cs typeface="Arial" panose="020B0604020202020204" pitchFamily="34" charset="0"/>
                        </a:rPr>
                        <a:t>: AI label encourages entry; AI length discourages entry</a:t>
                      </a:r>
                      <a:br>
                        <a:rPr lang="en-US" sz="1100" b="0" i="0">
                          <a:solidFill>
                            <a:srgbClr val="000000"/>
                          </a:solidFill>
                          <a:effectLst/>
                          <a:latin typeface="Arial" panose="020B0604020202020204" pitchFamily="34" charset="0"/>
                          <a:cs typeface="Arial" panose="020B0604020202020204" pitchFamily="34" charset="0"/>
                        </a:rPr>
                      </a:br>
                      <a:r>
                        <a:rPr lang="en-US" sz="1100" b="0" i="1">
                          <a:solidFill>
                            <a:srgbClr val="4B5563"/>
                          </a:solidFill>
                          <a:effectLst/>
                          <a:latin typeface="Arial" panose="020B0604020202020204" pitchFamily="34" charset="0"/>
                          <a:cs typeface="Arial" panose="020B0604020202020204" pitchFamily="34" charset="0"/>
                        </a:rPr>
                        <a:t>Net effect depends on AI answer length; resolves conflicting findings</a:t>
                      </a:r>
                      <a:endParaRPr lang="en-US" sz="1100" b="0" i="0">
                        <a:solidFill>
                          <a:srgbClr val="000000"/>
                        </a:solidFill>
                        <a:effectLst/>
                        <a:latin typeface="Arial" panose="020B0604020202020204" pitchFamily="34" charset="0"/>
                        <a:cs typeface="Arial" panose="020B0604020202020204" pitchFamily="34" charset="0"/>
                      </a:endParaRPr>
                    </a:p>
                  </a:txBody>
                  <a:tcPr marL="73939" marR="73939" marT="36969" marB="36969"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452770497"/>
                  </a:ext>
                </a:extLst>
              </a:tr>
              <a:tr h="573024">
                <a:tc>
                  <a:txBody>
                    <a:bodyPr/>
                    <a:lstStyle/>
                    <a:p>
                      <a:pPr indent="0" algn="l">
                        <a:buNone/>
                      </a:pPr>
                      <a:r>
                        <a:rPr lang="en-US" sz="1100" b="1" i="0">
                          <a:solidFill>
                            <a:srgbClr val="1E40AF"/>
                          </a:solidFill>
                          <a:effectLst/>
                          <a:latin typeface="Arial" panose="020B0604020202020204" pitchFamily="34" charset="0"/>
                          <a:cs typeface="Arial" panose="020B0604020202020204" pitchFamily="34" charset="0"/>
                        </a:rPr>
                        <a:t>Theory</a:t>
                      </a:r>
                    </a:p>
                  </a:txBody>
                  <a:tcPr marL="73939" marR="73939" marT="36969" marB="36969"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EFF6FF"/>
                    </a:solidFill>
                  </a:tcPr>
                </a:tc>
                <a:tc>
                  <a:txBody>
                    <a:bodyPr/>
                    <a:lstStyle/>
                    <a:p>
                      <a:pPr indent="0" algn="l">
                        <a:buNone/>
                      </a:pPr>
                      <a:r>
                        <a:rPr lang="en-US" sz="1100" b="0" i="0">
                          <a:solidFill>
                            <a:srgbClr val="000000"/>
                          </a:solidFill>
                          <a:effectLst/>
                          <a:latin typeface="Arial" panose="020B0604020202020204" pitchFamily="34" charset="0"/>
                          <a:cs typeface="Arial" panose="020B0604020202020204" pitchFamily="34" charset="0"/>
                        </a:rPr>
                        <a:t>Social learning + cognitive load</a:t>
                      </a:r>
                      <a:br>
                        <a:rPr lang="en-US" sz="1100" b="0" i="0">
                          <a:solidFill>
                            <a:srgbClr val="000000"/>
                          </a:solidFill>
                          <a:effectLst/>
                          <a:latin typeface="Arial" panose="020B0604020202020204" pitchFamily="34" charset="0"/>
                          <a:cs typeface="Arial" panose="020B0604020202020204" pitchFamily="34" charset="0"/>
                        </a:rPr>
                      </a:br>
                      <a:r>
                        <a:rPr lang="en-US" sz="1100" b="0" i="1">
                          <a:solidFill>
                            <a:srgbClr val="4B5563"/>
                          </a:solidFill>
                          <a:effectLst/>
                          <a:latin typeface="Arial" panose="020B0604020202020204" pitchFamily="34" charset="0"/>
                          <a:cs typeface="Arial" panose="020B0604020202020204" pitchFamily="34" charset="0"/>
                        </a:rPr>
                        <a:t>"I learn from AI but overuse drains me"</a:t>
                      </a:r>
                      <a:endParaRPr lang="en-US" sz="1100" b="0" i="0">
                        <a:solidFill>
                          <a:srgbClr val="000000"/>
                        </a:solidFill>
                        <a:effectLst/>
                        <a:latin typeface="Arial" panose="020B0604020202020204" pitchFamily="34" charset="0"/>
                        <a:cs typeface="Arial" panose="020B0604020202020204" pitchFamily="34" charset="0"/>
                      </a:endParaRPr>
                    </a:p>
                  </a:txBody>
                  <a:tcPr marL="73939" marR="73939" marT="36969" marB="36969"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EFF6FF"/>
                    </a:solidFill>
                  </a:tcPr>
                </a:tc>
                <a:tc>
                  <a:txBody>
                    <a:bodyPr/>
                    <a:lstStyle/>
                    <a:p>
                      <a:pPr indent="0" algn="l">
                        <a:buNone/>
                      </a:pPr>
                      <a:r>
                        <a:rPr lang="en-US" sz="1100" b="0" i="0">
                          <a:solidFill>
                            <a:srgbClr val="000000"/>
                          </a:solidFill>
                          <a:effectLst/>
                          <a:latin typeface="Arial" panose="020B0604020202020204" pitchFamily="34" charset="0"/>
                          <a:cs typeface="Arial" panose="020B0604020202020204" pitchFamily="34" charset="0"/>
                        </a:rPr>
                        <a:t>Competition + dual-process (Kahneman)</a:t>
                      </a:r>
                      <a:br>
                        <a:rPr lang="en-US" sz="1100" b="0" i="0">
                          <a:solidFill>
                            <a:srgbClr val="000000"/>
                          </a:solidFill>
                          <a:effectLst/>
                          <a:latin typeface="Arial" panose="020B0604020202020204" pitchFamily="34" charset="0"/>
                          <a:cs typeface="Arial" panose="020B0604020202020204" pitchFamily="34" charset="0"/>
                        </a:rPr>
                      </a:br>
                      <a:r>
                        <a:rPr lang="en-US" sz="1100" b="0" i="1">
                          <a:solidFill>
                            <a:srgbClr val="4B5563"/>
                          </a:solidFill>
                          <a:effectLst/>
                          <a:latin typeface="Arial" panose="020B0604020202020204" pitchFamily="34" charset="0"/>
                          <a:cs typeface="Arial" panose="020B0604020202020204" pitchFamily="34" charset="0"/>
                        </a:rPr>
                        <a:t>Label → System 1 (enter); Length/Quality → System 1 &amp; 2 (effort)</a:t>
                      </a:r>
                      <a:endParaRPr lang="en-US" sz="1100" b="0" i="0">
                        <a:solidFill>
                          <a:srgbClr val="000000"/>
                        </a:solidFill>
                        <a:effectLst/>
                        <a:latin typeface="Arial" panose="020B0604020202020204" pitchFamily="34" charset="0"/>
                        <a:cs typeface="Arial" panose="020B0604020202020204" pitchFamily="34" charset="0"/>
                      </a:endParaRPr>
                    </a:p>
                  </a:txBody>
                  <a:tcPr marL="73939" marR="73939" marT="36969" marB="36969"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EFF6FF"/>
                    </a:solidFill>
                  </a:tcPr>
                </a:tc>
                <a:extLst>
                  <a:ext uri="{0D108BD9-81ED-4DB2-BD59-A6C34878D82A}">
                    <a16:rowId xmlns:a16="http://schemas.microsoft.com/office/drawing/2014/main" val="4170375947"/>
                  </a:ext>
                </a:extLst>
              </a:tr>
              <a:tr h="406662">
                <a:tc>
                  <a:txBody>
                    <a:bodyPr/>
                    <a:lstStyle/>
                    <a:p>
                      <a:pPr indent="0" algn="l">
                        <a:buNone/>
                      </a:pPr>
                      <a:r>
                        <a:rPr lang="en-US" sz="1100" b="1" i="0">
                          <a:solidFill>
                            <a:srgbClr val="1E40AF"/>
                          </a:solidFill>
                          <a:effectLst/>
                          <a:latin typeface="Arial" panose="020B0604020202020204" pitchFamily="34" charset="0"/>
                          <a:cs typeface="Arial" panose="020B0604020202020204" pitchFamily="34" charset="0"/>
                        </a:rPr>
                        <a:t>Design &amp; Unit</a:t>
                      </a:r>
                    </a:p>
                  </a:txBody>
                  <a:tcPr marL="73939" marR="73939" marT="36969" marB="36969"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algn="l">
                        <a:buNone/>
                      </a:pPr>
                      <a:r>
                        <a:rPr lang="en-US" sz="1100" b="0" i="0">
                          <a:solidFill>
                            <a:srgbClr val="000000"/>
                          </a:solidFill>
                          <a:effectLst/>
                          <a:latin typeface="Arial" panose="020B0604020202020204" pitchFamily="34" charset="0"/>
                          <a:cs typeface="Arial" panose="020B0604020202020204" pitchFamily="34" charset="0"/>
                        </a:rPr>
                        <a:t>Natural experiment + DID; user-day level</a:t>
                      </a:r>
                      <a:br>
                        <a:rPr lang="en-US" sz="1100" b="0" i="0">
                          <a:solidFill>
                            <a:srgbClr val="000000"/>
                          </a:solidFill>
                          <a:effectLst/>
                          <a:latin typeface="Arial" panose="020B0604020202020204" pitchFamily="34" charset="0"/>
                          <a:cs typeface="Arial" panose="020B0604020202020204" pitchFamily="34" charset="0"/>
                        </a:rPr>
                      </a:br>
                      <a:r>
                        <a:rPr lang="en-US" sz="1100" b="0" i="1">
                          <a:solidFill>
                            <a:srgbClr val="4B5563"/>
                          </a:solidFill>
                          <a:effectLst/>
                          <a:latin typeface="Arial" panose="020B0604020202020204" pitchFamily="34" charset="0"/>
                          <a:cs typeface="Arial" panose="020B0604020202020204" pitchFamily="34" charset="0"/>
                        </a:rPr>
                        <a:t>GPT-2 detector (83% acc.); self-selection concern</a:t>
                      </a:r>
                      <a:endParaRPr lang="en-US" sz="1100" b="0" i="0">
                        <a:solidFill>
                          <a:srgbClr val="000000"/>
                        </a:solidFill>
                        <a:effectLst/>
                        <a:latin typeface="Arial" panose="020B0604020202020204" pitchFamily="34" charset="0"/>
                        <a:cs typeface="Arial" panose="020B0604020202020204" pitchFamily="34" charset="0"/>
                      </a:endParaRPr>
                    </a:p>
                  </a:txBody>
                  <a:tcPr marL="73939" marR="73939" marT="36969" marB="36969"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algn="l">
                        <a:buNone/>
                      </a:pPr>
                      <a:r>
                        <a:rPr lang="en-US" sz="1100" b="0" i="0" dirty="0">
                          <a:solidFill>
                            <a:srgbClr val="000000"/>
                          </a:solidFill>
                          <a:effectLst/>
                          <a:latin typeface="Arial" panose="020B0604020202020204" pitchFamily="34" charset="0"/>
                          <a:cs typeface="Arial" panose="020B0604020202020204" pitchFamily="34" charset="0"/>
                        </a:rPr>
                        <a:t>Randomized field experiment; question level</a:t>
                      </a:r>
                      <a:br>
                        <a:rPr lang="en-US" sz="1100" b="0" i="0" dirty="0">
                          <a:solidFill>
                            <a:srgbClr val="000000"/>
                          </a:solidFill>
                          <a:effectLst/>
                          <a:latin typeface="Arial" panose="020B0604020202020204" pitchFamily="34" charset="0"/>
                          <a:cs typeface="Arial" panose="020B0604020202020204" pitchFamily="34" charset="0"/>
                        </a:rPr>
                      </a:br>
                      <a:r>
                        <a:rPr lang="en-US" sz="1100" b="0" i="1" dirty="0">
                          <a:solidFill>
                            <a:srgbClr val="4B5563"/>
                          </a:solidFill>
                          <a:effectLst/>
                          <a:latin typeface="Arial" panose="020B0604020202020204" pitchFamily="34" charset="0"/>
                          <a:cs typeface="Arial" panose="020B0604020202020204" pitchFamily="34" charset="0"/>
                        </a:rPr>
                        <a:t>True randomization; clean causal ID</a:t>
                      </a:r>
                      <a:endParaRPr lang="en-US" sz="1100" b="0" i="0" dirty="0">
                        <a:solidFill>
                          <a:srgbClr val="000000"/>
                        </a:solidFill>
                        <a:effectLst/>
                        <a:latin typeface="Arial" panose="020B0604020202020204" pitchFamily="34" charset="0"/>
                        <a:cs typeface="Arial" panose="020B0604020202020204" pitchFamily="34" charset="0"/>
                      </a:endParaRPr>
                    </a:p>
                  </a:txBody>
                  <a:tcPr marL="73939" marR="73939" marT="36969" marB="36969"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68084908"/>
                  </a:ext>
                </a:extLst>
              </a:tr>
            </a:tbl>
          </a:graphicData>
        </a:graphic>
      </p:graphicFrame>
      <p:sp>
        <p:nvSpPr>
          <p:cNvPr id="11" name="TextBox 10">
            <a:extLst>
              <a:ext uri="{FF2B5EF4-FFF2-40B4-BE49-F238E27FC236}">
                <a16:creationId xmlns:a16="http://schemas.microsoft.com/office/drawing/2014/main" id="{33E18D52-1C2A-8A30-132C-D18675489D08}"/>
              </a:ext>
            </a:extLst>
          </p:cNvPr>
          <p:cNvSpPr txBox="1"/>
          <p:nvPr/>
        </p:nvSpPr>
        <p:spPr>
          <a:xfrm>
            <a:off x="2286000" y="845463"/>
            <a:ext cx="4572000" cy="369332"/>
          </a:xfrm>
          <a:prstGeom prst="rect">
            <a:avLst/>
          </a:prstGeom>
          <a:noFill/>
        </p:spPr>
        <p:txBody>
          <a:bodyPr wrap="square">
            <a:spAutoFit/>
          </a:bodyPr>
          <a:lstStyle/>
          <a:p>
            <a:pPr indent="0" algn="ctr">
              <a:buNone/>
            </a:pPr>
            <a:r>
              <a:rPr lang="en-US" b="1" i="0" dirty="0">
                <a:solidFill>
                  <a:srgbClr val="1F2937"/>
                </a:solidFill>
                <a:effectLst/>
                <a:latin typeface="Calibri" panose="020F0502020204030204" pitchFamily="34" charset="0"/>
                <a:cs typeface="Calibri" panose="020F0502020204030204" pitchFamily="34" charset="0"/>
              </a:rPr>
              <a:t>Key Differences from Shan &amp; Qiu (2025, ISR)</a:t>
            </a:r>
            <a:endParaRPr lang="en-US" b="0" i="1" dirty="0">
              <a:solidFill>
                <a:srgbClr val="6B7280"/>
              </a:solidFill>
              <a:effectLst/>
              <a:latin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3B6C2995-1C4C-3AD3-A08A-F3BFE68D2804}"/>
              </a:ext>
            </a:extLst>
          </p:cNvPr>
          <p:cNvSpPr txBox="1"/>
          <p:nvPr/>
        </p:nvSpPr>
        <p:spPr>
          <a:xfrm>
            <a:off x="741680" y="4200525"/>
            <a:ext cx="7660640" cy="523220"/>
          </a:xfrm>
          <a:prstGeom prst="rect">
            <a:avLst/>
          </a:prstGeom>
          <a:noFill/>
        </p:spPr>
        <p:txBody>
          <a:bodyPr wrap="square">
            <a:spAutoFit/>
          </a:bodyPr>
          <a:lstStyle/>
          <a:p>
            <a:pPr indent="0" algn="ctr">
              <a:buNone/>
            </a:pPr>
            <a:r>
              <a:rPr lang="en-US" sz="1400" b="0" i="1" dirty="0">
                <a:solidFill>
                  <a:srgbClr val="6B7280"/>
                </a:solidFill>
                <a:effectLst/>
                <a:latin typeface="Calibri" panose="020F0502020204030204" pitchFamily="34" charset="0"/>
                <a:cs typeface="Calibri" panose="020F0502020204030204" pitchFamily="34" charset="0"/>
              </a:rPr>
              <a:t>"They ask: what happens to MY answers when I use AI? We ask: what happens to OTHER humans' answers when they see AI competing with them."</a:t>
            </a:r>
          </a:p>
        </p:txBody>
      </p:sp>
    </p:spTree>
    <p:extLst>
      <p:ext uri="{BB962C8B-B14F-4D97-AF65-F5344CB8AC3E}">
        <p14:creationId xmlns:p14="http://schemas.microsoft.com/office/powerpoint/2010/main" val="3355695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34612F-4785-7791-088D-4A4DD1AFD96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7CAA0DE-3251-D229-4379-DA4E856B41E4}"/>
              </a:ext>
            </a:extLst>
          </p:cNvPr>
          <p:cNvSpPr>
            <a:spLocks noGrp="1"/>
          </p:cNvSpPr>
          <p:nvPr>
            <p:ph type="title"/>
          </p:nvPr>
        </p:nvSpPr>
        <p:spPr/>
        <p:txBody>
          <a:bodyPr>
            <a:noAutofit/>
          </a:bodyPr>
          <a:lstStyle/>
          <a:p>
            <a:r>
              <a:rPr lang="en-US" altLang="zh-CN" sz="2800" dirty="0"/>
              <a:t>Theoretical</a:t>
            </a:r>
            <a:r>
              <a:rPr lang="zh-CN" altLang="en-US" sz="2800" dirty="0"/>
              <a:t> </a:t>
            </a:r>
            <a:r>
              <a:rPr lang="en-US" altLang="zh-CN" sz="2800" dirty="0"/>
              <a:t>development</a:t>
            </a:r>
            <a:endParaRPr lang="en-US" altLang="en-US" sz="2000" dirty="0"/>
          </a:p>
        </p:txBody>
      </p:sp>
      <p:sp>
        <p:nvSpPr>
          <p:cNvPr id="26" name="Content Placeholder 2">
            <a:extLst>
              <a:ext uri="{FF2B5EF4-FFF2-40B4-BE49-F238E27FC236}">
                <a16:creationId xmlns:a16="http://schemas.microsoft.com/office/drawing/2014/main" id="{6F09850D-B3BE-56F6-609A-59FA5B12732B}"/>
              </a:ext>
            </a:extLst>
          </p:cNvPr>
          <p:cNvSpPr txBox="1">
            <a:spLocks/>
          </p:cNvSpPr>
          <p:nvPr/>
        </p:nvSpPr>
        <p:spPr>
          <a:xfrm>
            <a:off x="628650" y="942975"/>
            <a:ext cx="7962457" cy="1383983"/>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en-US" sz="1600" dirty="0">
                <a:latin typeface="+mj-lt"/>
              </a:rPr>
              <a:t>H3: AI presence decreases human answer quality.</a:t>
            </a:r>
            <a:r>
              <a:rPr lang="zh-CN" altLang="en-US" sz="1600" dirty="0">
                <a:latin typeface="+mj-lt"/>
              </a:rPr>
              <a:t> </a:t>
            </a:r>
            <a:r>
              <a:rPr lang="en-US" altLang="zh-CN" sz="1600" b="1" dirty="0">
                <a:latin typeface="+mj-lt"/>
              </a:rPr>
              <a:t>(</a:t>
            </a:r>
            <a:r>
              <a:rPr lang="en-US" sz="1600" b="1" dirty="0">
                <a:latin typeface="+mj-lt"/>
              </a:rPr>
              <a:t>Downward Social Comparison Theory</a:t>
            </a:r>
            <a:r>
              <a:rPr lang="en-US" altLang="zh-CN" sz="1600" b="1" dirty="0">
                <a:latin typeface="+mj-lt"/>
              </a:rPr>
              <a:t>)</a:t>
            </a:r>
            <a:endParaRPr lang="en-US" altLang="en-US" sz="1800" dirty="0">
              <a:solidFill>
                <a:srgbClr val="000000"/>
              </a:solidFill>
              <a:latin typeface="+mj-lt"/>
            </a:endParaRPr>
          </a:p>
          <a:p>
            <a:pPr lvl="1" fontAlgn="base">
              <a:spcAft>
                <a:spcPct val="0"/>
              </a:spcAft>
            </a:pPr>
            <a:r>
              <a:rPr lang="en-US" altLang="en-US" sz="1400" dirty="0">
                <a:latin typeface="+mj-lt"/>
              </a:rPr>
              <a:t>Downward Social Comparison Theory: comparing with a weaker target is a psychological strategy that substitutes for instrumental action (Wills, 1981). </a:t>
            </a:r>
          </a:p>
          <a:p>
            <a:pPr lvl="1" fontAlgn="base">
              <a:spcAft>
                <a:spcPct val="0"/>
              </a:spcAft>
            </a:pPr>
            <a:r>
              <a:rPr lang="en-US" altLang="en-US" sz="1400" dirty="0">
                <a:latin typeface="+mj-lt"/>
              </a:rPr>
              <a:t>Humans perceive AI as inferior → downward comparison provides self-enhancement (“I‘m already better”) → replaces actual effort to improve</a:t>
            </a:r>
            <a:r>
              <a:rPr lang="zh-CN" altLang="en-US" sz="1400" dirty="0">
                <a:latin typeface="+mj-lt"/>
              </a:rPr>
              <a:t> </a:t>
            </a:r>
            <a:r>
              <a:rPr lang="en-US" altLang="en-US" sz="1400" dirty="0">
                <a:latin typeface="+mj-lt"/>
              </a:rPr>
              <a:t>→ lower quality.</a:t>
            </a:r>
          </a:p>
          <a:p>
            <a:r>
              <a:rPr lang="en-US" altLang="en-US" sz="1600" dirty="0">
                <a:latin typeface="+mj-lt"/>
              </a:rPr>
              <a:t>H4: </a:t>
            </a:r>
            <a:r>
              <a:rPr lang="en-US" sz="1600" dirty="0">
                <a:latin typeface="+mj-lt"/>
              </a:rPr>
              <a:t>AI answer quality reverses H3.</a:t>
            </a:r>
          </a:p>
          <a:p>
            <a:pPr lvl="1"/>
            <a:r>
              <a:rPr lang="en-US" sz="1400" dirty="0">
                <a:latin typeface="+mj-lt"/>
              </a:rPr>
              <a:t>Goal Setting Theory: "The highest or most difficult goals produced the highest levels of effort and performance" (Locke &amp; Latham, 2002).</a:t>
            </a:r>
            <a:endParaRPr lang="en-US" altLang="en-US" sz="1400" dirty="0">
              <a:latin typeface="+mj-lt"/>
            </a:endParaRPr>
          </a:p>
          <a:p>
            <a:pPr lvl="1"/>
            <a:r>
              <a:rPr lang="en-US" altLang="en-US" sz="1400" dirty="0">
                <a:latin typeface="+mj-lt"/>
              </a:rPr>
              <a:t>High AI quality can only be assessed through slow, deliberate processing → once recognized, it shatters the "weak competitor" assumption.</a:t>
            </a:r>
          </a:p>
          <a:p>
            <a:pPr lvl="1"/>
            <a:r>
              <a:rPr lang="en-US" sz="1400" dirty="0">
                <a:latin typeface="+mj-lt"/>
              </a:rPr>
              <a:t>A high-quality AI answer serves as a specific, challenging goal to surpass → triggers genuine effort investment → quality rises.</a:t>
            </a:r>
          </a:p>
          <a:p>
            <a:pPr lvl="1"/>
            <a:r>
              <a:rPr lang="en-US" altLang="en-US" sz="1400" b="1" i="1" dirty="0">
                <a:latin typeface="+mj-lt"/>
              </a:rPr>
              <a:t>"The AI is actually good — I must prove I'm better."</a:t>
            </a:r>
            <a:endParaRPr lang="en-US" altLang="en-US" sz="1400" b="1" dirty="0">
              <a:latin typeface="+mj-lt"/>
            </a:endParaRPr>
          </a:p>
        </p:txBody>
      </p:sp>
      <p:sp>
        <p:nvSpPr>
          <p:cNvPr id="8" name="Slide Number Placeholder 7">
            <a:extLst>
              <a:ext uri="{FF2B5EF4-FFF2-40B4-BE49-F238E27FC236}">
                <a16:creationId xmlns:a16="http://schemas.microsoft.com/office/drawing/2014/main" id="{AAF4D101-3069-ED9D-BE2D-6104BC1EF0FA}"/>
              </a:ext>
            </a:extLst>
          </p:cNvPr>
          <p:cNvSpPr>
            <a:spLocks noGrp="1"/>
          </p:cNvSpPr>
          <p:nvPr>
            <p:ph type="sldNum" sz="quarter" idx="12"/>
          </p:nvPr>
        </p:nvSpPr>
        <p:spPr/>
        <p:txBody>
          <a:bodyPr/>
          <a:lstStyle/>
          <a:p>
            <a:fld id="{80E9C1D4-69BA-4B09-8A24-1CCDDD1AB85B}" type="slidenum">
              <a:rPr lang="zh-CN" altLang="en-US" smtClean="0"/>
              <a:t>1</a:t>
            </a:fld>
            <a:endParaRPr lang="zh-CN" altLang="en-US"/>
          </a:p>
        </p:txBody>
      </p:sp>
    </p:spTree>
    <p:extLst>
      <p:ext uri="{BB962C8B-B14F-4D97-AF65-F5344CB8AC3E}">
        <p14:creationId xmlns:p14="http://schemas.microsoft.com/office/powerpoint/2010/main" val="5542944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0A152-B720-4919-9709-02FB6A3BE02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99169F5-E427-B82E-A3D9-9CBF03DF0B8E}"/>
              </a:ext>
            </a:extLst>
          </p:cNvPr>
          <p:cNvSpPr>
            <a:spLocks noGrp="1"/>
          </p:cNvSpPr>
          <p:nvPr>
            <p:ph type="title"/>
          </p:nvPr>
        </p:nvSpPr>
        <p:spPr/>
        <p:txBody>
          <a:bodyPr>
            <a:normAutofit fontScale="90000"/>
          </a:bodyPr>
          <a:lstStyle/>
          <a:p>
            <a:r>
              <a:rPr lang="en-US" dirty="0"/>
              <a:t>Theor</a:t>
            </a:r>
            <a:r>
              <a:rPr lang="en-US" altLang="zh-CN" dirty="0"/>
              <a:t>etical</a:t>
            </a:r>
            <a:r>
              <a:rPr lang="zh-CN" altLang="en-US" dirty="0"/>
              <a:t> </a:t>
            </a:r>
            <a:r>
              <a:rPr lang="en-US" altLang="zh-CN" dirty="0"/>
              <a:t>Development</a:t>
            </a:r>
            <a:r>
              <a:rPr lang="en-US" dirty="0"/>
              <a:t>: </a:t>
            </a:r>
            <a:br>
              <a:rPr lang="en-US" dirty="0"/>
            </a:br>
            <a:r>
              <a:rPr lang="en-US" altLang="en-US" dirty="0"/>
              <a:t>Competition with a "Weaker" Competitor</a:t>
            </a:r>
          </a:p>
        </p:txBody>
      </p:sp>
      <p:sp>
        <p:nvSpPr>
          <p:cNvPr id="6" name="Content Placeholder 2">
            <a:extLst>
              <a:ext uri="{FF2B5EF4-FFF2-40B4-BE49-F238E27FC236}">
                <a16:creationId xmlns:a16="http://schemas.microsoft.com/office/drawing/2014/main" id="{BA8FF815-E6EE-D03F-BE5E-5635CE322EEB}"/>
              </a:ext>
            </a:extLst>
          </p:cNvPr>
          <p:cNvSpPr txBox="1">
            <a:spLocks/>
          </p:cNvSpPr>
          <p:nvPr/>
        </p:nvSpPr>
        <p:spPr>
          <a:xfrm>
            <a:off x="628650" y="1190847"/>
            <a:ext cx="7886700" cy="3441876"/>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171450" lvl="1">
              <a:spcBef>
                <a:spcPts val="750"/>
              </a:spcBef>
            </a:pPr>
            <a:r>
              <a:rPr lang="en-US" altLang="en-US" sz="2100" dirty="0">
                <a:latin typeface="+mj-lt"/>
              </a:rPr>
              <a:t>Humans </a:t>
            </a:r>
            <a:r>
              <a:rPr lang="en-US" altLang="zh-CN" sz="2100" dirty="0">
                <a:latin typeface="+mj-lt"/>
              </a:rPr>
              <a:t>first</a:t>
            </a:r>
            <a:r>
              <a:rPr lang="zh-CN" altLang="en-US" sz="2100" dirty="0">
                <a:latin typeface="+mj-lt"/>
              </a:rPr>
              <a:t> </a:t>
            </a:r>
            <a:r>
              <a:rPr lang="en-US" altLang="en-US" sz="2100" dirty="0">
                <a:latin typeface="+mj-lt"/>
              </a:rPr>
              <a:t>view AI as a weak competitor</a:t>
            </a:r>
            <a:r>
              <a:rPr lang="zh-CN" altLang="en-US" sz="2100" dirty="0">
                <a:latin typeface="+mj-lt"/>
              </a:rPr>
              <a:t> </a:t>
            </a:r>
            <a:r>
              <a:rPr lang="en-US" altLang="zh-CN" sz="2100" dirty="0">
                <a:latin typeface="+mj-lt"/>
              </a:rPr>
              <a:t>(before</a:t>
            </a:r>
            <a:r>
              <a:rPr lang="zh-CN" altLang="en-US" sz="2100" dirty="0">
                <a:latin typeface="+mj-lt"/>
              </a:rPr>
              <a:t> </a:t>
            </a:r>
            <a:r>
              <a:rPr lang="en-US" altLang="zh-CN" sz="2100" dirty="0">
                <a:latin typeface="+mj-lt"/>
              </a:rPr>
              <a:t>seeing</a:t>
            </a:r>
            <a:r>
              <a:rPr lang="zh-CN" altLang="en-US" sz="2100" dirty="0">
                <a:latin typeface="+mj-lt"/>
              </a:rPr>
              <a:t> </a:t>
            </a:r>
            <a:r>
              <a:rPr lang="en-US" altLang="zh-CN" sz="2100" dirty="0">
                <a:latin typeface="+mj-lt"/>
              </a:rPr>
              <a:t>content)</a:t>
            </a:r>
            <a:r>
              <a:rPr lang="en-US" altLang="en-US" sz="2100" dirty="0">
                <a:latin typeface="+mj-lt"/>
              </a:rPr>
              <a:t>, </a:t>
            </a:r>
          </a:p>
          <a:p>
            <a:pPr marL="171450" lvl="1">
              <a:spcBef>
                <a:spcPts val="750"/>
              </a:spcBef>
            </a:pPr>
            <a:r>
              <a:rPr lang="en-US" altLang="zh-CN" sz="2100" dirty="0">
                <a:latin typeface="+mj-lt"/>
              </a:rPr>
              <a:t>Then,</a:t>
            </a:r>
            <a:r>
              <a:rPr lang="en-US" altLang="en-US" sz="2100" dirty="0">
                <a:latin typeface="+mj-lt"/>
              </a:rPr>
              <a:t> AI </a:t>
            </a:r>
            <a:r>
              <a:rPr lang="en-US" altLang="zh-CN" sz="2100" dirty="0">
                <a:latin typeface="+mj-lt"/>
              </a:rPr>
              <a:t>content</a:t>
            </a:r>
            <a:r>
              <a:rPr lang="en-US" altLang="en-US" sz="2100" dirty="0">
                <a:latin typeface="+mj-lt"/>
              </a:rPr>
              <a:t> </a:t>
            </a:r>
            <a:r>
              <a:rPr lang="en-US" altLang="zh-CN" sz="2100" dirty="0">
                <a:latin typeface="+mj-lt"/>
              </a:rPr>
              <a:t>generates</a:t>
            </a:r>
            <a:r>
              <a:rPr lang="en-US" altLang="en-US" sz="2100" dirty="0">
                <a:latin typeface="+mj-lt"/>
              </a:rPr>
              <a:t> </a:t>
            </a:r>
            <a:r>
              <a:rPr lang="en-US" altLang="zh-CN" sz="2100" dirty="0">
                <a:latin typeface="+mj-lt"/>
              </a:rPr>
              <a:t>real</a:t>
            </a:r>
            <a:r>
              <a:rPr lang="zh-CN" altLang="en-US" sz="2100" dirty="0">
                <a:latin typeface="+mj-lt"/>
              </a:rPr>
              <a:t> </a:t>
            </a:r>
            <a:r>
              <a:rPr lang="en-US" altLang="en-US" sz="2100" dirty="0">
                <a:latin typeface="+mj-lt"/>
              </a:rPr>
              <a:t>competitive dynamics</a:t>
            </a:r>
            <a:endParaRPr lang="en-US" altLang="en-US" dirty="0">
              <a:latin typeface="+mj-lt"/>
            </a:endParaRPr>
          </a:p>
        </p:txBody>
      </p:sp>
      <p:graphicFrame>
        <p:nvGraphicFramePr>
          <p:cNvPr id="9" name="Table 8">
            <a:extLst>
              <a:ext uri="{FF2B5EF4-FFF2-40B4-BE49-F238E27FC236}">
                <a16:creationId xmlns:a16="http://schemas.microsoft.com/office/drawing/2014/main" id="{43204B9A-264D-6EB6-D096-DF7CFC744356}"/>
              </a:ext>
            </a:extLst>
          </p:cNvPr>
          <p:cNvGraphicFramePr>
            <a:graphicFrameLocks noGrp="1"/>
          </p:cNvGraphicFramePr>
          <p:nvPr/>
        </p:nvGraphicFramePr>
        <p:xfrm>
          <a:off x="628650" y="2058401"/>
          <a:ext cx="7869238" cy="2574321"/>
        </p:xfrm>
        <a:graphic>
          <a:graphicData uri="http://schemas.openxmlformats.org/drawingml/2006/table">
            <a:tbl>
              <a:tblPr>
                <a:tableStyleId>{2D5ABB26-0587-4C30-8999-92F81FD0307C}</a:tableStyleId>
              </a:tblPr>
              <a:tblGrid>
                <a:gridCol w="1670431">
                  <a:extLst>
                    <a:ext uri="{9D8B030D-6E8A-4147-A177-3AD203B41FA5}">
                      <a16:colId xmlns:a16="http://schemas.microsoft.com/office/drawing/2014/main" val="467291939"/>
                    </a:ext>
                  </a:extLst>
                </a:gridCol>
                <a:gridCol w="2791968">
                  <a:extLst>
                    <a:ext uri="{9D8B030D-6E8A-4147-A177-3AD203B41FA5}">
                      <a16:colId xmlns:a16="http://schemas.microsoft.com/office/drawing/2014/main" val="3768826293"/>
                    </a:ext>
                  </a:extLst>
                </a:gridCol>
                <a:gridCol w="3406839">
                  <a:extLst>
                    <a:ext uri="{9D8B030D-6E8A-4147-A177-3AD203B41FA5}">
                      <a16:colId xmlns:a16="http://schemas.microsoft.com/office/drawing/2014/main" val="2119890597"/>
                    </a:ext>
                  </a:extLst>
                </a:gridCol>
              </a:tblGrid>
              <a:tr h="409551">
                <a:tc>
                  <a:txBody>
                    <a:bodyPr/>
                    <a:lstStyle/>
                    <a:p>
                      <a:pPr algn="l">
                        <a:buNone/>
                      </a:pPr>
                      <a:r>
                        <a:rPr lang="en-US" altLang="zh-CN" sz="1600" dirty="0">
                          <a:latin typeface="+mj-lt"/>
                        </a:rPr>
                        <a:t>DV</a:t>
                      </a:r>
                      <a:endParaRPr lang="en-US" sz="1600" dirty="0">
                        <a:latin typeface="+mj-lt"/>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dirty="0">
                          <a:latin typeface="+mj-lt"/>
                        </a:rPr>
                        <a:t>Contribution (Fast)</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dirty="0">
                          <a:latin typeface="+mj-lt"/>
                        </a:rPr>
                        <a:t>Answer Quality (Slow)</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2209051"/>
                  </a:ext>
                </a:extLst>
              </a:tr>
              <a:tr h="721590">
                <a:tc>
                  <a:txBody>
                    <a:bodyPr/>
                    <a:lstStyle/>
                    <a:p>
                      <a:pPr>
                        <a:buNone/>
                      </a:pPr>
                      <a:r>
                        <a:rPr lang="en-US" sz="1600" b="0" dirty="0">
                          <a:latin typeface="+mj-lt"/>
                        </a:rPr>
                        <a:t>AI </a:t>
                      </a:r>
                      <a:r>
                        <a:rPr lang="en-US" altLang="zh-CN" sz="1600" b="0" dirty="0">
                          <a:latin typeface="+mj-lt"/>
                        </a:rPr>
                        <a:t>Label</a:t>
                      </a:r>
                      <a:endParaRPr lang="en-US" sz="1600" b="0" dirty="0">
                        <a:latin typeface="+mj-lt"/>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dirty="0">
                          <a:latin typeface="+mj-lt"/>
                        </a:rPr>
                        <a:t>H1: </a:t>
                      </a:r>
                      <a:r>
                        <a:rPr lang="en-US" sz="1600" b="1" dirty="0">
                          <a:latin typeface="+mj-lt"/>
                        </a:rPr>
                        <a:t>↑</a:t>
                      </a:r>
                      <a:r>
                        <a:rPr lang="en-US" sz="1600" dirty="0">
                          <a:latin typeface="+mj-lt"/>
                        </a:rPr>
                        <a:t> </a:t>
                      </a:r>
                      <a:br>
                        <a:rPr lang="en-US" sz="1600" dirty="0">
                          <a:latin typeface="+mj-lt"/>
                        </a:rPr>
                      </a:br>
                      <a:r>
                        <a:rPr lang="en-US" sz="1600" dirty="0">
                          <a:latin typeface="+mj-lt"/>
                        </a:rPr>
                        <a:t>(</a:t>
                      </a:r>
                      <a:r>
                        <a:rPr lang="en-US" altLang="zh-CN" sz="1600" dirty="0">
                          <a:latin typeface="+mj-lt"/>
                        </a:rPr>
                        <a:t>Competitive</a:t>
                      </a:r>
                      <a:r>
                        <a:rPr lang="zh-CN" altLang="en-US" sz="1600" dirty="0">
                          <a:latin typeface="+mj-lt"/>
                        </a:rPr>
                        <a:t> </a:t>
                      </a:r>
                      <a:r>
                        <a:rPr lang="en-US" altLang="zh-CN" sz="1600" dirty="0">
                          <a:latin typeface="+mj-lt"/>
                        </a:rPr>
                        <a:t>Arousal</a:t>
                      </a:r>
                      <a:r>
                        <a:rPr lang="zh-CN" altLang="en-US" sz="1600" dirty="0">
                          <a:latin typeface="+mj-lt"/>
                        </a:rPr>
                        <a:t> </a:t>
                      </a:r>
                      <a:r>
                        <a:rPr lang="en-US" altLang="zh-CN" sz="1600" dirty="0">
                          <a:latin typeface="+mj-lt"/>
                        </a:rPr>
                        <a:t>Theory</a:t>
                      </a:r>
                      <a:r>
                        <a:rPr lang="en-US" sz="1600" dirty="0">
                          <a:latin typeface="+mj-lt"/>
                        </a:rPr>
                        <a:t>)</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600" dirty="0">
                          <a:latin typeface="+mj-lt"/>
                        </a:rPr>
                        <a:t>H3: </a:t>
                      </a:r>
                      <a:r>
                        <a:rPr lang="en-US" sz="1600" b="1" dirty="0">
                          <a:latin typeface="+mj-lt"/>
                        </a:rPr>
                        <a:t>↓</a:t>
                      </a:r>
                      <a:r>
                        <a:rPr lang="en-US" sz="1600" dirty="0">
                          <a:latin typeface="+mj-lt"/>
                        </a:rPr>
                        <a:t> </a:t>
                      </a:r>
                      <a:br>
                        <a:rPr lang="en-US" sz="1600" dirty="0">
                          <a:latin typeface="+mj-lt"/>
                        </a:rPr>
                      </a:br>
                      <a:r>
                        <a:rPr lang="en-US" sz="1600" dirty="0">
                          <a:latin typeface="+mj-lt"/>
                        </a:rPr>
                        <a:t>(</a:t>
                      </a:r>
                      <a:r>
                        <a:rPr lang="en-US" sz="1600" kern="1200" dirty="0">
                          <a:solidFill>
                            <a:schemeClr val="tx1"/>
                          </a:solidFill>
                          <a:latin typeface="+mj-lt"/>
                          <a:ea typeface="+mn-ea"/>
                          <a:cs typeface="+mn-cs"/>
                        </a:rPr>
                        <a:t>Downward Social Comparison</a:t>
                      </a:r>
                      <a:r>
                        <a:rPr lang="zh-CN" altLang="en-US" sz="1600" kern="1200" dirty="0">
                          <a:solidFill>
                            <a:schemeClr val="tx1"/>
                          </a:solidFill>
                          <a:latin typeface="+mj-lt"/>
                          <a:ea typeface="+mn-ea"/>
                          <a:cs typeface="+mn-cs"/>
                        </a:rPr>
                        <a:t> </a:t>
                      </a:r>
                      <a:r>
                        <a:rPr lang="en-US" altLang="zh-CN" sz="1600" kern="1200" dirty="0">
                          <a:solidFill>
                            <a:schemeClr val="tx1"/>
                          </a:solidFill>
                          <a:latin typeface="+mj-lt"/>
                          <a:ea typeface="+mn-ea"/>
                          <a:cs typeface="+mn-cs"/>
                        </a:rPr>
                        <a:t>Theory</a:t>
                      </a:r>
                      <a:r>
                        <a:rPr lang="en-US" sz="1600" dirty="0">
                          <a:latin typeface="+mj-lt"/>
                        </a:rPr>
                        <a:t>)</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16073917"/>
                  </a:ext>
                </a:extLst>
              </a:tr>
              <a:tr h="721590">
                <a:tc>
                  <a:txBody>
                    <a:bodyPr/>
                    <a:lstStyle/>
                    <a:p>
                      <a:pPr>
                        <a:buNone/>
                      </a:pPr>
                      <a:r>
                        <a:rPr lang="en-US" altLang="zh-CN" sz="1600" b="0" dirty="0">
                          <a:latin typeface="+mj-lt"/>
                        </a:rPr>
                        <a:t>AI</a:t>
                      </a:r>
                      <a:r>
                        <a:rPr lang="zh-CN" altLang="en-US" sz="1600" b="0" dirty="0">
                          <a:latin typeface="+mj-lt"/>
                        </a:rPr>
                        <a:t> </a:t>
                      </a:r>
                      <a:r>
                        <a:rPr lang="en-US" altLang="zh-CN" sz="1600" b="0" dirty="0">
                          <a:latin typeface="+mj-lt"/>
                        </a:rPr>
                        <a:t>Answer</a:t>
                      </a:r>
                      <a:r>
                        <a:rPr lang="zh-CN" altLang="en-US" sz="1600" b="0" dirty="0">
                          <a:latin typeface="+mj-lt"/>
                        </a:rPr>
                        <a:t> </a:t>
                      </a:r>
                      <a:r>
                        <a:rPr lang="en-US" sz="1600" b="0" dirty="0">
                          <a:latin typeface="+mj-lt"/>
                        </a:rPr>
                        <a:t>Length</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600" dirty="0">
                          <a:latin typeface="+mj-lt"/>
                        </a:rPr>
                        <a:t>H2: </a:t>
                      </a:r>
                      <a:r>
                        <a:rPr lang="en-US" sz="1600" b="1" dirty="0">
                          <a:latin typeface="+mj-lt"/>
                        </a:rPr>
                        <a:t>attenuates H1</a:t>
                      </a:r>
                      <a:r>
                        <a:rPr lang="en-US" sz="1600" dirty="0">
                          <a:latin typeface="+mj-lt"/>
                        </a:rPr>
                        <a:t> </a:t>
                      </a:r>
                      <a:br>
                        <a:rPr lang="en-US" sz="1600" dirty="0">
                          <a:latin typeface="+mj-lt"/>
                        </a:rPr>
                      </a:br>
                      <a:r>
                        <a:rPr lang="en-US" sz="1600" dirty="0">
                          <a:latin typeface="+mj-lt"/>
                        </a:rPr>
                        <a:t>(</a:t>
                      </a:r>
                      <a:r>
                        <a:rPr lang="en-US" sz="1600" kern="1200" dirty="0">
                          <a:solidFill>
                            <a:schemeClr val="tx1"/>
                          </a:solidFill>
                          <a:latin typeface="+mj-lt"/>
                          <a:ea typeface="+mn-ea"/>
                          <a:cs typeface="+mn-cs"/>
                        </a:rPr>
                        <a:t>Competitive Dynamics Theory)</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dirty="0">
                          <a:latin typeface="+mj-lt"/>
                        </a:rPr>
                        <a:t>—</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703508"/>
                  </a:ext>
                </a:extLst>
              </a:tr>
              <a:tr h="721590">
                <a:tc>
                  <a:txBody>
                    <a:bodyPr/>
                    <a:lstStyle/>
                    <a:p>
                      <a:pPr>
                        <a:buNone/>
                      </a:pPr>
                      <a:r>
                        <a:rPr lang="en-US" altLang="zh-CN" sz="1600" b="0" dirty="0">
                          <a:latin typeface="+mj-lt"/>
                        </a:rPr>
                        <a:t>AI</a:t>
                      </a:r>
                      <a:r>
                        <a:rPr lang="zh-CN" altLang="en-US" sz="1600" b="0" dirty="0">
                          <a:latin typeface="+mj-lt"/>
                        </a:rPr>
                        <a:t> </a:t>
                      </a:r>
                      <a:r>
                        <a:rPr lang="en-US" altLang="zh-CN" sz="1600" b="0" dirty="0">
                          <a:latin typeface="+mj-lt"/>
                        </a:rPr>
                        <a:t>Answer</a:t>
                      </a:r>
                      <a:r>
                        <a:rPr lang="zh-CN" altLang="en-US" sz="1600" b="0" dirty="0">
                          <a:latin typeface="+mj-lt"/>
                        </a:rPr>
                        <a:t> </a:t>
                      </a:r>
                      <a:r>
                        <a:rPr lang="en-US" sz="1600" b="0" dirty="0">
                          <a:latin typeface="+mj-lt"/>
                        </a:rPr>
                        <a:t>Quality</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dirty="0">
                          <a:latin typeface="+mj-lt"/>
                        </a:rPr>
                        <a:t>—</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dirty="0">
                          <a:latin typeface="+mj-lt"/>
                        </a:rPr>
                        <a:t>H4: </a:t>
                      </a:r>
                      <a:r>
                        <a:rPr lang="en-US" sz="1600" b="1" dirty="0">
                          <a:latin typeface="+mj-lt"/>
                        </a:rPr>
                        <a:t>reverses H3</a:t>
                      </a:r>
                      <a:r>
                        <a:rPr lang="en-US" sz="1600" dirty="0">
                          <a:latin typeface="+mj-lt"/>
                        </a:rPr>
                        <a:t> </a:t>
                      </a:r>
                      <a:br>
                        <a:rPr lang="en-US" sz="1600" dirty="0">
                          <a:latin typeface="+mj-lt"/>
                        </a:rPr>
                      </a:br>
                      <a:r>
                        <a:rPr lang="en-US" sz="1600" dirty="0">
                          <a:latin typeface="+mj-lt"/>
                        </a:rPr>
                        <a:t>(</a:t>
                      </a:r>
                      <a:r>
                        <a:rPr lang="en-US" altLang="zh-CN" sz="1600" kern="1200" dirty="0">
                          <a:solidFill>
                            <a:schemeClr val="tx1"/>
                          </a:solidFill>
                          <a:latin typeface="+mj-lt"/>
                          <a:ea typeface="+mn-ea"/>
                          <a:cs typeface="+mn-cs"/>
                        </a:rPr>
                        <a:t>Goal</a:t>
                      </a:r>
                      <a:r>
                        <a:rPr lang="zh-CN" altLang="en-US" sz="1600" kern="1200" dirty="0">
                          <a:solidFill>
                            <a:schemeClr val="tx1"/>
                          </a:solidFill>
                          <a:latin typeface="+mj-lt"/>
                          <a:ea typeface="+mn-ea"/>
                          <a:cs typeface="+mn-cs"/>
                        </a:rPr>
                        <a:t> </a:t>
                      </a:r>
                      <a:r>
                        <a:rPr lang="en-US" altLang="zh-CN" sz="1600" kern="1200" dirty="0">
                          <a:solidFill>
                            <a:schemeClr val="tx1"/>
                          </a:solidFill>
                          <a:latin typeface="+mj-lt"/>
                          <a:ea typeface="+mn-ea"/>
                          <a:cs typeface="+mn-cs"/>
                        </a:rPr>
                        <a:t>Setting</a:t>
                      </a:r>
                      <a:r>
                        <a:rPr lang="zh-CN" altLang="en-US" sz="1600" kern="1200" dirty="0">
                          <a:solidFill>
                            <a:schemeClr val="tx1"/>
                          </a:solidFill>
                          <a:latin typeface="+mj-lt"/>
                          <a:ea typeface="+mn-ea"/>
                          <a:cs typeface="+mn-cs"/>
                        </a:rPr>
                        <a:t> </a:t>
                      </a:r>
                      <a:r>
                        <a:rPr lang="en-US" altLang="zh-CN" sz="1600" kern="1200" dirty="0">
                          <a:solidFill>
                            <a:schemeClr val="tx1"/>
                          </a:solidFill>
                          <a:latin typeface="+mj-lt"/>
                          <a:ea typeface="+mn-ea"/>
                          <a:cs typeface="+mn-cs"/>
                        </a:rPr>
                        <a:t>Theory</a:t>
                      </a:r>
                      <a:r>
                        <a:rPr lang="en-US" sz="1600" dirty="0">
                          <a:latin typeface="+mj-lt"/>
                        </a:rPr>
                        <a:t>)</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1683457"/>
                  </a:ext>
                </a:extLst>
              </a:tr>
            </a:tbl>
          </a:graphicData>
        </a:graphic>
      </p:graphicFrame>
      <p:sp>
        <p:nvSpPr>
          <p:cNvPr id="2" name="Slide Number Placeholder 1">
            <a:extLst>
              <a:ext uri="{FF2B5EF4-FFF2-40B4-BE49-F238E27FC236}">
                <a16:creationId xmlns:a16="http://schemas.microsoft.com/office/drawing/2014/main" id="{B61F5E24-985A-8EF2-B400-C196B4A298F8}"/>
              </a:ext>
            </a:extLst>
          </p:cNvPr>
          <p:cNvSpPr>
            <a:spLocks noGrp="1"/>
          </p:cNvSpPr>
          <p:nvPr>
            <p:ph type="sldNum" sz="quarter" idx="12"/>
          </p:nvPr>
        </p:nvSpPr>
        <p:spPr/>
        <p:txBody>
          <a:bodyPr/>
          <a:lstStyle/>
          <a:p>
            <a:fld id="{80E9C1D4-69BA-4B09-8A24-1CCDDD1AB85B}" type="slidenum">
              <a:rPr lang="zh-CN" altLang="en-US" smtClean="0"/>
              <a:t>2</a:t>
            </a:fld>
            <a:endParaRPr lang="zh-CN" altLang="en-US"/>
          </a:p>
        </p:txBody>
      </p:sp>
    </p:spTree>
    <p:extLst>
      <p:ext uri="{BB962C8B-B14F-4D97-AF65-F5344CB8AC3E}">
        <p14:creationId xmlns:p14="http://schemas.microsoft.com/office/powerpoint/2010/main" val="28432468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B8865-479E-020B-598B-4CC4C1DE098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BA42F86-65FF-EC54-3AA5-D3C035E41F8A}"/>
              </a:ext>
            </a:extLst>
          </p:cNvPr>
          <p:cNvSpPr>
            <a:spLocks noGrp="1"/>
          </p:cNvSpPr>
          <p:nvPr>
            <p:ph type="title"/>
          </p:nvPr>
        </p:nvSpPr>
        <p:spPr/>
        <p:txBody>
          <a:bodyPr>
            <a:noAutofit/>
          </a:bodyPr>
          <a:lstStyle/>
          <a:p>
            <a:r>
              <a:rPr lang="en-US" altLang="en-US" sz="2800" dirty="0"/>
              <a:t>Competition Effect on Contribution </a:t>
            </a:r>
            <a:br>
              <a:rPr lang="en-US" altLang="en-US" sz="2800" dirty="0"/>
            </a:br>
            <a:r>
              <a:rPr lang="en-US" altLang="en-US" sz="2400" dirty="0"/>
              <a:t>(Fast Processing — Length as Signal)</a:t>
            </a:r>
            <a:endParaRPr lang="en-US" altLang="en-US" sz="2800" dirty="0"/>
          </a:p>
        </p:txBody>
      </p:sp>
      <p:sp>
        <p:nvSpPr>
          <p:cNvPr id="17" name="Rectangle 16">
            <a:extLst>
              <a:ext uri="{FF2B5EF4-FFF2-40B4-BE49-F238E27FC236}">
                <a16:creationId xmlns:a16="http://schemas.microsoft.com/office/drawing/2014/main" id="{B208F7C9-4A9C-1F9F-BA57-4D49B0CC1856}"/>
              </a:ext>
            </a:extLst>
          </p:cNvPr>
          <p:cNvSpPr/>
          <p:nvPr/>
        </p:nvSpPr>
        <p:spPr>
          <a:xfrm>
            <a:off x="5657064" y="1260888"/>
            <a:ext cx="1252317" cy="478118"/>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Answer</a:t>
            </a:r>
            <a:r>
              <a:rPr lang="en-US" altLang="zh-CN" sz="1200" dirty="0"/>
              <a:t>er</a:t>
            </a:r>
            <a:r>
              <a:rPr lang="en-US" sz="1200" dirty="0"/>
              <a:t> Participation</a:t>
            </a:r>
          </a:p>
        </p:txBody>
      </p:sp>
      <p:sp>
        <p:nvSpPr>
          <p:cNvPr id="18" name="Rectangle 17">
            <a:extLst>
              <a:ext uri="{FF2B5EF4-FFF2-40B4-BE49-F238E27FC236}">
                <a16:creationId xmlns:a16="http://schemas.microsoft.com/office/drawing/2014/main" id="{7E946679-34AF-90CE-80B5-0ED9711DBCC3}"/>
              </a:ext>
            </a:extLst>
          </p:cNvPr>
          <p:cNvSpPr/>
          <p:nvPr/>
        </p:nvSpPr>
        <p:spPr>
          <a:xfrm>
            <a:off x="2385168" y="1273337"/>
            <a:ext cx="1161971" cy="461302"/>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Has AI Answer</a:t>
            </a:r>
          </a:p>
        </p:txBody>
      </p:sp>
      <p:cxnSp>
        <p:nvCxnSpPr>
          <p:cNvPr id="19" name="Straight Arrow Connector 18">
            <a:extLst>
              <a:ext uri="{FF2B5EF4-FFF2-40B4-BE49-F238E27FC236}">
                <a16:creationId xmlns:a16="http://schemas.microsoft.com/office/drawing/2014/main" id="{A0FBC2D5-E3EA-56C8-6ABC-47DD504C91A5}"/>
              </a:ext>
            </a:extLst>
          </p:cNvPr>
          <p:cNvCxnSpPr>
            <a:cxnSpLocks/>
            <a:stCxn id="18" idx="3"/>
            <a:endCxn id="17" idx="1"/>
          </p:cNvCxnSpPr>
          <p:nvPr/>
        </p:nvCxnSpPr>
        <p:spPr>
          <a:xfrm flipV="1">
            <a:off x="3547139" y="1499947"/>
            <a:ext cx="2109925" cy="4041"/>
          </a:xfrm>
          <a:prstGeom prst="straightConnector1">
            <a:avLst/>
          </a:prstGeom>
          <a:ln w="317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BFA56E17-74DF-D9A6-7061-44E6249916BB}"/>
              </a:ext>
            </a:extLst>
          </p:cNvPr>
          <p:cNvCxnSpPr>
            <a:cxnSpLocks/>
            <a:stCxn id="21" idx="0"/>
          </p:cNvCxnSpPr>
          <p:nvPr/>
        </p:nvCxnSpPr>
        <p:spPr>
          <a:xfrm flipV="1">
            <a:off x="4609827" y="1508988"/>
            <a:ext cx="0" cy="293816"/>
          </a:xfrm>
          <a:prstGeom prst="straightConnector1">
            <a:avLst/>
          </a:prstGeom>
          <a:ln w="317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1" name="Rectangle 20">
            <a:extLst>
              <a:ext uri="{FF2B5EF4-FFF2-40B4-BE49-F238E27FC236}">
                <a16:creationId xmlns:a16="http://schemas.microsoft.com/office/drawing/2014/main" id="{05E8233C-584F-5A85-CF30-510DA440557A}"/>
              </a:ext>
            </a:extLst>
          </p:cNvPr>
          <p:cNvSpPr/>
          <p:nvPr/>
        </p:nvSpPr>
        <p:spPr>
          <a:xfrm>
            <a:off x="4160151" y="1802804"/>
            <a:ext cx="899352" cy="451032"/>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AI Answer Length</a:t>
            </a:r>
          </a:p>
        </p:txBody>
      </p:sp>
      <p:sp>
        <p:nvSpPr>
          <p:cNvPr id="26" name="Content Placeholder 2">
            <a:extLst>
              <a:ext uri="{FF2B5EF4-FFF2-40B4-BE49-F238E27FC236}">
                <a16:creationId xmlns:a16="http://schemas.microsoft.com/office/drawing/2014/main" id="{15F01599-37F9-F2BE-54CE-D513EFD0917D}"/>
              </a:ext>
            </a:extLst>
          </p:cNvPr>
          <p:cNvSpPr txBox="1">
            <a:spLocks/>
          </p:cNvSpPr>
          <p:nvPr/>
        </p:nvSpPr>
        <p:spPr>
          <a:xfrm>
            <a:off x="628650" y="2482850"/>
            <a:ext cx="7962457" cy="2442775"/>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en-US" sz="1600" dirty="0">
                <a:latin typeface="+mj-lt"/>
              </a:rPr>
              <a:t>H1: AI presence increases human contribution.</a:t>
            </a:r>
            <a:r>
              <a:rPr lang="zh-CN" altLang="en-US" sz="1600" dirty="0">
                <a:latin typeface="+mj-lt"/>
              </a:rPr>
              <a:t> </a:t>
            </a:r>
            <a:r>
              <a:rPr lang="en-US" sz="1600" b="1" dirty="0">
                <a:solidFill>
                  <a:srgbClr val="000000"/>
                </a:solidFill>
                <a:latin typeface="+mj-lt"/>
              </a:rPr>
              <a:t>(Competitive Arousal Theory)</a:t>
            </a:r>
            <a:endParaRPr lang="en-US" altLang="en-US" sz="1600" dirty="0">
              <a:latin typeface="+mj-lt"/>
            </a:endParaRPr>
          </a:p>
          <a:p>
            <a:pPr lvl="1"/>
            <a:r>
              <a:rPr lang="en-US" sz="1400" dirty="0">
                <a:latin typeface="+mj-lt"/>
              </a:rPr>
              <a:t>The mere presence of </a:t>
            </a:r>
            <a:r>
              <a:rPr lang="en-US" altLang="zh-CN" sz="1400" dirty="0">
                <a:latin typeface="+mj-lt"/>
              </a:rPr>
              <a:t>AI</a:t>
            </a:r>
            <a:r>
              <a:rPr lang="zh-CN" altLang="en-US" sz="1400" dirty="0">
                <a:latin typeface="+mj-lt"/>
              </a:rPr>
              <a:t> </a:t>
            </a:r>
            <a:r>
              <a:rPr lang="en-US" altLang="zh-CN" sz="1400" dirty="0">
                <a:latin typeface="+mj-lt"/>
              </a:rPr>
              <a:t>answer</a:t>
            </a:r>
            <a:r>
              <a:rPr lang="en-US" sz="1400" dirty="0">
                <a:latin typeface="+mj-lt"/>
              </a:rPr>
              <a:t> triggers competitive arousal — a heightened motivation to act (Ku et al., 2005)</a:t>
            </a:r>
          </a:p>
          <a:p>
            <a:pPr lvl="1"/>
            <a:r>
              <a:rPr lang="en-US" sz="1400" dirty="0">
                <a:latin typeface="+mj-lt"/>
              </a:rPr>
              <a:t>Human experts perceive AI as a "weak" intruder in their domain → high winning probability → arousal converts into action</a:t>
            </a:r>
          </a:p>
          <a:p>
            <a:pPr lvl="1"/>
            <a:r>
              <a:rPr lang="en-US" sz="1400" dirty="0">
                <a:latin typeface="+mj-lt"/>
              </a:rPr>
              <a:t>This is a fast, label-driven response: seeing "AI" is enough to trigger the impulse to compete</a:t>
            </a:r>
            <a:endParaRPr lang="en-US" altLang="en-US" sz="1400" dirty="0">
              <a:latin typeface="+mj-lt"/>
            </a:endParaRPr>
          </a:p>
          <a:p>
            <a:r>
              <a:rPr lang="en-US" altLang="en-US" sz="1600" dirty="0">
                <a:latin typeface="+mj-lt"/>
              </a:rPr>
              <a:t>H2: </a:t>
            </a:r>
            <a:r>
              <a:rPr lang="en-US" sz="1600" dirty="0">
                <a:latin typeface="+mj-lt"/>
              </a:rPr>
              <a:t>AI answer length attenuates H1</a:t>
            </a:r>
            <a:r>
              <a:rPr lang="en-US" altLang="en-US" sz="1600" dirty="0">
                <a:latin typeface="+mj-lt"/>
              </a:rPr>
              <a:t>.</a:t>
            </a:r>
            <a:r>
              <a:rPr lang="zh-CN" altLang="en-US" sz="1600" dirty="0">
                <a:latin typeface="+mj-lt"/>
              </a:rPr>
              <a:t> </a:t>
            </a:r>
            <a:r>
              <a:rPr lang="en-US" altLang="zh-CN" sz="1600" b="1" dirty="0">
                <a:latin typeface="+mj-lt"/>
              </a:rPr>
              <a:t>(</a:t>
            </a:r>
            <a:r>
              <a:rPr lang="en-US" sz="1600" b="1" dirty="0">
                <a:latin typeface="+mj-lt"/>
              </a:rPr>
              <a:t>Competitive Dynamics Theory</a:t>
            </a:r>
            <a:r>
              <a:rPr lang="en-US" altLang="zh-CN" sz="1600" b="1" dirty="0">
                <a:latin typeface="+mj-lt"/>
              </a:rPr>
              <a:t>)</a:t>
            </a:r>
            <a:endParaRPr lang="en-US" altLang="en-US" sz="1600" b="1" dirty="0">
              <a:latin typeface="+mj-lt"/>
            </a:endParaRPr>
          </a:p>
          <a:p>
            <a:pPr lvl="1"/>
            <a:r>
              <a:rPr lang="en-US" sz="1400" dirty="0">
                <a:latin typeface="+mj-lt"/>
              </a:rPr>
              <a:t>Competitive Dynamics Theory: "If the response will require substantial resource commitment, rivals are less likely to respond and will respond more slowly" (Chen, 1996).</a:t>
            </a:r>
            <a:endParaRPr lang="en-US" altLang="en-US" sz="1400" dirty="0">
              <a:latin typeface="+mj-lt"/>
            </a:endParaRPr>
          </a:p>
          <a:p>
            <a:pPr lvl="1"/>
            <a:r>
              <a:rPr lang="en-US" sz="1400" dirty="0">
                <a:latin typeface="+mj-lt"/>
              </a:rPr>
              <a:t>Length is a fast-processed heuristic — humans see a long AI answer without reading it carefully → signals high resource commitment needed to compete</a:t>
            </a:r>
            <a:r>
              <a:rPr lang="zh-CN" altLang="en-US" sz="1400" dirty="0">
                <a:latin typeface="+mj-lt"/>
              </a:rPr>
              <a:t> </a:t>
            </a:r>
            <a:r>
              <a:rPr lang="en-US" sz="1400" dirty="0">
                <a:latin typeface="+mj-lt"/>
              </a:rPr>
              <a:t>→ contribution effect attenuated.</a:t>
            </a:r>
          </a:p>
          <a:p>
            <a:endParaRPr lang="en-US" dirty="0">
              <a:latin typeface="+mj-lt"/>
            </a:endParaRPr>
          </a:p>
        </p:txBody>
      </p:sp>
      <p:sp>
        <p:nvSpPr>
          <p:cNvPr id="2" name="Slide Number Placeholder 1">
            <a:extLst>
              <a:ext uri="{FF2B5EF4-FFF2-40B4-BE49-F238E27FC236}">
                <a16:creationId xmlns:a16="http://schemas.microsoft.com/office/drawing/2014/main" id="{244FE439-04A5-549B-C9BE-C45C9D9539C9}"/>
              </a:ext>
            </a:extLst>
          </p:cNvPr>
          <p:cNvSpPr>
            <a:spLocks noGrp="1"/>
          </p:cNvSpPr>
          <p:nvPr>
            <p:ph type="sldNum" sz="quarter" idx="12"/>
          </p:nvPr>
        </p:nvSpPr>
        <p:spPr/>
        <p:txBody>
          <a:bodyPr/>
          <a:lstStyle/>
          <a:p>
            <a:fld id="{80E9C1D4-69BA-4B09-8A24-1CCDDD1AB85B}" type="slidenum">
              <a:rPr lang="zh-CN" altLang="en-US" smtClean="0"/>
              <a:t>3</a:t>
            </a:fld>
            <a:endParaRPr lang="zh-CN" altLang="en-US" dirty="0"/>
          </a:p>
        </p:txBody>
      </p:sp>
    </p:spTree>
    <p:extLst>
      <p:ext uri="{BB962C8B-B14F-4D97-AF65-F5344CB8AC3E}">
        <p14:creationId xmlns:p14="http://schemas.microsoft.com/office/powerpoint/2010/main" val="37011235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B1FAF9-E469-862E-3CAB-A18E4AE5FD4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5653790-ABBD-D212-2A6A-5AF0AE86CFF6}"/>
              </a:ext>
            </a:extLst>
          </p:cNvPr>
          <p:cNvSpPr>
            <a:spLocks noGrp="1"/>
          </p:cNvSpPr>
          <p:nvPr>
            <p:ph type="title"/>
          </p:nvPr>
        </p:nvSpPr>
        <p:spPr/>
        <p:txBody>
          <a:bodyPr>
            <a:noAutofit/>
          </a:bodyPr>
          <a:lstStyle/>
          <a:p>
            <a:r>
              <a:rPr lang="en-US" altLang="en-US" sz="2800" dirty="0"/>
              <a:t>Competition Effect on Answer Quality </a:t>
            </a:r>
            <a:br>
              <a:rPr lang="en-US" altLang="en-US" sz="2800" dirty="0"/>
            </a:br>
            <a:r>
              <a:rPr lang="en-US" altLang="en-US" sz="2400" dirty="0"/>
              <a:t>(Slow Processing — Quality as Benchmark)</a:t>
            </a:r>
            <a:endParaRPr lang="en-US" altLang="en-US" sz="2000" dirty="0"/>
          </a:p>
        </p:txBody>
      </p:sp>
      <p:sp>
        <p:nvSpPr>
          <p:cNvPr id="26" name="Content Placeholder 2">
            <a:extLst>
              <a:ext uri="{FF2B5EF4-FFF2-40B4-BE49-F238E27FC236}">
                <a16:creationId xmlns:a16="http://schemas.microsoft.com/office/drawing/2014/main" id="{F930E884-9728-7412-F7E0-DD37B209E0CF}"/>
              </a:ext>
            </a:extLst>
          </p:cNvPr>
          <p:cNvSpPr txBox="1">
            <a:spLocks/>
          </p:cNvSpPr>
          <p:nvPr/>
        </p:nvSpPr>
        <p:spPr>
          <a:xfrm>
            <a:off x="628650" y="2145575"/>
            <a:ext cx="7962457" cy="2442775"/>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en-US" sz="1600" dirty="0">
                <a:latin typeface="+mj-lt"/>
              </a:rPr>
              <a:t>H3: AI presence decreases human answer quality.</a:t>
            </a:r>
            <a:r>
              <a:rPr lang="zh-CN" altLang="en-US" sz="1600" dirty="0">
                <a:latin typeface="+mj-lt"/>
              </a:rPr>
              <a:t> </a:t>
            </a:r>
            <a:r>
              <a:rPr lang="en-US" altLang="zh-CN" sz="1600" b="1" dirty="0">
                <a:latin typeface="+mj-lt"/>
              </a:rPr>
              <a:t>(</a:t>
            </a:r>
            <a:r>
              <a:rPr lang="en-US" sz="1600" b="1" dirty="0">
                <a:latin typeface="+mj-lt"/>
              </a:rPr>
              <a:t>Downward Social Comparison Theory</a:t>
            </a:r>
            <a:r>
              <a:rPr lang="en-US" altLang="zh-CN" sz="1600" b="1" dirty="0">
                <a:latin typeface="+mj-lt"/>
              </a:rPr>
              <a:t>)</a:t>
            </a:r>
            <a:endParaRPr lang="en-US" altLang="en-US" sz="1800" dirty="0">
              <a:solidFill>
                <a:srgbClr val="000000"/>
              </a:solidFill>
              <a:latin typeface="+mj-lt"/>
            </a:endParaRPr>
          </a:p>
          <a:p>
            <a:pPr lvl="1" fontAlgn="base">
              <a:spcAft>
                <a:spcPct val="0"/>
              </a:spcAft>
            </a:pPr>
            <a:r>
              <a:rPr lang="en-US" altLang="en-US" sz="1400" dirty="0">
                <a:latin typeface="+mj-lt"/>
              </a:rPr>
              <a:t>Downward Social Comparison Theory: comparing with a weaker target is a psychological strategy that substitutes for instrumental action (Wills, 1981). </a:t>
            </a:r>
          </a:p>
          <a:p>
            <a:pPr lvl="1" fontAlgn="base">
              <a:spcAft>
                <a:spcPct val="0"/>
              </a:spcAft>
            </a:pPr>
            <a:r>
              <a:rPr lang="en-US" altLang="en-US" sz="1400" dirty="0">
                <a:latin typeface="+mj-lt"/>
              </a:rPr>
              <a:t>Humans perceive AI as inferior → downward comparison provides self-enhancement (“I‘m already better”) → replaces actual effort to improve</a:t>
            </a:r>
            <a:r>
              <a:rPr lang="zh-CN" altLang="en-US" sz="1400" dirty="0">
                <a:latin typeface="+mj-lt"/>
              </a:rPr>
              <a:t> </a:t>
            </a:r>
            <a:r>
              <a:rPr lang="en-US" altLang="en-US" sz="1400" dirty="0">
                <a:latin typeface="+mj-lt"/>
              </a:rPr>
              <a:t>→ lower quality.</a:t>
            </a:r>
          </a:p>
          <a:p>
            <a:r>
              <a:rPr lang="en-US" altLang="en-US" sz="1600" dirty="0">
                <a:latin typeface="+mj-lt"/>
              </a:rPr>
              <a:t>H4: </a:t>
            </a:r>
            <a:r>
              <a:rPr lang="en-US" sz="1600" dirty="0">
                <a:latin typeface="+mj-lt"/>
              </a:rPr>
              <a:t>AI answer quality reverses H3.</a:t>
            </a:r>
          </a:p>
          <a:p>
            <a:pPr lvl="1"/>
            <a:r>
              <a:rPr lang="en-US" sz="1400" dirty="0">
                <a:latin typeface="+mj-lt"/>
              </a:rPr>
              <a:t>Goal Setting Theory: "The highest or most difficult goals produced the highest levels of effort and performance" (Locke &amp; Latham, 2002).</a:t>
            </a:r>
            <a:endParaRPr lang="en-US" altLang="en-US" sz="1400" dirty="0">
              <a:latin typeface="+mj-lt"/>
            </a:endParaRPr>
          </a:p>
          <a:p>
            <a:pPr lvl="1"/>
            <a:r>
              <a:rPr lang="en-US" altLang="en-US" sz="1400" dirty="0">
                <a:latin typeface="+mj-lt"/>
              </a:rPr>
              <a:t>High AI quality can only be assessed through slow, deliberate processing → once recognized, it shatters the "weak competitor" assumption.</a:t>
            </a:r>
          </a:p>
          <a:p>
            <a:pPr lvl="1"/>
            <a:r>
              <a:rPr lang="en-US" sz="1400" dirty="0">
                <a:latin typeface="+mj-lt"/>
              </a:rPr>
              <a:t>A high-quality AI answer serves as a specific, challenging goal to surpass → triggers genuine effort investment → quality rises.</a:t>
            </a:r>
          </a:p>
          <a:p>
            <a:pPr lvl="1"/>
            <a:r>
              <a:rPr lang="en-US" altLang="en-US" sz="1400" b="1" i="1" dirty="0">
                <a:latin typeface="+mj-lt"/>
              </a:rPr>
              <a:t>"The AI is actually good — I must prove I'm better."</a:t>
            </a:r>
            <a:endParaRPr lang="en-US" altLang="en-US" sz="1400" b="1" dirty="0">
              <a:latin typeface="+mj-lt"/>
            </a:endParaRPr>
          </a:p>
        </p:txBody>
      </p:sp>
      <p:sp>
        <p:nvSpPr>
          <p:cNvPr id="2" name="Rectangle 1">
            <a:extLst>
              <a:ext uri="{FF2B5EF4-FFF2-40B4-BE49-F238E27FC236}">
                <a16:creationId xmlns:a16="http://schemas.microsoft.com/office/drawing/2014/main" id="{737DE470-EC30-0ABA-A837-D0D08F949255}"/>
              </a:ext>
            </a:extLst>
          </p:cNvPr>
          <p:cNvSpPr/>
          <p:nvPr/>
        </p:nvSpPr>
        <p:spPr>
          <a:xfrm>
            <a:off x="5657064" y="1108488"/>
            <a:ext cx="1252317" cy="478118"/>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Answer </a:t>
            </a:r>
            <a:r>
              <a:rPr lang="en-US" altLang="zh-CN" sz="1200" dirty="0"/>
              <a:t>Quality</a:t>
            </a:r>
            <a:endParaRPr lang="en-US" sz="1200" dirty="0"/>
          </a:p>
        </p:txBody>
      </p:sp>
      <p:sp>
        <p:nvSpPr>
          <p:cNvPr id="3" name="Rectangle 2">
            <a:extLst>
              <a:ext uri="{FF2B5EF4-FFF2-40B4-BE49-F238E27FC236}">
                <a16:creationId xmlns:a16="http://schemas.microsoft.com/office/drawing/2014/main" id="{2B8E1A41-363D-9F46-97EA-13AAE170B262}"/>
              </a:ext>
            </a:extLst>
          </p:cNvPr>
          <p:cNvSpPr/>
          <p:nvPr/>
        </p:nvSpPr>
        <p:spPr>
          <a:xfrm>
            <a:off x="2385168" y="1120937"/>
            <a:ext cx="1161971" cy="461302"/>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Has AI Answer</a:t>
            </a:r>
          </a:p>
        </p:txBody>
      </p:sp>
      <p:cxnSp>
        <p:nvCxnSpPr>
          <p:cNvPr id="5" name="Straight Arrow Connector 4">
            <a:extLst>
              <a:ext uri="{FF2B5EF4-FFF2-40B4-BE49-F238E27FC236}">
                <a16:creationId xmlns:a16="http://schemas.microsoft.com/office/drawing/2014/main" id="{C67DD72D-D887-D931-A0D5-C475475C33C1}"/>
              </a:ext>
            </a:extLst>
          </p:cNvPr>
          <p:cNvCxnSpPr>
            <a:cxnSpLocks/>
            <a:stCxn id="3" idx="3"/>
            <a:endCxn id="2" idx="1"/>
          </p:cNvCxnSpPr>
          <p:nvPr/>
        </p:nvCxnSpPr>
        <p:spPr>
          <a:xfrm flipV="1">
            <a:off x="3547139" y="1347547"/>
            <a:ext cx="2109925" cy="4041"/>
          </a:xfrm>
          <a:prstGeom prst="straightConnector1">
            <a:avLst/>
          </a:prstGeom>
          <a:ln w="317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 name="Straight Arrow Connector 5">
            <a:extLst>
              <a:ext uri="{FF2B5EF4-FFF2-40B4-BE49-F238E27FC236}">
                <a16:creationId xmlns:a16="http://schemas.microsoft.com/office/drawing/2014/main" id="{FFE73F53-BDB1-14F8-5F06-CB62372E610C}"/>
              </a:ext>
            </a:extLst>
          </p:cNvPr>
          <p:cNvCxnSpPr>
            <a:cxnSpLocks/>
            <a:stCxn id="7" idx="0"/>
          </p:cNvCxnSpPr>
          <p:nvPr/>
        </p:nvCxnSpPr>
        <p:spPr>
          <a:xfrm flipV="1">
            <a:off x="4609827" y="1356588"/>
            <a:ext cx="0" cy="293816"/>
          </a:xfrm>
          <a:prstGeom prst="straightConnector1">
            <a:avLst/>
          </a:prstGeom>
          <a:ln w="317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7" name="Rectangle 6">
            <a:extLst>
              <a:ext uri="{FF2B5EF4-FFF2-40B4-BE49-F238E27FC236}">
                <a16:creationId xmlns:a16="http://schemas.microsoft.com/office/drawing/2014/main" id="{B105E9E7-5F4A-9AF3-0FF5-4EAEA7346675}"/>
              </a:ext>
            </a:extLst>
          </p:cNvPr>
          <p:cNvSpPr/>
          <p:nvPr/>
        </p:nvSpPr>
        <p:spPr>
          <a:xfrm>
            <a:off x="4160151" y="1650404"/>
            <a:ext cx="899352" cy="451032"/>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AI Answer </a:t>
            </a:r>
            <a:r>
              <a:rPr lang="en-US" altLang="zh-CN" sz="1200" dirty="0"/>
              <a:t>Quality</a:t>
            </a:r>
            <a:endParaRPr lang="en-US" sz="1200" dirty="0"/>
          </a:p>
        </p:txBody>
      </p:sp>
      <p:sp>
        <p:nvSpPr>
          <p:cNvPr id="8" name="Slide Number Placeholder 7">
            <a:extLst>
              <a:ext uri="{FF2B5EF4-FFF2-40B4-BE49-F238E27FC236}">
                <a16:creationId xmlns:a16="http://schemas.microsoft.com/office/drawing/2014/main" id="{9FA78C4F-BD07-61A5-BC2F-23B4B65A07CD}"/>
              </a:ext>
            </a:extLst>
          </p:cNvPr>
          <p:cNvSpPr>
            <a:spLocks noGrp="1"/>
          </p:cNvSpPr>
          <p:nvPr>
            <p:ph type="sldNum" sz="quarter" idx="12"/>
          </p:nvPr>
        </p:nvSpPr>
        <p:spPr/>
        <p:txBody>
          <a:bodyPr/>
          <a:lstStyle/>
          <a:p>
            <a:fld id="{80E9C1D4-69BA-4B09-8A24-1CCDDD1AB85B}" type="slidenum">
              <a:rPr lang="zh-CN" altLang="en-US" smtClean="0"/>
              <a:t>4</a:t>
            </a:fld>
            <a:endParaRPr lang="zh-CN" altLang="en-US"/>
          </a:p>
        </p:txBody>
      </p:sp>
    </p:spTree>
    <p:extLst>
      <p:ext uri="{BB962C8B-B14F-4D97-AF65-F5344CB8AC3E}">
        <p14:creationId xmlns:p14="http://schemas.microsoft.com/office/powerpoint/2010/main" val="1538317297"/>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AE6F2518-B084-4896-AF52-66CC2144AA26}"/>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96203</TotalTime>
  <Words>1213</Words>
  <Application>Microsoft Macintosh PowerPoint</Application>
  <PresentationFormat>On-screen Show (16:9)</PresentationFormat>
  <Paragraphs>82</Paragraphs>
  <Slides>5</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等线</vt:lpstr>
      <vt:lpstr>Calibri Light</vt:lpstr>
      <vt:lpstr>Calibri</vt:lpstr>
      <vt:lpstr>Office 2013 - 2022 Theme</vt:lpstr>
      <vt:lpstr>How does our work go beyond</vt:lpstr>
      <vt:lpstr>Theoretical development</vt:lpstr>
      <vt:lpstr>Theoretical Development:  Competition with a "Weaker" Competitor</vt:lpstr>
      <vt:lpstr>Competition Effect on Contribution  (Fast Processing — Length as Signal)</vt:lpstr>
      <vt:lpstr>Competition Effect on Answer Quality  (Slow Processing — Quality as Benchmark)</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
  <dc:creator>Zhang Siyu</dc:creator>
  <cp:keywords/>
  <dc:description/>
  <cp:lastModifiedBy>Dylan CHEN</cp:lastModifiedBy>
  <cp:revision>458</cp:revision>
  <dcterms:created xsi:type="dcterms:W3CDTF">2020-04-20T03:29:34Z</dcterms:created>
  <dcterms:modified xsi:type="dcterms:W3CDTF">2026-06-23T15:29:56Z</dcterms:modified>
  <cp:category/>
</cp:coreProperties>
</file>