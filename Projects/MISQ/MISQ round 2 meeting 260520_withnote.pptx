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40" r:id="rId1"/>
  </p:sldMasterIdLst>
  <p:notesMasterIdLst>
    <p:notesMasterId r:id="rId11"/>
  </p:notesMasterIdLst>
  <p:sldIdLst>
    <p:sldId id="260" r:id="rId2"/>
    <p:sldId id="335" r:id="rId3"/>
    <p:sldId id="337" r:id="rId4"/>
    <p:sldId id="344" r:id="rId5"/>
    <p:sldId id="346" r:id="rId6"/>
    <p:sldId id="343" r:id="rId7"/>
    <p:sldId id="342" r:id="rId8"/>
    <p:sldId id="326" r:id="rId9"/>
    <p:sldId id="345" r:id="rId10"/>
  </p:sldIdLst>
  <p:sldSz cx="14630400" cy="6858000"/>
  <p:notesSz cx="6858000" cy="9144000"/>
  <p:embeddedFontLst>
    <p:embeddedFont>
      <p:font typeface="等线" panose="02010600030101010101" pitchFamily="2" charset="-122"/>
      <p:regular r:id="rId12"/>
      <p:bold r:id="rId13"/>
    </p:embeddedFont>
    <p:embeddedFont>
      <p:font typeface="微软雅黑" panose="020B0503020204020204" pitchFamily="34" charset="-122"/>
      <p:regular r:id="rId14"/>
      <p:bold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Lato Black" panose="020F0502020204030203" pitchFamily="34" charset="0"/>
      <p:bold r:id="rId24"/>
      <p:italic r:id="rId25"/>
      <p:boldItalic r:id="rId26"/>
    </p:embeddedFont>
    <p:embeddedFont>
      <p:font typeface="Lato Light" panose="020F0502020204030203" pitchFamily="34" charset="0"/>
      <p:regular r:id="rId27"/>
      <p: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260"/>
            <p14:sldId id="335"/>
            <p14:sldId id="337"/>
            <p14:sldId id="344"/>
            <p14:sldId id="346"/>
            <p14:sldId id="343"/>
            <p14:sldId id="342"/>
            <p14:sldId id="326"/>
            <p14:sldId id="345"/>
          </p14:sldIdLst>
        </p14:section>
      </p14:sectionLst>
    </p:ex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8718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6301" autoAdjust="0"/>
  </p:normalViewPr>
  <p:slideViewPr>
    <p:cSldViewPr snapToGrid="0" showGuides="1">
      <p:cViewPr varScale="1">
        <p:scale>
          <a:sx n="122" d="100"/>
          <a:sy n="122" d="100"/>
        </p:scale>
        <p:origin x="472" y="200"/>
      </p:cViewPr>
      <p:guideLst>
        <p:guide pos="498"/>
        <p:guide pos="8718"/>
        <p:guide orient="horz" pos="648"/>
        <p:guide orient="horz" pos="712"/>
        <p:guide orient="horz" pos="3928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46:43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46:44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8191,'6'0'0,"-3"0"0,-1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B8F1-A9A5-2C1B-8098-E6BF945E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C726E-9A11-1613-FCE4-E0DD2C751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85594-CB23-EFE8-CC25-5DF97A00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F5529-D2A4-4203-E284-801120BFB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8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1BF6-7C46-07E7-5408-E38FEAA4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043A4-D004-CBAE-165E-6EDFBAFCB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CBF96-D8B3-0B47-C1F5-04FAA90DD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1E1D7-28DF-17AD-DD25-39D9BFFA4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749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B00AF-4398-F48E-97F9-5D65C3FC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34AEB-5D18-6ACB-A146-6C99EFF1F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E91A9-3840-AFCD-AE75-F7597870A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21006-B077-28F4-44E6-3546CD1ED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150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6D6B8-2807-91D1-D6B7-F216FDA3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3B300-D95A-FEDB-898B-6D6B04C5D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01DA6-E442-F630-FE64-E1587E98F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EC3DF-4E40-3272-720A-83C101B93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252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C3D99-E8C6-A196-312C-35B8D004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2A422-A109-C776-3803-5DBBD2DD5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D0801-79E4-CB4E-5663-18598E32D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5005B-D2DD-1897-3EF4-01910B680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289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365B1-1216-E664-9EF8-D25123B4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9869D-5C07-7DEA-AD6F-348BBBCA9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9CDD4-FE53-A15C-86D8-374E86494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219E5-CA21-CEBC-918D-E93762C46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418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0849-808F-F303-739E-4FB7F66A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B5E96-4181-4ED7-B70C-79EF8107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B1C80-B09D-2F98-2CB9-FA6563C4F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9183-318F-982E-04BE-E75F0774A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624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98A9B-6947-01F0-8846-5CB9A98C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5AE36-461C-6E4F-F1DB-84185BCC7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C961B-DCDB-4D07-6DFD-28AB06F5D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16443-01AA-68FE-A4CF-0D57C62F0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49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122363"/>
            <a:ext cx="10972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602038"/>
            <a:ext cx="10972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06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4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1709738"/>
            <a:ext cx="1261872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4589464"/>
            <a:ext cx="126187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90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365126"/>
            <a:ext cx="126187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1681163"/>
            <a:ext cx="61893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2505075"/>
            <a:ext cx="61893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1681163"/>
            <a:ext cx="62198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2505075"/>
            <a:ext cx="62198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4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1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987426"/>
            <a:ext cx="74066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1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987426"/>
            <a:ext cx="74066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8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365125"/>
            <a:ext cx="31546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365125"/>
            <a:ext cx="92811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48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0" y="0"/>
            <a:ext cx="14629750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880" y="2597072"/>
            <a:ext cx="12448890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9880" y="2023986"/>
            <a:ext cx="12448890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9881" y="4274122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9881" y="4584551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132320" y="3276600"/>
            <a:ext cx="36576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79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7398492" y="-6"/>
            <a:ext cx="7231908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8478" y="6284866"/>
            <a:ext cx="727039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880"/>
            <a:ext cx="13810490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3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3" y="1158181"/>
            <a:ext cx="13810489" cy="5446415"/>
          </a:xfrm>
          <a:prstGeom prst="rect">
            <a:avLst/>
          </a:prstGeom>
        </p:spPr>
        <p:txBody>
          <a:bodyPr/>
          <a:lstStyle>
            <a:lvl1pPr marL="0" indent="-251980" algn="just" defTabSz="914327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07" indent="-285728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19942" indent="-228582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1922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914327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5554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6" y="0"/>
            <a:ext cx="9107603" cy="68580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4135880" y="-3639814"/>
            <a:ext cx="6358649" cy="146304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6812577" y="-6812579"/>
            <a:ext cx="1005238" cy="146304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14630400" cy="68580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14630400" cy="68580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12994648" cy="141167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10797543" y="3025144"/>
            <a:ext cx="6858001" cy="80771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8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12091500" y="6312408"/>
            <a:ext cx="1596943" cy="233551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091" y="4005891"/>
            <a:ext cx="7228398" cy="808696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4000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091" y="4771380"/>
            <a:ext cx="7228398" cy="34376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800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845820" y="6253507"/>
            <a:ext cx="4739640" cy="274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2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1100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1100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1" y="-2977"/>
            <a:ext cx="14629748" cy="6858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9879" y="2523291"/>
            <a:ext cx="10531784" cy="93331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883" y="3699996"/>
            <a:ext cx="6213781" cy="3112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9883" y="4053213"/>
            <a:ext cx="6213781" cy="313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600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14630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125634" y="91159"/>
            <a:ext cx="14379137" cy="66756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3439" y="325087"/>
            <a:ext cx="1955488" cy="914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042" y="6284866"/>
            <a:ext cx="672323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365126"/>
            <a:ext cx="12618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825625"/>
            <a:ext cx="126187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668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customXml" Target="../ink/ink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7438" y="2103198"/>
            <a:ext cx="10374075" cy="1479552"/>
          </a:xfrm>
        </p:spPr>
        <p:txBody>
          <a:bodyPr>
            <a:normAutofit/>
          </a:bodyPr>
          <a:lstStyle/>
          <a:p>
            <a:pPr lvl="0"/>
            <a:r>
              <a:rPr lang="en-US" altLang="zh-CN" sz="6000" b="1" dirty="0"/>
              <a:t>260520 Meeting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7435" y="3780248"/>
            <a:ext cx="5104733" cy="2970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7435" y="4090677"/>
            <a:ext cx="5104733" cy="297070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764C-E9BD-6BA6-160D-979CE5DA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9747D-6D8E-0190-463D-960F54C7B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EEC6F-59BA-0FBB-4F2F-505BB9666E2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928889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围绕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competition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逻辑的两个</a:t>
            </a:r>
            <a:r>
              <a:rPr lang="zh-CN" altLang="en-US" sz="1500" dirty="0"/>
              <a:t>故事</a:t>
            </a:r>
            <a:r>
              <a:rPr lang="en-US" altLang="zh-CN" sz="1500" dirty="0"/>
              <a:t>(contribution</a:t>
            </a:r>
            <a:r>
              <a:rPr lang="zh-CN" altLang="en-US" sz="1500" dirty="0"/>
              <a:t>和</a:t>
            </a:r>
            <a:r>
              <a:rPr lang="en-US" altLang="zh-CN" sz="1500" dirty="0"/>
              <a:t>innovation)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，寻找可行的交互结果</a:t>
            </a:r>
            <a:endParaRPr lang="en-US" altLang="en-US" sz="1300" dirty="0">
              <a:ea typeface="微软雅黑" panose="020B0503020204020204" pitchFamily="34" charset="-122"/>
              <a:cs typeface="+mn-cs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en-US" sz="1500" dirty="0" err="1">
                <a:ea typeface="微软雅黑" panose="020B0503020204020204" pitchFamily="34" charset="-122"/>
                <a:cs typeface="+mn-cs"/>
              </a:rPr>
              <a:t>做了基于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opus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4.7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以及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deepseek-v4-pro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的质量度量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整理了当前的可用的结果</a:t>
            </a:r>
            <a:endParaRPr lang="en-US" altLang="zh-CN" sz="1500" dirty="0">
              <a:ea typeface="微软雅黑" panose="020B0503020204020204" pitchFamily="34" charset="-122"/>
              <a:cs typeface="+mn-cs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en-US" sz="1500" dirty="0" err="1">
                <a:ea typeface="微软雅黑" panose="020B0503020204020204" pitchFamily="34" charset="-122"/>
                <a:cs typeface="+mn-cs"/>
              </a:rPr>
              <a:t>做了之前提到的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en-US" sz="1500" dirty="0">
                <a:ea typeface="微软雅黑" panose="020B0503020204020204" pitchFamily="34" charset="-122"/>
                <a:cs typeface="+mn-cs"/>
              </a:rPr>
              <a:t>lexicon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-based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personal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experience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DV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，没有显著结果。</a:t>
            </a:r>
            <a:endParaRPr lang="en-US" altLang="en-US" sz="1500" dirty="0"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02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66BA-FF90-440B-16CF-AC7A4367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8CE4908-CD15-2245-AA63-B415C18053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457"/>
          <a:stretch>
            <a:fillRect/>
          </a:stretch>
        </p:blipFill>
        <p:spPr>
          <a:xfrm>
            <a:off x="2405814" y="1658473"/>
            <a:ext cx="10114862" cy="5034935"/>
          </a:xfrm>
          <a:prstGeom prst="rect">
            <a:avLst/>
          </a:prstGeom>
        </p:spPr>
      </p:pic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09FAFBB-FDB5-3975-E20B-A7ADAF122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Opus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91F958F-B66E-3385-AFDD-49D0FB146D4D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810490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500" dirty="0">
                <a:cs typeface="Times New Roman" panose="02020603050405020304" pitchFamily="18" charset="0"/>
              </a:rPr>
              <a:t>所有的分析都是</a:t>
            </a:r>
            <a:endParaRPr lang="en-US" altLang="zh-CN" sz="1500" dirty="0">
              <a:cs typeface="Times New Roman" panose="02020603050405020304" pitchFamily="18" charset="0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zh-CN" sz="1050" b="1" dirty="0" err="1"/>
              <a:t>Treament</a:t>
            </a:r>
            <a:r>
              <a:rPr lang="zh-CN" altLang="en-US" sz="1050" b="1" dirty="0"/>
              <a:t> </a:t>
            </a:r>
            <a:r>
              <a:rPr lang="en-US" altLang="zh-CN" sz="1050" b="1" dirty="0"/>
              <a:t>+</a:t>
            </a:r>
            <a:r>
              <a:rPr lang="zh-CN" altLang="en-US" sz="1050" b="1" dirty="0"/>
              <a:t> </a:t>
            </a:r>
            <a:r>
              <a:rPr lang="en-US" altLang="zh-CN" sz="1050" b="1" dirty="0" err="1"/>
              <a:t>treatment:AILength</a:t>
            </a:r>
            <a:r>
              <a:rPr lang="zh-CN" altLang="en-US" sz="1050" b="1" dirty="0"/>
              <a:t> </a:t>
            </a:r>
            <a:r>
              <a:rPr lang="en-US" altLang="zh-CN" sz="1050" b="1" dirty="0"/>
              <a:t>+</a:t>
            </a:r>
            <a:r>
              <a:rPr lang="zh-CN" altLang="en-US" sz="1050" b="1" dirty="0"/>
              <a:t> </a:t>
            </a:r>
            <a:r>
              <a:rPr lang="en-US" altLang="zh-CN" sz="1050" b="1" dirty="0" err="1"/>
              <a:t>treatment:Sim</a:t>
            </a:r>
            <a:r>
              <a:rPr lang="zh-CN" altLang="en-US" sz="1050" b="1" dirty="0"/>
              <a:t> </a:t>
            </a:r>
            <a:r>
              <a:rPr lang="en-US" altLang="zh-CN" sz="1050" b="1" dirty="0"/>
              <a:t>w/</a:t>
            </a:r>
            <a:r>
              <a:rPr lang="zh-CN" altLang="en-US" sz="1050" b="1" dirty="0"/>
              <a:t> </a:t>
            </a:r>
            <a:r>
              <a:rPr lang="en-US" altLang="zh-CN" sz="1050" b="1" dirty="0"/>
              <a:t>XXX</a:t>
            </a:r>
          </a:p>
          <a:p>
            <a:pPr marL="252000" lvl="1" indent="0" defTabSz="914327">
              <a:lnSpc>
                <a:spcPct val="120000"/>
              </a:lnSpc>
              <a:buNone/>
            </a:pP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357895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7E3D-D584-F701-7E5D-8D482A27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48A1F89-7511-6799-F53C-560FACB790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Opus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CB6346-4542-3417-B25E-0EC0A3508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79"/>
          <a:stretch>
            <a:fillRect/>
          </a:stretch>
        </p:blipFill>
        <p:spPr>
          <a:xfrm>
            <a:off x="5404103" y="718820"/>
            <a:ext cx="4364497" cy="1709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D5A243-6517-7563-BA77-83CD38DC8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0414" y="718820"/>
            <a:ext cx="5602375" cy="207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BB2959-3F78-4C78-CCA8-2D3F7AB45D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613" r="36802"/>
          <a:stretch>
            <a:fillRect/>
          </a:stretch>
        </p:blipFill>
        <p:spPr>
          <a:xfrm>
            <a:off x="10117476" y="2389866"/>
            <a:ext cx="2063735" cy="1759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250C36-5ADF-F9F9-D965-3FC633012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90414" y="3897317"/>
            <a:ext cx="5602375" cy="20876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D2036A-D66A-3EEB-EA5C-534F7D3E93B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156"/>
          <a:stretch>
            <a:fillRect/>
          </a:stretch>
        </p:blipFill>
        <p:spPr>
          <a:xfrm>
            <a:off x="5559551" y="3897317"/>
            <a:ext cx="4209049" cy="18873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06CBBE-3F2B-311C-8CA4-9046B0E68BE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0733" r="33329"/>
          <a:stretch>
            <a:fillRect/>
          </a:stretch>
        </p:blipFill>
        <p:spPr>
          <a:xfrm>
            <a:off x="10117475" y="5844842"/>
            <a:ext cx="2063735" cy="16468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0B87A4-BCE3-10BA-68CF-4870E76D7A52}"/>
              </a:ext>
            </a:extLst>
          </p:cNvPr>
          <p:cNvSpPr txBox="1"/>
          <p:nvPr/>
        </p:nvSpPr>
        <p:spPr>
          <a:xfrm>
            <a:off x="1344168" y="3063240"/>
            <a:ext cx="336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</a:t>
            </a:r>
            <a:r>
              <a:rPr lang="en-US" altLang="zh-CN" dirty="0"/>
              <a:t>ality1Ans,</a:t>
            </a:r>
            <a:r>
              <a:rPr lang="zh-CN" altLang="en-US" dirty="0"/>
              <a:t> </a:t>
            </a:r>
            <a:r>
              <a:rPr lang="en-US" altLang="zh-CN" dirty="0"/>
              <a:t>DV-&gt;</a:t>
            </a:r>
            <a:r>
              <a:rPr lang="zh-CN" altLang="en-US" dirty="0"/>
              <a:t> </a:t>
            </a:r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7D563F-DE23-9733-544D-427ED0ED01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138" r="-3722"/>
          <a:stretch>
            <a:fillRect/>
          </a:stretch>
        </p:blipFill>
        <p:spPr>
          <a:xfrm>
            <a:off x="9933192" y="668776"/>
            <a:ext cx="2432304" cy="17596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0545EF-2BC1-7E74-3B3B-B702A43F422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4062"/>
          <a:stretch>
            <a:fillRect/>
          </a:stretch>
        </p:blipFill>
        <p:spPr>
          <a:xfrm>
            <a:off x="10117476" y="4173796"/>
            <a:ext cx="2063735" cy="16468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117F224-D67F-E623-AD46-98EDA7A44DF2}"/>
              </a:ext>
            </a:extLst>
          </p:cNvPr>
          <p:cNvSpPr txBox="1"/>
          <p:nvPr/>
        </p:nvSpPr>
        <p:spPr>
          <a:xfrm>
            <a:off x="6291072" y="309067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Sample:</a:t>
            </a:r>
            <a:r>
              <a:rPr lang="zh-CN" altLang="en-US" dirty="0"/>
              <a:t> </a:t>
            </a:r>
            <a:r>
              <a:rPr lang="en-US" altLang="zh-CN" dirty="0"/>
              <a:t>2nd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26996-9E23-0258-AF6A-13A8587E905C}"/>
              </a:ext>
            </a:extLst>
          </p:cNvPr>
          <p:cNvSpPr txBox="1"/>
          <p:nvPr/>
        </p:nvSpPr>
        <p:spPr>
          <a:xfrm>
            <a:off x="1326183" y="6583637"/>
            <a:ext cx="336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</a:t>
            </a:r>
            <a:r>
              <a:rPr lang="en-US" altLang="zh-CN" dirty="0"/>
              <a:t>ality1Ans,</a:t>
            </a:r>
            <a:r>
              <a:rPr lang="zh-CN" altLang="en-US" dirty="0"/>
              <a:t> </a:t>
            </a:r>
            <a:r>
              <a:rPr lang="en-US" altLang="zh-CN" dirty="0"/>
              <a:t>DV-&gt;</a:t>
            </a:r>
            <a:r>
              <a:rPr lang="zh-CN" altLang="en-US" dirty="0"/>
              <a:t> </a:t>
            </a:r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5A012D-3E79-C24C-95BE-2C73393A0944}"/>
              </a:ext>
            </a:extLst>
          </p:cNvPr>
          <p:cNvSpPr txBox="1"/>
          <p:nvPr/>
        </p:nvSpPr>
        <p:spPr>
          <a:xfrm>
            <a:off x="6273087" y="6611069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Sample:</a:t>
            </a:r>
            <a:r>
              <a:rPr lang="zh-CN" altLang="en-US" dirty="0"/>
              <a:t> </a:t>
            </a:r>
            <a:r>
              <a:rPr lang="en-US" altLang="zh-CN" dirty="0"/>
              <a:t>2nd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92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45995-F486-5D25-8D9E-AB8C5BEE9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3E3AED3B-594C-1FEA-EBE4-102E9AD234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Opus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E5B2B1-5DDF-21B2-BFE1-ACDBFAC4B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915609"/>
            <a:ext cx="7772400" cy="18446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BE5AA0-25DE-94BE-7ADD-FC6ED6B21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429000"/>
            <a:ext cx="4663440" cy="1737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7E9074-8938-4B4B-B72B-78406241F4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156"/>
          <a:stretch>
            <a:fillRect/>
          </a:stretch>
        </p:blipFill>
        <p:spPr>
          <a:xfrm>
            <a:off x="5376672" y="3429000"/>
            <a:ext cx="3511296" cy="15745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89265F-B426-D12F-0C13-7917C7C60A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733"/>
          <a:stretch>
            <a:fillRect/>
          </a:stretch>
        </p:blipFill>
        <p:spPr>
          <a:xfrm>
            <a:off x="9015984" y="3429000"/>
            <a:ext cx="3977640" cy="16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8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8118F-C603-2BA6-A9FE-9D8E5BD68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AC5F4E78-CA3D-58C0-AADE-5299A0309C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Opus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E3442D-D6AB-EEAA-B5AE-3DB22E36A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890190"/>
              </p:ext>
            </p:extLst>
          </p:nvPr>
        </p:nvGraphicFramePr>
        <p:xfrm>
          <a:off x="1089977" y="2540726"/>
          <a:ext cx="5501005" cy="3945264"/>
        </p:xfrm>
        <a:graphic>
          <a:graphicData uri="http://schemas.openxmlformats.org/drawingml/2006/table">
            <a:tbl>
              <a:tblPr firstRow="1" firstCol="1" bandRow="1"/>
              <a:tblGrid>
                <a:gridCol w="1497330">
                  <a:extLst>
                    <a:ext uri="{9D8B030D-6E8A-4147-A177-3AD203B41FA5}">
                      <a16:colId xmlns:a16="http://schemas.microsoft.com/office/drawing/2014/main" val="4135568713"/>
                    </a:ext>
                  </a:extLst>
                </a:gridCol>
                <a:gridCol w="711835">
                  <a:extLst>
                    <a:ext uri="{9D8B030D-6E8A-4147-A177-3AD203B41FA5}">
                      <a16:colId xmlns:a16="http://schemas.microsoft.com/office/drawing/2014/main" val="92700847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21363991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405541110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309282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# human answers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first human answer harzard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792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73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-0.046***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0.223**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-0.145***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1.158***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14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(0.084)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(0.042)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(0.313)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160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Length (log, fillNA)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-0.042**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-0.230***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388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(0.053)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752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</a:t>
                      </a:r>
                      <a:r>
                        <a:rPr lang="en-US" sz="11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Sim w/ DeepSeek (</a:t>
                      </a:r>
                      <a:r>
                        <a:rPr lang="en-US" sz="1100" dirty="0" err="1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fillNA</a:t>
                      </a: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-0.050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0.028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45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(0.049)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(0.192)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776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Num. obs.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3613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3559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3613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3559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08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(full model)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2.963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2.942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937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(full model): p-value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181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(proj model)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10.572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10.166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73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(proj model): p-value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5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14406.318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14143.352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53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Max. R2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17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Num. events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2748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444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Missings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961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PH test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39694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04FA4D-E7A1-26C4-32F7-E105C8CCA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151652"/>
              </p:ext>
            </p:extLst>
          </p:nvPr>
        </p:nvGraphicFramePr>
        <p:xfrm>
          <a:off x="8324090" y="2981576"/>
          <a:ext cx="5486400" cy="3063564"/>
        </p:xfrm>
        <a:graphic>
          <a:graphicData uri="http://schemas.openxmlformats.org/drawingml/2006/table">
            <a:tbl>
              <a:tblPr firstRow="1" firstCol="1" bandRow="1"/>
              <a:tblGrid>
                <a:gridCol w="1497330">
                  <a:extLst>
                    <a:ext uri="{9D8B030D-6E8A-4147-A177-3AD203B41FA5}">
                      <a16:colId xmlns:a16="http://schemas.microsoft.com/office/drawing/2014/main" val="281235933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3545338219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88079785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64632876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571891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Answer 1–2 Similarity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Human 1–2 Similarity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886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088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0.029**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-0.182**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-0.024*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-0.046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68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(0.009)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(0.060)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(0.112)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555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Length (log, fillNA)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7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(0.019)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502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Sim w/ DeepSeek (fillNA)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0.348***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0.023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64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(0.034)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(0.064)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528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Num. obs.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1913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1884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1162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1146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054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(full model)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1.451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2.079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1.170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861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(full model): p-value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0.076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0.133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410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(proj model)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3.218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6.385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2.154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2.048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665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(proj model): p-value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92508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13CF5CC-E514-6FCA-D8DF-E9B1BA48B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663956"/>
            <a:ext cx="7772400" cy="182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37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2AA4-11CF-3347-320E-D6F5A89F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4BE02DA-B4C2-FD63-76A0-67C2D3498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09880"/>
            <a:ext cx="13810490" cy="718820"/>
          </a:xfrm>
        </p:spPr>
        <p:txBody>
          <a:bodyPr/>
          <a:lstStyle/>
          <a:p>
            <a:r>
              <a:rPr lang="en-US" altLang="zh-CN" dirty="0"/>
              <a:t>Lexicon-based</a:t>
            </a:r>
            <a:r>
              <a:rPr lang="zh-CN" altLang="en-US" dirty="0"/>
              <a:t> </a:t>
            </a:r>
            <a:r>
              <a:rPr lang="en-US" altLang="zh-CN" dirty="0"/>
              <a:t>DV</a:t>
            </a:r>
            <a:r>
              <a:rPr lang="zh-CN" altLang="en-US" dirty="0"/>
              <a:t> </a:t>
            </a:r>
            <a:r>
              <a:rPr lang="en-US" altLang="zh-CN" sz="2000" dirty="0"/>
              <a:t>(answer</a:t>
            </a:r>
            <a:r>
              <a:rPr lang="zh-CN" altLang="en-US" sz="2000" dirty="0"/>
              <a:t> </a:t>
            </a:r>
            <a:r>
              <a:rPr lang="en-US" altLang="zh-CN" sz="2000" dirty="0"/>
              <a:t>level</a:t>
            </a:r>
            <a:r>
              <a:rPr lang="zh-CN" altLang="en-US" sz="2000" dirty="0"/>
              <a:t> </a:t>
            </a:r>
            <a:r>
              <a:rPr lang="en-US" altLang="zh-CN" sz="2000" dirty="0"/>
              <a:t>analysis</a:t>
            </a:r>
            <a:r>
              <a:rPr lang="zh-CN" altLang="en-US" sz="2000" dirty="0"/>
              <a:t> </a:t>
            </a:r>
            <a:r>
              <a:rPr lang="en-US" altLang="zh-CN" sz="2000" dirty="0"/>
              <a:t>like</a:t>
            </a:r>
            <a:r>
              <a:rPr lang="zh-CN" altLang="en-US" sz="2000" dirty="0"/>
              <a:t> </a:t>
            </a:r>
            <a:r>
              <a:rPr lang="en-US" altLang="zh-CN" sz="2000" dirty="0"/>
              <a:t>innovation)</a:t>
            </a:r>
            <a:endParaRPr lang="en-US" altLang="zh-C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28213E-EF82-8DF1-0250-7053D2E8D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382159"/>
              </p:ext>
            </p:extLst>
          </p:nvPr>
        </p:nvGraphicFramePr>
        <p:xfrm>
          <a:off x="8235819" y="1957601"/>
          <a:ext cx="4762245" cy="4351335"/>
        </p:xfrm>
        <a:graphic>
          <a:graphicData uri="http://schemas.openxmlformats.org/drawingml/2006/table">
            <a:tbl>
              <a:tblPr firstRow="1" firstCol="1" bandRow="1"/>
              <a:tblGrid>
                <a:gridCol w="1232262">
                  <a:extLst>
                    <a:ext uri="{9D8B030D-6E8A-4147-A177-3AD203B41FA5}">
                      <a16:colId xmlns:a16="http://schemas.microsoft.com/office/drawing/2014/main" val="1620609150"/>
                    </a:ext>
                  </a:extLst>
                </a:gridCol>
                <a:gridCol w="586791">
                  <a:extLst>
                    <a:ext uri="{9D8B030D-6E8A-4147-A177-3AD203B41FA5}">
                      <a16:colId xmlns:a16="http://schemas.microsoft.com/office/drawing/2014/main" val="2499341763"/>
                    </a:ext>
                  </a:extLst>
                </a:gridCol>
                <a:gridCol w="733489">
                  <a:extLst>
                    <a:ext uri="{9D8B030D-6E8A-4147-A177-3AD203B41FA5}">
                      <a16:colId xmlns:a16="http://schemas.microsoft.com/office/drawing/2014/main" val="3978340669"/>
                    </a:ext>
                  </a:extLst>
                </a:gridCol>
                <a:gridCol w="644927">
                  <a:extLst>
                    <a:ext uri="{9D8B030D-6E8A-4147-A177-3AD203B41FA5}">
                      <a16:colId xmlns:a16="http://schemas.microsoft.com/office/drawing/2014/main" val="1629443314"/>
                    </a:ext>
                  </a:extLst>
                </a:gridCol>
                <a:gridCol w="782388">
                  <a:extLst>
                    <a:ext uri="{9D8B030D-6E8A-4147-A177-3AD203B41FA5}">
                      <a16:colId xmlns:a16="http://schemas.microsoft.com/office/drawing/2014/main" val="810952468"/>
                    </a:ext>
                  </a:extLst>
                </a:gridCol>
                <a:gridCol w="782388">
                  <a:extLst>
                    <a:ext uri="{9D8B030D-6E8A-4147-A177-3AD203B41FA5}">
                      <a16:colId xmlns:a16="http://schemas.microsoft.com/office/drawing/2014/main" val="500350777"/>
                    </a:ext>
                  </a:extLst>
                </a:gridCol>
              </a:tblGrid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Lexicon Personal Experience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126350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(2)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(4)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(5)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957716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0.002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-0.028·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-0.016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-0.015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581049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(0.015)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(0.016)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(0.016)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(0.016)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543489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Length (log, fillNA)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0.005·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0.005·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0.005·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529446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249716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Quality (fillNA)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0.001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672925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(0.001)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957299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Sim w/ Accept (fillNA)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0.001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510828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508758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Sim w/ Opus 4.7 (fillNA)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-0.014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533926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(0.019)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520562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Sim w/ DeepSeek (fillNA)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-0.016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149998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(0.018)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19397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Num. obs.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4670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4668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4663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4652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4612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332077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(full model)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0.853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0.855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0.852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0.855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170992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(full model): p-value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0.924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0.922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0.926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0.923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0.921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906306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(proj model)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0.866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0.855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0.831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0.850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0.817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379743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(proj model): p-value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0.701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0.725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0.763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0.733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0.784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1927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519A54-3869-3B23-E756-553CDE62670B}"/>
                  </a:ext>
                </a:extLst>
              </p14:cNvPr>
              <p14:cNvContentPartPr/>
              <p14:nvPr/>
            </p14:nvContentPartPr>
            <p14:xfrm>
              <a:off x="9815582" y="250334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519A54-3869-3B23-E756-553CDE6267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09462" y="249722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ADBE4F0-6A47-4985-21B3-9481F6AFC9FB}"/>
                  </a:ext>
                </a:extLst>
              </p14:cNvPr>
              <p14:cNvContentPartPr/>
              <p14:nvPr/>
            </p14:nvContentPartPr>
            <p14:xfrm>
              <a:off x="10616942" y="2197704"/>
              <a:ext cx="468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ADBE4F0-6A47-4985-21B3-9481F6AFC9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10822" y="2191584"/>
                <a:ext cx="16920" cy="12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DFB2C3-2154-02B2-AA9D-65AEB1B96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5896"/>
              </p:ext>
            </p:extLst>
          </p:nvPr>
        </p:nvGraphicFramePr>
        <p:xfrm>
          <a:off x="1632336" y="1957597"/>
          <a:ext cx="4762245" cy="4351339"/>
        </p:xfrm>
        <a:graphic>
          <a:graphicData uri="http://schemas.openxmlformats.org/drawingml/2006/table">
            <a:tbl>
              <a:tblPr firstRow="1" firstCol="1" bandRow="1"/>
              <a:tblGrid>
                <a:gridCol w="1244185">
                  <a:extLst>
                    <a:ext uri="{9D8B030D-6E8A-4147-A177-3AD203B41FA5}">
                      <a16:colId xmlns:a16="http://schemas.microsoft.com/office/drawing/2014/main" val="4278064489"/>
                    </a:ext>
                  </a:extLst>
                </a:gridCol>
                <a:gridCol w="498439">
                  <a:extLst>
                    <a:ext uri="{9D8B030D-6E8A-4147-A177-3AD203B41FA5}">
                      <a16:colId xmlns:a16="http://schemas.microsoft.com/office/drawing/2014/main" val="2143742234"/>
                    </a:ext>
                  </a:extLst>
                </a:gridCol>
                <a:gridCol w="649744">
                  <a:extLst>
                    <a:ext uri="{9D8B030D-6E8A-4147-A177-3AD203B41FA5}">
                      <a16:colId xmlns:a16="http://schemas.microsoft.com/office/drawing/2014/main" val="4106839217"/>
                    </a:ext>
                  </a:extLst>
                </a:gridCol>
                <a:gridCol w="789959">
                  <a:extLst>
                    <a:ext uri="{9D8B030D-6E8A-4147-A177-3AD203B41FA5}">
                      <a16:colId xmlns:a16="http://schemas.microsoft.com/office/drawing/2014/main" val="435764017"/>
                    </a:ext>
                  </a:extLst>
                </a:gridCol>
                <a:gridCol w="789959">
                  <a:extLst>
                    <a:ext uri="{9D8B030D-6E8A-4147-A177-3AD203B41FA5}">
                      <a16:colId xmlns:a16="http://schemas.microsoft.com/office/drawing/2014/main" val="1095844696"/>
                    </a:ext>
                  </a:extLst>
                </a:gridCol>
                <a:gridCol w="789959">
                  <a:extLst>
                    <a:ext uri="{9D8B030D-6E8A-4147-A177-3AD203B41FA5}">
                      <a16:colId xmlns:a16="http://schemas.microsoft.com/office/drawing/2014/main" val="1853325941"/>
                    </a:ext>
                  </a:extLst>
                </a:gridCol>
              </a:tblGrid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Lexicon Personal Experience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198494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(2)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(4)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(5)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616046"/>
                  </a:ext>
                </a:extLst>
              </a:tr>
              <a:tr h="4174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-0.002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-0.026·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-0.022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-0.029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-0.021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519488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(0.015)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(0.016)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(0.019)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(0.017)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738763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Length (log, fillNA)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0.003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382618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418950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Quality (</a:t>
                      </a: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fillNA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0.001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26861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(0.001)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459801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Sim w/ Accept (</a:t>
                      </a: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fillNA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-0.003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183937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(0.013)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094711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Sim w/ Opus 4.7 (</a:t>
                      </a: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fillNA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0.012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222224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(0.018)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95164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Sim w/ DeepSeek (</a:t>
                      </a: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fillNA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-0.005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350864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(0.021)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956761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Num. obs.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2748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2747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2745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2739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2719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950656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(full model)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1.107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1.101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1.098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1.100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1.097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655600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(full model): p-value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0.160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0.174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0.180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0.175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0.182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557214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(proj model)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0.606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0.574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0.575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0.576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0.575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116801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(proj model): p-value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0.972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01499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9A848AD-9D8E-76D5-F766-D2ADB58A2AE4}"/>
              </a:ext>
            </a:extLst>
          </p:cNvPr>
          <p:cNvSpPr txBox="1"/>
          <p:nvPr/>
        </p:nvSpPr>
        <p:spPr>
          <a:xfrm>
            <a:off x="2378908" y="1308482"/>
            <a:ext cx="3269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BAE27C-0B87-4567-25A6-9CFF97835C30}"/>
              </a:ext>
            </a:extLst>
          </p:cNvPr>
          <p:cNvSpPr txBox="1"/>
          <p:nvPr/>
        </p:nvSpPr>
        <p:spPr>
          <a:xfrm>
            <a:off x="8687011" y="1308482"/>
            <a:ext cx="2668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942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2BF1-E83C-E91F-07F2-04A650B8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857EF-E714-DA2D-6D45-E057ED755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3FE39E-FC48-4DF6-2D73-88A942E7CC6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810490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>
                <a:cs typeface="Times New Roman" panose="02020603050405020304" pitchFamily="18" charset="0"/>
              </a:rPr>
              <a:t>competition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logic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ea typeface="微软雅黑" panose="020B0503020204020204" pitchFamily="34" charset="-122"/>
              </a:rPr>
              <a:t>answerNum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&amp;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timeliness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endParaRPr lang="en-US" altLang="zh-CN" sz="1500" dirty="0">
              <a:ea typeface="微软雅黑" panose="020B0503020204020204" pitchFamily="34" charset="-122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innovation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TW" sz="1600" b="1" dirty="0"/>
              <a:t>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AI" vs 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Human"</a:t>
            </a:r>
          </a:p>
          <a:p>
            <a:pPr lvl="2" defTabSz="914327">
              <a:lnSpc>
                <a:spcPct val="120000"/>
              </a:lnSpc>
            </a:pPr>
            <a:r>
              <a:rPr lang="en-US" sz="1600" b="1" dirty="0"/>
              <a:t>AI </a:t>
            </a:r>
            <a:r>
              <a:rPr lang="zh-TW" altLang="en-US" sz="1600" b="1" dirty="0"/>
              <a:t>在场如何影响 </a:t>
            </a:r>
            <a:r>
              <a:rPr lang="en-US" sz="1600" b="1" dirty="0"/>
              <a:t>Human2 vs Human1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0CA8E-E766-43C4-3339-C759CADDAB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599" b="61121"/>
          <a:stretch>
            <a:fillRect/>
          </a:stretch>
        </p:blipFill>
        <p:spPr bwMode="auto">
          <a:xfrm>
            <a:off x="5714429" y="3760037"/>
            <a:ext cx="7662706" cy="1627833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55E52-EE68-79EA-1E45-CC7E58023AE8}"/>
              </a:ext>
            </a:extLst>
          </p:cNvPr>
          <p:cNvSpPr txBox="1"/>
          <p:nvPr/>
        </p:nvSpPr>
        <p:spPr>
          <a:xfrm>
            <a:off x="8575698" y="35882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FC800-46BA-02A4-D050-2CA18CDC6F55}"/>
              </a:ext>
            </a:extLst>
          </p:cNvPr>
          <p:cNvSpPr txBox="1"/>
          <p:nvPr/>
        </p:nvSpPr>
        <p:spPr>
          <a:xfrm>
            <a:off x="9886589" y="43892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E1413-608B-7EE9-7F54-C9A84E2B17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1320" r="-5862"/>
          <a:stretch>
            <a:fillRect/>
          </a:stretch>
        </p:blipFill>
        <p:spPr bwMode="auto">
          <a:xfrm>
            <a:off x="5894463" y="5387870"/>
            <a:ext cx="7984253" cy="120079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24079D-40FA-B5FB-898D-8FDCAE5EB4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82"/>
          <a:stretch>
            <a:fillRect/>
          </a:stretch>
        </p:blipFill>
        <p:spPr bwMode="auto">
          <a:xfrm>
            <a:off x="5714429" y="269335"/>
            <a:ext cx="7542125" cy="299440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47B1F4-F77A-3873-5FFF-54339CB5910C}"/>
              </a:ext>
            </a:extLst>
          </p:cNvPr>
          <p:cNvSpPr txBox="1"/>
          <p:nvPr/>
        </p:nvSpPr>
        <p:spPr>
          <a:xfrm>
            <a:off x="8525456" y="110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0560E-442F-8A53-53EC-EB9D374F311E}"/>
              </a:ext>
            </a:extLst>
          </p:cNvPr>
          <p:cNvSpPr txBox="1"/>
          <p:nvPr/>
        </p:nvSpPr>
        <p:spPr>
          <a:xfrm>
            <a:off x="8525456" y="9110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302602-3E9B-AB3F-B486-634E32545F3C}"/>
              </a:ext>
            </a:extLst>
          </p:cNvPr>
          <p:cNvCxnSpPr/>
          <p:nvPr/>
        </p:nvCxnSpPr>
        <p:spPr>
          <a:xfrm flipV="1">
            <a:off x="4696691" y="1475509"/>
            <a:ext cx="852054" cy="997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AC6D23-55E4-FCB4-B5F0-47F025F9FA80}"/>
              </a:ext>
            </a:extLst>
          </p:cNvPr>
          <p:cNvCxnSpPr>
            <a:cxnSpLocks/>
          </p:cNvCxnSpPr>
          <p:nvPr/>
        </p:nvCxnSpPr>
        <p:spPr>
          <a:xfrm>
            <a:off x="4696691" y="3034145"/>
            <a:ext cx="852054" cy="172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9C8ABC-A99D-E116-B4BB-9D5B3EEF92DC}"/>
              </a:ext>
            </a:extLst>
          </p:cNvPr>
          <p:cNvSpPr txBox="1"/>
          <p:nvPr/>
        </p:nvSpPr>
        <p:spPr>
          <a:xfrm>
            <a:off x="603315" y="5526602"/>
            <a:ext cx="28437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DV:</a:t>
            </a:r>
            <a:r>
              <a:rPr lang="zh-CN" altLang="en-US" dirty="0"/>
              <a:t> </a:t>
            </a:r>
            <a:r>
              <a:rPr lang="en-US" altLang="zh-CN" dirty="0"/>
              <a:t>2ndAnsInnovation</a:t>
            </a:r>
          </a:p>
          <a:p>
            <a:r>
              <a:rPr lang="en-US" altLang="zh-CN" dirty="0"/>
              <a:t>IV:</a:t>
            </a:r>
            <a:r>
              <a:rPr lang="zh-CN" altLang="en-US" dirty="0"/>
              <a:t> </a:t>
            </a:r>
            <a:r>
              <a:rPr lang="en-US" altLang="zh-CN" dirty="0" err="1"/>
              <a:t>firstAnsSimWithAccept</a:t>
            </a:r>
            <a:endParaRPr lang="en-US" altLang="zh-CN" dirty="0"/>
          </a:p>
          <a:p>
            <a:r>
              <a:rPr lang="en-US" altLang="zh-CN" dirty="0"/>
              <a:t>Sample: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B5F276-DED0-11D9-36C3-28AA87DDB670}"/>
              </a:ext>
            </a:extLst>
          </p:cNvPr>
          <p:cNvSpPr txBox="1"/>
          <p:nvPr/>
        </p:nvSpPr>
        <p:spPr>
          <a:xfrm>
            <a:off x="3926214" y="6080600"/>
            <a:ext cx="306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Alternative</a:t>
            </a:r>
            <a:r>
              <a:rPr lang="zh-CN" altLang="en-US" dirty="0"/>
              <a:t> </a:t>
            </a:r>
            <a:r>
              <a:rPr lang="en-US" altLang="zh-CN" dirty="0"/>
              <a:t>become</a:t>
            </a:r>
            <a:r>
              <a:rPr lang="zh-CN" altLang="en-US" dirty="0"/>
              <a:t> </a:t>
            </a:r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59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4493-25C6-EFC3-95C0-0E7689032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52D35E-B2F8-319D-90D4-10D10DCFD0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091"/>
          <a:stretch>
            <a:fillRect/>
          </a:stretch>
        </p:blipFill>
        <p:spPr>
          <a:xfrm>
            <a:off x="3020112" y="1064113"/>
            <a:ext cx="8590176" cy="2364887"/>
          </a:xfrm>
          <a:prstGeom prst="rect">
            <a:avLst/>
          </a:prstGeom>
        </p:spPr>
      </p:pic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3F4E08E-4637-2D82-EA86-8A392AB9F1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Opus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B2AE05-C6DC-0B0C-8792-3F1B6F48F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620443"/>
            <a:ext cx="7772400" cy="214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80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99909</TotalTime>
  <Words>969</Words>
  <Application>Microsoft Macintosh PowerPoint</Application>
  <PresentationFormat>Custom</PresentationFormat>
  <Paragraphs>415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微软雅黑</vt:lpstr>
      <vt:lpstr>Calibri Light</vt:lpstr>
      <vt:lpstr>Times New Roman</vt:lpstr>
      <vt:lpstr>Lato</vt:lpstr>
      <vt:lpstr>Lato Black</vt:lpstr>
      <vt:lpstr>Lato Light</vt:lpstr>
      <vt:lpstr>Calibri</vt:lpstr>
      <vt:lpstr>Arial</vt:lpstr>
      <vt:lpstr>Wingdings</vt:lpstr>
      <vt:lpstr>Cambria</vt:lpstr>
      <vt:lpstr>等线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426</cp:revision>
  <dcterms:created xsi:type="dcterms:W3CDTF">2020-04-20T03:29:34Z</dcterms:created>
  <dcterms:modified xsi:type="dcterms:W3CDTF">2026-05-21T06:46:15Z</dcterms:modified>
  <cp:category/>
</cp:coreProperties>
</file>