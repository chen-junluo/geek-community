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7" r:id="rId2"/>
    <p:sldId id="258" r:id="rId3"/>
    <p:sldId id="301" r:id="rId4"/>
    <p:sldId id="302" r:id="rId5"/>
    <p:sldId id="300" r:id="rId6"/>
    <p:sldId id="303" r:id="rId7"/>
    <p:sldId id="263" r:id="rId8"/>
    <p:sldId id="264" r:id="rId9"/>
    <p:sldId id="265" r:id="rId10"/>
    <p:sldId id="268" r:id="rId11"/>
    <p:sldId id="266" r:id="rId12"/>
    <p:sldId id="307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61" r:id="rId21"/>
    <p:sldId id="287" r:id="rId22"/>
    <p:sldId id="288" r:id="rId23"/>
    <p:sldId id="289" r:id="rId24"/>
    <p:sldId id="279" r:id="rId25"/>
    <p:sldId id="280" r:id="rId26"/>
    <p:sldId id="290" r:id="rId27"/>
    <p:sldId id="291" r:id="rId28"/>
    <p:sldId id="292" r:id="rId29"/>
    <p:sldId id="276" r:id="rId30"/>
    <p:sldId id="308" r:id="rId31"/>
    <p:sldId id="309" r:id="rId32"/>
    <p:sldId id="293" r:id="rId33"/>
    <p:sldId id="294" r:id="rId34"/>
    <p:sldId id="295" r:id="rId35"/>
    <p:sldId id="283" r:id="rId36"/>
    <p:sldId id="260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600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908" autoAdjust="0"/>
    <p:restoredTop sz="75790"/>
  </p:normalViewPr>
  <p:slideViewPr>
    <p:cSldViewPr snapToGrid="0">
      <p:cViewPr>
        <p:scale>
          <a:sx n="85" d="100"/>
          <a:sy n="85" d="100"/>
        </p:scale>
        <p:origin x="264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106987-B895-5346-B4FC-A20FE09C9E50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00C987-A540-F746-98B3-A5C47D9CC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50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Here,</a:t>
            </a:r>
            <a:r>
              <a:rPr lang="zh-CN" altLang="en-US" dirty="0"/>
              <a:t> </a:t>
            </a:r>
            <a:r>
              <a:rPr lang="en-US" altLang="zh-CN" dirty="0"/>
              <a:t>Internal</a:t>
            </a:r>
            <a:r>
              <a:rPr lang="zh-CN" altLang="en-US" dirty="0"/>
              <a:t> </a:t>
            </a:r>
            <a:r>
              <a:rPr lang="en-US" altLang="zh-CN" dirty="0"/>
              <a:t>GenAI</a:t>
            </a:r>
            <a:r>
              <a:rPr lang="zh-CN" altLang="en-US" dirty="0"/>
              <a:t> </a:t>
            </a:r>
            <a:r>
              <a:rPr lang="en-US" altLang="zh-CN" dirty="0"/>
              <a:t>means</a:t>
            </a:r>
            <a:r>
              <a:rPr lang="zh-CN" altLang="en-US" dirty="0"/>
              <a:t> </a:t>
            </a:r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altLang="zh-CN" dirty="0"/>
              <a:t>bots</a:t>
            </a:r>
            <a:r>
              <a:rPr lang="zh-CN" altLang="en-US" dirty="0"/>
              <a:t> </a:t>
            </a:r>
            <a:r>
              <a:rPr lang="en-US" altLang="zh-CN" dirty="0"/>
              <a:t>developed</a:t>
            </a:r>
            <a:r>
              <a:rPr lang="zh-CN" altLang="en-US" dirty="0"/>
              <a:t> </a:t>
            </a:r>
            <a:r>
              <a:rPr lang="en-US" altLang="zh-CN" dirty="0"/>
              <a:t>by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platform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used</a:t>
            </a:r>
            <a:r>
              <a:rPr lang="zh-CN" altLang="en-US" dirty="0"/>
              <a:t> </a:t>
            </a:r>
            <a:r>
              <a:rPr lang="en-US" altLang="zh-CN" dirty="0"/>
              <a:t>only</a:t>
            </a:r>
            <a:r>
              <a:rPr lang="zh-CN" altLang="en-US" dirty="0"/>
              <a:t> </a:t>
            </a:r>
            <a:r>
              <a:rPr lang="en-US" altLang="zh-CN" dirty="0"/>
              <a:t>within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particular</a:t>
            </a:r>
            <a:r>
              <a:rPr lang="zh-CN" altLang="en-US" dirty="0"/>
              <a:t> </a:t>
            </a:r>
            <a:r>
              <a:rPr lang="en-US" altLang="zh-CN" dirty="0"/>
              <a:t>platform,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opposed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general</a:t>
            </a:r>
            <a:r>
              <a:rPr lang="zh-CN" altLang="en-US" dirty="0"/>
              <a:t> </a:t>
            </a:r>
            <a:r>
              <a:rPr lang="en-US" altLang="zh-CN" dirty="0"/>
              <a:t>purpose</a:t>
            </a:r>
            <a:r>
              <a:rPr lang="zh-CN" altLang="en-US" dirty="0"/>
              <a:t> </a:t>
            </a:r>
            <a:r>
              <a:rPr lang="en-US" altLang="zh-CN" dirty="0"/>
              <a:t>GenAI</a:t>
            </a:r>
            <a:r>
              <a:rPr lang="zh-CN" altLang="en-US" dirty="0"/>
              <a:t> </a:t>
            </a:r>
            <a:r>
              <a:rPr lang="en-US" altLang="zh-CN" dirty="0"/>
              <a:t>like</a:t>
            </a:r>
            <a:r>
              <a:rPr lang="zh-CN" altLang="en-US" dirty="0"/>
              <a:t> </a:t>
            </a:r>
            <a:r>
              <a:rPr lang="en-US" altLang="zh-CN" dirty="0"/>
              <a:t>ChatGPT.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0C987-A540-F746-98B3-A5C47D9CC21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752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711B0-974E-B2E1-0AE6-66520EB51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A2B17A-4FF6-2E9F-7EB3-0AA5EFAA86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70D0DA-4719-85DB-DB35-4EFA01D925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altLang="zh-CN" dirty="0"/>
              <a:t>Important</a:t>
            </a:r>
            <a:r>
              <a:rPr lang="zh-CN" altLang="en-US" dirty="0"/>
              <a:t> </a:t>
            </a:r>
            <a:r>
              <a:rPr lang="en-US" altLang="zh-CN" dirty="0"/>
              <a:t>domain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research</a:t>
            </a:r>
          </a:p>
          <a:p>
            <a:pPr marL="228600" indent="-228600">
              <a:buAutoNum type="arabicPeriod"/>
            </a:pPr>
            <a:r>
              <a:rPr lang="en-US" altLang="zh-CN" dirty="0"/>
              <a:t>3</a:t>
            </a:r>
            <a:r>
              <a:rPr lang="zh-CN" altLang="en-US" dirty="0"/>
              <a:t> </a:t>
            </a:r>
            <a:r>
              <a:rPr lang="en-US" altLang="zh-CN" dirty="0"/>
              <a:t>parties:</a:t>
            </a:r>
            <a:r>
              <a:rPr lang="zh-CN" altLang="en-US" dirty="0"/>
              <a:t> </a:t>
            </a:r>
            <a:r>
              <a:rPr lang="en-US" altLang="zh-CN" dirty="0"/>
              <a:t>questioners</a:t>
            </a:r>
            <a:r>
              <a:rPr lang="zh-CN" altLang="en-US" dirty="0"/>
              <a:t> </a:t>
            </a:r>
            <a:r>
              <a:rPr lang="en-US" altLang="zh-CN" dirty="0"/>
              <a:t>ask</a:t>
            </a:r>
            <a:r>
              <a:rPr lang="zh-CN" altLang="en-US" dirty="0"/>
              <a:t> </a:t>
            </a:r>
            <a:r>
              <a:rPr lang="en-US" altLang="zh-CN" dirty="0"/>
              <a:t>questions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communities,</a:t>
            </a:r>
            <a:r>
              <a:rPr lang="zh-CN" altLang="en-US" dirty="0"/>
              <a:t> </a:t>
            </a:r>
            <a:r>
              <a:rPr lang="en-US" altLang="zh-CN" dirty="0"/>
              <a:t>answerers</a:t>
            </a:r>
            <a:r>
              <a:rPr lang="zh-CN" altLang="en-US" dirty="0"/>
              <a:t> </a:t>
            </a:r>
            <a:r>
              <a:rPr lang="en-US" altLang="zh-CN" dirty="0"/>
              <a:t>supply</a:t>
            </a:r>
            <a:r>
              <a:rPr lang="zh-CN" altLang="en-US" dirty="0"/>
              <a:t> </a:t>
            </a:r>
            <a:r>
              <a:rPr lang="en-US" altLang="zh-CN" dirty="0"/>
              <a:t>answers,</a:t>
            </a:r>
            <a:r>
              <a:rPr lang="zh-CN" altLang="en-US" dirty="0"/>
              <a:t> </a:t>
            </a:r>
            <a:r>
              <a:rPr lang="en-US" altLang="zh-CN" dirty="0"/>
              <a:t>viewers</a:t>
            </a:r>
            <a:r>
              <a:rPr lang="zh-CN" altLang="en-US" dirty="0"/>
              <a:t> </a:t>
            </a:r>
            <a:r>
              <a:rPr lang="en-US" altLang="zh-CN" dirty="0"/>
              <a:t>read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answers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provide</a:t>
            </a:r>
            <a:r>
              <a:rPr lang="zh-CN" altLang="en-US" dirty="0"/>
              <a:t> </a:t>
            </a:r>
            <a:r>
              <a:rPr lang="en-US" altLang="zh-CN" dirty="0"/>
              <a:t>recognition</a:t>
            </a:r>
            <a:r>
              <a:rPr lang="zh-CN" altLang="en-US" dirty="0"/>
              <a:t> </a:t>
            </a:r>
            <a:r>
              <a:rPr lang="en-US" altLang="zh-CN" dirty="0"/>
              <a:t>through</a:t>
            </a:r>
            <a:r>
              <a:rPr lang="zh-CN" altLang="en-US" dirty="0"/>
              <a:t> </a:t>
            </a:r>
            <a:r>
              <a:rPr lang="en-US" altLang="zh-CN" dirty="0"/>
              <a:t>votes</a:t>
            </a:r>
            <a:r>
              <a:rPr lang="zh-CN" altLang="en-US" dirty="0"/>
              <a:t> </a:t>
            </a:r>
            <a:r>
              <a:rPr lang="en-US" altLang="zh-CN" dirty="0"/>
              <a:t>or</a:t>
            </a:r>
            <a:r>
              <a:rPr lang="zh-CN" altLang="en-US" dirty="0"/>
              <a:t> </a:t>
            </a:r>
            <a:r>
              <a:rPr lang="en-US" altLang="zh-CN" dirty="0"/>
              <a:t>likes.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008B5-03D9-CC21-8F0A-3663C51ED3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0C987-A540-F746-98B3-A5C47D9CC21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7563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D2B6A-EB5E-28B4-CB2E-47C841F1B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0BD2F9-0501-77FD-DACE-9C29F8834D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4A80A9-E284-D062-E42B-29A8CB6932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 </a:t>
            </a:r>
            <a:r>
              <a:rPr lang="en-US" altLang="zh-CN" dirty="0"/>
              <a:t>ChatGPT</a:t>
            </a:r>
            <a:r>
              <a:rPr lang="zh-CN" altLang="en-US" dirty="0"/>
              <a:t> </a:t>
            </a:r>
            <a:r>
              <a:rPr lang="en-US" altLang="zh-CN" dirty="0"/>
              <a:t>challenges.</a:t>
            </a:r>
            <a:r>
              <a:rPr lang="zh-CN" altLang="en-US" dirty="0"/>
              <a:t> </a:t>
            </a:r>
            <a:br>
              <a:rPr lang="en-US" altLang="zh-CN" dirty="0"/>
            </a:br>
            <a:r>
              <a:rPr lang="en-US" altLang="zh-CN" dirty="0"/>
              <a:t>2.</a:t>
            </a:r>
            <a:r>
              <a:rPr lang="zh-CN" altLang="en-US" dirty="0"/>
              <a:t> </a:t>
            </a:r>
            <a:r>
              <a:rPr lang="en-US" altLang="zh-CN" dirty="0"/>
              <a:t>Many</a:t>
            </a:r>
            <a:r>
              <a:rPr lang="zh-CN" altLang="en-US" dirty="0"/>
              <a:t> </a:t>
            </a:r>
            <a:r>
              <a:rPr lang="en-US" altLang="zh-CN" dirty="0"/>
              <a:t>existing</a:t>
            </a:r>
            <a:r>
              <a:rPr lang="zh-CN" altLang="en-US" dirty="0"/>
              <a:t> </a:t>
            </a:r>
            <a:r>
              <a:rPr lang="en-US" altLang="zh-CN" dirty="0"/>
              <a:t>studies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ED4EFF-F0E8-DA8F-2B54-2976C132D1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0C987-A540-F746-98B3-A5C47D9CC21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7082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18EFC-1884-17D2-75B8-D923A5A98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CC64CB-9A39-AD4F-CA7C-F2BDA030A3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B57601-90A1-C5C0-89EE-975293FA04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71500" lvl="1" indent="-228600" fontAlgn="base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1.</a:t>
            </a: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differently,</a:t>
            </a: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we</a:t>
            </a: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study</a:t>
            </a: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total</a:t>
            </a: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different</a:t>
            </a: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phenomenon.</a:t>
            </a: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GenAI</a:t>
            </a:r>
          </a:p>
          <a:p>
            <a:pPr marL="571500" lvl="1" indent="-228600" fontAlgn="base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2.</a:t>
            </a: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What</a:t>
            </a: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is?</a:t>
            </a: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zh-C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lvl="1" indent="-228600" fontAlgn="base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3.</a:t>
            </a: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Why</a:t>
            </a: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do</a:t>
            </a: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b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first,</a:t>
            </a: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they</a:t>
            </a: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want</a:t>
            </a: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keep</a:t>
            </a: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questioners</a:t>
            </a:r>
            <a:b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second,</a:t>
            </a: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platform</a:t>
            </a: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advantage</a:t>
            </a:r>
          </a:p>
          <a:p>
            <a:pPr marL="571500" lvl="1" indent="-228600" fontAlgn="base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4.</a:t>
            </a: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why</a:t>
            </a: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investigate</a:t>
            </a:r>
            <a:b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work</a:t>
            </a: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as</a:t>
            </a: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dirty="0" err="1">
                <a:latin typeface="Arial" panose="020B0604020202020204" pitchFamily="34" charset="0"/>
                <a:cs typeface="Arial" panose="020B0604020202020204" pitchFamily="34" charset="0"/>
              </a:rPr>
              <a:t>espected</a:t>
            </a: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maybe</a:t>
            </a: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it</a:t>
            </a: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back</a:t>
            </a: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dirty="0" err="1">
                <a:latin typeface="Arial" panose="020B0604020202020204" pitchFamily="34" charset="0"/>
                <a:cs typeface="Arial" panose="020B0604020202020204" pitchFamily="34" charset="0"/>
              </a:rPr>
              <a:t>fiers</a:t>
            </a:r>
            <a:b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competing</a:t>
            </a: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theoretical</a:t>
            </a: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prediction</a:t>
            </a: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zh-C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7BC495-0016-F1F8-7125-A60BF9C00F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0C987-A540-F746-98B3-A5C47D9CC21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6562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8494B-AE0B-A72B-494C-63E2C2381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292EE3-D93C-7DAD-6539-D7FC02E034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C4C979-8ACF-A125-F15F-CAA8B0C241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59EA2A-D931-1FF4-5D63-BB767C2358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0C987-A540-F746-98B3-A5C47D9CC21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8521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A77F1-C5EB-4F2E-718F-4DAE1C924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BC482C-A9F1-489F-CDA4-FB99F3F07C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C698A7-E431-F933-8404-873A45F5F4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altLang="zh-CN" dirty="0"/>
              <a:t>Platform</a:t>
            </a:r>
            <a:r>
              <a:rPr lang="zh-CN" altLang="en-US" dirty="0"/>
              <a:t> </a:t>
            </a:r>
            <a:r>
              <a:rPr lang="en-US" altLang="zh-CN" dirty="0"/>
              <a:t>provide</a:t>
            </a:r>
            <a:r>
              <a:rPr lang="zh-CN" altLang="en-US" dirty="0"/>
              <a:t> </a:t>
            </a:r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altLang="zh-CN" dirty="0"/>
              <a:t>answers</a:t>
            </a:r>
            <a:r>
              <a:rPr lang="zh-CN" altLang="en-US" dirty="0"/>
              <a:t> </a:t>
            </a:r>
            <a:r>
              <a:rPr lang="en-US" altLang="zh-CN" dirty="0"/>
              <a:t>before</a:t>
            </a:r>
            <a:r>
              <a:rPr lang="zh-CN" altLang="en-US" dirty="0"/>
              <a:t> </a:t>
            </a:r>
            <a:r>
              <a:rPr lang="en-US" altLang="zh-CN" dirty="0"/>
              <a:t>any</a:t>
            </a:r>
            <a:r>
              <a:rPr lang="zh-CN" altLang="en-US" dirty="0"/>
              <a:t> </a:t>
            </a:r>
            <a:r>
              <a:rPr lang="en-US" altLang="zh-CN" dirty="0"/>
              <a:t>human</a:t>
            </a:r>
            <a:r>
              <a:rPr lang="zh-CN" altLang="en-US" dirty="0"/>
              <a:t> </a:t>
            </a:r>
            <a:r>
              <a:rPr lang="en-US" altLang="zh-CN" dirty="0"/>
              <a:t>answers</a:t>
            </a:r>
          </a:p>
          <a:p>
            <a:pPr lvl="0" fontAlgn="base">
              <a:lnSpc>
                <a:spcPct val="16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200" dirty="0"/>
              <a:t>Setting</a:t>
            </a:r>
            <a:r>
              <a:rPr lang="zh-CN" altLang="en-US" sz="2200" dirty="0"/>
              <a:t> </a:t>
            </a:r>
            <a:r>
              <a:rPr lang="en-US" altLang="zh-CN" sz="2200" dirty="0"/>
              <a:t>Advantages</a:t>
            </a:r>
            <a:r>
              <a:rPr lang="en-US" altLang="en-US" sz="2200" dirty="0"/>
              <a:t>:</a:t>
            </a:r>
          </a:p>
          <a:p>
            <a:pPr lvl="1" fontAlgn="base">
              <a:lnSpc>
                <a:spcPct val="16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/>
              <a:t>Clean randomization </a:t>
            </a:r>
          </a:p>
          <a:p>
            <a:pPr lvl="1" fontAlgn="base">
              <a:lnSpc>
                <a:spcPct val="16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/>
              <a:t>Explicit AI labeling (observable AI vs. human contributions)</a:t>
            </a:r>
          </a:p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5BCD88-81C3-3F89-5E44-6BFD7DA5EE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0C987-A540-F746-98B3-A5C47D9CC21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949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24EBB-D555-885A-29B6-10C95A470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546B44-2676-F5CE-93CC-07A74153C4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7ED955-9D61-2032-4719-71FE6AD2F3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altLang="zh-CN" dirty="0"/>
              <a:t>Questions</a:t>
            </a:r>
          </a:p>
          <a:p>
            <a:pPr marL="228600" indent="-228600">
              <a:buAutoNum type="arabicPeriod"/>
            </a:pPr>
            <a:r>
              <a:rPr lang="en-US" altLang="zh-CN" dirty="0"/>
              <a:t>Immediately</a:t>
            </a:r>
            <a:r>
              <a:rPr lang="zh-CN" altLang="en-US" dirty="0"/>
              <a:t> </a:t>
            </a:r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altLang="zh-CN" dirty="0"/>
              <a:t>answer</a:t>
            </a:r>
            <a:r>
              <a:rPr lang="zh-CN" altLang="en-US" dirty="0"/>
              <a:t> </a:t>
            </a:r>
            <a:r>
              <a:rPr lang="en-US" altLang="zh-CN" dirty="0"/>
              <a:t>versus</a:t>
            </a:r>
            <a:r>
              <a:rPr lang="zh-CN" altLang="en-US" dirty="0"/>
              <a:t> </a:t>
            </a:r>
            <a:r>
              <a:rPr lang="en-US" altLang="zh-CN" dirty="0"/>
              <a:t>no</a:t>
            </a:r>
            <a:r>
              <a:rPr lang="zh-CN" altLang="en-US" dirty="0"/>
              <a:t> </a:t>
            </a:r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altLang="zh-CN" dirty="0"/>
              <a:t>answers</a:t>
            </a:r>
          </a:p>
          <a:p>
            <a:pPr marL="228600" indent="-228600">
              <a:buAutoNum type="arabicPeriod"/>
            </a:pPr>
            <a:r>
              <a:rPr lang="en-US" altLang="zh-CN" dirty="0"/>
              <a:t>All</a:t>
            </a:r>
            <a:r>
              <a:rPr lang="zh-CN" altLang="en-US" dirty="0"/>
              <a:t> </a:t>
            </a:r>
            <a:r>
              <a:rPr lang="en-US" altLang="zh-CN" dirty="0"/>
              <a:t>have</a:t>
            </a:r>
            <a:r>
              <a:rPr lang="zh-CN" altLang="en-US" dirty="0"/>
              <a:t> </a:t>
            </a:r>
            <a:r>
              <a:rPr lang="en-US" altLang="zh-CN" dirty="0"/>
              <a:t>human</a:t>
            </a:r>
            <a:r>
              <a:rPr lang="zh-CN" altLang="en-US" dirty="0"/>
              <a:t> </a:t>
            </a:r>
            <a:r>
              <a:rPr lang="en-US" altLang="zh-CN" dirty="0"/>
              <a:t>answers</a:t>
            </a:r>
          </a:p>
          <a:p>
            <a:pPr marL="228600" indent="-228600">
              <a:buAutoNum type="arabicPeriod"/>
            </a:pPr>
            <a:r>
              <a:rPr lang="en-US" altLang="zh-CN" dirty="0"/>
              <a:t>advantage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42D01-7CEB-9C7E-8E0A-3A02E2AB88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0C987-A540-F746-98B3-A5C47D9CC21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1812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1A325-CB56-BE2D-6E5F-BD4FD7467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826CC8-140B-4C9D-B73B-F48E751C08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B057E4-D8FA-9D99-6AA4-1EE396D97B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FE706F-E8B0-0294-EC26-545753B4D2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0C987-A540-F746-98B3-A5C47D9CC21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8317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ECB39-977B-99D3-9E14-9B247663F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1BD0A2-407E-D2FC-79C7-3ABAC43EAE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69D608-0568-71A6-EC6C-7805028586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9A1253-6E36-C92F-7A08-2B1856B457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0C987-A540-F746-98B3-A5C47D9CC21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7279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3ECD8-33BB-74CA-AE04-CF79DC822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A3693A-719B-A037-A7C9-679AC6664D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6BE6A6-3538-8F6C-D1AD-8921A72515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90B9DD-2230-9196-DFCF-2DD62E9958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0C987-A540-F746-98B3-A5C47D9CC21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7295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5034C-8907-64CF-5BEE-4EF95563F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FFF529-6E7D-E821-B3D8-4277C85078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4E9735-550F-63C1-272C-C240E4B174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source effect</a:t>
            </a:r>
            <a:r>
              <a:rPr lang="en-US" dirty="0"/>
              <a:t> is a simple idea: people often trust information more just because it comes from AI, regardless of whether that </a:t>
            </a:r>
            <a:r>
              <a:rPr lang="en-US" altLang="zh-CN" dirty="0"/>
              <a:t>answer</a:t>
            </a:r>
            <a:r>
              <a:rPr lang="en-US" dirty="0"/>
              <a:t> is actually good or accurate.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167A93-C362-AB59-B397-D699D0B333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0C987-A540-F746-98B3-A5C47D9CC21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5092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F3FE1-46FE-366B-C5FB-74467DF6B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4A87E3-6DCC-70E8-4607-BE3DBF9B16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95A5C9-80DE-2B85-7480-BA4BE9495F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D682AA-20F2-D81B-6F96-647A8357A0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0C987-A540-F746-98B3-A5C47D9CC21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6177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BB511-38A2-E0E2-519A-C3F8AFA58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9B8E26-56D8-554E-7F29-FF2B5AA3FF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99E965-A56A-FE6A-D799-79776D708C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altLang="zh-CN" dirty="0"/>
              <a:t>Strong</a:t>
            </a:r>
            <a:r>
              <a:rPr lang="zh-CN" altLang="en-US" dirty="0"/>
              <a:t> </a:t>
            </a:r>
            <a:r>
              <a:rPr lang="en-US" altLang="zh-CN" dirty="0"/>
              <a:t>tendency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seek</a:t>
            </a:r>
            <a:r>
              <a:rPr lang="zh-CN" altLang="en-US" dirty="0"/>
              <a:t> </a:t>
            </a:r>
            <a:r>
              <a:rPr lang="en-US" altLang="zh-CN" dirty="0"/>
              <a:t>first</a:t>
            </a:r>
            <a:r>
              <a:rPr lang="zh-CN" altLang="en-US" dirty="0"/>
              <a:t> </a:t>
            </a:r>
            <a:r>
              <a:rPr lang="en-US" altLang="zh-CN" dirty="0"/>
              <a:t>answer</a:t>
            </a:r>
            <a:r>
              <a:rPr lang="zh-CN" altLang="en-US" dirty="0"/>
              <a:t> </a:t>
            </a:r>
            <a:r>
              <a:rPr lang="en-US" altLang="zh-CN" dirty="0"/>
              <a:t>position</a:t>
            </a:r>
            <a:r>
              <a:rPr lang="zh-CN" altLang="en-US" dirty="0"/>
              <a:t> </a:t>
            </a:r>
            <a:r>
              <a:rPr lang="en-US" altLang="zh-CN" dirty="0"/>
              <a:t>-&gt;</a:t>
            </a:r>
            <a:r>
              <a:rPr lang="zh-CN" altLang="en-US" dirty="0"/>
              <a:t> </a:t>
            </a:r>
            <a:r>
              <a:rPr lang="en-US" altLang="zh-CN" dirty="0"/>
              <a:t>first</a:t>
            </a:r>
            <a:r>
              <a:rPr lang="zh-CN" altLang="en-US" dirty="0"/>
              <a:t> </a:t>
            </a:r>
            <a:r>
              <a:rPr lang="en-US" altLang="zh-CN" dirty="0"/>
              <a:t>position</a:t>
            </a:r>
            <a:r>
              <a:rPr lang="zh-CN" altLang="en-US" dirty="0"/>
              <a:t> </a:t>
            </a:r>
            <a:r>
              <a:rPr lang="en-US" altLang="zh-CN" dirty="0"/>
              <a:t>seekers</a:t>
            </a:r>
          </a:p>
          <a:p>
            <a:pPr marL="228600" indent="-228600">
              <a:buAutoNum type="arabicPeriod"/>
            </a:pPr>
            <a:r>
              <a:rPr lang="en-US" altLang="zh-CN" dirty="0"/>
              <a:t>M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likelihood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XXX</a:t>
            </a:r>
            <a:r>
              <a:rPr lang="zh-CN" altLang="en-US" dirty="0"/>
              <a:t> </a:t>
            </a:r>
            <a:r>
              <a:rPr lang="en-US" altLang="zh-CN" dirty="0"/>
              <a:t>provide</a:t>
            </a:r>
            <a:r>
              <a:rPr lang="zh-CN" altLang="en-US" dirty="0"/>
              <a:t> </a:t>
            </a:r>
            <a:r>
              <a:rPr lang="en-US" altLang="zh-CN" dirty="0"/>
              <a:t>first</a:t>
            </a:r>
            <a:r>
              <a:rPr lang="zh-CN" altLang="en-US" dirty="0"/>
              <a:t> </a:t>
            </a:r>
            <a:r>
              <a:rPr lang="en-US" altLang="zh-CN" dirty="0"/>
              <a:t>human</a:t>
            </a:r>
            <a:r>
              <a:rPr lang="zh-CN" altLang="en-US" dirty="0"/>
              <a:t> </a:t>
            </a:r>
            <a:r>
              <a:rPr lang="en-US" altLang="zh-CN" dirty="0"/>
              <a:t>answer….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4932D6-FDFE-BC5F-84BA-8C8B80B7E4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0C987-A540-F746-98B3-A5C47D9CC21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597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12F22-23D1-B03E-F0D5-6A065B31F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96E167-54EB-B7DF-AB57-8C4F17EDD2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1B67A6-8BD4-D95F-56CB-FC51D330F5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altLang="zh-CN" dirty="0"/>
              <a:t>Circle:</a:t>
            </a:r>
            <a:r>
              <a:rPr lang="zh-CN" altLang="en-US" dirty="0"/>
              <a:t> </a:t>
            </a:r>
            <a:r>
              <a:rPr lang="en-US" altLang="zh-CN" dirty="0"/>
              <a:t>old</a:t>
            </a:r>
          </a:p>
          <a:p>
            <a:pPr marL="228600" indent="-228600">
              <a:buAutoNum type="arabicPeriod"/>
            </a:pPr>
            <a:r>
              <a:rPr lang="en-US" altLang="zh-CN" dirty="0"/>
              <a:t>Want</a:t>
            </a:r>
            <a:r>
              <a:rPr lang="zh-CN" altLang="en-US" dirty="0"/>
              <a:t> </a:t>
            </a:r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compare,</a:t>
            </a:r>
            <a:r>
              <a:rPr lang="zh-CN" altLang="en-US" dirty="0"/>
              <a:t> </a:t>
            </a:r>
            <a:r>
              <a:rPr lang="en-US" altLang="zh-CN" dirty="0"/>
              <a:t>again</a:t>
            </a:r>
          </a:p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65A7A4-6AC6-01AB-005D-17AE20C777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0C987-A540-F746-98B3-A5C47D9CC21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851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2A13D-A29C-6477-0852-4E0F86ACB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C2DD96-57C2-F6F6-4A0F-665253944B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27FA39-A627-2D68-F606-12FB776DE7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interest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time</a:t>
            </a:r>
          </a:p>
          <a:p>
            <a:r>
              <a:rPr lang="en-US" altLang="zh-CN" dirty="0"/>
              <a:t>2.</a:t>
            </a:r>
            <a:r>
              <a:rPr lang="zh-CN" altLang="en-US" dirty="0"/>
              <a:t>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because</a:t>
            </a:r>
            <a:r>
              <a:rPr lang="zh-CN" altLang="en-US" dirty="0"/>
              <a:t> </a:t>
            </a:r>
            <a:r>
              <a:rPr lang="en-US" altLang="zh-CN" dirty="0"/>
              <a:t>(x),</a:t>
            </a:r>
            <a:r>
              <a:rPr lang="zh-CN" altLang="en-US" dirty="0"/>
              <a:t> </a:t>
            </a:r>
            <a:r>
              <a:rPr lang="en-US" altLang="zh-CN" dirty="0"/>
              <a:t>or</a:t>
            </a:r>
            <a:r>
              <a:rPr lang="zh-CN" altLang="en-US" dirty="0"/>
              <a:t> </a:t>
            </a:r>
            <a:r>
              <a:rPr lang="en-US" altLang="zh-CN" dirty="0"/>
              <a:t>quality</a:t>
            </a:r>
            <a:r>
              <a:rPr lang="zh-CN" altLang="en-US" dirty="0"/>
              <a:t> </a:t>
            </a:r>
            <a:r>
              <a:rPr lang="en-US" altLang="zh-CN" dirty="0"/>
              <a:t>lower</a:t>
            </a:r>
            <a:r>
              <a:rPr lang="zh-CN" altLang="en-US" dirty="0"/>
              <a:t> </a:t>
            </a:r>
            <a:r>
              <a:rPr lang="en-US" altLang="zh-CN" dirty="0"/>
              <a:t>(x),</a:t>
            </a:r>
            <a:r>
              <a:rPr lang="zh-CN" altLang="en-US" dirty="0"/>
              <a:t> </a:t>
            </a:r>
            <a:r>
              <a:rPr lang="en-US" altLang="zh-CN" dirty="0"/>
              <a:t>but</a:t>
            </a:r>
            <a:r>
              <a:rPr lang="zh-CN" altLang="en-US" dirty="0"/>
              <a:t> </a:t>
            </a:r>
            <a:r>
              <a:rPr lang="en-US" altLang="zh-CN" dirty="0"/>
              <a:t>because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 err="1"/>
              <a:t>xxxxx</a:t>
            </a:r>
            <a:endParaRPr lang="en-US" altLang="zh-CN" dirty="0"/>
          </a:p>
          <a:p>
            <a:r>
              <a:rPr lang="en-US" altLang="zh-CN" dirty="0"/>
              <a:t>3.</a:t>
            </a:r>
            <a:r>
              <a:rPr lang="zh-CN" altLang="en-US" dirty="0"/>
              <a:t> </a:t>
            </a:r>
            <a:r>
              <a:rPr lang="en-US" altLang="zh-CN" dirty="0" err="1"/>
              <a:t>imporatanly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quality</a:t>
            </a:r>
            <a:r>
              <a:rPr lang="zh-CN" altLang="en-US" dirty="0"/>
              <a:t> </a:t>
            </a:r>
            <a:r>
              <a:rPr lang="en-US" altLang="zh-CN" dirty="0"/>
              <a:t>doesn’t</a:t>
            </a:r>
            <a:r>
              <a:rPr lang="zh-CN" altLang="en-US" dirty="0"/>
              <a:t> </a:t>
            </a:r>
            <a:r>
              <a:rPr lang="en-US" altLang="zh-CN" dirty="0" err="1"/>
              <a:t>beocme</a:t>
            </a:r>
            <a:r>
              <a:rPr lang="zh-CN" altLang="en-US" dirty="0"/>
              <a:t> </a:t>
            </a:r>
            <a:r>
              <a:rPr lang="en-US" altLang="zh-CN" dirty="0"/>
              <a:t>lower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067B5D-582E-CCFD-DD33-249580A7F5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0C987-A540-F746-98B3-A5C47D9CC21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7739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4174D-012C-6582-0BC3-85BF31ECD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168EBF-9653-C83C-B412-457B49EC27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9D20D6-E8F9-E458-D4E0-FE82B0FABD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altLang="zh-CN" dirty="0"/>
              <a:t>Purpose</a:t>
            </a:r>
          </a:p>
          <a:p>
            <a:pPr marL="228600" indent="-228600">
              <a:buAutoNum type="arabicPeriod"/>
            </a:pPr>
            <a:r>
              <a:rPr lang="en-US" altLang="zh-CN" dirty="0"/>
              <a:t>Key</a:t>
            </a:r>
            <a:r>
              <a:rPr lang="zh-CN" altLang="en-US" dirty="0"/>
              <a:t> </a:t>
            </a:r>
            <a:r>
              <a:rPr lang="en-US" altLang="zh-CN" dirty="0"/>
              <a:t>points.</a:t>
            </a:r>
            <a:r>
              <a:rPr lang="zh-CN" altLang="en-US" dirty="0"/>
              <a:t> </a:t>
            </a:r>
            <a:r>
              <a:rPr lang="en-US" altLang="zh-CN" dirty="0"/>
              <a:t>Quite</a:t>
            </a:r>
            <a:r>
              <a:rPr lang="zh-CN" altLang="en-US" dirty="0"/>
              <a:t> </a:t>
            </a:r>
            <a:r>
              <a:rPr lang="en-US" altLang="zh-CN" dirty="0"/>
              <a:t>different.</a:t>
            </a:r>
          </a:p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E405E4-DC6C-C8B5-285C-5BCE2BA623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0C987-A540-F746-98B3-A5C47D9CC21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1707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14FD3-B148-11EF-0D65-8872FEC03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35F870-0944-6753-6E0E-DBEA28AB68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3ED773-9E89-CC49-B0DD-A37BDC2367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E16071-4848-FB42-2BAE-1976BC41D3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0C987-A540-F746-98B3-A5C47D9CC21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4407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F790D-8341-4D1E-B2E9-3DE614F9E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554AAF-D98B-6A97-8C07-540BB79CED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1ACA4C-C548-CCA8-4BEE-B5A8E062A3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3B1944-A861-71D2-8F4D-8B52584E6A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0C987-A540-F746-98B3-A5C47D9CC21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81226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C80E7-8438-727A-AC37-9AA975EBA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CD6DF7-E836-76B0-F07B-CC52B2556C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6B76DB-9E37-CA07-0B72-1029F8F560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Child trafficking represents one of the most severe violations of human rights</a:t>
            </a:r>
          </a:p>
          <a:p>
            <a:r>
              <a:rPr lang="en-US" altLang="zh-CN" dirty="0"/>
              <a:t>Scalability:</a:t>
            </a:r>
            <a:r>
              <a:rPr lang="zh-CN" altLang="en-US" dirty="0"/>
              <a:t> </a:t>
            </a:r>
            <a:r>
              <a:rPr lang="en-US" dirty="0"/>
              <a:t>Requires extensive manual review and investment</a:t>
            </a:r>
          </a:p>
          <a:p>
            <a:r>
              <a:rPr lang="en-US" altLang="zh-CN" dirty="0"/>
              <a:t>Reactive:</a:t>
            </a:r>
            <a:r>
              <a:rPr lang="zh-CN" altLang="en-US" dirty="0"/>
              <a:t> </a:t>
            </a:r>
            <a:r>
              <a:rPr lang="en-US" dirty="0"/>
              <a:t>Only records footage after incidents occur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CF0F58-7ADD-E7ED-1413-091245A8FB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0C987-A540-F746-98B3-A5C47D9CC21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0774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775CF-7BA7-D0FC-D67C-04BB8F4C2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129967-6EC5-0FBF-136D-AF20CCA09B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3CE84D-CF8E-A590-DBAA-4CD4915179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22F7E9-1ABC-5849-5409-F4DF9619FA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0C987-A540-F746-98B3-A5C47D9CC21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7553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A9403-789E-C4E7-FF41-809B5A60A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BBDB0C-A3AF-054B-6E5D-EF9E4C6DB8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3BE1E2-3D1A-D82A-A932-A3EBA7CE8B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Legal</a:t>
            </a:r>
            <a:r>
              <a:rPr lang="zh-CN" altLang="en-US" dirty="0"/>
              <a:t> </a:t>
            </a:r>
            <a:r>
              <a:rPr lang="en-US" altLang="zh-CN" dirty="0"/>
              <a:t>adoption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time-consuming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costly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ordinary</a:t>
            </a:r>
            <a:r>
              <a:rPr lang="zh-CN" altLang="en-US" dirty="0"/>
              <a:t> </a:t>
            </a:r>
            <a:r>
              <a:rPr lang="en-US" altLang="zh-CN" dirty="0"/>
              <a:t>people</a:t>
            </a:r>
          </a:p>
          <a:p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internal</a:t>
            </a:r>
            <a:r>
              <a:rPr lang="zh-CN" altLang="en-US" dirty="0"/>
              <a:t> </a:t>
            </a:r>
            <a:r>
              <a:rPr lang="en-US" altLang="zh-CN" dirty="0"/>
              <a:t>migration</a:t>
            </a:r>
            <a:r>
              <a:rPr lang="zh-CN" altLang="en-US" dirty="0"/>
              <a:t> </a:t>
            </a:r>
            <a:r>
              <a:rPr lang="en-US" altLang="zh-CN" dirty="0"/>
              <a:t>rate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high,</a:t>
            </a:r>
            <a:r>
              <a:rPr lang="zh-CN" altLang="en-US" dirty="0"/>
              <a:t> </a:t>
            </a:r>
            <a:r>
              <a:rPr lang="en-US" altLang="zh-CN" dirty="0"/>
              <a:t>When</a:t>
            </a:r>
            <a:r>
              <a:rPr lang="zh-CN" altLang="en-US" dirty="0"/>
              <a:t> </a:t>
            </a:r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have</a:t>
            </a:r>
            <a:r>
              <a:rPr lang="zh-CN" altLang="en-US" dirty="0"/>
              <a:t> </a:t>
            </a:r>
            <a:r>
              <a:rPr lang="en-US" altLang="zh-CN" dirty="0"/>
              <a:t>people</a:t>
            </a:r>
            <a:r>
              <a:rPr lang="zh-CN" altLang="en-US" dirty="0"/>
              <a:t> </a:t>
            </a:r>
            <a:r>
              <a:rPr lang="en-US" altLang="zh-CN" dirty="0"/>
              <a:t>moving</a:t>
            </a:r>
            <a:r>
              <a:rPr lang="zh-CN" altLang="en-US" dirty="0"/>
              <a:t> </a:t>
            </a:r>
            <a:r>
              <a:rPr lang="en-US" altLang="zh-CN" dirty="0"/>
              <a:t>from</a:t>
            </a:r>
            <a:r>
              <a:rPr lang="zh-CN" altLang="en-US" dirty="0"/>
              <a:t> </a:t>
            </a:r>
            <a:r>
              <a:rPr lang="en-US" altLang="zh-CN" dirty="0"/>
              <a:t>one</a:t>
            </a:r>
            <a:r>
              <a:rPr lang="zh-CN" altLang="en-US" dirty="0"/>
              <a:t> </a:t>
            </a:r>
            <a:r>
              <a:rPr lang="en-US" altLang="zh-CN" dirty="0"/>
              <a:t>area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another,</a:t>
            </a:r>
            <a:r>
              <a:rPr lang="zh-CN" altLang="en-US" dirty="0"/>
              <a:t> </a:t>
            </a:r>
            <a:r>
              <a:rPr lang="en-US" altLang="zh-CN" dirty="0"/>
              <a:t>then</a:t>
            </a:r>
            <a:r>
              <a:rPr lang="zh-CN" altLang="en-US" dirty="0"/>
              <a:t> </a:t>
            </a:r>
            <a:r>
              <a:rPr lang="en-US" altLang="zh-CN" dirty="0"/>
              <a:t>child</a:t>
            </a:r>
            <a:r>
              <a:rPr lang="zh-CN" altLang="en-US" dirty="0"/>
              <a:t> </a:t>
            </a:r>
            <a:r>
              <a:rPr lang="en-US" altLang="zh-CN" dirty="0"/>
              <a:t>trafficking</a:t>
            </a:r>
            <a:r>
              <a:rPr lang="zh-CN" altLang="en-US" dirty="0"/>
              <a:t> </a:t>
            </a:r>
            <a:r>
              <a:rPr lang="en-US" altLang="zh-CN" dirty="0"/>
              <a:t>becomes</a:t>
            </a:r>
            <a:r>
              <a:rPr lang="zh-CN" altLang="en-US" dirty="0"/>
              <a:t> </a:t>
            </a:r>
            <a:r>
              <a:rPr lang="en-US" altLang="zh-CN" dirty="0"/>
              <a:t>more</a:t>
            </a:r>
            <a:r>
              <a:rPr lang="zh-CN" altLang="en-US" dirty="0"/>
              <a:t> </a:t>
            </a:r>
            <a:r>
              <a:rPr lang="en-US" altLang="zh-CN" dirty="0"/>
              <a:t>likely.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0AFDEE-5BF6-3C43-C712-637351B928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0C987-A540-F746-98B3-A5C47D9CC21D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1534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47BFB-3EA0-F340-6AC5-853DA4A95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FAA4E6-7DFD-3DF3-51DB-3EA0A5620C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D6963E-5488-A1EC-CC14-B49BD17A22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657FF8-446E-55D2-95A9-4A08644293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0C987-A540-F746-98B3-A5C47D9CC21D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93842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00030-8FBB-B716-FF08-FD86351C5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DA1C4B-3F4D-C040-100E-327FEFFC2F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9DF865-6905-2E53-A8DA-2D8503CCA6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1D2A6F-55AC-BBE7-373D-4942B144F8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0C987-A540-F746-98B3-A5C47D9CC21D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87599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1DDF4-0E21-0A8A-8C27-9E06A96B0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E1E799-2BDE-1855-CF69-6C50B7F59F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DDD80F-6C76-EA6A-22A7-43CFAEAF2E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AF5CD0-959B-FAF6-B7BC-9FC5BDDF3C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0C987-A540-F746-98B3-A5C47D9CC21D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64967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CAD4C-6047-CF1F-83A0-0D5B48C21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21184E-2B7C-1C65-00D6-53F7552165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3DEC25-01D4-FFFA-0E09-B5C0EA1AD8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y</a:t>
            </a:r>
            <a:r>
              <a:rPr lang="zh-CN" altLang="en-US" dirty="0"/>
              <a:t> </a:t>
            </a:r>
            <a:r>
              <a:rPr lang="en-US" altLang="zh-CN" dirty="0"/>
              <a:t>axes</a:t>
            </a:r>
            <a:r>
              <a:rPr lang="zh-CN" altLang="en-US" dirty="0"/>
              <a:t> </a:t>
            </a:r>
            <a:r>
              <a:rPr lang="en-US" altLang="zh-CN" dirty="0"/>
              <a:t>shows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rate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finding</a:t>
            </a:r>
            <a:r>
              <a:rPr lang="zh-CN" altLang="en-US" dirty="0"/>
              <a:t> </a:t>
            </a:r>
            <a:r>
              <a:rPr lang="en-US" altLang="zh-CN" dirty="0"/>
              <a:t>missing</a:t>
            </a:r>
            <a:r>
              <a:rPr lang="zh-CN" altLang="en-US" dirty="0"/>
              <a:t> </a:t>
            </a:r>
            <a:r>
              <a:rPr lang="en-US" altLang="zh-CN" dirty="0"/>
              <a:t>children</a:t>
            </a:r>
            <a:r>
              <a:rPr lang="zh-CN" altLang="en-US" dirty="0"/>
              <a:t> </a:t>
            </a:r>
            <a:r>
              <a:rPr lang="en-US" altLang="zh-CN" dirty="0"/>
              <a:t>back</a:t>
            </a:r>
          </a:p>
          <a:p>
            <a:pPr marL="228600" indent="-228600">
              <a:buAutoNum type="arabicPeriod"/>
            </a:pP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group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left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prefectures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altLang="zh-CN" dirty="0"/>
              <a:t>procurement,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group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right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without</a:t>
            </a:r>
            <a:r>
              <a:rPr lang="zh-CN" altLang="en-US" dirty="0"/>
              <a:t> </a:t>
            </a:r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altLang="zh-CN" dirty="0"/>
              <a:t>procurement</a:t>
            </a:r>
          </a:p>
          <a:p>
            <a:pPr marL="228600" indent="-228600">
              <a:buAutoNum type="arabicPeriod"/>
            </a:pP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see</a:t>
            </a:r>
            <a:r>
              <a:rPr lang="zh-CN" altLang="en-US" dirty="0"/>
              <a:t> </a:t>
            </a:r>
            <a:r>
              <a:rPr lang="en-US" altLang="zh-CN" dirty="0"/>
              <a:t>no</a:t>
            </a:r>
            <a:r>
              <a:rPr lang="zh-CN" altLang="en-US" dirty="0"/>
              <a:t> </a:t>
            </a:r>
            <a:r>
              <a:rPr lang="en-US" altLang="zh-CN" dirty="0"/>
              <a:t>statistically</a:t>
            </a:r>
            <a:r>
              <a:rPr lang="zh-CN" altLang="en-US" dirty="0"/>
              <a:t> </a:t>
            </a:r>
            <a:r>
              <a:rPr lang="en-US" altLang="zh-CN" dirty="0"/>
              <a:t>significant</a:t>
            </a:r>
            <a:r>
              <a:rPr lang="zh-CN" altLang="en-US" dirty="0"/>
              <a:t> </a:t>
            </a:r>
            <a:r>
              <a:rPr lang="en-US" altLang="zh-CN" dirty="0"/>
              <a:t>difference</a:t>
            </a:r>
            <a:r>
              <a:rPr lang="zh-CN" altLang="en-US" dirty="0"/>
              <a:t> </a:t>
            </a:r>
            <a:r>
              <a:rPr lang="en-US" altLang="zh-CN" dirty="0"/>
              <a:t>between</a:t>
            </a:r>
            <a:r>
              <a:rPr lang="zh-CN" altLang="en-US" dirty="0"/>
              <a:t> </a:t>
            </a:r>
            <a:r>
              <a:rPr lang="en-US" altLang="zh-CN" dirty="0"/>
              <a:t>these</a:t>
            </a:r>
            <a:r>
              <a:rPr lang="zh-CN" altLang="en-US" dirty="0"/>
              <a:t> </a:t>
            </a:r>
            <a:r>
              <a:rPr lang="en-US" altLang="zh-CN" dirty="0"/>
              <a:t>two</a:t>
            </a:r>
            <a:r>
              <a:rPr lang="zh-CN" altLang="en-US" dirty="0"/>
              <a:t> </a:t>
            </a:r>
            <a:r>
              <a:rPr lang="en-US" altLang="zh-CN" dirty="0"/>
              <a:t>groups.</a:t>
            </a:r>
            <a:r>
              <a:rPr lang="zh-CN" altLang="en-US" dirty="0"/>
              <a:t> </a:t>
            </a:r>
            <a:r>
              <a:rPr lang="en-US" altLang="zh-CN" dirty="0"/>
              <a:t>So</a:t>
            </a:r>
            <a:r>
              <a:rPr lang="zh-CN" altLang="en-US" dirty="0"/>
              <a:t> </a:t>
            </a:r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altLang="zh-CN" dirty="0"/>
              <a:t>has</a:t>
            </a:r>
            <a:r>
              <a:rPr lang="zh-CN" altLang="en-US" dirty="0"/>
              <a:t> </a:t>
            </a:r>
            <a:r>
              <a:rPr lang="en-US" altLang="zh-CN" dirty="0"/>
              <a:t>no</a:t>
            </a:r>
            <a:r>
              <a:rPr lang="zh-CN" altLang="en-US" dirty="0"/>
              <a:t> </a:t>
            </a:r>
            <a:r>
              <a:rPr lang="en-US" altLang="zh-CN" dirty="0"/>
              <a:t>impact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finding</a:t>
            </a:r>
            <a:r>
              <a:rPr lang="zh-CN" altLang="en-US" dirty="0"/>
              <a:t> </a:t>
            </a:r>
            <a:r>
              <a:rPr lang="en-US" altLang="zh-CN" dirty="0"/>
              <a:t>missing</a:t>
            </a:r>
            <a:r>
              <a:rPr lang="zh-CN" altLang="en-US" dirty="0"/>
              <a:t> </a:t>
            </a:r>
            <a:r>
              <a:rPr lang="en-US" altLang="zh-CN" dirty="0"/>
              <a:t>children.</a:t>
            </a:r>
            <a:br>
              <a:rPr lang="en-US" altLang="zh-CN" dirty="0"/>
            </a:br>
            <a:endParaRPr lang="en-US" altLang="zh-CN" dirty="0"/>
          </a:p>
          <a:p>
            <a:pPr marL="228600" indent="-228600">
              <a:buAutoNum type="arabicPeriod"/>
            </a:pPr>
            <a:endParaRPr lang="en-US" altLang="zh-CN" dirty="0"/>
          </a:p>
          <a:p>
            <a:pPr marL="228600" indent="-228600">
              <a:buAutoNum type="arabicPeriod"/>
            </a:pPr>
            <a:r>
              <a:rPr lang="en-US" altLang="zh-CN" dirty="0"/>
              <a:t>Figure</a:t>
            </a:r>
            <a:r>
              <a:rPr lang="zh-CN" altLang="en-US" dirty="0"/>
              <a:t> </a:t>
            </a:r>
            <a:r>
              <a:rPr lang="en-US" altLang="zh-CN" dirty="0"/>
              <a:t>B</a:t>
            </a:r>
            <a:r>
              <a:rPr lang="zh-CN" altLang="en-US" dirty="0"/>
              <a:t> </a:t>
            </a:r>
            <a:r>
              <a:rPr lang="en-US" altLang="zh-CN" dirty="0"/>
              <a:t>shows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altLang="zh-CN" dirty="0"/>
              <a:t>effect</a:t>
            </a:r>
            <a:r>
              <a:rPr lang="zh-CN" altLang="en-US" dirty="0"/>
              <a:t> </a:t>
            </a:r>
            <a:r>
              <a:rPr lang="en-US" altLang="zh-CN" dirty="0"/>
              <a:t>over</a:t>
            </a:r>
            <a:r>
              <a:rPr lang="zh-CN" altLang="en-US" dirty="0"/>
              <a:t> </a:t>
            </a:r>
            <a:r>
              <a:rPr lang="en-US" altLang="zh-CN" dirty="0"/>
              <a:t>time</a:t>
            </a:r>
          </a:p>
          <a:p>
            <a:pPr marL="228600" indent="-228600">
              <a:buAutoNum type="arabicPeriod"/>
            </a:pP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confidence</a:t>
            </a:r>
            <a:r>
              <a:rPr lang="zh-CN" altLang="en-US" dirty="0"/>
              <a:t> </a:t>
            </a:r>
            <a:r>
              <a:rPr lang="en-US" altLang="zh-CN" dirty="0"/>
              <a:t>interval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altLang="zh-CN" dirty="0"/>
              <a:t>effect,</a:t>
            </a:r>
            <a:r>
              <a:rPr lang="zh-CN" altLang="en-US" dirty="0"/>
              <a:t> </a:t>
            </a:r>
            <a:r>
              <a:rPr lang="en-US" altLang="zh-CN" dirty="0"/>
              <a:t>which</a:t>
            </a:r>
            <a:r>
              <a:rPr lang="zh-CN" altLang="en-US" dirty="0"/>
              <a:t> </a:t>
            </a:r>
            <a:r>
              <a:rPr lang="en-US" altLang="zh-CN" dirty="0"/>
              <a:t>shows</a:t>
            </a:r>
            <a:r>
              <a:rPr lang="zh-CN" altLang="en-US" dirty="0"/>
              <a:t> </a:t>
            </a:r>
            <a:r>
              <a:rPr lang="en-US" altLang="zh-CN" dirty="0"/>
              <a:t>no</a:t>
            </a:r>
            <a:r>
              <a:rPr lang="zh-CN" altLang="en-US" dirty="0"/>
              <a:t> </a:t>
            </a:r>
            <a:r>
              <a:rPr lang="en-US" altLang="zh-CN" dirty="0"/>
              <a:t>effect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protecting</a:t>
            </a:r>
            <a:r>
              <a:rPr lang="zh-CN" altLang="en-US" dirty="0"/>
              <a:t> </a:t>
            </a:r>
            <a:r>
              <a:rPr lang="en-US" altLang="zh-CN" dirty="0"/>
              <a:t>child</a:t>
            </a:r>
            <a:r>
              <a:rPr lang="zh-CN" altLang="en-US" dirty="0"/>
              <a:t> </a:t>
            </a:r>
            <a:r>
              <a:rPr lang="en-US" altLang="zh-CN" dirty="0"/>
              <a:t>trafficking</a:t>
            </a:r>
            <a:r>
              <a:rPr lang="zh-CN" altLang="en-US" dirty="0"/>
              <a:t> </a:t>
            </a:r>
            <a:r>
              <a:rPr lang="en-US" altLang="zh-CN" dirty="0"/>
              <a:t>year</a:t>
            </a:r>
            <a:r>
              <a:rPr lang="zh-CN" altLang="en-US" dirty="0"/>
              <a:t> </a:t>
            </a:r>
            <a:r>
              <a:rPr lang="en-US" altLang="zh-CN" dirty="0"/>
              <a:t>t.</a:t>
            </a:r>
            <a:r>
              <a:rPr lang="zh-CN" altLang="en-US" dirty="0"/>
              <a:t> 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altLang="zh-CN" dirty="0"/>
              <a:t>effect</a:t>
            </a:r>
            <a:r>
              <a:rPr lang="zh-CN" altLang="en-US" dirty="0"/>
              <a:t> </a:t>
            </a:r>
            <a:r>
              <a:rPr lang="en-US" altLang="zh-CN" dirty="0"/>
              <a:t>take</a:t>
            </a:r>
            <a:r>
              <a:rPr lang="zh-CN" altLang="en-US" dirty="0"/>
              <a:t> </a:t>
            </a:r>
            <a:r>
              <a:rPr lang="en-US" altLang="zh-CN" dirty="0"/>
              <a:t>some</a:t>
            </a:r>
            <a:r>
              <a:rPr lang="zh-CN" altLang="en-US" dirty="0"/>
              <a:t> </a:t>
            </a:r>
            <a:r>
              <a:rPr lang="en-US" altLang="zh-CN" dirty="0"/>
              <a:t>time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play</a:t>
            </a:r>
            <a:r>
              <a:rPr lang="zh-CN" altLang="en-US" dirty="0"/>
              <a:t> </a:t>
            </a:r>
            <a:r>
              <a:rPr lang="en-US" altLang="zh-CN" dirty="0"/>
              <a:t>out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there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long</a:t>
            </a:r>
            <a:r>
              <a:rPr lang="zh-CN" altLang="en-US" dirty="0"/>
              <a:t> </a:t>
            </a:r>
            <a:r>
              <a:rPr lang="en-US" altLang="zh-CN" dirty="0"/>
              <a:t>term</a:t>
            </a:r>
            <a:r>
              <a:rPr lang="zh-CN" altLang="en-US" dirty="0"/>
              <a:t> </a:t>
            </a:r>
            <a:r>
              <a:rPr lang="en-US" altLang="zh-CN" dirty="0"/>
              <a:t>effect.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471AC8-C058-C7CA-24CA-81925B9617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0C987-A540-F746-98B3-A5C47D9CC21D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2573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57728-868C-4504-D8C9-04BBEDDD8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811530-A3E1-F6B4-CD2E-D7D629CD94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473895-7415-7786-ACDD-AED115839F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altLang="zh-CN" dirty="0"/>
              <a:t>Black</a:t>
            </a:r>
            <a:r>
              <a:rPr lang="zh-CN" altLang="en-US" dirty="0"/>
              <a:t> </a:t>
            </a:r>
            <a:r>
              <a:rPr lang="en-US" altLang="zh-CN" dirty="0"/>
              <a:t>represents</a:t>
            </a:r>
            <a:r>
              <a:rPr lang="zh-CN" altLang="en-US" dirty="0"/>
              <a:t> </a:t>
            </a:r>
            <a:r>
              <a:rPr lang="en-US" altLang="zh-CN" dirty="0"/>
              <a:t>confidence</a:t>
            </a:r>
            <a:r>
              <a:rPr lang="zh-CN" altLang="en-US" dirty="0"/>
              <a:t> </a:t>
            </a:r>
            <a:r>
              <a:rPr lang="en-US" altLang="zh-CN" dirty="0"/>
              <a:t>intervals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AI,</a:t>
            </a:r>
            <a:r>
              <a:rPr lang="zh-CN" altLang="en-US" dirty="0"/>
              <a:t> </a:t>
            </a:r>
            <a:r>
              <a:rPr lang="en-US" altLang="zh-CN" dirty="0"/>
              <a:t>it’s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overall</a:t>
            </a:r>
            <a:r>
              <a:rPr lang="zh-CN" altLang="en-US" dirty="0"/>
              <a:t> </a:t>
            </a:r>
            <a:r>
              <a:rPr lang="en-US" altLang="zh-CN" dirty="0"/>
              <a:t>effect</a:t>
            </a:r>
          </a:p>
          <a:p>
            <a:pPr marL="228600" indent="-228600">
              <a:buAutoNum type="arabicPeriod"/>
            </a:pPr>
            <a:r>
              <a:rPr lang="en-US" altLang="zh-CN" dirty="0"/>
              <a:t>It</a:t>
            </a:r>
            <a:r>
              <a:rPr lang="zh-CN" altLang="en-US" dirty="0"/>
              <a:t> </a:t>
            </a:r>
            <a:r>
              <a:rPr lang="en-US" altLang="zh-CN" dirty="0"/>
              <a:t>shows</a:t>
            </a:r>
            <a:r>
              <a:rPr lang="zh-CN" altLang="en-US" dirty="0"/>
              <a:t> </a:t>
            </a:r>
            <a:r>
              <a:rPr lang="en-US" altLang="zh-CN" dirty="0"/>
              <a:t>that</a:t>
            </a:r>
            <a:r>
              <a:rPr lang="zh-CN" altLang="en-US" dirty="0"/>
              <a:t> </a:t>
            </a:r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only</a:t>
            </a:r>
            <a:r>
              <a:rPr lang="zh-CN" altLang="en-US" dirty="0"/>
              <a:t> </a:t>
            </a:r>
            <a:r>
              <a:rPr lang="en-US" altLang="zh-CN" dirty="0"/>
              <a:t>reduce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boy</a:t>
            </a:r>
            <a:r>
              <a:rPr lang="zh-CN" altLang="en-US" dirty="0"/>
              <a:t> </a:t>
            </a:r>
            <a:r>
              <a:rPr lang="en-US" altLang="zh-CN" dirty="0"/>
              <a:t>trafficking</a:t>
            </a:r>
            <a:r>
              <a:rPr lang="zh-CN" altLang="en-US" dirty="0"/>
              <a:t> </a:t>
            </a:r>
            <a:r>
              <a:rPr lang="en-US" altLang="zh-CN" dirty="0"/>
              <a:t>but</a:t>
            </a:r>
            <a:r>
              <a:rPr lang="zh-CN" altLang="en-US" dirty="0"/>
              <a:t> </a:t>
            </a:r>
            <a:r>
              <a:rPr lang="en-US" altLang="zh-CN" dirty="0"/>
              <a:t>has</a:t>
            </a:r>
            <a:r>
              <a:rPr lang="zh-CN" altLang="en-US" dirty="0"/>
              <a:t> </a:t>
            </a:r>
            <a:r>
              <a:rPr lang="en-US" altLang="zh-CN" dirty="0"/>
              <a:t>no</a:t>
            </a:r>
            <a:r>
              <a:rPr lang="zh-CN" altLang="en-US" dirty="0"/>
              <a:t> </a:t>
            </a:r>
            <a:r>
              <a:rPr lang="en-US" altLang="zh-CN" dirty="0"/>
              <a:t>protection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 err="1"/>
              <a:t>grils</a:t>
            </a:r>
            <a:r>
              <a:rPr lang="en-US" altLang="zh-CN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469A95-D3AD-0F31-968B-2960D0C8D6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0C987-A540-F746-98B3-A5C47D9CC21D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04375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Architecture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dirty="0"/>
              <a:t>the blueprint</a:t>
            </a:r>
            <a:r>
              <a:rPr lang="zh-CN" altLang="en-US" dirty="0"/>
              <a:t> </a:t>
            </a:r>
            <a:r>
              <a:rPr lang="en-US" dirty="0"/>
              <a:t>of how a model is designed—like the floor plan of a house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0C987-A540-F746-98B3-A5C47D9CC21D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40826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C86E6-E4C2-EEC7-C1E5-E2A57A675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196CC2-2223-4138-AA36-C9C0C2D6BD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FDDE69-4D28-1004-4E01-D03BADB4B1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D92178-1F1B-C68C-4777-3DE651D043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0C987-A540-F746-98B3-A5C47D9CC21D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8873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5FDB2-33EE-40D1-250A-697989FA9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89D472-6DF1-834C-E585-AA2B5E5B17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EF2290-1E61-C46B-68C5-CCA9860A9B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7C61D2-6493-B4A4-8892-F087BE35F1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0C987-A540-F746-98B3-A5C47D9CC21D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02948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21311-A7FF-9E4D-412C-9518761CC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F7C0DA-A135-103A-E689-FF3E000E81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46A9A0-959A-E017-DD8D-408FC77A02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Once</a:t>
            </a:r>
            <a:r>
              <a:rPr lang="zh-CN" altLang="en-US" dirty="0"/>
              <a:t> </a:t>
            </a:r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open</a:t>
            </a:r>
            <a:r>
              <a:rPr lang="zh-CN" altLang="en-US" dirty="0"/>
              <a:t> </a:t>
            </a:r>
            <a:r>
              <a:rPr lang="en-US" altLang="zh-CN" dirty="0"/>
              <a:t>source</a:t>
            </a:r>
            <a:r>
              <a:rPr lang="zh-CN" altLang="en-US" dirty="0"/>
              <a:t> </a:t>
            </a:r>
            <a:r>
              <a:rPr lang="en-US" altLang="zh-CN" dirty="0"/>
              <a:t>your</a:t>
            </a:r>
            <a:r>
              <a:rPr lang="zh-CN" altLang="en-US" dirty="0"/>
              <a:t> </a:t>
            </a:r>
            <a:r>
              <a:rPr lang="en-US" altLang="zh-CN" dirty="0"/>
              <a:t>model,</a:t>
            </a:r>
            <a:r>
              <a:rPr lang="zh-CN" altLang="en-US" dirty="0"/>
              <a:t> </a:t>
            </a:r>
            <a:r>
              <a:rPr lang="en-US" altLang="zh-CN" dirty="0"/>
              <a:t>other</a:t>
            </a:r>
            <a:r>
              <a:rPr lang="zh-CN" altLang="en-US" dirty="0"/>
              <a:t> </a:t>
            </a:r>
            <a:r>
              <a:rPr lang="en-US" altLang="zh-CN" dirty="0"/>
              <a:t>people</a:t>
            </a:r>
            <a:r>
              <a:rPr lang="zh-CN" altLang="en-US" dirty="0"/>
              <a:t> </a:t>
            </a:r>
            <a:r>
              <a:rPr lang="en-US" altLang="zh-CN" dirty="0"/>
              <a:t>will</a:t>
            </a:r>
            <a:r>
              <a:rPr lang="zh-CN" altLang="en-US" dirty="0"/>
              <a:t> </a:t>
            </a:r>
            <a:r>
              <a:rPr lang="en-US" altLang="zh-CN" dirty="0"/>
              <a:t>more</a:t>
            </a:r>
            <a:r>
              <a:rPr lang="zh-CN" altLang="en-US" dirty="0"/>
              <a:t> </a:t>
            </a:r>
            <a:r>
              <a:rPr lang="en-US" altLang="zh-CN" dirty="0"/>
              <a:t>likely</a:t>
            </a:r>
            <a:r>
              <a:rPr lang="zh-CN" altLang="en-US" dirty="0"/>
              <a:t> </a:t>
            </a:r>
            <a:r>
              <a:rPr lang="en-US" altLang="zh-CN" dirty="0"/>
              <a:t>adopt</a:t>
            </a:r>
            <a:r>
              <a:rPr lang="zh-CN" altLang="en-US" dirty="0"/>
              <a:t> </a:t>
            </a:r>
            <a:r>
              <a:rPr lang="en-US" altLang="zh-CN" dirty="0"/>
              <a:t>your</a:t>
            </a:r>
            <a:r>
              <a:rPr lang="zh-CN" altLang="en-US" dirty="0"/>
              <a:t> </a:t>
            </a:r>
            <a:r>
              <a:rPr lang="en-US" altLang="zh-CN" dirty="0"/>
              <a:t>model</a:t>
            </a:r>
            <a:r>
              <a:rPr lang="zh-CN" altLang="en-US" dirty="0"/>
              <a:t> </a:t>
            </a:r>
            <a:r>
              <a:rPr lang="en-US" altLang="zh-CN" dirty="0"/>
              <a:t>architecture.</a:t>
            </a:r>
          </a:p>
          <a:p>
            <a:endParaRPr lang="en-US" dirty="0"/>
          </a:p>
          <a:p>
            <a:r>
              <a:rPr lang="en-US" altLang="zh-CN" dirty="0"/>
              <a:t>Showing</a:t>
            </a:r>
            <a:r>
              <a:rPr lang="zh-CN" altLang="en-US" dirty="0"/>
              <a:t> </a:t>
            </a:r>
            <a:r>
              <a:rPr lang="en-US" altLang="zh-CN" dirty="0"/>
              <a:t>that</a:t>
            </a:r>
            <a:r>
              <a:rPr lang="zh-CN" altLang="en-US" dirty="0"/>
              <a:t> </a:t>
            </a:r>
            <a:r>
              <a:rPr lang="en-US" altLang="zh-CN" dirty="0"/>
              <a:t>sometimes</a:t>
            </a:r>
            <a:r>
              <a:rPr lang="zh-CN" altLang="en-US" dirty="0"/>
              <a:t> </a:t>
            </a:r>
            <a:r>
              <a:rPr lang="en-US" altLang="zh-CN" dirty="0"/>
              <a:t>when</a:t>
            </a:r>
            <a:r>
              <a:rPr lang="zh-CN" altLang="en-US" dirty="0"/>
              <a:t> </a:t>
            </a:r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open</a:t>
            </a:r>
            <a:r>
              <a:rPr lang="zh-CN" altLang="en-US" dirty="0"/>
              <a:t> </a:t>
            </a:r>
            <a:r>
              <a:rPr lang="en-US" altLang="zh-CN" dirty="0"/>
              <a:t>source</a:t>
            </a:r>
            <a:r>
              <a:rPr lang="zh-CN" altLang="en-US" dirty="0"/>
              <a:t> </a:t>
            </a:r>
            <a:r>
              <a:rPr lang="en-US" altLang="zh-CN" dirty="0"/>
              <a:t>your</a:t>
            </a:r>
            <a:r>
              <a:rPr lang="zh-CN" altLang="en-US" dirty="0"/>
              <a:t> </a:t>
            </a:r>
            <a:r>
              <a:rPr lang="en-US" altLang="zh-CN" dirty="0"/>
              <a:t>model,</a:t>
            </a:r>
            <a:r>
              <a:rPr lang="zh-CN" altLang="en-US" dirty="0"/>
              <a:t> </a:t>
            </a:r>
            <a:r>
              <a:rPr lang="en-US" altLang="zh-CN" dirty="0"/>
              <a:t>people</a:t>
            </a:r>
            <a:r>
              <a:rPr lang="zh-CN" altLang="en-US" dirty="0"/>
              <a:t> </a:t>
            </a:r>
            <a:r>
              <a:rPr lang="en-US" altLang="zh-CN" dirty="0"/>
              <a:t>less</a:t>
            </a:r>
            <a:r>
              <a:rPr lang="zh-CN" altLang="en-US" dirty="0"/>
              <a:t> </a:t>
            </a:r>
            <a:r>
              <a:rPr lang="en-US" altLang="zh-CN" dirty="0"/>
              <a:t>likely</a:t>
            </a:r>
            <a:r>
              <a:rPr lang="zh-CN" altLang="en-US" dirty="0"/>
              <a:t> </a:t>
            </a:r>
            <a:r>
              <a:rPr lang="en-US" altLang="zh-CN" dirty="0"/>
              <a:t>adopt</a:t>
            </a:r>
            <a:r>
              <a:rPr lang="zh-CN" altLang="en-US" dirty="0"/>
              <a:t> </a:t>
            </a:r>
            <a:r>
              <a:rPr lang="en-US" altLang="zh-CN" dirty="0"/>
              <a:t>your</a:t>
            </a:r>
            <a:r>
              <a:rPr lang="zh-CN" altLang="en-US" dirty="0"/>
              <a:t> </a:t>
            </a:r>
            <a:r>
              <a:rPr lang="en-US" altLang="zh-CN" dirty="0"/>
              <a:t>architecture,</a:t>
            </a:r>
            <a:r>
              <a:rPr lang="zh-CN" altLang="en-US" dirty="0"/>
              <a:t> </a:t>
            </a:r>
            <a:r>
              <a:rPr lang="en-US" altLang="zh-CN" dirty="0"/>
              <a:t>due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security</a:t>
            </a:r>
            <a:r>
              <a:rPr lang="zh-CN" altLang="en-US" dirty="0"/>
              <a:t> </a:t>
            </a:r>
            <a:r>
              <a:rPr lang="en-US" altLang="zh-CN" dirty="0"/>
              <a:t>concerns.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A973CF-BD2B-A331-3982-04514367E3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0C987-A540-F746-98B3-A5C47D9CC21D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00277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BF954-0445-2AB8-56B4-38635800A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2AECD5-4857-EFAC-AC53-2DC851D78E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C8A829-CFE9-EE0A-30CE-F22EEF2F4C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0C48E8-9ADB-67E4-A378-0F243CCB14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0C987-A540-F746-98B3-A5C47D9CC21D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50364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74C91-023F-2682-E5A3-C3FFB45A0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5E92BA-0559-9642-9FD0-7D01CC07AF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9984E8-C079-D3D5-6DAE-0513B00E23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7C8C82-F1E2-963A-96A2-586800838F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0C987-A540-F746-98B3-A5C47D9CC21D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68197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7B660-0FAE-79DB-FD2B-DB2A3F8B2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27A102-507B-2AA5-0ECF-553702A9C0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123760-6374-7399-EED2-A918E2B690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EC4B53-D26D-3058-43F5-BD17633705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0C987-A540-F746-98B3-A5C47D9CC21D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322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5E9A1-8520-5146-239F-0FA97511B6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800" b="1">
                <a:solidFill>
                  <a:srgbClr val="B60007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82710-E1E4-466F-30AE-69A71966AE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70831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A7141-DFF9-E7CA-A95A-620E50267A5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l">
              <a:defRPr sz="5400" b="1">
                <a:solidFill>
                  <a:srgbClr val="B60007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641A52-A17E-07B5-1692-6E5DC631A2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850708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9DD4F-0AF3-F7C8-6C26-A700CF76F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417312" cy="1325563"/>
          </a:xfrm>
        </p:spPr>
        <p:txBody>
          <a:bodyPr/>
          <a:lstStyle>
            <a:lvl1pPr>
              <a:defRPr b="1">
                <a:solidFill>
                  <a:srgbClr val="B60007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7A4B2-E3CB-CD7E-B61C-DB90D5C43B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48487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CBD4C-653E-6CF0-91A1-8D087DAE2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8406160" cy="1325563"/>
          </a:xfrm>
        </p:spPr>
        <p:txBody>
          <a:bodyPr/>
          <a:lstStyle>
            <a:lvl1pPr>
              <a:defRPr b="1">
                <a:solidFill>
                  <a:srgbClr val="B60007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05617-0FE6-1513-7E9C-B0470E5FC5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B2526F-CC14-905B-B4F8-3DA58013D7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64744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7997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AA3B4-DA5B-C327-0769-E9EBF7746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14E74-BCFC-0E95-9CE3-070A751A14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2049462"/>
            <a:ext cx="6172200" cy="381158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5A0A65-1AC3-F886-E086-2AEEE968DB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13038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70E19-8461-6D1B-3777-F2ACE03D8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434AD4-9470-24F9-D1C7-747B24E3E8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2049462"/>
            <a:ext cx="6172200" cy="381158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022BA7-4769-04C9-C7FE-7359DD5A50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62097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04289-8E53-FEC4-517B-14893B0C0B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743849"/>
            <a:ext cx="10515600" cy="1095508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608637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5A5D8-C6CA-3BB5-2670-321D6742C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91912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F015CB-7E28-AD44-692E-F693A876D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C282AF-0EB8-0195-21FA-E6FCC6AC55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03437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49" r:id="rId2"/>
    <p:sldLayoutId id="2147483650" r:id="rId3"/>
    <p:sldLayoutId id="2147483652" r:id="rId4"/>
    <p:sldLayoutId id="2147483655" r:id="rId5"/>
    <p:sldLayoutId id="2147483656" r:id="rId6"/>
    <p:sldLayoutId id="2147483657" r:id="rId7"/>
    <p:sldLayoutId id="2147483660" r:id="rId8"/>
    <p:sldLayoutId id="2147483661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B60007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microsoft.com/office/2007/relationships/hdphoto" Target="../media/hdphoto1.wdp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microsoft.com/office/2007/relationships/hdphoto" Target="../media/hdphoto1.wdp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BBDD9-47B9-1E29-1F69-D68D76EB6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AI in Practice: </a:t>
            </a:r>
            <a:br>
              <a:rPr lang="en-US" sz="3600" dirty="0"/>
            </a:br>
            <a:r>
              <a:rPr lang="en-US" sz="2400" dirty="0"/>
              <a:t>Platform Governance, Crime Prevention, and Open-Source Paradoxes</a:t>
            </a:r>
            <a:endParaRPr lang="en-US" sz="36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055D2C-AD5F-2E5F-6EEF-3150641E65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Dylan</a:t>
            </a:r>
            <a:r>
              <a:rPr lang="zh-CN" altLang="en-US" sz="2000" dirty="0"/>
              <a:t> </a:t>
            </a:r>
            <a:r>
              <a:rPr lang="en-US" altLang="zh-CN" sz="2000" dirty="0"/>
              <a:t>Junluo</a:t>
            </a:r>
            <a:r>
              <a:rPr lang="zh-CN" altLang="en-US" sz="2000" dirty="0"/>
              <a:t> </a:t>
            </a:r>
            <a:r>
              <a:rPr lang="en-US" altLang="zh-CN" sz="2000" dirty="0"/>
              <a:t>CHEN</a:t>
            </a:r>
          </a:p>
          <a:p>
            <a:endParaRPr lang="en-US" sz="2000" dirty="0"/>
          </a:p>
          <a:p>
            <a:r>
              <a:rPr lang="en-US" altLang="zh-CN" sz="2000" dirty="0"/>
              <a:t>Supervisors:</a:t>
            </a:r>
            <a:r>
              <a:rPr lang="zh-CN" altLang="en-US" sz="2000" dirty="0"/>
              <a:t> </a:t>
            </a:r>
            <a:r>
              <a:rPr lang="en-US" altLang="zh-CN" sz="2000" dirty="0"/>
              <a:t>Ben</a:t>
            </a:r>
            <a:r>
              <a:rPr lang="zh-CN" altLang="en-US" sz="2000" dirty="0"/>
              <a:t> </a:t>
            </a:r>
            <a:r>
              <a:rPr lang="en-US" altLang="zh-CN" sz="2000" dirty="0"/>
              <a:t>LIU</a:t>
            </a:r>
            <a:r>
              <a:rPr lang="zh-CN" altLang="en-US" sz="2000" dirty="0"/>
              <a:t> </a:t>
            </a:r>
            <a:r>
              <a:rPr lang="en-US" altLang="zh-CN" sz="2000" dirty="0"/>
              <a:t>&amp;</a:t>
            </a:r>
            <a:r>
              <a:rPr lang="zh-CN" altLang="en-US" sz="2000" dirty="0"/>
              <a:t> </a:t>
            </a:r>
            <a:r>
              <a:rPr lang="en-US" altLang="zh-CN" sz="2000" dirty="0"/>
              <a:t>Xin</a:t>
            </a:r>
            <a:r>
              <a:rPr lang="zh-CN" altLang="en-US" sz="2000" dirty="0"/>
              <a:t> </a:t>
            </a:r>
            <a:r>
              <a:rPr lang="en-US" altLang="zh-CN" sz="2000" dirty="0"/>
              <a:t>LI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16179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BCADF-F344-54CB-C0C2-3C6997C613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3279" y="1122363"/>
            <a:ext cx="9144000" cy="2387600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Study</a:t>
            </a:r>
            <a:r>
              <a:rPr lang="zh-CN" altLang="en-US" sz="3600" dirty="0"/>
              <a:t> </a:t>
            </a:r>
            <a:r>
              <a:rPr lang="en-US" altLang="zh-CN" sz="3600" dirty="0"/>
              <a:t>1</a:t>
            </a:r>
            <a:r>
              <a:rPr lang="zh-CN" altLang="en-US" sz="3600" dirty="0"/>
              <a:t> </a:t>
            </a:r>
            <a:r>
              <a:rPr lang="en-US" altLang="zh-CN" sz="3600" dirty="0"/>
              <a:t>(completed):</a:t>
            </a:r>
            <a:br>
              <a:rPr lang="en-US" altLang="zh-CN" sz="3600" dirty="0"/>
            </a:br>
            <a:br>
              <a:rPr lang="en-US" sz="3600" dirty="0"/>
            </a:br>
            <a:r>
              <a:rPr lang="en-US" sz="3600" dirty="0"/>
              <a:t>Content, Position, and Source: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51B9E1-9AE7-0E9E-3135-57AAAE8541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3279" y="3602038"/>
            <a:ext cx="9144000" cy="1655762"/>
          </a:xfrm>
        </p:spPr>
        <p:txBody>
          <a:bodyPr>
            <a:normAutofit/>
          </a:bodyPr>
          <a:lstStyle/>
          <a:p>
            <a:r>
              <a:rPr lang="en-US" sz="2800" dirty="0"/>
              <a:t>The Impacts of Platform-specific </a:t>
            </a:r>
            <a:r>
              <a:rPr lang="en-US" sz="2800" b="1" dirty="0">
                <a:solidFill>
                  <a:srgbClr val="B60007"/>
                </a:solidFill>
                <a:latin typeface="+mj-lt"/>
                <a:ea typeface="+mj-ea"/>
                <a:cs typeface="+mj-cs"/>
              </a:rPr>
              <a:t>Internal Generative AI </a:t>
            </a:r>
            <a:r>
              <a:rPr lang="en-US" sz="2800" dirty="0"/>
              <a:t>on Online Q&amp;A Communities</a:t>
            </a:r>
          </a:p>
        </p:txBody>
      </p:sp>
    </p:spTree>
    <p:extLst>
      <p:ext uri="{BB962C8B-B14F-4D97-AF65-F5344CB8AC3E}">
        <p14:creationId xmlns:p14="http://schemas.microsoft.com/office/powerpoint/2010/main" val="2069768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CF216-C081-3D28-5A7C-7B567048D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: 圆角 2">
            <a:extLst>
              <a:ext uri="{FF2B5EF4-FFF2-40B4-BE49-F238E27FC236}">
                <a16:creationId xmlns:a16="http://schemas.microsoft.com/office/drawing/2014/main" id="{5FEE2A37-4FEA-A0FE-CFB4-53D1165D429F}"/>
              </a:ext>
            </a:extLst>
          </p:cNvPr>
          <p:cNvSpPr/>
          <p:nvPr/>
        </p:nvSpPr>
        <p:spPr>
          <a:xfrm>
            <a:off x="3302758" y="2262907"/>
            <a:ext cx="5445493" cy="2077755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27" name="TextBox 15">
            <a:extLst>
              <a:ext uri="{FF2B5EF4-FFF2-40B4-BE49-F238E27FC236}">
                <a16:creationId xmlns:a16="http://schemas.microsoft.com/office/drawing/2014/main" id="{A3D302B3-532F-B1DC-9130-3FB479730791}"/>
              </a:ext>
            </a:extLst>
          </p:cNvPr>
          <p:cNvSpPr txBox="1"/>
          <p:nvPr/>
        </p:nvSpPr>
        <p:spPr>
          <a:xfrm>
            <a:off x="4640892" y="3615843"/>
            <a:ext cx="1137523" cy="24622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Questions</a:t>
            </a:r>
          </a:p>
        </p:txBody>
      </p:sp>
      <p:sp>
        <p:nvSpPr>
          <p:cNvPr id="29" name="TextBox 15">
            <a:extLst>
              <a:ext uri="{FF2B5EF4-FFF2-40B4-BE49-F238E27FC236}">
                <a16:creationId xmlns:a16="http://schemas.microsoft.com/office/drawing/2014/main" id="{4315B37F-61AA-06D0-E04E-2839D13BE9C0}"/>
              </a:ext>
            </a:extLst>
          </p:cNvPr>
          <p:cNvSpPr txBox="1"/>
          <p:nvPr/>
        </p:nvSpPr>
        <p:spPr>
          <a:xfrm>
            <a:off x="6187184" y="3615843"/>
            <a:ext cx="1137523" cy="24622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Answers</a:t>
            </a:r>
          </a:p>
        </p:txBody>
      </p:sp>
      <p:pic>
        <p:nvPicPr>
          <p:cNvPr id="30" name="Picture 3">
            <a:extLst>
              <a:ext uri="{FF2B5EF4-FFF2-40B4-BE49-F238E27FC236}">
                <a16:creationId xmlns:a16="http://schemas.microsoft.com/office/drawing/2014/main" id="{6878685E-4D00-437B-7B58-27B5DE0930A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685" t="252" r="685" b="53500"/>
          <a:stretch/>
        </p:blipFill>
        <p:spPr>
          <a:xfrm>
            <a:off x="4569163" y="3064070"/>
            <a:ext cx="1261981" cy="58082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A6B5657-47BB-937D-DB28-82A3E2DF218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3752" b="1"/>
          <a:stretch/>
        </p:blipFill>
        <p:spPr>
          <a:xfrm>
            <a:off x="6052929" y="3075368"/>
            <a:ext cx="1261981" cy="580820"/>
          </a:xfrm>
          <a:prstGeom prst="rect">
            <a:avLst/>
          </a:prstGeom>
        </p:spPr>
      </p:pic>
      <p:sp>
        <p:nvSpPr>
          <p:cNvPr id="32" name="文本框 33">
            <a:extLst>
              <a:ext uri="{FF2B5EF4-FFF2-40B4-BE49-F238E27FC236}">
                <a16:creationId xmlns:a16="http://schemas.microsoft.com/office/drawing/2014/main" id="{AFE987F5-0B18-F919-9C05-78A68ED1FD7F}"/>
              </a:ext>
            </a:extLst>
          </p:cNvPr>
          <p:cNvSpPr txBox="1"/>
          <p:nvPr/>
        </p:nvSpPr>
        <p:spPr>
          <a:xfrm>
            <a:off x="3531195" y="2328008"/>
            <a:ext cx="48939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/>
              <a:t>Online Q&amp;A Communities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816961-DA06-C023-CC40-FB51798E8B06}"/>
              </a:ext>
            </a:extLst>
          </p:cNvPr>
          <p:cNvSpPr txBox="1"/>
          <p:nvPr/>
        </p:nvSpPr>
        <p:spPr>
          <a:xfrm>
            <a:off x="9034384" y="2850123"/>
            <a:ext cx="82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Supply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639626-C5EE-92A8-DBFD-574C88D3EAB9}"/>
              </a:ext>
            </a:extLst>
          </p:cNvPr>
          <p:cNvSpPr txBox="1"/>
          <p:nvPr/>
        </p:nvSpPr>
        <p:spPr>
          <a:xfrm flipH="1">
            <a:off x="7556685" y="4934358"/>
            <a:ext cx="12531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Vi</a:t>
            </a:r>
            <a:r>
              <a:rPr lang="en-US" altLang="zh-CN" sz="1600" b="1" dirty="0"/>
              <a:t>ewers</a:t>
            </a:r>
            <a:endParaRPr lang="en-US" sz="1600" b="1" dirty="0"/>
          </a:p>
        </p:txBody>
      </p:sp>
      <p:sp>
        <p:nvSpPr>
          <p:cNvPr id="11" name="team_150434">
            <a:extLst>
              <a:ext uri="{FF2B5EF4-FFF2-40B4-BE49-F238E27FC236}">
                <a16:creationId xmlns:a16="http://schemas.microsoft.com/office/drawing/2014/main" id="{425E200C-15E7-5915-A677-3CCDA86E26C9}"/>
              </a:ext>
            </a:extLst>
          </p:cNvPr>
          <p:cNvSpPr/>
          <p:nvPr/>
        </p:nvSpPr>
        <p:spPr>
          <a:xfrm>
            <a:off x="7736552" y="4043278"/>
            <a:ext cx="893410" cy="912840"/>
          </a:xfrm>
          <a:custGeom>
            <a:avLst/>
            <a:gdLst>
              <a:gd name="connsiteX0" fmla="*/ 443280 w 595120"/>
              <a:gd name="connsiteY0" fmla="*/ 151292 h 608062"/>
              <a:gd name="connsiteX1" fmla="*/ 541196 w 595120"/>
              <a:gd name="connsiteY1" fmla="*/ 151292 h 608062"/>
              <a:gd name="connsiteX2" fmla="*/ 594325 w 595120"/>
              <a:gd name="connsiteY2" fmla="*/ 204124 h 608062"/>
              <a:gd name="connsiteX3" fmla="*/ 595120 w 595120"/>
              <a:gd name="connsiteY3" fmla="*/ 368668 h 608062"/>
              <a:gd name="connsiteX4" fmla="*/ 572776 w 595120"/>
              <a:gd name="connsiteY4" fmla="*/ 391268 h 608062"/>
              <a:gd name="connsiteX5" fmla="*/ 572677 w 595120"/>
              <a:gd name="connsiteY5" fmla="*/ 391268 h 608062"/>
              <a:gd name="connsiteX6" fmla="*/ 550233 w 595120"/>
              <a:gd name="connsiteY6" fmla="*/ 368965 h 608062"/>
              <a:gd name="connsiteX7" fmla="*/ 549339 w 595120"/>
              <a:gd name="connsiteY7" fmla="*/ 204323 h 608062"/>
              <a:gd name="connsiteX8" fmla="*/ 544672 w 595120"/>
              <a:gd name="connsiteY8" fmla="*/ 199763 h 608062"/>
              <a:gd name="connsiteX9" fmla="*/ 540005 w 595120"/>
              <a:gd name="connsiteY9" fmla="*/ 204422 h 608062"/>
              <a:gd name="connsiteX10" fmla="*/ 540501 w 595120"/>
              <a:gd name="connsiteY10" fmla="*/ 580988 h 608062"/>
              <a:gd name="connsiteX11" fmla="*/ 513490 w 595120"/>
              <a:gd name="connsiteY11" fmla="*/ 607850 h 608062"/>
              <a:gd name="connsiteX12" fmla="*/ 486577 w 595120"/>
              <a:gd name="connsiteY12" fmla="*/ 580988 h 608062"/>
              <a:gd name="connsiteX13" fmla="*/ 486577 w 595120"/>
              <a:gd name="connsiteY13" fmla="*/ 371840 h 608062"/>
              <a:gd name="connsiteX14" fmla="*/ 480818 w 595120"/>
              <a:gd name="connsiteY14" fmla="*/ 366090 h 608062"/>
              <a:gd name="connsiteX15" fmla="*/ 474959 w 595120"/>
              <a:gd name="connsiteY15" fmla="*/ 371840 h 608062"/>
              <a:gd name="connsiteX16" fmla="*/ 474959 w 595120"/>
              <a:gd name="connsiteY16" fmla="*/ 580988 h 608062"/>
              <a:gd name="connsiteX17" fmla="*/ 448046 w 595120"/>
              <a:gd name="connsiteY17" fmla="*/ 607850 h 608062"/>
              <a:gd name="connsiteX18" fmla="*/ 421134 w 595120"/>
              <a:gd name="connsiteY18" fmla="*/ 580988 h 608062"/>
              <a:gd name="connsiteX19" fmla="*/ 421134 w 595120"/>
              <a:gd name="connsiteY19" fmla="*/ 394638 h 608062"/>
              <a:gd name="connsiteX20" fmla="*/ 447053 w 595120"/>
              <a:gd name="connsiteY20" fmla="*/ 350231 h 608062"/>
              <a:gd name="connsiteX21" fmla="*/ 446160 w 595120"/>
              <a:gd name="connsiteY21" fmla="*/ 172802 h 608062"/>
              <a:gd name="connsiteX22" fmla="*/ 443280 w 595120"/>
              <a:gd name="connsiteY22" fmla="*/ 151292 h 608062"/>
              <a:gd name="connsiteX23" fmla="*/ 54006 w 595120"/>
              <a:gd name="connsiteY23" fmla="*/ 151292 h 608062"/>
              <a:gd name="connsiteX24" fmla="*/ 151891 w 595120"/>
              <a:gd name="connsiteY24" fmla="*/ 151292 h 608062"/>
              <a:gd name="connsiteX25" fmla="*/ 148913 w 595120"/>
              <a:gd name="connsiteY25" fmla="*/ 172802 h 608062"/>
              <a:gd name="connsiteX26" fmla="*/ 148019 w 595120"/>
              <a:gd name="connsiteY26" fmla="*/ 350231 h 608062"/>
              <a:gd name="connsiteX27" fmla="*/ 173732 w 595120"/>
              <a:gd name="connsiteY27" fmla="*/ 394440 h 608062"/>
              <a:gd name="connsiteX28" fmla="*/ 173732 w 595120"/>
              <a:gd name="connsiteY28" fmla="*/ 580988 h 608062"/>
              <a:gd name="connsiteX29" fmla="*/ 146828 w 595120"/>
              <a:gd name="connsiteY29" fmla="*/ 607850 h 608062"/>
              <a:gd name="connsiteX30" fmla="*/ 119924 w 595120"/>
              <a:gd name="connsiteY30" fmla="*/ 580988 h 608062"/>
              <a:gd name="connsiteX31" fmla="*/ 119924 w 595120"/>
              <a:gd name="connsiteY31" fmla="*/ 371840 h 608062"/>
              <a:gd name="connsiteX32" fmla="*/ 114067 w 595120"/>
              <a:gd name="connsiteY32" fmla="*/ 366090 h 608062"/>
              <a:gd name="connsiteX33" fmla="*/ 108309 w 595120"/>
              <a:gd name="connsiteY33" fmla="*/ 371840 h 608062"/>
              <a:gd name="connsiteX34" fmla="*/ 108309 w 595120"/>
              <a:gd name="connsiteY34" fmla="*/ 580988 h 608062"/>
              <a:gd name="connsiteX35" fmla="*/ 81306 w 595120"/>
              <a:gd name="connsiteY35" fmla="*/ 607850 h 608062"/>
              <a:gd name="connsiteX36" fmla="*/ 54403 w 595120"/>
              <a:gd name="connsiteY36" fmla="*/ 580988 h 608062"/>
              <a:gd name="connsiteX37" fmla="*/ 54403 w 595120"/>
              <a:gd name="connsiteY37" fmla="*/ 196095 h 608062"/>
              <a:gd name="connsiteX38" fmla="*/ 45766 w 595120"/>
              <a:gd name="connsiteY38" fmla="*/ 204323 h 608062"/>
              <a:gd name="connsiteX39" fmla="*/ 44872 w 595120"/>
              <a:gd name="connsiteY39" fmla="*/ 368965 h 608062"/>
              <a:gd name="connsiteX40" fmla="*/ 22436 w 595120"/>
              <a:gd name="connsiteY40" fmla="*/ 391268 h 608062"/>
              <a:gd name="connsiteX41" fmla="*/ 22337 w 595120"/>
              <a:gd name="connsiteY41" fmla="*/ 391268 h 608062"/>
              <a:gd name="connsiteX42" fmla="*/ 0 w 595120"/>
              <a:gd name="connsiteY42" fmla="*/ 368668 h 608062"/>
              <a:gd name="connsiteX43" fmla="*/ 893 w 595120"/>
              <a:gd name="connsiteY43" fmla="*/ 204124 h 608062"/>
              <a:gd name="connsiteX44" fmla="*/ 54006 w 595120"/>
              <a:gd name="connsiteY44" fmla="*/ 151292 h 608062"/>
              <a:gd name="connsiteX45" fmla="*/ 232614 w 595120"/>
              <a:gd name="connsiteY45" fmla="*/ 116080 h 608062"/>
              <a:gd name="connsiteX46" fmla="*/ 362466 w 595120"/>
              <a:gd name="connsiteY46" fmla="*/ 116080 h 608062"/>
              <a:gd name="connsiteX47" fmla="*/ 419748 w 595120"/>
              <a:gd name="connsiteY47" fmla="*/ 172882 h 608062"/>
              <a:gd name="connsiteX48" fmla="*/ 420641 w 595120"/>
              <a:gd name="connsiteY48" fmla="*/ 350324 h 608062"/>
              <a:gd name="connsiteX49" fmla="*/ 396517 w 595120"/>
              <a:gd name="connsiteY49" fmla="*/ 374611 h 608062"/>
              <a:gd name="connsiteX50" fmla="*/ 396418 w 595120"/>
              <a:gd name="connsiteY50" fmla="*/ 374611 h 608062"/>
              <a:gd name="connsiteX51" fmla="*/ 372195 w 595120"/>
              <a:gd name="connsiteY51" fmla="*/ 350522 h 608062"/>
              <a:gd name="connsiteX52" fmla="*/ 371301 w 595120"/>
              <a:gd name="connsiteY52" fmla="*/ 173179 h 608062"/>
              <a:gd name="connsiteX53" fmla="*/ 366238 w 595120"/>
              <a:gd name="connsiteY53" fmla="*/ 168123 h 608062"/>
              <a:gd name="connsiteX54" fmla="*/ 361175 w 595120"/>
              <a:gd name="connsiteY54" fmla="*/ 173179 h 608062"/>
              <a:gd name="connsiteX55" fmla="*/ 361771 w 595120"/>
              <a:gd name="connsiteY55" fmla="*/ 579116 h 608062"/>
              <a:gd name="connsiteX56" fmla="*/ 332683 w 595120"/>
              <a:gd name="connsiteY56" fmla="*/ 608062 h 608062"/>
              <a:gd name="connsiteX57" fmla="*/ 303695 w 595120"/>
              <a:gd name="connsiteY57" fmla="*/ 579116 h 608062"/>
              <a:gd name="connsiteX58" fmla="*/ 303695 w 595120"/>
              <a:gd name="connsiteY58" fmla="*/ 353695 h 608062"/>
              <a:gd name="connsiteX59" fmla="*/ 297440 w 595120"/>
              <a:gd name="connsiteY59" fmla="*/ 347449 h 608062"/>
              <a:gd name="connsiteX60" fmla="*/ 291186 w 595120"/>
              <a:gd name="connsiteY60" fmla="*/ 353695 h 608062"/>
              <a:gd name="connsiteX61" fmla="*/ 291186 w 595120"/>
              <a:gd name="connsiteY61" fmla="*/ 579116 h 608062"/>
              <a:gd name="connsiteX62" fmla="*/ 262098 w 595120"/>
              <a:gd name="connsiteY62" fmla="*/ 608062 h 608062"/>
              <a:gd name="connsiteX63" fmla="*/ 233110 w 595120"/>
              <a:gd name="connsiteY63" fmla="*/ 579116 h 608062"/>
              <a:gd name="connsiteX64" fmla="*/ 233110 w 595120"/>
              <a:gd name="connsiteY64" fmla="*/ 173179 h 608062"/>
              <a:gd name="connsiteX65" fmla="*/ 228444 w 595120"/>
              <a:gd name="connsiteY65" fmla="*/ 168520 h 608062"/>
              <a:gd name="connsiteX66" fmla="*/ 223778 w 595120"/>
              <a:gd name="connsiteY66" fmla="*/ 173179 h 608062"/>
              <a:gd name="connsiteX67" fmla="*/ 222885 w 595120"/>
              <a:gd name="connsiteY67" fmla="*/ 350522 h 608062"/>
              <a:gd name="connsiteX68" fmla="*/ 198661 w 595120"/>
              <a:gd name="connsiteY68" fmla="*/ 374611 h 608062"/>
              <a:gd name="connsiteX69" fmla="*/ 198562 w 595120"/>
              <a:gd name="connsiteY69" fmla="*/ 374611 h 608062"/>
              <a:gd name="connsiteX70" fmla="*/ 174538 w 595120"/>
              <a:gd name="connsiteY70" fmla="*/ 350324 h 608062"/>
              <a:gd name="connsiteX71" fmla="*/ 175431 w 595120"/>
              <a:gd name="connsiteY71" fmla="*/ 172882 h 608062"/>
              <a:gd name="connsiteX72" fmla="*/ 179998 w 595120"/>
              <a:gd name="connsiteY72" fmla="*/ 150776 h 608062"/>
              <a:gd name="connsiteX73" fmla="*/ 232614 w 595120"/>
              <a:gd name="connsiteY73" fmla="*/ 116080 h 608062"/>
              <a:gd name="connsiteX74" fmla="*/ 481045 w 595120"/>
              <a:gd name="connsiteY74" fmla="*/ 43609 h 608062"/>
              <a:gd name="connsiteX75" fmla="*/ 527548 w 595120"/>
              <a:gd name="connsiteY75" fmla="*/ 90041 h 608062"/>
              <a:gd name="connsiteX76" fmla="*/ 481045 w 595120"/>
              <a:gd name="connsiteY76" fmla="*/ 136473 h 608062"/>
              <a:gd name="connsiteX77" fmla="*/ 434542 w 595120"/>
              <a:gd name="connsiteY77" fmla="*/ 90041 h 608062"/>
              <a:gd name="connsiteX78" fmla="*/ 481045 w 595120"/>
              <a:gd name="connsiteY78" fmla="*/ 43609 h 608062"/>
              <a:gd name="connsiteX79" fmla="*/ 114407 w 595120"/>
              <a:gd name="connsiteY79" fmla="*/ 43609 h 608062"/>
              <a:gd name="connsiteX80" fmla="*/ 160959 w 595120"/>
              <a:gd name="connsiteY80" fmla="*/ 90090 h 608062"/>
              <a:gd name="connsiteX81" fmla="*/ 114407 w 595120"/>
              <a:gd name="connsiteY81" fmla="*/ 136473 h 608062"/>
              <a:gd name="connsiteX82" fmla="*/ 83637 w 595120"/>
              <a:gd name="connsiteY82" fmla="*/ 124878 h 608062"/>
              <a:gd name="connsiteX83" fmla="*/ 67954 w 595120"/>
              <a:gd name="connsiteY83" fmla="*/ 90090 h 608062"/>
              <a:gd name="connsiteX84" fmla="*/ 114407 w 595120"/>
              <a:gd name="connsiteY84" fmla="*/ 43609 h 608062"/>
              <a:gd name="connsiteX85" fmla="*/ 297751 w 595120"/>
              <a:gd name="connsiteY85" fmla="*/ 0 h 608062"/>
              <a:gd name="connsiteX86" fmla="*/ 347887 w 595120"/>
              <a:gd name="connsiteY86" fmla="*/ 50066 h 608062"/>
              <a:gd name="connsiteX87" fmla="*/ 297751 w 595120"/>
              <a:gd name="connsiteY87" fmla="*/ 100132 h 608062"/>
              <a:gd name="connsiteX88" fmla="*/ 267073 w 595120"/>
              <a:gd name="connsiteY88" fmla="*/ 89623 h 608062"/>
              <a:gd name="connsiteX89" fmla="*/ 247614 w 595120"/>
              <a:gd name="connsiteY89" fmla="*/ 50066 h 608062"/>
              <a:gd name="connsiteX90" fmla="*/ 297751 w 595120"/>
              <a:gd name="connsiteY90" fmla="*/ 0 h 608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595120" h="608062">
                <a:moveTo>
                  <a:pt x="443280" y="151292"/>
                </a:moveTo>
                <a:lnTo>
                  <a:pt x="541196" y="151292"/>
                </a:lnTo>
                <a:cubicBezTo>
                  <a:pt x="570293" y="151292"/>
                  <a:pt x="594127" y="174982"/>
                  <a:pt x="594325" y="204124"/>
                </a:cubicBezTo>
                <a:lnTo>
                  <a:pt x="595120" y="368668"/>
                </a:lnTo>
                <a:cubicBezTo>
                  <a:pt x="595219" y="381058"/>
                  <a:pt x="585189" y="391168"/>
                  <a:pt x="572776" y="391268"/>
                </a:cubicBezTo>
                <a:lnTo>
                  <a:pt x="572677" y="391268"/>
                </a:lnTo>
                <a:cubicBezTo>
                  <a:pt x="560263" y="391268"/>
                  <a:pt x="550233" y="381256"/>
                  <a:pt x="550233" y="368965"/>
                </a:cubicBezTo>
                <a:lnTo>
                  <a:pt x="549339" y="204323"/>
                </a:lnTo>
                <a:cubicBezTo>
                  <a:pt x="549339" y="201745"/>
                  <a:pt x="547155" y="199763"/>
                  <a:pt x="544672" y="199763"/>
                </a:cubicBezTo>
                <a:cubicBezTo>
                  <a:pt x="542090" y="199763"/>
                  <a:pt x="540005" y="201845"/>
                  <a:pt x="540005" y="204422"/>
                </a:cubicBezTo>
                <a:cubicBezTo>
                  <a:pt x="540005" y="428934"/>
                  <a:pt x="540501" y="225436"/>
                  <a:pt x="540501" y="580988"/>
                </a:cubicBezTo>
                <a:cubicBezTo>
                  <a:pt x="540501" y="595856"/>
                  <a:pt x="528386" y="607850"/>
                  <a:pt x="513490" y="607850"/>
                </a:cubicBezTo>
                <a:cubicBezTo>
                  <a:pt x="498693" y="607850"/>
                  <a:pt x="486577" y="595856"/>
                  <a:pt x="486577" y="580988"/>
                </a:cubicBezTo>
                <a:lnTo>
                  <a:pt x="486577" y="371840"/>
                </a:lnTo>
                <a:cubicBezTo>
                  <a:pt x="486577" y="368668"/>
                  <a:pt x="483996" y="366090"/>
                  <a:pt x="480818" y="366090"/>
                </a:cubicBezTo>
                <a:cubicBezTo>
                  <a:pt x="477541" y="366090"/>
                  <a:pt x="474959" y="368668"/>
                  <a:pt x="474959" y="371840"/>
                </a:cubicBezTo>
                <a:lnTo>
                  <a:pt x="474959" y="580988"/>
                </a:lnTo>
                <a:cubicBezTo>
                  <a:pt x="474959" y="595856"/>
                  <a:pt x="462942" y="607850"/>
                  <a:pt x="448046" y="607850"/>
                </a:cubicBezTo>
                <a:cubicBezTo>
                  <a:pt x="433150" y="607850"/>
                  <a:pt x="421134" y="595856"/>
                  <a:pt x="421134" y="580988"/>
                </a:cubicBezTo>
                <a:lnTo>
                  <a:pt x="421134" y="394638"/>
                </a:lnTo>
                <a:cubicBezTo>
                  <a:pt x="436626" y="385915"/>
                  <a:pt x="447153" y="369262"/>
                  <a:pt x="447053" y="350231"/>
                </a:cubicBezTo>
                <a:lnTo>
                  <a:pt x="446160" y="172802"/>
                </a:lnTo>
                <a:cubicBezTo>
                  <a:pt x="446160" y="165368"/>
                  <a:pt x="445067" y="158231"/>
                  <a:pt x="443280" y="151292"/>
                </a:cubicBezTo>
                <a:close/>
                <a:moveTo>
                  <a:pt x="54006" y="151292"/>
                </a:moveTo>
                <a:lnTo>
                  <a:pt x="151891" y="151292"/>
                </a:lnTo>
                <a:cubicBezTo>
                  <a:pt x="150005" y="158231"/>
                  <a:pt x="148913" y="165368"/>
                  <a:pt x="148913" y="172802"/>
                </a:cubicBezTo>
                <a:lnTo>
                  <a:pt x="148019" y="350231"/>
                </a:lnTo>
                <a:cubicBezTo>
                  <a:pt x="147920" y="369163"/>
                  <a:pt x="158344" y="385717"/>
                  <a:pt x="173732" y="394440"/>
                </a:cubicBezTo>
                <a:lnTo>
                  <a:pt x="173732" y="580988"/>
                </a:lnTo>
                <a:cubicBezTo>
                  <a:pt x="173732" y="595856"/>
                  <a:pt x="161719" y="607850"/>
                  <a:pt x="146828" y="607850"/>
                </a:cubicBezTo>
                <a:cubicBezTo>
                  <a:pt x="131937" y="607850"/>
                  <a:pt x="119924" y="595856"/>
                  <a:pt x="119924" y="580988"/>
                </a:cubicBezTo>
                <a:lnTo>
                  <a:pt x="119924" y="371840"/>
                </a:lnTo>
                <a:cubicBezTo>
                  <a:pt x="119924" y="368668"/>
                  <a:pt x="117343" y="366090"/>
                  <a:pt x="114067" y="366090"/>
                </a:cubicBezTo>
                <a:cubicBezTo>
                  <a:pt x="110890" y="366090"/>
                  <a:pt x="108309" y="368668"/>
                  <a:pt x="108309" y="371840"/>
                </a:cubicBezTo>
                <a:lnTo>
                  <a:pt x="108309" y="580988"/>
                </a:lnTo>
                <a:cubicBezTo>
                  <a:pt x="108309" y="595856"/>
                  <a:pt x="96198" y="607850"/>
                  <a:pt x="81306" y="607850"/>
                </a:cubicBezTo>
                <a:cubicBezTo>
                  <a:pt x="66514" y="607850"/>
                  <a:pt x="54403" y="595856"/>
                  <a:pt x="54403" y="580988"/>
                </a:cubicBezTo>
                <a:lnTo>
                  <a:pt x="54403" y="196095"/>
                </a:lnTo>
                <a:cubicBezTo>
                  <a:pt x="48943" y="196095"/>
                  <a:pt x="45766" y="200159"/>
                  <a:pt x="45766" y="204323"/>
                </a:cubicBezTo>
                <a:lnTo>
                  <a:pt x="44872" y="368965"/>
                </a:lnTo>
                <a:cubicBezTo>
                  <a:pt x="44872" y="381256"/>
                  <a:pt x="34845" y="391268"/>
                  <a:pt x="22436" y="391268"/>
                </a:cubicBezTo>
                <a:lnTo>
                  <a:pt x="22337" y="391268"/>
                </a:lnTo>
                <a:cubicBezTo>
                  <a:pt x="9927" y="391168"/>
                  <a:pt x="0" y="381058"/>
                  <a:pt x="0" y="368668"/>
                </a:cubicBezTo>
                <a:lnTo>
                  <a:pt x="893" y="204124"/>
                </a:lnTo>
                <a:cubicBezTo>
                  <a:pt x="993" y="174982"/>
                  <a:pt x="24819" y="151292"/>
                  <a:pt x="54006" y="151292"/>
                </a:cubicBezTo>
                <a:close/>
                <a:moveTo>
                  <a:pt x="232614" y="116080"/>
                </a:moveTo>
                <a:lnTo>
                  <a:pt x="362466" y="116080"/>
                </a:lnTo>
                <a:cubicBezTo>
                  <a:pt x="393837" y="116080"/>
                  <a:pt x="419549" y="141557"/>
                  <a:pt x="419748" y="172882"/>
                </a:cubicBezTo>
                <a:lnTo>
                  <a:pt x="420641" y="350324"/>
                </a:lnTo>
                <a:cubicBezTo>
                  <a:pt x="420641" y="363707"/>
                  <a:pt x="409919" y="374512"/>
                  <a:pt x="396517" y="374611"/>
                </a:cubicBezTo>
                <a:lnTo>
                  <a:pt x="396418" y="374611"/>
                </a:lnTo>
                <a:cubicBezTo>
                  <a:pt x="383115" y="374611"/>
                  <a:pt x="372294" y="363905"/>
                  <a:pt x="372195" y="350522"/>
                </a:cubicBezTo>
                <a:lnTo>
                  <a:pt x="371301" y="173179"/>
                </a:lnTo>
                <a:cubicBezTo>
                  <a:pt x="371301" y="170403"/>
                  <a:pt x="369018" y="168123"/>
                  <a:pt x="366238" y="168123"/>
                </a:cubicBezTo>
                <a:cubicBezTo>
                  <a:pt x="363459" y="168123"/>
                  <a:pt x="361175" y="170403"/>
                  <a:pt x="361175" y="173179"/>
                </a:cubicBezTo>
                <a:cubicBezTo>
                  <a:pt x="361275" y="281726"/>
                  <a:pt x="361771" y="475426"/>
                  <a:pt x="361771" y="579116"/>
                </a:cubicBezTo>
                <a:cubicBezTo>
                  <a:pt x="361771" y="595076"/>
                  <a:pt x="348766" y="608062"/>
                  <a:pt x="332683" y="608062"/>
                </a:cubicBezTo>
                <a:cubicBezTo>
                  <a:pt x="316700" y="608062"/>
                  <a:pt x="303695" y="595076"/>
                  <a:pt x="303695" y="579116"/>
                </a:cubicBezTo>
                <a:lnTo>
                  <a:pt x="303695" y="353695"/>
                </a:lnTo>
                <a:cubicBezTo>
                  <a:pt x="303695" y="350324"/>
                  <a:pt x="300915" y="347449"/>
                  <a:pt x="297440" y="347449"/>
                </a:cubicBezTo>
                <a:cubicBezTo>
                  <a:pt x="293966" y="347449"/>
                  <a:pt x="291186" y="350324"/>
                  <a:pt x="291186" y="353695"/>
                </a:cubicBezTo>
                <a:lnTo>
                  <a:pt x="291186" y="579116"/>
                </a:lnTo>
                <a:cubicBezTo>
                  <a:pt x="291186" y="595076"/>
                  <a:pt x="278181" y="608062"/>
                  <a:pt x="262098" y="608062"/>
                </a:cubicBezTo>
                <a:cubicBezTo>
                  <a:pt x="246115" y="608062"/>
                  <a:pt x="233110" y="595076"/>
                  <a:pt x="233110" y="579116"/>
                </a:cubicBezTo>
                <a:lnTo>
                  <a:pt x="233110" y="173179"/>
                </a:lnTo>
                <a:cubicBezTo>
                  <a:pt x="233110" y="170602"/>
                  <a:pt x="231025" y="168520"/>
                  <a:pt x="228444" y="168520"/>
                </a:cubicBezTo>
                <a:cubicBezTo>
                  <a:pt x="225863" y="168520"/>
                  <a:pt x="223778" y="170602"/>
                  <a:pt x="223778" y="173179"/>
                </a:cubicBezTo>
                <a:lnTo>
                  <a:pt x="222885" y="350522"/>
                </a:lnTo>
                <a:cubicBezTo>
                  <a:pt x="222785" y="363905"/>
                  <a:pt x="211964" y="374611"/>
                  <a:pt x="198661" y="374611"/>
                </a:cubicBezTo>
                <a:lnTo>
                  <a:pt x="198562" y="374611"/>
                </a:lnTo>
                <a:cubicBezTo>
                  <a:pt x="185259" y="374512"/>
                  <a:pt x="174438" y="363707"/>
                  <a:pt x="174538" y="350324"/>
                </a:cubicBezTo>
                <a:lnTo>
                  <a:pt x="175431" y="172882"/>
                </a:lnTo>
                <a:cubicBezTo>
                  <a:pt x="175431" y="165249"/>
                  <a:pt x="177019" y="157814"/>
                  <a:pt x="179998" y="150776"/>
                </a:cubicBezTo>
                <a:cubicBezTo>
                  <a:pt x="188734" y="130355"/>
                  <a:pt x="209085" y="116080"/>
                  <a:pt x="232614" y="116080"/>
                </a:cubicBezTo>
                <a:close/>
                <a:moveTo>
                  <a:pt x="481045" y="43609"/>
                </a:moveTo>
                <a:cubicBezTo>
                  <a:pt x="506728" y="43609"/>
                  <a:pt x="527548" y="64397"/>
                  <a:pt x="527548" y="90041"/>
                </a:cubicBezTo>
                <a:cubicBezTo>
                  <a:pt x="527548" y="115685"/>
                  <a:pt x="506728" y="136473"/>
                  <a:pt x="481045" y="136473"/>
                </a:cubicBezTo>
                <a:cubicBezTo>
                  <a:pt x="455362" y="136473"/>
                  <a:pt x="434542" y="115685"/>
                  <a:pt x="434542" y="90041"/>
                </a:cubicBezTo>
                <a:cubicBezTo>
                  <a:pt x="434542" y="64397"/>
                  <a:pt x="455362" y="43609"/>
                  <a:pt x="481045" y="43609"/>
                </a:cubicBezTo>
                <a:close/>
                <a:moveTo>
                  <a:pt x="114407" y="43609"/>
                </a:moveTo>
                <a:cubicBezTo>
                  <a:pt x="140115" y="43609"/>
                  <a:pt x="160959" y="64422"/>
                  <a:pt x="160959" y="90090"/>
                </a:cubicBezTo>
                <a:cubicBezTo>
                  <a:pt x="160959" y="115660"/>
                  <a:pt x="140115" y="136473"/>
                  <a:pt x="114407" y="136473"/>
                </a:cubicBezTo>
                <a:cubicBezTo>
                  <a:pt x="102595" y="136473"/>
                  <a:pt x="91875" y="132112"/>
                  <a:pt x="83637" y="124878"/>
                </a:cubicBezTo>
                <a:cubicBezTo>
                  <a:pt x="74009" y="116354"/>
                  <a:pt x="67954" y="103866"/>
                  <a:pt x="67954" y="90090"/>
                </a:cubicBezTo>
                <a:cubicBezTo>
                  <a:pt x="67954" y="64422"/>
                  <a:pt x="88798" y="43609"/>
                  <a:pt x="114407" y="43609"/>
                </a:cubicBezTo>
                <a:close/>
                <a:moveTo>
                  <a:pt x="297751" y="0"/>
                </a:moveTo>
                <a:cubicBezTo>
                  <a:pt x="325351" y="0"/>
                  <a:pt x="347887" y="22307"/>
                  <a:pt x="347887" y="50066"/>
                </a:cubicBezTo>
                <a:cubicBezTo>
                  <a:pt x="347887" y="77726"/>
                  <a:pt x="325351" y="100132"/>
                  <a:pt x="297751" y="100132"/>
                </a:cubicBezTo>
                <a:cubicBezTo>
                  <a:pt x="286234" y="100132"/>
                  <a:pt x="275611" y="96166"/>
                  <a:pt x="267073" y="89623"/>
                </a:cubicBezTo>
                <a:cubicBezTo>
                  <a:pt x="254663" y="80006"/>
                  <a:pt x="247614" y="65433"/>
                  <a:pt x="247614" y="50066"/>
                </a:cubicBezTo>
                <a:cubicBezTo>
                  <a:pt x="247614" y="22406"/>
                  <a:pt x="270052" y="0"/>
                  <a:pt x="297751" y="0"/>
                </a:cubicBezTo>
                <a:close/>
              </a:path>
            </a:pathLst>
          </a:cu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pic>
        <p:nvPicPr>
          <p:cNvPr id="16" name="Picture 5">
            <a:extLst>
              <a:ext uri="{FF2B5EF4-FFF2-40B4-BE49-F238E27FC236}">
                <a16:creationId xmlns:a16="http://schemas.microsoft.com/office/drawing/2014/main" id="{63A10F0A-C962-BEF2-FC52-E01642AA67E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grayscl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043" b="89894" l="7435" r="91822">
                        <a14:foregroundMark x1="7435" y1="25000" x2="7435" y2="38298"/>
                        <a14:foregroundMark x1="91822" y1="26064" x2="91822" y2="36702"/>
                        <a14:foregroundMark x1="63569" y1="55851" x2="65056" y2="62234"/>
                        <a14:foregroundMark x1="61338" y1="48404" x2="61710" y2="68085"/>
                        <a14:foregroundMark x1="62454" y1="51596" x2="72119" y2="82979"/>
                        <a14:foregroundMark x1="68773" y1="62766" x2="68773" y2="6276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3403" y="3735703"/>
            <a:ext cx="767505" cy="536398"/>
          </a:xfrm>
          <a:prstGeom prst="rect">
            <a:avLst/>
          </a:prstGeom>
        </p:spPr>
      </p:pic>
      <p:sp>
        <p:nvSpPr>
          <p:cNvPr id="17" name="TextBox 27">
            <a:extLst>
              <a:ext uri="{FF2B5EF4-FFF2-40B4-BE49-F238E27FC236}">
                <a16:creationId xmlns:a16="http://schemas.microsoft.com/office/drawing/2014/main" id="{02AB4C27-C118-DA1F-1443-5E7BDD52C102}"/>
              </a:ext>
            </a:extLst>
          </p:cNvPr>
          <p:cNvSpPr txBox="1"/>
          <p:nvPr/>
        </p:nvSpPr>
        <p:spPr>
          <a:xfrm>
            <a:off x="2195674" y="2850123"/>
            <a:ext cx="8384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Supply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327E238-E31D-E8F7-7E40-2A296B8EE578}"/>
              </a:ext>
            </a:extLst>
          </p:cNvPr>
          <p:cNvSpPr txBox="1"/>
          <p:nvPr/>
        </p:nvSpPr>
        <p:spPr>
          <a:xfrm flipH="1">
            <a:off x="9863867" y="3837085"/>
            <a:ext cx="12531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Answerers</a:t>
            </a:r>
          </a:p>
        </p:txBody>
      </p:sp>
      <p:sp>
        <p:nvSpPr>
          <p:cNvPr id="19" name="TextBox 6">
            <a:extLst>
              <a:ext uri="{FF2B5EF4-FFF2-40B4-BE49-F238E27FC236}">
                <a16:creationId xmlns:a16="http://schemas.microsoft.com/office/drawing/2014/main" id="{78EC5EA7-D2FE-7537-5B15-4E636B576BF7}"/>
              </a:ext>
            </a:extLst>
          </p:cNvPr>
          <p:cNvSpPr txBox="1"/>
          <p:nvPr/>
        </p:nvSpPr>
        <p:spPr>
          <a:xfrm flipH="1">
            <a:off x="982022" y="3804759"/>
            <a:ext cx="13965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Questioners</a:t>
            </a:r>
          </a:p>
        </p:txBody>
      </p:sp>
      <p:sp>
        <p:nvSpPr>
          <p:cNvPr id="20" name="man-silhouette_43368">
            <a:extLst>
              <a:ext uri="{FF2B5EF4-FFF2-40B4-BE49-F238E27FC236}">
                <a16:creationId xmlns:a16="http://schemas.microsoft.com/office/drawing/2014/main" id="{33725273-05B6-28BF-07A8-E254C0CC1E6D}"/>
              </a:ext>
            </a:extLst>
          </p:cNvPr>
          <p:cNvSpPr/>
          <p:nvPr/>
        </p:nvSpPr>
        <p:spPr>
          <a:xfrm>
            <a:off x="10266692" y="2802629"/>
            <a:ext cx="447494" cy="1118932"/>
          </a:xfrm>
          <a:custGeom>
            <a:avLst/>
            <a:gdLst>
              <a:gd name="connsiteX0" fmla="*/ 54978 w 241969"/>
              <a:gd name="connsiteY0" fmla="*/ 102390 h 605028"/>
              <a:gd name="connsiteX1" fmla="*/ 116083 w 241969"/>
              <a:gd name="connsiteY1" fmla="*/ 102390 h 605028"/>
              <a:gd name="connsiteX2" fmla="*/ 125886 w 241969"/>
              <a:gd name="connsiteY2" fmla="*/ 102390 h 605028"/>
              <a:gd name="connsiteX3" fmla="*/ 186991 w 241969"/>
              <a:gd name="connsiteY3" fmla="*/ 102390 h 605028"/>
              <a:gd name="connsiteX4" fmla="*/ 241969 w 241969"/>
              <a:gd name="connsiteY4" fmla="*/ 158501 h 605028"/>
              <a:gd name="connsiteX5" fmla="*/ 241969 w 241969"/>
              <a:gd name="connsiteY5" fmla="*/ 319577 h 605028"/>
              <a:gd name="connsiteX6" fmla="*/ 218769 w 241969"/>
              <a:gd name="connsiteY6" fmla="*/ 342740 h 605028"/>
              <a:gd name="connsiteX7" fmla="*/ 195568 w 241969"/>
              <a:gd name="connsiteY7" fmla="*/ 319577 h 605028"/>
              <a:gd name="connsiteX8" fmla="*/ 195487 w 241969"/>
              <a:gd name="connsiteY8" fmla="*/ 177994 h 605028"/>
              <a:gd name="connsiteX9" fmla="*/ 193118 w 241969"/>
              <a:gd name="connsiteY9" fmla="*/ 175629 h 605028"/>
              <a:gd name="connsiteX10" fmla="*/ 188216 w 241969"/>
              <a:gd name="connsiteY10" fmla="*/ 175629 h 605028"/>
              <a:gd name="connsiteX11" fmla="*/ 185766 w 241969"/>
              <a:gd name="connsiteY11" fmla="*/ 177994 h 605028"/>
              <a:gd name="connsiteX12" fmla="*/ 185766 w 241969"/>
              <a:gd name="connsiteY12" fmla="*/ 575178 h 605028"/>
              <a:gd name="connsiteX13" fmla="*/ 155867 w 241969"/>
              <a:gd name="connsiteY13" fmla="*/ 605028 h 605028"/>
              <a:gd name="connsiteX14" fmla="*/ 125886 w 241969"/>
              <a:gd name="connsiteY14" fmla="*/ 575178 h 605028"/>
              <a:gd name="connsiteX15" fmla="*/ 125886 w 241969"/>
              <a:gd name="connsiteY15" fmla="*/ 341516 h 605028"/>
              <a:gd name="connsiteX16" fmla="*/ 123435 w 241969"/>
              <a:gd name="connsiteY16" fmla="*/ 339069 h 605028"/>
              <a:gd name="connsiteX17" fmla="*/ 118615 w 241969"/>
              <a:gd name="connsiteY17" fmla="*/ 339069 h 605028"/>
              <a:gd name="connsiteX18" fmla="*/ 116083 w 241969"/>
              <a:gd name="connsiteY18" fmla="*/ 341516 h 605028"/>
              <a:gd name="connsiteX19" fmla="*/ 116083 w 241969"/>
              <a:gd name="connsiteY19" fmla="*/ 575178 h 605028"/>
              <a:gd name="connsiteX20" fmla="*/ 86184 w 241969"/>
              <a:gd name="connsiteY20" fmla="*/ 605028 h 605028"/>
              <a:gd name="connsiteX21" fmla="*/ 56203 w 241969"/>
              <a:gd name="connsiteY21" fmla="*/ 575178 h 605028"/>
              <a:gd name="connsiteX22" fmla="*/ 56203 w 241969"/>
              <a:gd name="connsiteY22" fmla="*/ 177994 h 605028"/>
              <a:gd name="connsiteX23" fmla="*/ 53834 w 241969"/>
              <a:gd name="connsiteY23" fmla="*/ 175629 h 605028"/>
              <a:gd name="connsiteX24" fmla="*/ 48933 w 241969"/>
              <a:gd name="connsiteY24" fmla="*/ 175629 h 605028"/>
              <a:gd name="connsiteX25" fmla="*/ 46482 w 241969"/>
              <a:gd name="connsiteY25" fmla="*/ 177994 h 605028"/>
              <a:gd name="connsiteX26" fmla="*/ 46482 w 241969"/>
              <a:gd name="connsiteY26" fmla="*/ 319577 h 605028"/>
              <a:gd name="connsiteX27" fmla="*/ 23200 w 241969"/>
              <a:gd name="connsiteY27" fmla="*/ 342740 h 605028"/>
              <a:gd name="connsiteX28" fmla="*/ 0 w 241969"/>
              <a:gd name="connsiteY28" fmla="*/ 319577 h 605028"/>
              <a:gd name="connsiteX29" fmla="*/ 0 w 241969"/>
              <a:gd name="connsiteY29" fmla="*/ 158501 h 605028"/>
              <a:gd name="connsiteX30" fmla="*/ 54978 w 241969"/>
              <a:gd name="connsiteY30" fmla="*/ 102390 h 605028"/>
              <a:gd name="connsiteX31" fmla="*/ 120984 w 241969"/>
              <a:gd name="connsiteY31" fmla="*/ 0 h 605028"/>
              <a:gd name="connsiteX32" fmla="*/ 165546 w 241969"/>
              <a:gd name="connsiteY32" fmla="*/ 44492 h 605028"/>
              <a:gd name="connsiteX33" fmla="*/ 120984 w 241969"/>
              <a:gd name="connsiteY33" fmla="*/ 88984 h 605028"/>
              <a:gd name="connsiteX34" fmla="*/ 76422 w 241969"/>
              <a:gd name="connsiteY34" fmla="*/ 44492 h 605028"/>
              <a:gd name="connsiteX35" fmla="*/ 120984 w 241969"/>
              <a:gd name="connsiteY35" fmla="*/ 0 h 605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241969" h="605028">
                <a:moveTo>
                  <a:pt x="54978" y="102390"/>
                </a:moveTo>
                <a:lnTo>
                  <a:pt x="116083" y="102390"/>
                </a:lnTo>
                <a:lnTo>
                  <a:pt x="125886" y="102390"/>
                </a:lnTo>
                <a:lnTo>
                  <a:pt x="186991" y="102390"/>
                </a:lnTo>
                <a:cubicBezTo>
                  <a:pt x="217543" y="102390"/>
                  <a:pt x="241969" y="126776"/>
                  <a:pt x="241969" y="158501"/>
                </a:cubicBezTo>
                <a:lnTo>
                  <a:pt x="241969" y="319577"/>
                </a:lnTo>
                <a:cubicBezTo>
                  <a:pt x="241969" y="332382"/>
                  <a:pt x="231594" y="342740"/>
                  <a:pt x="218769" y="342740"/>
                </a:cubicBezTo>
                <a:cubicBezTo>
                  <a:pt x="205943" y="342740"/>
                  <a:pt x="195568" y="332382"/>
                  <a:pt x="195568" y="319577"/>
                </a:cubicBezTo>
                <a:cubicBezTo>
                  <a:pt x="195568" y="319577"/>
                  <a:pt x="195487" y="177994"/>
                  <a:pt x="195487" y="177994"/>
                </a:cubicBezTo>
                <a:cubicBezTo>
                  <a:pt x="195487" y="176689"/>
                  <a:pt x="194425" y="175629"/>
                  <a:pt x="193118" y="175629"/>
                </a:cubicBezTo>
                <a:lnTo>
                  <a:pt x="188216" y="175629"/>
                </a:lnTo>
                <a:cubicBezTo>
                  <a:pt x="186828" y="175629"/>
                  <a:pt x="185766" y="176689"/>
                  <a:pt x="185766" y="177994"/>
                </a:cubicBezTo>
                <a:lnTo>
                  <a:pt x="185766" y="575178"/>
                </a:lnTo>
                <a:cubicBezTo>
                  <a:pt x="185766" y="591653"/>
                  <a:pt x="172368" y="605028"/>
                  <a:pt x="155867" y="605028"/>
                </a:cubicBezTo>
                <a:cubicBezTo>
                  <a:pt x="139283" y="605028"/>
                  <a:pt x="125886" y="591653"/>
                  <a:pt x="125886" y="575178"/>
                </a:cubicBezTo>
                <a:lnTo>
                  <a:pt x="125886" y="341516"/>
                </a:lnTo>
                <a:cubicBezTo>
                  <a:pt x="125886" y="339803"/>
                  <a:pt x="125069" y="339069"/>
                  <a:pt x="123435" y="339069"/>
                </a:cubicBezTo>
                <a:lnTo>
                  <a:pt x="118615" y="339069"/>
                </a:lnTo>
                <a:cubicBezTo>
                  <a:pt x="116900" y="339069"/>
                  <a:pt x="116083" y="339803"/>
                  <a:pt x="116083" y="341516"/>
                </a:cubicBezTo>
                <a:lnTo>
                  <a:pt x="116083" y="575178"/>
                </a:lnTo>
                <a:cubicBezTo>
                  <a:pt x="116083" y="591653"/>
                  <a:pt x="102686" y="605028"/>
                  <a:pt x="86184" y="605028"/>
                </a:cubicBezTo>
                <a:cubicBezTo>
                  <a:pt x="69601" y="605028"/>
                  <a:pt x="56203" y="591653"/>
                  <a:pt x="56203" y="575178"/>
                </a:cubicBezTo>
                <a:lnTo>
                  <a:pt x="56203" y="177994"/>
                </a:lnTo>
                <a:cubicBezTo>
                  <a:pt x="56203" y="176689"/>
                  <a:pt x="55141" y="175629"/>
                  <a:pt x="53834" y="175629"/>
                </a:cubicBezTo>
                <a:lnTo>
                  <a:pt x="48933" y="175629"/>
                </a:lnTo>
                <a:cubicBezTo>
                  <a:pt x="47544" y="175629"/>
                  <a:pt x="46482" y="176689"/>
                  <a:pt x="46482" y="177994"/>
                </a:cubicBezTo>
                <a:cubicBezTo>
                  <a:pt x="46482" y="177994"/>
                  <a:pt x="46482" y="319577"/>
                  <a:pt x="46482" y="319577"/>
                </a:cubicBezTo>
                <a:cubicBezTo>
                  <a:pt x="46482" y="332382"/>
                  <a:pt x="36026" y="342740"/>
                  <a:pt x="23200" y="342740"/>
                </a:cubicBezTo>
                <a:cubicBezTo>
                  <a:pt x="10375" y="342740"/>
                  <a:pt x="0" y="332382"/>
                  <a:pt x="0" y="319577"/>
                </a:cubicBezTo>
                <a:lnTo>
                  <a:pt x="0" y="158501"/>
                </a:lnTo>
                <a:cubicBezTo>
                  <a:pt x="0" y="126776"/>
                  <a:pt x="24426" y="102390"/>
                  <a:pt x="54978" y="102390"/>
                </a:cubicBezTo>
                <a:close/>
                <a:moveTo>
                  <a:pt x="120984" y="0"/>
                </a:moveTo>
                <a:cubicBezTo>
                  <a:pt x="145595" y="0"/>
                  <a:pt x="165546" y="19920"/>
                  <a:pt x="165546" y="44492"/>
                </a:cubicBezTo>
                <a:cubicBezTo>
                  <a:pt x="165546" y="69064"/>
                  <a:pt x="145595" y="88984"/>
                  <a:pt x="120984" y="88984"/>
                </a:cubicBezTo>
                <a:cubicBezTo>
                  <a:pt x="96373" y="88984"/>
                  <a:pt x="76422" y="69064"/>
                  <a:pt x="76422" y="44492"/>
                </a:cubicBezTo>
                <a:cubicBezTo>
                  <a:pt x="76422" y="19920"/>
                  <a:pt x="96373" y="0"/>
                  <a:pt x="120984" y="0"/>
                </a:cubicBezTo>
                <a:close/>
              </a:path>
            </a:pathLst>
          </a:cu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1" name="answer_268107">
            <a:extLst>
              <a:ext uri="{FF2B5EF4-FFF2-40B4-BE49-F238E27FC236}">
                <a16:creationId xmlns:a16="http://schemas.microsoft.com/office/drawing/2014/main" id="{3C2ACD16-F77A-E8F2-C779-2F3389A0DCFD}"/>
              </a:ext>
            </a:extLst>
          </p:cNvPr>
          <p:cNvSpPr/>
          <p:nvPr/>
        </p:nvSpPr>
        <p:spPr>
          <a:xfrm>
            <a:off x="1261078" y="2794860"/>
            <a:ext cx="838427" cy="1063351"/>
          </a:xfrm>
          <a:custGeom>
            <a:avLst/>
            <a:gdLst>
              <a:gd name="connsiteX0" fmla="*/ 322413 w 478363"/>
              <a:gd name="connsiteY0" fmla="*/ 385963 h 606692"/>
              <a:gd name="connsiteX1" fmla="*/ 351133 w 478363"/>
              <a:gd name="connsiteY1" fmla="*/ 385963 h 606692"/>
              <a:gd name="connsiteX2" fmla="*/ 351133 w 478363"/>
              <a:gd name="connsiteY2" fmla="*/ 537275 h 606692"/>
              <a:gd name="connsiteX3" fmla="*/ 336773 w 478363"/>
              <a:gd name="connsiteY3" fmla="*/ 551580 h 606692"/>
              <a:gd name="connsiteX4" fmla="*/ 322413 w 478363"/>
              <a:gd name="connsiteY4" fmla="*/ 537275 h 606692"/>
              <a:gd name="connsiteX5" fmla="*/ 245920 w 478363"/>
              <a:gd name="connsiteY5" fmla="*/ 385963 h 606692"/>
              <a:gd name="connsiteX6" fmla="*/ 300467 w 478363"/>
              <a:gd name="connsiteY6" fmla="*/ 385963 h 606692"/>
              <a:gd name="connsiteX7" fmla="*/ 300467 w 478363"/>
              <a:gd name="connsiteY7" fmla="*/ 558452 h 606692"/>
              <a:gd name="connsiteX8" fmla="*/ 273149 w 478363"/>
              <a:gd name="connsiteY8" fmla="*/ 585734 h 606692"/>
              <a:gd name="connsiteX9" fmla="*/ 245920 w 478363"/>
              <a:gd name="connsiteY9" fmla="*/ 558452 h 606692"/>
              <a:gd name="connsiteX10" fmla="*/ 179518 w 478363"/>
              <a:gd name="connsiteY10" fmla="*/ 385963 h 606692"/>
              <a:gd name="connsiteX11" fmla="*/ 234065 w 478363"/>
              <a:gd name="connsiteY11" fmla="*/ 385963 h 606692"/>
              <a:gd name="connsiteX12" fmla="*/ 234065 w 478363"/>
              <a:gd name="connsiteY12" fmla="*/ 558452 h 606692"/>
              <a:gd name="connsiteX13" fmla="*/ 206747 w 478363"/>
              <a:gd name="connsiteY13" fmla="*/ 585734 h 606692"/>
              <a:gd name="connsiteX14" fmla="*/ 179518 w 478363"/>
              <a:gd name="connsiteY14" fmla="*/ 558452 h 606692"/>
              <a:gd name="connsiteX15" fmla="*/ 126806 w 478363"/>
              <a:gd name="connsiteY15" fmla="*/ 385963 h 606692"/>
              <a:gd name="connsiteX16" fmla="*/ 155456 w 478363"/>
              <a:gd name="connsiteY16" fmla="*/ 385963 h 606692"/>
              <a:gd name="connsiteX17" fmla="*/ 155456 w 478363"/>
              <a:gd name="connsiteY17" fmla="*/ 537275 h 606692"/>
              <a:gd name="connsiteX18" fmla="*/ 141131 w 478363"/>
              <a:gd name="connsiteY18" fmla="*/ 551580 h 606692"/>
              <a:gd name="connsiteX19" fmla="*/ 126806 w 478363"/>
              <a:gd name="connsiteY19" fmla="*/ 537275 h 606692"/>
              <a:gd name="connsiteX20" fmla="*/ 13795 w 478363"/>
              <a:gd name="connsiteY20" fmla="*/ 337626 h 606692"/>
              <a:gd name="connsiteX21" fmla="*/ 464569 w 478363"/>
              <a:gd name="connsiteY21" fmla="*/ 337626 h 606692"/>
              <a:gd name="connsiteX22" fmla="*/ 478363 w 478363"/>
              <a:gd name="connsiteY22" fmla="*/ 351399 h 606692"/>
              <a:gd name="connsiteX23" fmla="*/ 464569 w 478363"/>
              <a:gd name="connsiteY23" fmla="*/ 365172 h 606692"/>
              <a:gd name="connsiteX24" fmla="*/ 450952 w 478363"/>
              <a:gd name="connsiteY24" fmla="*/ 365172 h 606692"/>
              <a:gd name="connsiteX25" fmla="*/ 450952 w 478363"/>
              <a:gd name="connsiteY25" fmla="*/ 585543 h 606692"/>
              <a:gd name="connsiteX26" fmla="*/ 429770 w 478363"/>
              <a:gd name="connsiteY26" fmla="*/ 606692 h 606692"/>
              <a:gd name="connsiteX27" fmla="*/ 408589 w 478363"/>
              <a:gd name="connsiteY27" fmla="*/ 585543 h 606692"/>
              <a:gd name="connsiteX28" fmla="*/ 408589 w 478363"/>
              <a:gd name="connsiteY28" fmla="*/ 365172 h 606692"/>
              <a:gd name="connsiteX29" fmla="*/ 71020 w 478363"/>
              <a:gd name="connsiteY29" fmla="*/ 365172 h 606692"/>
              <a:gd name="connsiteX30" fmla="*/ 71020 w 478363"/>
              <a:gd name="connsiteY30" fmla="*/ 585543 h 606692"/>
              <a:gd name="connsiteX31" fmla="*/ 49839 w 478363"/>
              <a:gd name="connsiteY31" fmla="*/ 606692 h 606692"/>
              <a:gd name="connsiteX32" fmla="*/ 28658 w 478363"/>
              <a:gd name="connsiteY32" fmla="*/ 585543 h 606692"/>
              <a:gd name="connsiteX33" fmla="*/ 28658 w 478363"/>
              <a:gd name="connsiteY33" fmla="*/ 365172 h 606692"/>
              <a:gd name="connsiteX34" fmla="*/ 13795 w 478363"/>
              <a:gd name="connsiteY34" fmla="*/ 365172 h 606692"/>
              <a:gd name="connsiteX35" fmla="*/ 0 w 478363"/>
              <a:gd name="connsiteY35" fmla="*/ 351399 h 606692"/>
              <a:gd name="connsiteX36" fmla="*/ 13795 w 478363"/>
              <a:gd name="connsiteY36" fmla="*/ 337626 h 606692"/>
              <a:gd name="connsiteX37" fmla="*/ 239958 w 478363"/>
              <a:gd name="connsiteY37" fmla="*/ 69548 h 606692"/>
              <a:gd name="connsiteX38" fmla="*/ 287131 w 478363"/>
              <a:gd name="connsiteY38" fmla="*/ 116651 h 606692"/>
              <a:gd name="connsiteX39" fmla="*/ 239958 w 478363"/>
              <a:gd name="connsiteY39" fmla="*/ 163754 h 606692"/>
              <a:gd name="connsiteX40" fmla="*/ 192785 w 478363"/>
              <a:gd name="connsiteY40" fmla="*/ 116651 h 606692"/>
              <a:gd name="connsiteX41" fmla="*/ 239958 w 478363"/>
              <a:gd name="connsiteY41" fmla="*/ 69548 h 606692"/>
              <a:gd name="connsiteX42" fmla="*/ 369130 w 478363"/>
              <a:gd name="connsiteY42" fmla="*/ 1049 h 606692"/>
              <a:gd name="connsiteX43" fmla="*/ 386453 w 478363"/>
              <a:gd name="connsiteY43" fmla="*/ 2571 h 606692"/>
              <a:gd name="connsiteX44" fmla="*/ 396155 w 478363"/>
              <a:gd name="connsiteY44" fmla="*/ 33229 h 606692"/>
              <a:gd name="connsiteX45" fmla="*/ 300026 w 478363"/>
              <a:gd name="connsiteY45" fmla="*/ 216109 h 606692"/>
              <a:gd name="connsiteX46" fmla="*/ 300026 w 478363"/>
              <a:gd name="connsiteY46" fmla="*/ 316880 h 606692"/>
              <a:gd name="connsiteX47" fmla="*/ 236741 w 478363"/>
              <a:gd name="connsiteY47" fmla="*/ 316880 h 606692"/>
              <a:gd name="connsiteX48" fmla="*/ 243328 w 478363"/>
              <a:gd name="connsiteY48" fmla="*/ 293776 h 606692"/>
              <a:gd name="connsiteX49" fmla="*/ 199714 w 478363"/>
              <a:gd name="connsiteY49" fmla="*/ 250410 h 606692"/>
              <a:gd name="connsiteX50" fmla="*/ 199625 w 478363"/>
              <a:gd name="connsiteY50" fmla="*/ 250410 h 606692"/>
              <a:gd name="connsiteX51" fmla="*/ 179420 w 478363"/>
              <a:gd name="connsiteY51" fmla="*/ 250410 h 606692"/>
              <a:gd name="connsiteX52" fmla="*/ 179420 w 478363"/>
              <a:gd name="connsiteY52" fmla="*/ 235570 h 606692"/>
              <a:gd name="connsiteX53" fmla="*/ 174257 w 478363"/>
              <a:gd name="connsiteY53" fmla="*/ 228905 h 606692"/>
              <a:gd name="connsiteX54" fmla="*/ 166603 w 478363"/>
              <a:gd name="connsiteY54" fmla="*/ 232460 h 606692"/>
              <a:gd name="connsiteX55" fmla="*/ 166425 w 478363"/>
              <a:gd name="connsiteY55" fmla="*/ 232815 h 606692"/>
              <a:gd name="connsiteX56" fmla="*/ 148178 w 478363"/>
              <a:gd name="connsiteY56" fmla="*/ 271293 h 606692"/>
              <a:gd name="connsiteX57" fmla="*/ 199625 w 478363"/>
              <a:gd name="connsiteY57" fmla="*/ 271204 h 606692"/>
              <a:gd name="connsiteX58" fmla="*/ 199714 w 478363"/>
              <a:gd name="connsiteY58" fmla="*/ 271204 h 606692"/>
              <a:gd name="connsiteX59" fmla="*/ 222500 w 478363"/>
              <a:gd name="connsiteY59" fmla="*/ 293864 h 606692"/>
              <a:gd name="connsiteX60" fmla="*/ 199803 w 478363"/>
              <a:gd name="connsiteY60" fmla="*/ 316613 h 606692"/>
              <a:gd name="connsiteX61" fmla="*/ 112219 w 478363"/>
              <a:gd name="connsiteY61" fmla="*/ 316880 h 606692"/>
              <a:gd name="connsiteX62" fmla="*/ 91569 w 478363"/>
              <a:gd name="connsiteY62" fmla="*/ 284445 h 606692"/>
              <a:gd name="connsiteX63" fmla="*/ 125214 w 478363"/>
              <a:gd name="connsiteY63" fmla="*/ 213443 h 606692"/>
              <a:gd name="connsiteX64" fmla="*/ 179954 w 478363"/>
              <a:gd name="connsiteY64" fmla="*/ 178787 h 606692"/>
              <a:gd name="connsiteX65" fmla="*/ 268784 w 478363"/>
              <a:gd name="connsiteY65" fmla="*/ 178787 h 606692"/>
              <a:gd name="connsiteX66" fmla="*/ 355745 w 478363"/>
              <a:gd name="connsiteY66" fmla="*/ 12257 h 606692"/>
              <a:gd name="connsiteX67" fmla="*/ 369130 w 478363"/>
              <a:gd name="connsiteY67" fmla="*/ 1049 h 606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478363" h="606692">
                <a:moveTo>
                  <a:pt x="322413" y="385963"/>
                </a:moveTo>
                <a:lnTo>
                  <a:pt x="351133" y="385963"/>
                </a:lnTo>
                <a:lnTo>
                  <a:pt x="351133" y="537275"/>
                </a:lnTo>
                <a:cubicBezTo>
                  <a:pt x="351133" y="545183"/>
                  <a:pt x="344711" y="551580"/>
                  <a:pt x="336773" y="551580"/>
                </a:cubicBezTo>
                <a:cubicBezTo>
                  <a:pt x="328835" y="551580"/>
                  <a:pt x="322413" y="545183"/>
                  <a:pt x="322413" y="537275"/>
                </a:cubicBezTo>
                <a:close/>
                <a:moveTo>
                  <a:pt x="245920" y="385963"/>
                </a:moveTo>
                <a:lnTo>
                  <a:pt x="300467" y="385963"/>
                </a:lnTo>
                <a:lnTo>
                  <a:pt x="300467" y="558452"/>
                </a:lnTo>
                <a:cubicBezTo>
                  <a:pt x="300467" y="573559"/>
                  <a:pt x="288276" y="585734"/>
                  <a:pt x="273149" y="585734"/>
                </a:cubicBezTo>
                <a:cubicBezTo>
                  <a:pt x="258111" y="585734"/>
                  <a:pt x="245920" y="573559"/>
                  <a:pt x="245920" y="558452"/>
                </a:cubicBezTo>
                <a:close/>
                <a:moveTo>
                  <a:pt x="179518" y="385963"/>
                </a:moveTo>
                <a:lnTo>
                  <a:pt x="234065" y="385963"/>
                </a:lnTo>
                <a:lnTo>
                  <a:pt x="234065" y="558452"/>
                </a:lnTo>
                <a:cubicBezTo>
                  <a:pt x="234065" y="573559"/>
                  <a:pt x="221874" y="585734"/>
                  <a:pt x="206747" y="585734"/>
                </a:cubicBezTo>
                <a:cubicBezTo>
                  <a:pt x="191709" y="585734"/>
                  <a:pt x="179518" y="573559"/>
                  <a:pt x="179518" y="558452"/>
                </a:cubicBezTo>
                <a:close/>
                <a:moveTo>
                  <a:pt x="126806" y="385963"/>
                </a:moveTo>
                <a:lnTo>
                  <a:pt x="155456" y="385963"/>
                </a:lnTo>
                <a:lnTo>
                  <a:pt x="155456" y="537275"/>
                </a:lnTo>
                <a:cubicBezTo>
                  <a:pt x="155456" y="545183"/>
                  <a:pt x="149050" y="551580"/>
                  <a:pt x="141131" y="551580"/>
                </a:cubicBezTo>
                <a:cubicBezTo>
                  <a:pt x="133212" y="551580"/>
                  <a:pt x="126806" y="545183"/>
                  <a:pt x="126806" y="537275"/>
                </a:cubicBezTo>
                <a:close/>
                <a:moveTo>
                  <a:pt x="13795" y="337626"/>
                </a:moveTo>
                <a:lnTo>
                  <a:pt x="464569" y="337626"/>
                </a:lnTo>
                <a:cubicBezTo>
                  <a:pt x="472133" y="337626"/>
                  <a:pt x="478363" y="343846"/>
                  <a:pt x="478363" y="351399"/>
                </a:cubicBezTo>
                <a:cubicBezTo>
                  <a:pt x="478363" y="359041"/>
                  <a:pt x="472133" y="365172"/>
                  <a:pt x="464569" y="365172"/>
                </a:cubicBezTo>
                <a:lnTo>
                  <a:pt x="450952" y="365172"/>
                </a:lnTo>
                <a:lnTo>
                  <a:pt x="450952" y="585543"/>
                </a:lnTo>
                <a:cubicBezTo>
                  <a:pt x="450952" y="597184"/>
                  <a:pt x="441429" y="606692"/>
                  <a:pt x="429770" y="606692"/>
                </a:cubicBezTo>
                <a:cubicBezTo>
                  <a:pt x="418023" y="606692"/>
                  <a:pt x="408589" y="597184"/>
                  <a:pt x="408589" y="585543"/>
                </a:cubicBezTo>
                <a:lnTo>
                  <a:pt x="408589" y="365172"/>
                </a:lnTo>
                <a:lnTo>
                  <a:pt x="71020" y="365172"/>
                </a:lnTo>
                <a:lnTo>
                  <a:pt x="71020" y="585543"/>
                </a:lnTo>
                <a:cubicBezTo>
                  <a:pt x="71020" y="597184"/>
                  <a:pt x="61498" y="606692"/>
                  <a:pt x="49839" y="606692"/>
                </a:cubicBezTo>
                <a:cubicBezTo>
                  <a:pt x="38091" y="606692"/>
                  <a:pt x="28658" y="597184"/>
                  <a:pt x="28658" y="585543"/>
                </a:cubicBezTo>
                <a:lnTo>
                  <a:pt x="28658" y="365172"/>
                </a:lnTo>
                <a:lnTo>
                  <a:pt x="13795" y="365172"/>
                </a:lnTo>
                <a:cubicBezTo>
                  <a:pt x="6141" y="365172"/>
                  <a:pt x="0" y="359041"/>
                  <a:pt x="0" y="351399"/>
                </a:cubicBezTo>
                <a:cubicBezTo>
                  <a:pt x="0" y="343846"/>
                  <a:pt x="6141" y="337626"/>
                  <a:pt x="13795" y="337626"/>
                </a:cubicBezTo>
                <a:close/>
                <a:moveTo>
                  <a:pt x="239958" y="69548"/>
                </a:moveTo>
                <a:cubicBezTo>
                  <a:pt x="266011" y="69548"/>
                  <a:pt x="287131" y="90637"/>
                  <a:pt x="287131" y="116651"/>
                </a:cubicBezTo>
                <a:cubicBezTo>
                  <a:pt x="287131" y="142665"/>
                  <a:pt x="266011" y="163754"/>
                  <a:pt x="239958" y="163754"/>
                </a:cubicBezTo>
                <a:cubicBezTo>
                  <a:pt x="213905" y="163754"/>
                  <a:pt x="192785" y="142665"/>
                  <a:pt x="192785" y="116651"/>
                </a:cubicBezTo>
                <a:cubicBezTo>
                  <a:pt x="192785" y="90637"/>
                  <a:pt x="213905" y="69548"/>
                  <a:pt x="239958" y="69548"/>
                </a:cubicBezTo>
                <a:close/>
                <a:moveTo>
                  <a:pt x="369130" y="1049"/>
                </a:moveTo>
                <a:cubicBezTo>
                  <a:pt x="374682" y="-695"/>
                  <a:pt x="380890" y="-317"/>
                  <a:pt x="386453" y="2571"/>
                </a:cubicBezTo>
                <a:cubicBezTo>
                  <a:pt x="397579" y="8347"/>
                  <a:pt x="401940" y="22121"/>
                  <a:pt x="396155" y="33229"/>
                </a:cubicBezTo>
                <a:cubicBezTo>
                  <a:pt x="295130" y="226595"/>
                  <a:pt x="302340" y="213354"/>
                  <a:pt x="300026" y="216109"/>
                </a:cubicBezTo>
                <a:lnTo>
                  <a:pt x="300026" y="316880"/>
                </a:lnTo>
                <a:lnTo>
                  <a:pt x="236741" y="316880"/>
                </a:lnTo>
                <a:cubicBezTo>
                  <a:pt x="240925" y="310126"/>
                  <a:pt x="243328" y="302306"/>
                  <a:pt x="243328" y="293776"/>
                </a:cubicBezTo>
                <a:cubicBezTo>
                  <a:pt x="243239" y="269783"/>
                  <a:pt x="223746" y="250410"/>
                  <a:pt x="199714" y="250410"/>
                </a:cubicBezTo>
                <a:lnTo>
                  <a:pt x="199625" y="250410"/>
                </a:lnTo>
                <a:lnTo>
                  <a:pt x="179420" y="250410"/>
                </a:lnTo>
                <a:lnTo>
                  <a:pt x="179420" y="235570"/>
                </a:lnTo>
                <a:cubicBezTo>
                  <a:pt x="179420" y="232371"/>
                  <a:pt x="177284" y="229616"/>
                  <a:pt x="174257" y="228905"/>
                </a:cubicBezTo>
                <a:cubicBezTo>
                  <a:pt x="171142" y="228195"/>
                  <a:pt x="168027" y="229616"/>
                  <a:pt x="166603" y="232460"/>
                </a:cubicBezTo>
                <a:cubicBezTo>
                  <a:pt x="166514" y="232549"/>
                  <a:pt x="166425" y="232727"/>
                  <a:pt x="166425" y="232815"/>
                </a:cubicBezTo>
                <a:cubicBezTo>
                  <a:pt x="156278" y="254231"/>
                  <a:pt x="158414" y="249611"/>
                  <a:pt x="148178" y="271293"/>
                </a:cubicBezTo>
                <a:lnTo>
                  <a:pt x="199625" y="271204"/>
                </a:lnTo>
                <a:lnTo>
                  <a:pt x="199714" y="271204"/>
                </a:lnTo>
                <a:cubicBezTo>
                  <a:pt x="212264" y="271204"/>
                  <a:pt x="222411" y="281335"/>
                  <a:pt x="222500" y="293864"/>
                </a:cubicBezTo>
                <a:cubicBezTo>
                  <a:pt x="222500" y="306394"/>
                  <a:pt x="212353" y="316613"/>
                  <a:pt x="199803" y="316613"/>
                </a:cubicBezTo>
                <a:lnTo>
                  <a:pt x="112219" y="316880"/>
                </a:lnTo>
                <a:cubicBezTo>
                  <a:pt x="95485" y="316880"/>
                  <a:pt x="84537" y="299463"/>
                  <a:pt x="91569" y="284445"/>
                </a:cubicBezTo>
                <a:cubicBezTo>
                  <a:pt x="95218" y="276803"/>
                  <a:pt x="120942" y="222507"/>
                  <a:pt x="125214" y="213443"/>
                </a:cubicBezTo>
                <a:cubicBezTo>
                  <a:pt x="135183" y="192383"/>
                  <a:pt x="156723" y="178787"/>
                  <a:pt x="179954" y="178787"/>
                </a:cubicBezTo>
                <a:lnTo>
                  <a:pt x="268784" y="178787"/>
                </a:lnTo>
                <a:lnTo>
                  <a:pt x="355745" y="12257"/>
                </a:lnTo>
                <a:cubicBezTo>
                  <a:pt x="358682" y="6659"/>
                  <a:pt x="363578" y="2793"/>
                  <a:pt x="369130" y="1049"/>
                </a:cubicBezTo>
                <a:close/>
              </a:path>
            </a:pathLst>
          </a:cu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peech-bubble-with-question-mark_65814">
            <a:extLst>
              <a:ext uri="{FF2B5EF4-FFF2-40B4-BE49-F238E27FC236}">
                <a16:creationId xmlns:a16="http://schemas.microsoft.com/office/drawing/2014/main" id="{CFE63E15-C368-FF52-2718-C422FA7E4761}"/>
              </a:ext>
            </a:extLst>
          </p:cNvPr>
          <p:cNvSpPr/>
          <p:nvPr/>
        </p:nvSpPr>
        <p:spPr>
          <a:xfrm>
            <a:off x="1049993" y="2262907"/>
            <a:ext cx="609685" cy="531953"/>
          </a:xfrm>
          <a:custGeom>
            <a:avLst/>
            <a:gdLst>
              <a:gd name="T0" fmla="*/ 554 w 619"/>
              <a:gd name="T1" fmla="*/ 0 h 541"/>
              <a:gd name="T2" fmla="*/ 65 w 619"/>
              <a:gd name="T3" fmla="*/ 0 h 541"/>
              <a:gd name="T4" fmla="*/ 0 w 619"/>
              <a:gd name="T5" fmla="*/ 64 h 541"/>
              <a:gd name="T6" fmla="*/ 0 w 619"/>
              <a:gd name="T7" fmla="*/ 385 h 541"/>
              <a:gd name="T8" fmla="*/ 65 w 619"/>
              <a:gd name="T9" fmla="*/ 450 h 541"/>
              <a:gd name="T10" fmla="*/ 437 w 619"/>
              <a:gd name="T11" fmla="*/ 450 h 541"/>
              <a:gd name="T12" fmla="*/ 508 w 619"/>
              <a:gd name="T13" fmla="*/ 522 h 541"/>
              <a:gd name="T14" fmla="*/ 554 w 619"/>
              <a:gd name="T15" fmla="*/ 541 h 541"/>
              <a:gd name="T16" fmla="*/ 579 w 619"/>
              <a:gd name="T17" fmla="*/ 536 h 541"/>
              <a:gd name="T18" fmla="*/ 619 w 619"/>
              <a:gd name="T19" fmla="*/ 476 h 541"/>
              <a:gd name="T20" fmla="*/ 619 w 619"/>
              <a:gd name="T21" fmla="*/ 64 h 541"/>
              <a:gd name="T22" fmla="*/ 554 w 619"/>
              <a:gd name="T23" fmla="*/ 0 h 541"/>
              <a:gd name="T24" fmla="*/ 339 w 619"/>
              <a:gd name="T25" fmla="*/ 356 h 541"/>
              <a:gd name="T26" fmla="*/ 298 w 619"/>
              <a:gd name="T27" fmla="*/ 395 h 541"/>
              <a:gd name="T28" fmla="*/ 258 w 619"/>
              <a:gd name="T29" fmla="*/ 356 h 541"/>
              <a:gd name="T30" fmla="*/ 258 w 619"/>
              <a:gd name="T31" fmla="*/ 355 h 541"/>
              <a:gd name="T32" fmla="*/ 298 w 619"/>
              <a:gd name="T33" fmla="*/ 315 h 541"/>
              <a:gd name="T34" fmla="*/ 339 w 619"/>
              <a:gd name="T35" fmla="*/ 355 h 541"/>
              <a:gd name="T36" fmla="*/ 339 w 619"/>
              <a:gd name="T37" fmla="*/ 356 h 541"/>
              <a:gd name="T38" fmla="*/ 420 w 619"/>
              <a:gd name="T39" fmla="*/ 161 h 541"/>
              <a:gd name="T40" fmla="*/ 328 w 619"/>
              <a:gd name="T41" fmla="*/ 254 h 541"/>
              <a:gd name="T42" fmla="*/ 327 w 619"/>
              <a:gd name="T43" fmla="*/ 262 h 541"/>
              <a:gd name="T44" fmla="*/ 302 w 619"/>
              <a:gd name="T45" fmla="*/ 285 h 541"/>
              <a:gd name="T46" fmla="*/ 298 w 619"/>
              <a:gd name="T47" fmla="*/ 285 h 541"/>
              <a:gd name="T48" fmla="*/ 273 w 619"/>
              <a:gd name="T49" fmla="*/ 262 h 541"/>
              <a:gd name="T50" fmla="*/ 269 w 619"/>
              <a:gd name="T51" fmla="*/ 231 h 541"/>
              <a:gd name="T52" fmla="*/ 290 w 619"/>
              <a:gd name="T53" fmla="*/ 203 h 541"/>
              <a:gd name="T54" fmla="*/ 349 w 619"/>
              <a:gd name="T55" fmla="*/ 162 h 541"/>
              <a:gd name="T56" fmla="*/ 349 w 619"/>
              <a:gd name="T57" fmla="*/ 161 h 541"/>
              <a:gd name="T58" fmla="*/ 306 w 619"/>
              <a:gd name="T59" fmla="*/ 128 h 541"/>
              <a:gd name="T60" fmla="*/ 252 w 619"/>
              <a:gd name="T61" fmla="*/ 147 h 541"/>
              <a:gd name="T62" fmla="*/ 232 w 619"/>
              <a:gd name="T63" fmla="*/ 154 h 541"/>
              <a:gd name="T64" fmla="*/ 199 w 619"/>
              <a:gd name="T65" fmla="*/ 122 h 541"/>
              <a:gd name="T66" fmla="*/ 211 w 619"/>
              <a:gd name="T67" fmla="*/ 97 h 541"/>
              <a:gd name="T68" fmla="*/ 308 w 619"/>
              <a:gd name="T69" fmla="*/ 64 h 541"/>
              <a:gd name="T70" fmla="*/ 420 w 619"/>
              <a:gd name="T71" fmla="*/ 160 h 541"/>
              <a:gd name="T72" fmla="*/ 420 w 619"/>
              <a:gd name="T73" fmla="*/ 161 h 541"/>
              <a:gd name="T74" fmla="*/ 420 w 619"/>
              <a:gd name="T75" fmla="*/ 161 h 5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619" h="541">
                <a:moveTo>
                  <a:pt x="554" y="0"/>
                </a:moveTo>
                <a:lnTo>
                  <a:pt x="65" y="0"/>
                </a:lnTo>
                <a:cubicBezTo>
                  <a:pt x="29" y="0"/>
                  <a:pt x="0" y="29"/>
                  <a:pt x="0" y="64"/>
                </a:cubicBezTo>
                <a:lnTo>
                  <a:pt x="0" y="385"/>
                </a:lnTo>
                <a:cubicBezTo>
                  <a:pt x="0" y="421"/>
                  <a:pt x="29" y="450"/>
                  <a:pt x="65" y="450"/>
                </a:cubicBezTo>
                <a:lnTo>
                  <a:pt x="437" y="450"/>
                </a:lnTo>
                <a:lnTo>
                  <a:pt x="508" y="522"/>
                </a:lnTo>
                <a:cubicBezTo>
                  <a:pt x="520" y="535"/>
                  <a:pt x="537" y="541"/>
                  <a:pt x="554" y="541"/>
                </a:cubicBezTo>
                <a:cubicBezTo>
                  <a:pt x="562" y="541"/>
                  <a:pt x="571" y="540"/>
                  <a:pt x="579" y="536"/>
                </a:cubicBezTo>
                <a:cubicBezTo>
                  <a:pt x="603" y="526"/>
                  <a:pt x="619" y="503"/>
                  <a:pt x="619" y="476"/>
                </a:cubicBezTo>
                <a:lnTo>
                  <a:pt x="619" y="64"/>
                </a:lnTo>
                <a:cubicBezTo>
                  <a:pt x="619" y="29"/>
                  <a:pt x="590" y="0"/>
                  <a:pt x="554" y="0"/>
                </a:cubicBezTo>
                <a:close/>
                <a:moveTo>
                  <a:pt x="339" y="356"/>
                </a:moveTo>
                <a:cubicBezTo>
                  <a:pt x="339" y="378"/>
                  <a:pt x="322" y="395"/>
                  <a:pt x="298" y="395"/>
                </a:cubicBezTo>
                <a:cubicBezTo>
                  <a:pt x="275" y="395"/>
                  <a:pt x="258" y="378"/>
                  <a:pt x="258" y="356"/>
                </a:cubicBezTo>
                <a:lnTo>
                  <a:pt x="258" y="355"/>
                </a:lnTo>
                <a:cubicBezTo>
                  <a:pt x="258" y="333"/>
                  <a:pt x="275" y="315"/>
                  <a:pt x="298" y="315"/>
                </a:cubicBezTo>
                <a:cubicBezTo>
                  <a:pt x="322" y="315"/>
                  <a:pt x="339" y="333"/>
                  <a:pt x="339" y="355"/>
                </a:cubicBezTo>
                <a:lnTo>
                  <a:pt x="339" y="356"/>
                </a:lnTo>
                <a:close/>
                <a:moveTo>
                  <a:pt x="420" y="161"/>
                </a:moveTo>
                <a:cubicBezTo>
                  <a:pt x="420" y="219"/>
                  <a:pt x="379" y="244"/>
                  <a:pt x="328" y="254"/>
                </a:cubicBezTo>
                <a:lnTo>
                  <a:pt x="327" y="262"/>
                </a:lnTo>
                <a:cubicBezTo>
                  <a:pt x="325" y="274"/>
                  <a:pt x="315" y="285"/>
                  <a:pt x="302" y="285"/>
                </a:cubicBezTo>
                <a:lnTo>
                  <a:pt x="298" y="285"/>
                </a:lnTo>
                <a:cubicBezTo>
                  <a:pt x="285" y="285"/>
                  <a:pt x="275" y="275"/>
                  <a:pt x="273" y="262"/>
                </a:cubicBezTo>
                <a:lnTo>
                  <a:pt x="269" y="231"/>
                </a:lnTo>
                <a:cubicBezTo>
                  <a:pt x="266" y="215"/>
                  <a:pt x="275" y="205"/>
                  <a:pt x="290" y="203"/>
                </a:cubicBezTo>
                <a:cubicBezTo>
                  <a:pt x="330" y="198"/>
                  <a:pt x="349" y="185"/>
                  <a:pt x="349" y="162"/>
                </a:cubicBezTo>
                <a:lnTo>
                  <a:pt x="349" y="161"/>
                </a:lnTo>
                <a:cubicBezTo>
                  <a:pt x="349" y="141"/>
                  <a:pt x="333" y="128"/>
                  <a:pt x="306" y="128"/>
                </a:cubicBezTo>
                <a:cubicBezTo>
                  <a:pt x="286" y="128"/>
                  <a:pt x="269" y="135"/>
                  <a:pt x="252" y="147"/>
                </a:cubicBezTo>
                <a:cubicBezTo>
                  <a:pt x="247" y="151"/>
                  <a:pt x="239" y="154"/>
                  <a:pt x="232" y="154"/>
                </a:cubicBezTo>
                <a:cubicBezTo>
                  <a:pt x="214" y="154"/>
                  <a:pt x="199" y="140"/>
                  <a:pt x="199" y="122"/>
                </a:cubicBezTo>
                <a:cubicBezTo>
                  <a:pt x="199" y="113"/>
                  <a:pt x="203" y="104"/>
                  <a:pt x="211" y="97"/>
                </a:cubicBezTo>
                <a:cubicBezTo>
                  <a:pt x="236" y="77"/>
                  <a:pt x="267" y="64"/>
                  <a:pt x="308" y="64"/>
                </a:cubicBezTo>
                <a:cubicBezTo>
                  <a:pt x="374" y="64"/>
                  <a:pt x="420" y="98"/>
                  <a:pt x="420" y="160"/>
                </a:cubicBezTo>
                <a:lnTo>
                  <a:pt x="420" y="161"/>
                </a:lnTo>
                <a:lnTo>
                  <a:pt x="420" y="161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箭头: 右 9">
            <a:extLst>
              <a:ext uri="{FF2B5EF4-FFF2-40B4-BE49-F238E27FC236}">
                <a16:creationId xmlns:a16="http://schemas.microsoft.com/office/drawing/2014/main" id="{0C88199F-9F5C-A07B-7F1C-636FAA28C35B}"/>
              </a:ext>
            </a:extLst>
          </p:cNvPr>
          <p:cNvSpPr/>
          <p:nvPr/>
        </p:nvSpPr>
        <p:spPr>
          <a:xfrm rot="10800000">
            <a:off x="7458960" y="3117508"/>
            <a:ext cx="2396375" cy="687249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BCD3FD40-ADB2-551A-4ECF-1A7E7DB5E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417312" cy="1325563"/>
          </a:xfrm>
        </p:spPr>
        <p:txBody>
          <a:bodyPr>
            <a:noAutofit/>
          </a:bodyPr>
          <a:lstStyle/>
          <a:p>
            <a:pPr marL="57150" lvl="0" fontAlgn="base">
              <a:spcAft>
                <a:spcPct val="0"/>
              </a:spcAft>
            </a:pPr>
            <a:r>
              <a:rPr lang="en-US" altLang="zh-CN" sz="2800" dirty="0"/>
              <a:t>Online</a:t>
            </a:r>
            <a:r>
              <a:rPr lang="en-US" altLang="en-US" sz="2800" dirty="0"/>
              <a:t> Q&amp;A</a:t>
            </a:r>
            <a:r>
              <a:rPr lang="zh-CN" altLang="en-US" sz="2800" dirty="0"/>
              <a:t> </a:t>
            </a:r>
            <a:r>
              <a:rPr lang="en-US" altLang="zh-CN" sz="2800" dirty="0"/>
              <a:t>Communities</a:t>
            </a:r>
            <a:r>
              <a:rPr lang="en-US" altLang="en-US" sz="2800" dirty="0"/>
              <a:t> </a:t>
            </a:r>
          </a:p>
        </p:txBody>
      </p:sp>
      <p:sp>
        <p:nvSpPr>
          <p:cNvPr id="33" name="箭头: 右 7">
            <a:extLst>
              <a:ext uri="{FF2B5EF4-FFF2-40B4-BE49-F238E27FC236}">
                <a16:creationId xmlns:a16="http://schemas.microsoft.com/office/drawing/2014/main" id="{6A1C5D67-6040-DC6C-05BD-A24350EAE2EE}"/>
              </a:ext>
            </a:extLst>
          </p:cNvPr>
          <p:cNvSpPr/>
          <p:nvPr/>
        </p:nvSpPr>
        <p:spPr>
          <a:xfrm>
            <a:off x="2199789" y="3117508"/>
            <a:ext cx="2199799" cy="68725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2188190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25A26-766C-4F99-2009-92F3856DF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2">
            <a:extLst>
              <a:ext uri="{FF2B5EF4-FFF2-40B4-BE49-F238E27FC236}">
                <a16:creationId xmlns:a16="http://schemas.microsoft.com/office/drawing/2014/main" id="{DB31FC52-81AA-136D-39F5-9BA8114D194C}"/>
              </a:ext>
            </a:extLst>
          </p:cNvPr>
          <p:cNvSpPr/>
          <p:nvPr/>
        </p:nvSpPr>
        <p:spPr>
          <a:xfrm>
            <a:off x="3302758" y="2262907"/>
            <a:ext cx="5445493" cy="2077755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pic>
        <p:nvPicPr>
          <p:cNvPr id="2" name="Picture 2" descr="ChatGPT Logo - SVG, PNG, AI, EPS Vectors">
            <a:extLst>
              <a:ext uri="{FF2B5EF4-FFF2-40B4-BE49-F238E27FC236}">
                <a16:creationId xmlns:a16="http://schemas.microsoft.com/office/drawing/2014/main" id="{BDEE2D74-2D09-839C-B9F8-2992130007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1067" y="5093414"/>
            <a:ext cx="869746" cy="869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43">
            <a:extLst>
              <a:ext uri="{FF2B5EF4-FFF2-40B4-BE49-F238E27FC236}">
                <a16:creationId xmlns:a16="http://schemas.microsoft.com/office/drawing/2014/main" id="{36243040-B65C-FD23-F7DB-729EC49414A6}"/>
              </a:ext>
            </a:extLst>
          </p:cNvPr>
          <p:cNvSpPr txBox="1"/>
          <p:nvPr/>
        </p:nvSpPr>
        <p:spPr>
          <a:xfrm flipH="1">
            <a:off x="180518" y="5926006"/>
            <a:ext cx="29308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External </a:t>
            </a:r>
            <a:r>
              <a:rPr lang="en-US" altLang="zh-CN" sz="1600" b="1" dirty="0"/>
              <a:t>Gen</a:t>
            </a:r>
            <a:r>
              <a:rPr lang="en-US" sz="1600" b="1" dirty="0"/>
              <a:t>AI </a:t>
            </a:r>
          </a:p>
          <a:p>
            <a:pPr algn="ctr"/>
            <a:r>
              <a:rPr lang="en-US" sz="1600" dirty="0"/>
              <a:t>(e.g., ChatGPT)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2B0D38-FB4F-CD79-50A3-BB34E0C2239A}"/>
              </a:ext>
            </a:extLst>
          </p:cNvPr>
          <p:cNvSpPr txBox="1"/>
          <p:nvPr/>
        </p:nvSpPr>
        <p:spPr>
          <a:xfrm>
            <a:off x="9034384" y="2850123"/>
            <a:ext cx="82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Supply</a:t>
            </a:r>
          </a:p>
        </p:txBody>
      </p:sp>
      <p:sp>
        <p:nvSpPr>
          <p:cNvPr id="12" name="TextBox 15">
            <a:extLst>
              <a:ext uri="{FF2B5EF4-FFF2-40B4-BE49-F238E27FC236}">
                <a16:creationId xmlns:a16="http://schemas.microsoft.com/office/drawing/2014/main" id="{0FBA6150-6C7D-DE25-1645-4242CED88653}"/>
              </a:ext>
            </a:extLst>
          </p:cNvPr>
          <p:cNvSpPr txBox="1"/>
          <p:nvPr/>
        </p:nvSpPr>
        <p:spPr>
          <a:xfrm>
            <a:off x="4640892" y="3615843"/>
            <a:ext cx="1137523" cy="24622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Questions</a:t>
            </a:r>
          </a:p>
        </p:txBody>
      </p:sp>
      <p:sp>
        <p:nvSpPr>
          <p:cNvPr id="13" name="TextBox 15">
            <a:extLst>
              <a:ext uri="{FF2B5EF4-FFF2-40B4-BE49-F238E27FC236}">
                <a16:creationId xmlns:a16="http://schemas.microsoft.com/office/drawing/2014/main" id="{FCB598CD-5509-E7F9-A738-5FAC0D77E81F}"/>
              </a:ext>
            </a:extLst>
          </p:cNvPr>
          <p:cNvSpPr txBox="1"/>
          <p:nvPr/>
        </p:nvSpPr>
        <p:spPr>
          <a:xfrm>
            <a:off x="6187184" y="3615843"/>
            <a:ext cx="1137523" cy="24622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Answers</a:t>
            </a:r>
          </a:p>
        </p:txBody>
      </p:sp>
      <p:pic>
        <p:nvPicPr>
          <p:cNvPr id="14" name="Picture 3">
            <a:extLst>
              <a:ext uri="{FF2B5EF4-FFF2-40B4-BE49-F238E27FC236}">
                <a16:creationId xmlns:a16="http://schemas.microsoft.com/office/drawing/2014/main" id="{7C0C3439-3F38-8B36-3102-42FE4E4AE00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685" t="252" r="685" b="53500"/>
          <a:stretch/>
        </p:blipFill>
        <p:spPr>
          <a:xfrm>
            <a:off x="4569163" y="3064070"/>
            <a:ext cx="1261981" cy="580820"/>
          </a:xfrm>
          <a:prstGeom prst="rect">
            <a:avLst/>
          </a:prstGeom>
        </p:spPr>
      </p:pic>
      <p:pic>
        <p:nvPicPr>
          <p:cNvPr id="15" name="Picture 30">
            <a:extLst>
              <a:ext uri="{FF2B5EF4-FFF2-40B4-BE49-F238E27FC236}">
                <a16:creationId xmlns:a16="http://schemas.microsoft.com/office/drawing/2014/main" id="{2290C0F8-B57A-98E2-30D1-6970B5EEF03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3752" b="1"/>
          <a:stretch/>
        </p:blipFill>
        <p:spPr>
          <a:xfrm>
            <a:off x="6052929" y="3075368"/>
            <a:ext cx="1261981" cy="580820"/>
          </a:xfrm>
          <a:prstGeom prst="rect">
            <a:avLst/>
          </a:prstGeom>
        </p:spPr>
      </p:pic>
      <p:sp>
        <p:nvSpPr>
          <p:cNvPr id="17" name="TextBox 27">
            <a:extLst>
              <a:ext uri="{FF2B5EF4-FFF2-40B4-BE49-F238E27FC236}">
                <a16:creationId xmlns:a16="http://schemas.microsoft.com/office/drawing/2014/main" id="{FD61FDC0-D9A7-AB80-C23D-AF35499A6751}"/>
              </a:ext>
            </a:extLst>
          </p:cNvPr>
          <p:cNvSpPr txBox="1"/>
          <p:nvPr/>
        </p:nvSpPr>
        <p:spPr>
          <a:xfrm>
            <a:off x="2195674" y="2850123"/>
            <a:ext cx="8384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Supply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DE9202-E111-DEBB-1984-C2DC6353A379}"/>
              </a:ext>
            </a:extLst>
          </p:cNvPr>
          <p:cNvSpPr txBox="1"/>
          <p:nvPr/>
        </p:nvSpPr>
        <p:spPr>
          <a:xfrm flipH="1">
            <a:off x="9863867" y="3837085"/>
            <a:ext cx="12531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Answerers</a:t>
            </a:r>
          </a:p>
        </p:txBody>
      </p:sp>
      <p:sp>
        <p:nvSpPr>
          <p:cNvPr id="19" name="TextBox 6">
            <a:extLst>
              <a:ext uri="{FF2B5EF4-FFF2-40B4-BE49-F238E27FC236}">
                <a16:creationId xmlns:a16="http://schemas.microsoft.com/office/drawing/2014/main" id="{B7776642-4118-168F-53CB-1BF128A103DA}"/>
              </a:ext>
            </a:extLst>
          </p:cNvPr>
          <p:cNvSpPr txBox="1"/>
          <p:nvPr/>
        </p:nvSpPr>
        <p:spPr>
          <a:xfrm flipH="1">
            <a:off x="982022" y="3804759"/>
            <a:ext cx="13965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Questioners</a:t>
            </a:r>
          </a:p>
        </p:txBody>
      </p:sp>
      <p:sp>
        <p:nvSpPr>
          <p:cNvPr id="20" name="man-silhouette_43368">
            <a:extLst>
              <a:ext uri="{FF2B5EF4-FFF2-40B4-BE49-F238E27FC236}">
                <a16:creationId xmlns:a16="http://schemas.microsoft.com/office/drawing/2014/main" id="{FF418467-B396-AD8E-2277-2A926CF2165E}"/>
              </a:ext>
            </a:extLst>
          </p:cNvPr>
          <p:cNvSpPr/>
          <p:nvPr/>
        </p:nvSpPr>
        <p:spPr>
          <a:xfrm>
            <a:off x="10266692" y="2802629"/>
            <a:ext cx="447494" cy="1118932"/>
          </a:xfrm>
          <a:custGeom>
            <a:avLst/>
            <a:gdLst>
              <a:gd name="connsiteX0" fmla="*/ 54978 w 241969"/>
              <a:gd name="connsiteY0" fmla="*/ 102390 h 605028"/>
              <a:gd name="connsiteX1" fmla="*/ 116083 w 241969"/>
              <a:gd name="connsiteY1" fmla="*/ 102390 h 605028"/>
              <a:gd name="connsiteX2" fmla="*/ 125886 w 241969"/>
              <a:gd name="connsiteY2" fmla="*/ 102390 h 605028"/>
              <a:gd name="connsiteX3" fmla="*/ 186991 w 241969"/>
              <a:gd name="connsiteY3" fmla="*/ 102390 h 605028"/>
              <a:gd name="connsiteX4" fmla="*/ 241969 w 241969"/>
              <a:gd name="connsiteY4" fmla="*/ 158501 h 605028"/>
              <a:gd name="connsiteX5" fmla="*/ 241969 w 241969"/>
              <a:gd name="connsiteY5" fmla="*/ 319577 h 605028"/>
              <a:gd name="connsiteX6" fmla="*/ 218769 w 241969"/>
              <a:gd name="connsiteY6" fmla="*/ 342740 h 605028"/>
              <a:gd name="connsiteX7" fmla="*/ 195568 w 241969"/>
              <a:gd name="connsiteY7" fmla="*/ 319577 h 605028"/>
              <a:gd name="connsiteX8" fmla="*/ 195487 w 241969"/>
              <a:gd name="connsiteY8" fmla="*/ 177994 h 605028"/>
              <a:gd name="connsiteX9" fmla="*/ 193118 w 241969"/>
              <a:gd name="connsiteY9" fmla="*/ 175629 h 605028"/>
              <a:gd name="connsiteX10" fmla="*/ 188216 w 241969"/>
              <a:gd name="connsiteY10" fmla="*/ 175629 h 605028"/>
              <a:gd name="connsiteX11" fmla="*/ 185766 w 241969"/>
              <a:gd name="connsiteY11" fmla="*/ 177994 h 605028"/>
              <a:gd name="connsiteX12" fmla="*/ 185766 w 241969"/>
              <a:gd name="connsiteY12" fmla="*/ 575178 h 605028"/>
              <a:gd name="connsiteX13" fmla="*/ 155867 w 241969"/>
              <a:gd name="connsiteY13" fmla="*/ 605028 h 605028"/>
              <a:gd name="connsiteX14" fmla="*/ 125886 w 241969"/>
              <a:gd name="connsiteY14" fmla="*/ 575178 h 605028"/>
              <a:gd name="connsiteX15" fmla="*/ 125886 w 241969"/>
              <a:gd name="connsiteY15" fmla="*/ 341516 h 605028"/>
              <a:gd name="connsiteX16" fmla="*/ 123435 w 241969"/>
              <a:gd name="connsiteY16" fmla="*/ 339069 h 605028"/>
              <a:gd name="connsiteX17" fmla="*/ 118615 w 241969"/>
              <a:gd name="connsiteY17" fmla="*/ 339069 h 605028"/>
              <a:gd name="connsiteX18" fmla="*/ 116083 w 241969"/>
              <a:gd name="connsiteY18" fmla="*/ 341516 h 605028"/>
              <a:gd name="connsiteX19" fmla="*/ 116083 w 241969"/>
              <a:gd name="connsiteY19" fmla="*/ 575178 h 605028"/>
              <a:gd name="connsiteX20" fmla="*/ 86184 w 241969"/>
              <a:gd name="connsiteY20" fmla="*/ 605028 h 605028"/>
              <a:gd name="connsiteX21" fmla="*/ 56203 w 241969"/>
              <a:gd name="connsiteY21" fmla="*/ 575178 h 605028"/>
              <a:gd name="connsiteX22" fmla="*/ 56203 w 241969"/>
              <a:gd name="connsiteY22" fmla="*/ 177994 h 605028"/>
              <a:gd name="connsiteX23" fmla="*/ 53834 w 241969"/>
              <a:gd name="connsiteY23" fmla="*/ 175629 h 605028"/>
              <a:gd name="connsiteX24" fmla="*/ 48933 w 241969"/>
              <a:gd name="connsiteY24" fmla="*/ 175629 h 605028"/>
              <a:gd name="connsiteX25" fmla="*/ 46482 w 241969"/>
              <a:gd name="connsiteY25" fmla="*/ 177994 h 605028"/>
              <a:gd name="connsiteX26" fmla="*/ 46482 w 241969"/>
              <a:gd name="connsiteY26" fmla="*/ 319577 h 605028"/>
              <a:gd name="connsiteX27" fmla="*/ 23200 w 241969"/>
              <a:gd name="connsiteY27" fmla="*/ 342740 h 605028"/>
              <a:gd name="connsiteX28" fmla="*/ 0 w 241969"/>
              <a:gd name="connsiteY28" fmla="*/ 319577 h 605028"/>
              <a:gd name="connsiteX29" fmla="*/ 0 w 241969"/>
              <a:gd name="connsiteY29" fmla="*/ 158501 h 605028"/>
              <a:gd name="connsiteX30" fmla="*/ 54978 w 241969"/>
              <a:gd name="connsiteY30" fmla="*/ 102390 h 605028"/>
              <a:gd name="connsiteX31" fmla="*/ 120984 w 241969"/>
              <a:gd name="connsiteY31" fmla="*/ 0 h 605028"/>
              <a:gd name="connsiteX32" fmla="*/ 165546 w 241969"/>
              <a:gd name="connsiteY32" fmla="*/ 44492 h 605028"/>
              <a:gd name="connsiteX33" fmla="*/ 120984 w 241969"/>
              <a:gd name="connsiteY33" fmla="*/ 88984 h 605028"/>
              <a:gd name="connsiteX34" fmla="*/ 76422 w 241969"/>
              <a:gd name="connsiteY34" fmla="*/ 44492 h 605028"/>
              <a:gd name="connsiteX35" fmla="*/ 120984 w 241969"/>
              <a:gd name="connsiteY35" fmla="*/ 0 h 605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241969" h="605028">
                <a:moveTo>
                  <a:pt x="54978" y="102390"/>
                </a:moveTo>
                <a:lnTo>
                  <a:pt x="116083" y="102390"/>
                </a:lnTo>
                <a:lnTo>
                  <a:pt x="125886" y="102390"/>
                </a:lnTo>
                <a:lnTo>
                  <a:pt x="186991" y="102390"/>
                </a:lnTo>
                <a:cubicBezTo>
                  <a:pt x="217543" y="102390"/>
                  <a:pt x="241969" y="126776"/>
                  <a:pt x="241969" y="158501"/>
                </a:cubicBezTo>
                <a:lnTo>
                  <a:pt x="241969" y="319577"/>
                </a:lnTo>
                <a:cubicBezTo>
                  <a:pt x="241969" y="332382"/>
                  <a:pt x="231594" y="342740"/>
                  <a:pt x="218769" y="342740"/>
                </a:cubicBezTo>
                <a:cubicBezTo>
                  <a:pt x="205943" y="342740"/>
                  <a:pt x="195568" y="332382"/>
                  <a:pt x="195568" y="319577"/>
                </a:cubicBezTo>
                <a:cubicBezTo>
                  <a:pt x="195568" y="319577"/>
                  <a:pt x="195487" y="177994"/>
                  <a:pt x="195487" y="177994"/>
                </a:cubicBezTo>
                <a:cubicBezTo>
                  <a:pt x="195487" y="176689"/>
                  <a:pt x="194425" y="175629"/>
                  <a:pt x="193118" y="175629"/>
                </a:cubicBezTo>
                <a:lnTo>
                  <a:pt x="188216" y="175629"/>
                </a:lnTo>
                <a:cubicBezTo>
                  <a:pt x="186828" y="175629"/>
                  <a:pt x="185766" y="176689"/>
                  <a:pt x="185766" y="177994"/>
                </a:cubicBezTo>
                <a:lnTo>
                  <a:pt x="185766" y="575178"/>
                </a:lnTo>
                <a:cubicBezTo>
                  <a:pt x="185766" y="591653"/>
                  <a:pt x="172368" y="605028"/>
                  <a:pt x="155867" y="605028"/>
                </a:cubicBezTo>
                <a:cubicBezTo>
                  <a:pt x="139283" y="605028"/>
                  <a:pt x="125886" y="591653"/>
                  <a:pt x="125886" y="575178"/>
                </a:cubicBezTo>
                <a:lnTo>
                  <a:pt x="125886" y="341516"/>
                </a:lnTo>
                <a:cubicBezTo>
                  <a:pt x="125886" y="339803"/>
                  <a:pt x="125069" y="339069"/>
                  <a:pt x="123435" y="339069"/>
                </a:cubicBezTo>
                <a:lnTo>
                  <a:pt x="118615" y="339069"/>
                </a:lnTo>
                <a:cubicBezTo>
                  <a:pt x="116900" y="339069"/>
                  <a:pt x="116083" y="339803"/>
                  <a:pt x="116083" y="341516"/>
                </a:cubicBezTo>
                <a:lnTo>
                  <a:pt x="116083" y="575178"/>
                </a:lnTo>
                <a:cubicBezTo>
                  <a:pt x="116083" y="591653"/>
                  <a:pt x="102686" y="605028"/>
                  <a:pt x="86184" y="605028"/>
                </a:cubicBezTo>
                <a:cubicBezTo>
                  <a:pt x="69601" y="605028"/>
                  <a:pt x="56203" y="591653"/>
                  <a:pt x="56203" y="575178"/>
                </a:cubicBezTo>
                <a:lnTo>
                  <a:pt x="56203" y="177994"/>
                </a:lnTo>
                <a:cubicBezTo>
                  <a:pt x="56203" y="176689"/>
                  <a:pt x="55141" y="175629"/>
                  <a:pt x="53834" y="175629"/>
                </a:cubicBezTo>
                <a:lnTo>
                  <a:pt x="48933" y="175629"/>
                </a:lnTo>
                <a:cubicBezTo>
                  <a:pt x="47544" y="175629"/>
                  <a:pt x="46482" y="176689"/>
                  <a:pt x="46482" y="177994"/>
                </a:cubicBezTo>
                <a:cubicBezTo>
                  <a:pt x="46482" y="177994"/>
                  <a:pt x="46482" y="319577"/>
                  <a:pt x="46482" y="319577"/>
                </a:cubicBezTo>
                <a:cubicBezTo>
                  <a:pt x="46482" y="332382"/>
                  <a:pt x="36026" y="342740"/>
                  <a:pt x="23200" y="342740"/>
                </a:cubicBezTo>
                <a:cubicBezTo>
                  <a:pt x="10375" y="342740"/>
                  <a:pt x="0" y="332382"/>
                  <a:pt x="0" y="319577"/>
                </a:cubicBezTo>
                <a:lnTo>
                  <a:pt x="0" y="158501"/>
                </a:lnTo>
                <a:cubicBezTo>
                  <a:pt x="0" y="126776"/>
                  <a:pt x="24426" y="102390"/>
                  <a:pt x="54978" y="102390"/>
                </a:cubicBezTo>
                <a:close/>
                <a:moveTo>
                  <a:pt x="120984" y="0"/>
                </a:moveTo>
                <a:cubicBezTo>
                  <a:pt x="145595" y="0"/>
                  <a:pt x="165546" y="19920"/>
                  <a:pt x="165546" y="44492"/>
                </a:cubicBezTo>
                <a:cubicBezTo>
                  <a:pt x="165546" y="69064"/>
                  <a:pt x="145595" y="88984"/>
                  <a:pt x="120984" y="88984"/>
                </a:cubicBezTo>
                <a:cubicBezTo>
                  <a:pt x="96373" y="88984"/>
                  <a:pt x="76422" y="69064"/>
                  <a:pt x="76422" y="44492"/>
                </a:cubicBezTo>
                <a:cubicBezTo>
                  <a:pt x="76422" y="19920"/>
                  <a:pt x="96373" y="0"/>
                  <a:pt x="120984" y="0"/>
                </a:cubicBezTo>
                <a:close/>
              </a:path>
            </a:pathLst>
          </a:cu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1" name="answer_268107">
            <a:extLst>
              <a:ext uri="{FF2B5EF4-FFF2-40B4-BE49-F238E27FC236}">
                <a16:creationId xmlns:a16="http://schemas.microsoft.com/office/drawing/2014/main" id="{5C8FA4DA-DF70-195C-E1E3-1048D372C452}"/>
              </a:ext>
            </a:extLst>
          </p:cNvPr>
          <p:cNvSpPr/>
          <p:nvPr/>
        </p:nvSpPr>
        <p:spPr>
          <a:xfrm>
            <a:off x="1261078" y="2794860"/>
            <a:ext cx="838427" cy="1063351"/>
          </a:xfrm>
          <a:custGeom>
            <a:avLst/>
            <a:gdLst>
              <a:gd name="connsiteX0" fmla="*/ 322413 w 478363"/>
              <a:gd name="connsiteY0" fmla="*/ 385963 h 606692"/>
              <a:gd name="connsiteX1" fmla="*/ 351133 w 478363"/>
              <a:gd name="connsiteY1" fmla="*/ 385963 h 606692"/>
              <a:gd name="connsiteX2" fmla="*/ 351133 w 478363"/>
              <a:gd name="connsiteY2" fmla="*/ 537275 h 606692"/>
              <a:gd name="connsiteX3" fmla="*/ 336773 w 478363"/>
              <a:gd name="connsiteY3" fmla="*/ 551580 h 606692"/>
              <a:gd name="connsiteX4" fmla="*/ 322413 w 478363"/>
              <a:gd name="connsiteY4" fmla="*/ 537275 h 606692"/>
              <a:gd name="connsiteX5" fmla="*/ 245920 w 478363"/>
              <a:gd name="connsiteY5" fmla="*/ 385963 h 606692"/>
              <a:gd name="connsiteX6" fmla="*/ 300467 w 478363"/>
              <a:gd name="connsiteY6" fmla="*/ 385963 h 606692"/>
              <a:gd name="connsiteX7" fmla="*/ 300467 w 478363"/>
              <a:gd name="connsiteY7" fmla="*/ 558452 h 606692"/>
              <a:gd name="connsiteX8" fmla="*/ 273149 w 478363"/>
              <a:gd name="connsiteY8" fmla="*/ 585734 h 606692"/>
              <a:gd name="connsiteX9" fmla="*/ 245920 w 478363"/>
              <a:gd name="connsiteY9" fmla="*/ 558452 h 606692"/>
              <a:gd name="connsiteX10" fmla="*/ 179518 w 478363"/>
              <a:gd name="connsiteY10" fmla="*/ 385963 h 606692"/>
              <a:gd name="connsiteX11" fmla="*/ 234065 w 478363"/>
              <a:gd name="connsiteY11" fmla="*/ 385963 h 606692"/>
              <a:gd name="connsiteX12" fmla="*/ 234065 w 478363"/>
              <a:gd name="connsiteY12" fmla="*/ 558452 h 606692"/>
              <a:gd name="connsiteX13" fmla="*/ 206747 w 478363"/>
              <a:gd name="connsiteY13" fmla="*/ 585734 h 606692"/>
              <a:gd name="connsiteX14" fmla="*/ 179518 w 478363"/>
              <a:gd name="connsiteY14" fmla="*/ 558452 h 606692"/>
              <a:gd name="connsiteX15" fmla="*/ 126806 w 478363"/>
              <a:gd name="connsiteY15" fmla="*/ 385963 h 606692"/>
              <a:gd name="connsiteX16" fmla="*/ 155456 w 478363"/>
              <a:gd name="connsiteY16" fmla="*/ 385963 h 606692"/>
              <a:gd name="connsiteX17" fmla="*/ 155456 w 478363"/>
              <a:gd name="connsiteY17" fmla="*/ 537275 h 606692"/>
              <a:gd name="connsiteX18" fmla="*/ 141131 w 478363"/>
              <a:gd name="connsiteY18" fmla="*/ 551580 h 606692"/>
              <a:gd name="connsiteX19" fmla="*/ 126806 w 478363"/>
              <a:gd name="connsiteY19" fmla="*/ 537275 h 606692"/>
              <a:gd name="connsiteX20" fmla="*/ 13795 w 478363"/>
              <a:gd name="connsiteY20" fmla="*/ 337626 h 606692"/>
              <a:gd name="connsiteX21" fmla="*/ 464569 w 478363"/>
              <a:gd name="connsiteY21" fmla="*/ 337626 h 606692"/>
              <a:gd name="connsiteX22" fmla="*/ 478363 w 478363"/>
              <a:gd name="connsiteY22" fmla="*/ 351399 h 606692"/>
              <a:gd name="connsiteX23" fmla="*/ 464569 w 478363"/>
              <a:gd name="connsiteY23" fmla="*/ 365172 h 606692"/>
              <a:gd name="connsiteX24" fmla="*/ 450952 w 478363"/>
              <a:gd name="connsiteY24" fmla="*/ 365172 h 606692"/>
              <a:gd name="connsiteX25" fmla="*/ 450952 w 478363"/>
              <a:gd name="connsiteY25" fmla="*/ 585543 h 606692"/>
              <a:gd name="connsiteX26" fmla="*/ 429770 w 478363"/>
              <a:gd name="connsiteY26" fmla="*/ 606692 h 606692"/>
              <a:gd name="connsiteX27" fmla="*/ 408589 w 478363"/>
              <a:gd name="connsiteY27" fmla="*/ 585543 h 606692"/>
              <a:gd name="connsiteX28" fmla="*/ 408589 w 478363"/>
              <a:gd name="connsiteY28" fmla="*/ 365172 h 606692"/>
              <a:gd name="connsiteX29" fmla="*/ 71020 w 478363"/>
              <a:gd name="connsiteY29" fmla="*/ 365172 h 606692"/>
              <a:gd name="connsiteX30" fmla="*/ 71020 w 478363"/>
              <a:gd name="connsiteY30" fmla="*/ 585543 h 606692"/>
              <a:gd name="connsiteX31" fmla="*/ 49839 w 478363"/>
              <a:gd name="connsiteY31" fmla="*/ 606692 h 606692"/>
              <a:gd name="connsiteX32" fmla="*/ 28658 w 478363"/>
              <a:gd name="connsiteY32" fmla="*/ 585543 h 606692"/>
              <a:gd name="connsiteX33" fmla="*/ 28658 w 478363"/>
              <a:gd name="connsiteY33" fmla="*/ 365172 h 606692"/>
              <a:gd name="connsiteX34" fmla="*/ 13795 w 478363"/>
              <a:gd name="connsiteY34" fmla="*/ 365172 h 606692"/>
              <a:gd name="connsiteX35" fmla="*/ 0 w 478363"/>
              <a:gd name="connsiteY35" fmla="*/ 351399 h 606692"/>
              <a:gd name="connsiteX36" fmla="*/ 13795 w 478363"/>
              <a:gd name="connsiteY36" fmla="*/ 337626 h 606692"/>
              <a:gd name="connsiteX37" fmla="*/ 239958 w 478363"/>
              <a:gd name="connsiteY37" fmla="*/ 69548 h 606692"/>
              <a:gd name="connsiteX38" fmla="*/ 287131 w 478363"/>
              <a:gd name="connsiteY38" fmla="*/ 116651 h 606692"/>
              <a:gd name="connsiteX39" fmla="*/ 239958 w 478363"/>
              <a:gd name="connsiteY39" fmla="*/ 163754 h 606692"/>
              <a:gd name="connsiteX40" fmla="*/ 192785 w 478363"/>
              <a:gd name="connsiteY40" fmla="*/ 116651 h 606692"/>
              <a:gd name="connsiteX41" fmla="*/ 239958 w 478363"/>
              <a:gd name="connsiteY41" fmla="*/ 69548 h 606692"/>
              <a:gd name="connsiteX42" fmla="*/ 369130 w 478363"/>
              <a:gd name="connsiteY42" fmla="*/ 1049 h 606692"/>
              <a:gd name="connsiteX43" fmla="*/ 386453 w 478363"/>
              <a:gd name="connsiteY43" fmla="*/ 2571 h 606692"/>
              <a:gd name="connsiteX44" fmla="*/ 396155 w 478363"/>
              <a:gd name="connsiteY44" fmla="*/ 33229 h 606692"/>
              <a:gd name="connsiteX45" fmla="*/ 300026 w 478363"/>
              <a:gd name="connsiteY45" fmla="*/ 216109 h 606692"/>
              <a:gd name="connsiteX46" fmla="*/ 300026 w 478363"/>
              <a:gd name="connsiteY46" fmla="*/ 316880 h 606692"/>
              <a:gd name="connsiteX47" fmla="*/ 236741 w 478363"/>
              <a:gd name="connsiteY47" fmla="*/ 316880 h 606692"/>
              <a:gd name="connsiteX48" fmla="*/ 243328 w 478363"/>
              <a:gd name="connsiteY48" fmla="*/ 293776 h 606692"/>
              <a:gd name="connsiteX49" fmla="*/ 199714 w 478363"/>
              <a:gd name="connsiteY49" fmla="*/ 250410 h 606692"/>
              <a:gd name="connsiteX50" fmla="*/ 199625 w 478363"/>
              <a:gd name="connsiteY50" fmla="*/ 250410 h 606692"/>
              <a:gd name="connsiteX51" fmla="*/ 179420 w 478363"/>
              <a:gd name="connsiteY51" fmla="*/ 250410 h 606692"/>
              <a:gd name="connsiteX52" fmla="*/ 179420 w 478363"/>
              <a:gd name="connsiteY52" fmla="*/ 235570 h 606692"/>
              <a:gd name="connsiteX53" fmla="*/ 174257 w 478363"/>
              <a:gd name="connsiteY53" fmla="*/ 228905 h 606692"/>
              <a:gd name="connsiteX54" fmla="*/ 166603 w 478363"/>
              <a:gd name="connsiteY54" fmla="*/ 232460 h 606692"/>
              <a:gd name="connsiteX55" fmla="*/ 166425 w 478363"/>
              <a:gd name="connsiteY55" fmla="*/ 232815 h 606692"/>
              <a:gd name="connsiteX56" fmla="*/ 148178 w 478363"/>
              <a:gd name="connsiteY56" fmla="*/ 271293 h 606692"/>
              <a:gd name="connsiteX57" fmla="*/ 199625 w 478363"/>
              <a:gd name="connsiteY57" fmla="*/ 271204 h 606692"/>
              <a:gd name="connsiteX58" fmla="*/ 199714 w 478363"/>
              <a:gd name="connsiteY58" fmla="*/ 271204 h 606692"/>
              <a:gd name="connsiteX59" fmla="*/ 222500 w 478363"/>
              <a:gd name="connsiteY59" fmla="*/ 293864 h 606692"/>
              <a:gd name="connsiteX60" fmla="*/ 199803 w 478363"/>
              <a:gd name="connsiteY60" fmla="*/ 316613 h 606692"/>
              <a:gd name="connsiteX61" fmla="*/ 112219 w 478363"/>
              <a:gd name="connsiteY61" fmla="*/ 316880 h 606692"/>
              <a:gd name="connsiteX62" fmla="*/ 91569 w 478363"/>
              <a:gd name="connsiteY62" fmla="*/ 284445 h 606692"/>
              <a:gd name="connsiteX63" fmla="*/ 125214 w 478363"/>
              <a:gd name="connsiteY63" fmla="*/ 213443 h 606692"/>
              <a:gd name="connsiteX64" fmla="*/ 179954 w 478363"/>
              <a:gd name="connsiteY64" fmla="*/ 178787 h 606692"/>
              <a:gd name="connsiteX65" fmla="*/ 268784 w 478363"/>
              <a:gd name="connsiteY65" fmla="*/ 178787 h 606692"/>
              <a:gd name="connsiteX66" fmla="*/ 355745 w 478363"/>
              <a:gd name="connsiteY66" fmla="*/ 12257 h 606692"/>
              <a:gd name="connsiteX67" fmla="*/ 369130 w 478363"/>
              <a:gd name="connsiteY67" fmla="*/ 1049 h 606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478363" h="606692">
                <a:moveTo>
                  <a:pt x="322413" y="385963"/>
                </a:moveTo>
                <a:lnTo>
                  <a:pt x="351133" y="385963"/>
                </a:lnTo>
                <a:lnTo>
                  <a:pt x="351133" y="537275"/>
                </a:lnTo>
                <a:cubicBezTo>
                  <a:pt x="351133" y="545183"/>
                  <a:pt x="344711" y="551580"/>
                  <a:pt x="336773" y="551580"/>
                </a:cubicBezTo>
                <a:cubicBezTo>
                  <a:pt x="328835" y="551580"/>
                  <a:pt x="322413" y="545183"/>
                  <a:pt x="322413" y="537275"/>
                </a:cubicBezTo>
                <a:close/>
                <a:moveTo>
                  <a:pt x="245920" y="385963"/>
                </a:moveTo>
                <a:lnTo>
                  <a:pt x="300467" y="385963"/>
                </a:lnTo>
                <a:lnTo>
                  <a:pt x="300467" y="558452"/>
                </a:lnTo>
                <a:cubicBezTo>
                  <a:pt x="300467" y="573559"/>
                  <a:pt x="288276" y="585734"/>
                  <a:pt x="273149" y="585734"/>
                </a:cubicBezTo>
                <a:cubicBezTo>
                  <a:pt x="258111" y="585734"/>
                  <a:pt x="245920" y="573559"/>
                  <a:pt x="245920" y="558452"/>
                </a:cubicBezTo>
                <a:close/>
                <a:moveTo>
                  <a:pt x="179518" y="385963"/>
                </a:moveTo>
                <a:lnTo>
                  <a:pt x="234065" y="385963"/>
                </a:lnTo>
                <a:lnTo>
                  <a:pt x="234065" y="558452"/>
                </a:lnTo>
                <a:cubicBezTo>
                  <a:pt x="234065" y="573559"/>
                  <a:pt x="221874" y="585734"/>
                  <a:pt x="206747" y="585734"/>
                </a:cubicBezTo>
                <a:cubicBezTo>
                  <a:pt x="191709" y="585734"/>
                  <a:pt x="179518" y="573559"/>
                  <a:pt x="179518" y="558452"/>
                </a:cubicBezTo>
                <a:close/>
                <a:moveTo>
                  <a:pt x="126806" y="385963"/>
                </a:moveTo>
                <a:lnTo>
                  <a:pt x="155456" y="385963"/>
                </a:lnTo>
                <a:lnTo>
                  <a:pt x="155456" y="537275"/>
                </a:lnTo>
                <a:cubicBezTo>
                  <a:pt x="155456" y="545183"/>
                  <a:pt x="149050" y="551580"/>
                  <a:pt x="141131" y="551580"/>
                </a:cubicBezTo>
                <a:cubicBezTo>
                  <a:pt x="133212" y="551580"/>
                  <a:pt x="126806" y="545183"/>
                  <a:pt x="126806" y="537275"/>
                </a:cubicBezTo>
                <a:close/>
                <a:moveTo>
                  <a:pt x="13795" y="337626"/>
                </a:moveTo>
                <a:lnTo>
                  <a:pt x="464569" y="337626"/>
                </a:lnTo>
                <a:cubicBezTo>
                  <a:pt x="472133" y="337626"/>
                  <a:pt x="478363" y="343846"/>
                  <a:pt x="478363" y="351399"/>
                </a:cubicBezTo>
                <a:cubicBezTo>
                  <a:pt x="478363" y="359041"/>
                  <a:pt x="472133" y="365172"/>
                  <a:pt x="464569" y="365172"/>
                </a:cubicBezTo>
                <a:lnTo>
                  <a:pt x="450952" y="365172"/>
                </a:lnTo>
                <a:lnTo>
                  <a:pt x="450952" y="585543"/>
                </a:lnTo>
                <a:cubicBezTo>
                  <a:pt x="450952" y="597184"/>
                  <a:pt x="441429" y="606692"/>
                  <a:pt x="429770" y="606692"/>
                </a:cubicBezTo>
                <a:cubicBezTo>
                  <a:pt x="418023" y="606692"/>
                  <a:pt x="408589" y="597184"/>
                  <a:pt x="408589" y="585543"/>
                </a:cubicBezTo>
                <a:lnTo>
                  <a:pt x="408589" y="365172"/>
                </a:lnTo>
                <a:lnTo>
                  <a:pt x="71020" y="365172"/>
                </a:lnTo>
                <a:lnTo>
                  <a:pt x="71020" y="585543"/>
                </a:lnTo>
                <a:cubicBezTo>
                  <a:pt x="71020" y="597184"/>
                  <a:pt x="61498" y="606692"/>
                  <a:pt x="49839" y="606692"/>
                </a:cubicBezTo>
                <a:cubicBezTo>
                  <a:pt x="38091" y="606692"/>
                  <a:pt x="28658" y="597184"/>
                  <a:pt x="28658" y="585543"/>
                </a:cubicBezTo>
                <a:lnTo>
                  <a:pt x="28658" y="365172"/>
                </a:lnTo>
                <a:lnTo>
                  <a:pt x="13795" y="365172"/>
                </a:lnTo>
                <a:cubicBezTo>
                  <a:pt x="6141" y="365172"/>
                  <a:pt x="0" y="359041"/>
                  <a:pt x="0" y="351399"/>
                </a:cubicBezTo>
                <a:cubicBezTo>
                  <a:pt x="0" y="343846"/>
                  <a:pt x="6141" y="337626"/>
                  <a:pt x="13795" y="337626"/>
                </a:cubicBezTo>
                <a:close/>
                <a:moveTo>
                  <a:pt x="239958" y="69548"/>
                </a:moveTo>
                <a:cubicBezTo>
                  <a:pt x="266011" y="69548"/>
                  <a:pt x="287131" y="90637"/>
                  <a:pt x="287131" y="116651"/>
                </a:cubicBezTo>
                <a:cubicBezTo>
                  <a:pt x="287131" y="142665"/>
                  <a:pt x="266011" y="163754"/>
                  <a:pt x="239958" y="163754"/>
                </a:cubicBezTo>
                <a:cubicBezTo>
                  <a:pt x="213905" y="163754"/>
                  <a:pt x="192785" y="142665"/>
                  <a:pt x="192785" y="116651"/>
                </a:cubicBezTo>
                <a:cubicBezTo>
                  <a:pt x="192785" y="90637"/>
                  <a:pt x="213905" y="69548"/>
                  <a:pt x="239958" y="69548"/>
                </a:cubicBezTo>
                <a:close/>
                <a:moveTo>
                  <a:pt x="369130" y="1049"/>
                </a:moveTo>
                <a:cubicBezTo>
                  <a:pt x="374682" y="-695"/>
                  <a:pt x="380890" y="-317"/>
                  <a:pt x="386453" y="2571"/>
                </a:cubicBezTo>
                <a:cubicBezTo>
                  <a:pt x="397579" y="8347"/>
                  <a:pt x="401940" y="22121"/>
                  <a:pt x="396155" y="33229"/>
                </a:cubicBezTo>
                <a:cubicBezTo>
                  <a:pt x="295130" y="226595"/>
                  <a:pt x="302340" y="213354"/>
                  <a:pt x="300026" y="216109"/>
                </a:cubicBezTo>
                <a:lnTo>
                  <a:pt x="300026" y="316880"/>
                </a:lnTo>
                <a:lnTo>
                  <a:pt x="236741" y="316880"/>
                </a:lnTo>
                <a:cubicBezTo>
                  <a:pt x="240925" y="310126"/>
                  <a:pt x="243328" y="302306"/>
                  <a:pt x="243328" y="293776"/>
                </a:cubicBezTo>
                <a:cubicBezTo>
                  <a:pt x="243239" y="269783"/>
                  <a:pt x="223746" y="250410"/>
                  <a:pt x="199714" y="250410"/>
                </a:cubicBezTo>
                <a:lnTo>
                  <a:pt x="199625" y="250410"/>
                </a:lnTo>
                <a:lnTo>
                  <a:pt x="179420" y="250410"/>
                </a:lnTo>
                <a:lnTo>
                  <a:pt x="179420" y="235570"/>
                </a:lnTo>
                <a:cubicBezTo>
                  <a:pt x="179420" y="232371"/>
                  <a:pt x="177284" y="229616"/>
                  <a:pt x="174257" y="228905"/>
                </a:cubicBezTo>
                <a:cubicBezTo>
                  <a:pt x="171142" y="228195"/>
                  <a:pt x="168027" y="229616"/>
                  <a:pt x="166603" y="232460"/>
                </a:cubicBezTo>
                <a:cubicBezTo>
                  <a:pt x="166514" y="232549"/>
                  <a:pt x="166425" y="232727"/>
                  <a:pt x="166425" y="232815"/>
                </a:cubicBezTo>
                <a:cubicBezTo>
                  <a:pt x="156278" y="254231"/>
                  <a:pt x="158414" y="249611"/>
                  <a:pt x="148178" y="271293"/>
                </a:cubicBezTo>
                <a:lnTo>
                  <a:pt x="199625" y="271204"/>
                </a:lnTo>
                <a:lnTo>
                  <a:pt x="199714" y="271204"/>
                </a:lnTo>
                <a:cubicBezTo>
                  <a:pt x="212264" y="271204"/>
                  <a:pt x="222411" y="281335"/>
                  <a:pt x="222500" y="293864"/>
                </a:cubicBezTo>
                <a:cubicBezTo>
                  <a:pt x="222500" y="306394"/>
                  <a:pt x="212353" y="316613"/>
                  <a:pt x="199803" y="316613"/>
                </a:cubicBezTo>
                <a:lnTo>
                  <a:pt x="112219" y="316880"/>
                </a:lnTo>
                <a:cubicBezTo>
                  <a:pt x="95485" y="316880"/>
                  <a:pt x="84537" y="299463"/>
                  <a:pt x="91569" y="284445"/>
                </a:cubicBezTo>
                <a:cubicBezTo>
                  <a:pt x="95218" y="276803"/>
                  <a:pt x="120942" y="222507"/>
                  <a:pt x="125214" y="213443"/>
                </a:cubicBezTo>
                <a:cubicBezTo>
                  <a:pt x="135183" y="192383"/>
                  <a:pt x="156723" y="178787"/>
                  <a:pt x="179954" y="178787"/>
                </a:cubicBezTo>
                <a:lnTo>
                  <a:pt x="268784" y="178787"/>
                </a:lnTo>
                <a:lnTo>
                  <a:pt x="355745" y="12257"/>
                </a:lnTo>
                <a:cubicBezTo>
                  <a:pt x="358682" y="6659"/>
                  <a:pt x="363578" y="2793"/>
                  <a:pt x="369130" y="1049"/>
                </a:cubicBezTo>
                <a:close/>
              </a:path>
            </a:pathLst>
          </a:cu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peech-bubble-with-question-mark_65814">
            <a:extLst>
              <a:ext uri="{FF2B5EF4-FFF2-40B4-BE49-F238E27FC236}">
                <a16:creationId xmlns:a16="http://schemas.microsoft.com/office/drawing/2014/main" id="{8B0AA63D-C2F8-E1EB-3D9A-47D79D2352C7}"/>
              </a:ext>
            </a:extLst>
          </p:cNvPr>
          <p:cNvSpPr/>
          <p:nvPr/>
        </p:nvSpPr>
        <p:spPr>
          <a:xfrm>
            <a:off x="1049993" y="2262907"/>
            <a:ext cx="609685" cy="531953"/>
          </a:xfrm>
          <a:custGeom>
            <a:avLst/>
            <a:gdLst>
              <a:gd name="T0" fmla="*/ 554 w 619"/>
              <a:gd name="T1" fmla="*/ 0 h 541"/>
              <a:gd name="T2" fmla="*/ 65 w 619"/>
              <a:gd name="T3" fmla="*/ 0 h 541"/>
              <a:gd name="T4" fmla="*/ 0 w 619"/>
              <a:gd name="T5" fmla="*/ 64 h 541"/>
              <a:gd name="T6" fmla="*/ 0 w 619"/>
              <a:gd name="T7" fmla="*/ 385 h 541"/>
              <a:gd name="T8" fmla="*/ 65 w 619"/>
              <a:gd name="T9" fmla="*/ 450 h 541"/>
              <a:gd name="T10" fmla="*/ 437 w 619"/>
              <a:gd name="T11" fmla="*/ 450 h 541"/>
              <a:gd name="T12" fmla="*/ 508 w 619"/>
              <a:gd name="T13" fmla="*/ 522 h 541"/>
              <a:gd name="T14" fmla="*/ 554 w 619"/>
              <a:gd name="T15" fmla="*/ 541 h 541"/>
              <a:gd name="T16" fmla="*/ 579 w 619"/>
              <a:gd name="T17" fmla="*/ 536 h 541"/>
              <a:gd name="T18" fmla="*/ 619 w 619"/>
              <a:gd name="T19" fmla="*/ 476 h 541"/>
              <a:gd name="T20" fmla="*/ 619 w 619"/>
              <a:gd name="T21" fmla="*/ 64 h 541"/>
              <a:gd name="T22" fmla="*/ 554 w 619"/>
              <a:gd name="T23" fmla="*/ 0 h 541"/>
              <a:gd name="T24" fmla="*/ 339 w 619"/>
              <a:gd name="T25" fmla="*/ 356 h 541"/>
              <a:gd name="T26" fmla="*/ 298 w 619"/>
              <a:gd name="T27" fmla="*/ 395 h 541"/>
              <a:gd name="T28" fmla="*/ 258 w 619"/>
              <a:gd name="T29" fmla="*/ 356 h 541"/>
              <a:gd name="T30" fmla="*/ 258 w 619"/>
              <a:gd name="T31" fmla="*/ 355 h 541"/>
              <a:gd name="T32" fmla="*/ 298 w 619"/>
              <a:gd name="T33" fmla="*/ 315 h 541"/>
              <a:gd name="T34" fmla="*/ 339 w 619"/>
              <a:gd name="T35" fmla="*/ 355 h 541"/>
              <a:gd name="T36" fmla="*/ 339 w 619"/>
              <a:gd name="T37" fmla="*/ 356 h 541"/>
              <a:gd name="T38" fmla="*/ 420 w 619"/>
              <a:gd name="T39" fmla="*/ 161 h 541"/>
              <a:gd name="T40" fmla="*/ 328 w 619"/>
              <a:gd name="T41" fmla="*/ 254 h 541"/>
              <a:gd name="T42" fmla="*/ 327 w 619"/>
              <a:gd name="T43" fmla="*/ 262 h 541"/>
              <a:gd name="T44" fmla="*/ 302 w 619"/>
              <a:gd name="T45" fmla="*/ 285 h 541"/>
              <a:gd name="T46" fmla="*/ 298 w 619"/>
              <a:gd name="T47" fmla="*/ 285 h 541"/>
              <a:gd name="T48" fmla="*/ 273 w 619"/>
              <a:gd name="T49" fmla="*/ 262 h 541"/>
              <a:gd name="T50" fmla="*/ 269 w 619"/>
              <a:gd name="T51" fmla="*/ 231 h 541"/>
              <a:gd name="T52" fmla="*/ 290 w 619"/>
              <a:gd name="T53" fmla="*/ 203 h 541"/>
              <a:gd name="T54" fmla="*/ 349 w 619"/>
              <a:gd name="T55" fmla="*/ 162 h 541"/>
              <a:gd name="T56" fmla="*/ 349 w 619"/>
              <a:gd name="T57" fmla="*/ 161 h 541"/>
              <a:gd name="T58" fmla="*/ 306 w 619"/>
              <a:gd name="T59" fmla="*/ 128 h 541"/>
              <a:gd name="T60" fmla="*/ 252 w 619"/>
              <a:gd name="T61" fmla="*/ 147 h 541"/>
              <a:gd name="T62" fmla="*/ 232 w 619"/>
              <a:gd name="T63" fmla="*/ 154 h 541"/>
              <a:gd name="T64" fmla="*/ 199 w 619"/>
              <a:gd name="T65" fmla="*/ 122 h 541"/>
              <a:gd name="T66" fmla="*/ 211 w 619"/>
              <a:gd name="T67" fmla="*/ 97 h 541"/>
              <a:gd name="T68" fmla="*/ 308 w 619"/>
              <a:gd name="T69" fmla="*/ 64 h 541"/>
              <a:gd name="T70" fmla="*/ 420 w 619"/>
              <a:gd name="T71" fmla="*/ 160 h 541"/>
              <a:gd name="T72" fmla="*/ 420 w 619"/>
              <a:gd name="T73" fmla="*/ 161 h 541"/>
              <a:gd name="T74" fmla="*/ 420 w 619"/>
              <a:gd name="T75" fmla="*/ 161 h 5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619" h="541">
                <a:moveTo>
                  <a:pt x="554" y="0"/>
                </a:moveTo>
                <a:lnTo>
                  <a:pt x="65" y="0"/>
                </a:lnTo>
                <a:cubicBezTo>
                  <a:pt x="29" y="0"/>
                  <a:pt x="0" y="29"/>
                  <a:pt x="0" y="64"/>
                </a:cubicBezTo>
                <a:lnTo>
                  <a:pt x="0" y="385"/>
                </a:lnTo>
                <a:cubicBezTo>
                  <a:pt x="0" y="421"/>
                  <a:pt x="29" y="450"/>
                  <a:pt x="65" y="450"/>
                </a:cubicBezTo>
                <a:lnTo>
                  <a:pt x="437" y="450"/>
                </a:lnTo>
                <a:lnTo>
                  <a:pt x="508" y="522"/>
                </a:lnTo>
                <a:cubicBezTo>
                  <a:pt x="520" y="535"/>
                  <a:pt x="537" y="541"/>
                  <a:pt x="554" y="541"/>
                </a:cubicBezTo>
                <a:cubicBezTo>
                  <a:pt x="562" y="541"/>
                  <a:pt x="571" y="540"/>
                  <a:pt x="579" y="536"/>
                </a:cubicBezTo>
                <a:cubicBezTo>
                  <a:pt x="603" y="526"/>
                  <a:pt x="619" y="503"/>
                  <a:pt x="619" y="476"/>
                </a:cubicBezTo>
                <a:lnTo>
                  <a:pt x="619" y="64"/>
                </a:lnTo>
                <a:cubicBezTo>
                  <a:pt x="619" y="29"/>
                  <a:pt x="590" y="0"/>
                  <a:pt x="554" y="0"/>
                </a:cubicBezTo>
                <a:close/>
                <a:moveTo>
                  <a:pt x="339" y="356"/>
                </a:moveTo>
                <a:cubicBezTo>
                  <a:pt x="339" y="378"/>
                  <a:pt x="322" y="395"/>
                  <a:pt x="298" y="395"/>
                </a:cubicBezTo>
                <a:cubicBezTo>
                  <a:pt x="275" y="395"/>
                  <a:pt x="258" y="378"/>
                  <a:pt x="258" y="356"/>
                </a:cubicBezTo>
                <a:lnTo>
                  <a:pt x="258" y="355"/>
                </a:lnTo>
                <a:cubicBezTo>
                  <a:pt x="258" y="333"/>
                  <a:pt x="275" y="315"/>
                  <a:pt x="298" y="315"/>
                </a:cubicBezTo>
                <a:cubicBezTo>
                  <a:pt x="322" y="315"/>
                  <a:pt x="339" y="333"/>
                  <a:pt x="339" y="355"/>
                </a:cubicBezTo>
                <a:lnTo>
                  <a:pt x="339" y="356"/>
                </a:lnTo>
                <a:close/>
                <a:moveTo>
                  <a:pt x="420" y="161"/>
                </a:moveTo>
                <a:cubicBezTo>
                  <a:pt x="420" y="219"/>
                  <a:pt x="379" y="244"/>
                  <a:pt x="328" y="254"/>
                </a:cubicBezTo>
                <a:lnTo>
                  <a:pt x="327" y="262"/>
                </a:lnTo>
                <a:cubicBezTo>
                  <a:pt x="325" y="274"/>
                  <a:pt x="315" y="285"/>
                  <a:pt x="302" y="285"/>
                </a:cubicBezTo>
                <a:lnTo>
                  <a:pt x="298" y="285"/>
                </a:lnTo>
                <a:cubicBezTo>
                  <a:pt x="285" y="285"/>
                  <a:pt x="275" y="275"/>
                  <a:pt x="273" y="262"/>
                </a:cubicBezTo>
                <a:lnTo>
                  <a:pt x="269" y="231"/>
                </a:lnTo>
                <a:cubicBezTo>
                  <a:pt x="266" y="215"/>
                  <a:pt x="275" y="205"/>
                  <a:pt x="290" y="203"/>
                </a:cubicBezTo>
                <a:cubicBezTo>
                  <a:pt x="330" y="198"/>
                  <a:pt x="349" y="185"/>
                  <a:pt x="349" y="162"/>
                </a:cubicBezTo>
                <a:lnTo>
                  <a:pt x="349" y="161"/>
                </a:lnTo>
                <a:cubicBezTo>
                  <a:pt x="349" y="141"/>
                  <a:pt x="333" y="128"/>
                  <a:pt x="306" y="128"/>
                </a:cubicBezTo>
                <a:cubicBezTo>
                  <a:pt x="286" y="128"/>
                  <a:pt x="269" y="135"/>
                  <a:pt x="252" y="147"/>
                </a:cubicBezTo>
                <a:cubicBezTo>
                  <a:pt x="247" y="151"/>
                  <a:pt x="239" y="154"/>
                  <a:pt x="232" y="154"/>
                </a:cubicBezTo>
                <a:cubicBezTo>
                  <a:pt x="214" y="154"/>
                  <a:pt x="199" y="140"/>
                  <a:pt x="199" y="122"/>
                </a:cubicBezTo>
                <a:cubicBezTo>
                  <a:pt x="199" y="113"/>
                  <a:pt x="203" y="104"/>
                  <a:pt x="211" y="97"/>
                </a:cubicBezTo>
                <a:cubicBezTo>
                  <a:pt x="236" y="77"/>
                  <a:pt x="267" y="64"/>
                  <a:pt x="308" y="64"/>
                </a:cubicBezTo>
                <a:cubicBezTo>
                  <a:pt x="374" y="64"/>
                  <a:pt x="420" y="98"/>
                  <a:pt x="420" y="160"/>
                </a:cubicBezTo>
                <a:lnTo>
                  <a:pt x="420" y="161"/>
                </a:lnTo>
                <a:lnTo>
                  <a:pt x="420" y="161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箭头: 右 9">
            <a:extLst>
              <a:ext uri="{FF2B5EF4-FFF2-40B4-BE49-F238E27FC236}">
                <a16:creationId xmlns:a16="http://schemas.microsoft.com/office/drawing/2014/main" id="{BFB48B15-CB8C-68CD-146C-44FB601F7B8E}"/>
              </a:ext>
            </a:extLst>
          </p:cNvPr>
          <p:cNvSpPr/>
          <p:nvPr/>
        </p:nvSpPr>
        <p:spPr>
          <a:xfrm rot="10800000">
            <a:off x="7458960" y="3117508"/>
            <a:ext cx="2396375" cy="687249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5" name="文本框 33">
            <a:extLst>
              <a:ext uri="{FF2B5EF4-FFF2-40B4-BE49-F238E27FC236}">
                <a16:creationId xmlns:a16="http://schemas.microsoft.com/office/drawing/2014/main" id="{06C35336-9759-DEE6-AD38-17FFE3335D55}"/>
              </a:ext>
            </a:extLst>
          </p:cNvPr>
          <p:cNvSpPr txBox="1"/>
          <p:nvPr/>
        </p:nvSpPr>
        <p:spPr>
          <a:xfrm>
            <a:off x="3531195" y="2328008"/>
            <a:ext cx="48939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/>
              <a:t>Online Q&amp;A Communities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730BCED0-0533-793E-EB09-45F963FD5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417312" cy="1325563"/>
          </a:xfrm>
        </p:spPr>
        <p:txBody>
          <a:bodyPr>
            <a:noAutofit/>
          </a:bodyPr>
          <a:lstStyle/>
          <a:p>
            <a:pPr marL="57150" lvl="0" fontAlgn="base">
              <a:spcAft>
                <a:spcPct val="0"/>
              </a:spcAft>
            </a:pPr>
            <a:r>
              <a:rPr lang="en-US" altLang="zh-CN" sz="2800" dirty="0"/>
              <a:t>Challenges:</a:t>
            </a:r>
            <a:r>
              <a:rPr lang="zh-CN" altLang="en-US" sz="2800" dirty="0"/>
              <a:t> </a:t>
            </a:r>
            <a:r>
              <a:rPr lang="en-US" altLang="en-US" sz="2800" dirty="0"/>
              <a:t>External GenAI (ChatGPT) </a:t>
            </a:r>
            <a:r>
              <a:rPr lang="en-US" altLang="zh-CN" sz="2800" dirty="0"/>
              <a:t>attracts</a:t>
            </a:r>
            <a:r>
              <a:rPr lang="en-US" altLang="en-US" sz="2800" dirty="0"/>
              <a:t> users </a:t>
            </a:r>
            <a:r>
              <a:rPr lang="en-US" altLang="zh-CN" sz="2800" dirty="0"/>
              <a:t>away</a:t>
            </a:r>
            <a:r>
              <a:rPr lang="zh-CN" altLang="en-US" sz="2800" dirty="0"/>
              <a:t> </a:t>
            </a:r>
            <a:r>
              <a:rPr lang="en-US" altLang="en-US" sz="2800" dirty="0"/>
              <a:t>from</a:t>
            </a:r>
            <a:r>
              <a:rPr lang="zh-CN" altLang="en-US" sz="2800" dirty="0"/>
              <a:t> </a:t>
            </a:r>
            <a:r>
              <a:rPr lang="en-US" altLang="zh-CN" sz="2800" dirty="0"/>
              <a:t>online</a:t>
            </a:r>
            <a:r>
              <a:rPr lang="en-US" altLang="en-US" sz="2800" dirty="0"/>
              <a:t> Q&amp;A </a:t>
            </a:r>
            <a:r>
              <a:rPr lang="en-US" altLang="zh-CN" sz="2800" dirty="0"/>
              <a:t>communities</a:t>
            </a:r>
            <a:r>
              <a:rPr lang="en-US" altLang="en-US" sz="2800" dirty="0"/>
              <a:t> </a:t>
            </a:r>
          </a:p>
        </p:txBody>
      </p:sp>
      <p:sp>
        <p:nvSpPr>
          <p:cNvPr id="26" name="箭头: 右 7">
            <a:extLst>
              <a:ext uri="{FF2B5EF4-FFF2-40B4-BE49-F238E27FC236}">
                <a16:creationId xmlns:a16="http://schemas.microsoft.com/office/drawing/2014/main" id="{AD61F698-994C-C1BD-AD6D-F16455741AE6}"/>
              </a:ext>
            </a:extLst>
          </p:cNvPr>
          <p:cNvSpPr/>
          <p:nvPr/>
        </p:nvSpPr>
        <p:spPr>
          <a:xfrm>
            <a:off x="2186051" y="3201708"/>
            <a:ext cx="2199799" cy="371893"/>
          </a:xfrm>
          <a:prstGeom prst="rightArrow">
            <a:avLst/>
          </a:prstGeom>
          <a:solidFill>
            <a:srgbClr val="0070C0">
              <a:alpha val="2427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27" name="箭头: 右 7">
            <a:extLst>
              <a:ext uri="{FF2B5EF4-FFF2-40B4-BE49-F238E27FC236}">
                <a16:creationId xmlns:a16="http://schemas.microsoft.com/office/drawing/2014/main" id="{9D0FDCD7-8A67-7ED7-1D31-4E9030F166E9}"/>
              </a:ext>
            </a:extLst>
          </p:cNvPr>
          <p:cNvSpPr/>
          <p:nvPr/>
        </p:nvSpPr>
        <p:spPr>
          <a:xfrm rot="5400000">
            <a:off x="1249471" y="4360303"/>
            <a:ext cx="826147" cy="640080"/>
          </a:xfrm>
          <a:prstGeom prst="rightArrow">
            <a:avLst/>
          </a:prstGeom>
          <a:solidFill>
            <a:srgbClr val="0070C0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A814D2D-4C44-81E1-7121-C392F2259668}"/>
              </a:ext>
            </a:extLst>
          </p:cNvPr>
          <p:cNvSpPr txBox="1"/>
          <p:nvPr/>
        </p:nvSpPr>
        <p:spPr>
          <a:xfrm flipH="1">
            <a:off x="7556685" y="4934358"/>
            <a:ext cx="12531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Vi</a:t>
            </a:r>
            <a:r>
              <a:rPr lang="en-US" altLang="zh-CN" sz="1600" b="1" dirty="0"/>
              <a:t>ewers</a:t>
            </a:r>
            <a:endParaRPr lang="en-US" sz="1600" b="1" dirty="0"/>
          </a:p>
        </p:txBody>
      </p:sp>
      <p:sp>
        <p:nvSpPr>
          <p:cNvPr id="30" name="team_150434">
            <a:extLst>
              <a:ext uri="{FF2B5EF4-FFF2-40B4-BE49-F238E27FC236}">
                <a16:creationId xmlns:a16="http://schemas.microsoft.com/office/drawing/2014/main" id="{95D74E27-26A5-6E91-5D53-7C81FA68CB90}"/>
              </a:ext>
            </a:extLst>
          </p:cNvPr>
          <p:cNvSpPr/>
          <p:nvPr/>
        </p:nvSpPr>
        <p:spPr>
          <a:xfrm>
            <a:off x="7736552" y="4043278"/>
            <a:ext cx="893410" cy="912840"/>
          </a:xfrm>
          <a:custGeom>
            <a:avLst/>
            <a:gdLst>
              <a:gd name="connsiteX0" fmla="*/ 443280 w 595120"/>
              <a:gd name="connsiteY0" fmla="*/ 151292 h 608062"/>
              <a:gd name="connsiteX1" fmla="*/ 541196 w 595120"/>
              <a:gd name="connsiteY1" fmla="*/ 151292 h 608062"/>
              <a:gd name="connsiteX2" fmla="*/ 594325 w 595120"/>
              <a:gd name="connsiteY2" fmla="*/ 204124 h 608062"/>
              <a:gd name="connsiteX3" fmla="*/ 595120 w 595120"/>
              <a:gd name="connsiteY3" fmla="*/ 368668 h 608062"/>
              <a:gd name="connsiteX4" fmla="*/ 572776 w 595120"/>
              <a:gd name="connsiteY4" fmla="*/ 391268 h 608062"/>
              <a:gd name="connsiteX5" fmla="*/ 572677 w 595120"/>
              <a:gd name="connsiteY5" fmla="*/ 391268 h 608062"/>
              <a:gd name="connsiteX6" fmla="*/ 550233 w 595120"/>
              <a:gd name="connsiteY6" fmla="*/ 368965 h 608062"/>
              <a:gd name="connsiteX7" fmla="*/ 549339 w 595120"/>
              <a:gd name="connsiteY7" fmla="*/ 204323 h 608062"/>
              <a:gd name="connsiteX8" fmla="*/ 544672 w 595120"/>
              <a:gd name="connsiteY8" fmla="*/ 199763 h 608062"/>
              <a:gd name="connsiteX9" fmla="*/ 540005 w 595120"/>
              <a:gd name="connsiteY9" fmla="*/ 204422 h 608062"/>
              <a:gd name="connsiteX10" fmla="*/ 540501 w 595120"/>
              <a:gd name="connsiteY10" fmla="*/ 580988 h 608062"/>
              <a:gd name="connsiteX11" fmla="*/ 513490 w 595120"/>
              <a:gd name="connsiteY11" fmla="*/ 607850 h 608062"/>
              <a:gd name="connsiteX12" fmla="*/ 486577 w 595120"/>
              <a:gd name="connsiteY12" fmla="*/ 580988 h 608062"/>
              <a:gd name="connsiteX13" fmla="*/ 486577 w 595120"/>
              <a:gd name="connsiteY13" fmla="*/ 371840 h 608062"/>
              <a:gd name="connsiteX14" fmla="*/ 480818 w 595120"/>
              <a:gd name="connsiteY14" fmla="*/ 366090 h 608062"/>
              <a:gd name="connsiteX15" fmla="*/ 474959 w 595120"/>
              <a:gd name="connsiteY15" fmla="*/ 371840 h 608062"/>
              <a:gd name="connsiteX16" fmla="*/ 474959 w 595120"/>
              <a:gd name="connsiteY16" fmla="*/ 580988 h 608062"/>
              <a:gd name="connsiteX17" fmla="*/ 448046 w 595120"/>
              <a:gd name="connsiteY17" fmla="*/ 607850 h 608062"/>
              <a:gd name="connsiteX18" fmla="*/ 421134 w 595120"/>
              <a:gd name="connsiteY18" fmla="*/ 580988 h 608062"/>
              <a:gd name="connsiteX19" fmla="*/ 421134 w 595120"/>
              <a:gd name="connsiteY19" fmla="*/ 394638 h 608062"/>
              <a:gd name="connsiteX20" fmla="*/ 447053 w 595120"/>
              <a:gd name="connsiteY20" fmla="*/ 350231 h 608062"/>
              <a:gd name="connsiteX21" fmla="*/ 446160 w 595120"/>
              <a:gd name="connsiteY21" fmla="*/ 172802 h 608062"/>
              <a:gd name="connsiteX22" fmla="*/ 443280 w 595120"/>
              <a:gd name="connsiteY22" fmla="*/ 151292 h 608062"/>
              <a:gd name="connsiteX23" fmla="*/ 54006 w 595120"/>
              <a:gd name="connsiteY23" fmla="*/ 151292 h 608062"/>
              <a:gd name="connsiteX24" fmla="*/ 151891 w 595120"/>
              <a:gd name="connsiteY24" fmla="*/ 151292 h 608062"/>
              <a:gd name="connsiteX25" fmla="*/ 148913 w 595120"/>
              <a:gd name="connsiteY25" fmla="*/ 172802 h 608062"/>
              <a:gd name="connsiteX26" fmla="*/ 148019 w 595120"/>
              <a:gd name="connsiteY26" fmla="*/ 350231 h 608062"/>
              <a:gd name="connsiteX27" fmla="*/ 173732 w 595120"/>
              <a:gd name="connsiteY27" fmla="*/ 394440 h 608062"/>
              <a:gd name="connsiteX28" fmla="*/ 173732 w 595120"/>
              <a:gd name="connsiteY28" fmla="*/ 580988 h 608062"/>
              <a:gd name="connsiteX29" fmla="*/ 146828 w 595120"/>
              <a:gd name="connsiteY29" fmla="*/ 607850 h 608062"/>
              <a:gd name="connsiteX30" fmla="*/ 119924 w 595120"/>
              <a:gd name="connsiteY30" fmla="*/ 580988 h 608062"/>
              <a:gd name="connsiteX31" fmla="*/ 119924 w 595120"/>
              <a:gd name="connsiteY31" fmla="*/ 371840 h 608062"/>
              <a:gd name="connsiteX32" fmla="*/ 114067 w 595120"/>
              <a:gd name="connsiteY32" fmla="*/ 366090 h 608062"/>
              <a:gd name="connsiteX33" fmla="*/ 108309 w 595120"/>
              <a:gd name="connsiteY33" fmla="*/ 371840 h 608062"/>
              <a:gd name="connsiteX34" fmla="*/ 108309 w 595120"/>
              <a:gd name="connsiteY34" fmla="*/ 580988 h 608062"/>
              <a:gd name="connsiteX35" fmla="*/ 81306 w 595120"/>
              <a:gd name="connsiteY35" fmla="*/ 607850 h 608062"/>
              <a:gd name="connsiteX36" fmla="*/ 54403 w 595120"/>
              <a:gd name="connsiteY36" fmla="*/ 580988 h 608062"/>
              <a:gd name="connsiteX37" fmla="*/ 54403 w 595120"/>
              <a:gd name="connsiteY37" fmla="*/ 196095 h 608062"/>
              <a:gd name="connsiteX38" fmla="*/ 45766 w 595120"/>
              <a:gd name="connsiteY38" fmla="*/ 204323 h 608062"/>
              <a:gd name="connsiteX39" fmla="*/ 44872 w 595120"/>
              <a:gd name="connsiteY39" fmla="*/ 368965 h 608062"/>
              <a:gd name="connsiteX40" fmla="*/ 22436 w 595120"/>
              <a:gd name="connsiteY40" fmla="*/ 391268 h 608062"/>
              <a:gd name="connsiteX41" fmla="*/ 22337 w 595120"/>
              <a:gd name="connsiteY41" fmla="*/ 391268 h 608062"/>
              <a:gd name="connsiteX42" fmla="*/ 0 w 595120"/>
              <a:gd name="connsiteY42" fmla="*/ 368668 h 608062"/>
              <a:gd name="connsiteX43" fmla="*/ 893 w 595120"/>
              <a:gd name="connsiteY43" fmla="*/ 204124 h 608062"/>
              <a:gd name="connsiteX44" fmla="*/ 54006 w 595120"/>
              <a:gd name="connsiteY44" fmla="*/ 151292 h 608062"/>
              <a:gd name="connsiteX45" fmla="*/ 232614 w 595120"/>
              <a:gd name="connsiteY45" fmla="*/ 116080 h 608062"/>
              <a:gd name="connsiteX46" fmla="*/ 362466 w 595120"/>
              <a:gd name="connsiteY46" fmla="*/ 116080 h 608062"/>
              <a:gd name="connsiteX47" fmla="*/ 419748 w 595120"/>
              <a:gd name="connsiteY47" fmla="*/ 172882 h 608062"/>
              <a:gd name="connsiteX48" fmla="*/ 420641 w 595120"/>
              <a:gd name="connsiteY48" fmla="*/ 350324 h 608062"/>
              <a:gd name="connsiteX49" fmla="*/ 396517 w 595120"/>
              <a:gd name="connsiteY49" fmla="*/ 374611 h 608062"/>
              <a:gd name="connsiteX50" fmla="*/ 396418 w 595120"/>
              <a:gd name="connsiteY50" fmla="*/ 374611 h 608062"/>
              <a:gd name="connsiteX51" fmla="*/ 372195 w 595120"/>
              <a:gd name="connsiteY51" fmla="*/ 350522 h 608062"/>
              <a:gd name="connsiteX52" fmla="*/ 371301 w 595120"/>
              <a:gd name="connsiteY52" fmla="*/ 173179 h 608062"/>
              <a:gd name="connsiteX53" fmla="*/ 366238 w 595120"/>
              <a:gd name="connsiteY53" fmla="*/ 168123 h 608062"/>
              <a:gd name="connsiteX54" fmla="*/ 361175 w 595120"/>
              <a:gd name="connsiteY54" fmla="*/ 173179 h 608062"/>
              <a:gd name="connsiteX55" fmla="*/ 361771 w 595120"/>
              <a:gd name="connsiteY55" fmla="*/ 579116 h 608062"/>
              <a:gd name="connsiteX56" fmla="*/ 332683 w 595120"/>
              <a:gd name="connsiteY56" fmla="*/ 608062 h 608062"/>
              <a:gd name="connsiteX57" fmla="*/ 303695 w 595120"/>
              <a:gd name="connsiteY57" fmla="*/ 579116 h 608062"/>
              <a:gd name="connsiteX58" fmla="*/ 303695 w 595120"/>
              <a:gd name="connsiteY58" fmla="*/ 353695 h 608062"/>
              <a:gd name="connsiteX59" fmla="*/ 297440 w 595120"/>
              <a:gd name="connsiteY59" fmla="*/ 347449 h 608062"/>
              <a:gd name="connsiteX60" fmla="*/ 291186 w 595120"/>
              <a:gd name="connsiteY60" fmla="*/ 353695 h 608062"/>
              <a:gd name="connsiteX61" fmla="*/ 291186 w 595120"/>
              <a:gd name="connsiteY61" fmla="*/ 579116 h 608062"/>
              <a:gd name="connsiteX62" fmla="*/ 262098 w 595120"/>
              <a:gd name="connsiteY62" fmla="*/ 608062 h 608062"/>
              <a:gd name="connsiteX63" fmla="*/ 233110 w 595120"/>
              <a:gd name="connsiteY63" fmla="*/ 579116 h 608062"/>
              <a:gd name="connsiteX64" fmla="*/ 233110 w 595120"/>
              <a:gd name="connsiteY64" fmla="*/ 173179 h 608062"/>
              <a:gd name="connsiteX65" fmla="*/ 228444 w 595120"/>
              <a:gd name="connsiteY65" fmla="*/ 168520 h 608062"/>
              <a:gd name="connsiteX66" fmla="*/ 223778 w 595120"/>
              <a:gd name="connsiteY66" fmla="*/ 173179 h 608062"/>
              <a:gd name="connsiteX67" fmla="*/ 222885 w 595120"/>
              <a:gd name="connsiteY67" fmla="*/ 350522 h 608062"/>
              <a:gd name="connsiteX68" fmla="*/ 198661 w 595120"/>
              <a:gd name="connsiteY68" fmla="*/ 374611 h 608062"/>
              <a:gd name="connsiteX69" fmla="*/ 198562 w 595120"/>
              <a:gd name="connsiteY69" fmla="*/ 374611 h 608062"/>
              <a:gd name="connsiteX70" fmla="*/ 174538 w 595120"/>
              <a:gd name="connsiteY70" fmla="*/ 350324 h 608062"/>
              <a:gd name="connsiteX71" fmla="*/ 175431 w 595120"/>
              <a:gd name="connsiteY71" fmla="*/ 172882 h 608062"/>
              <a:gd name="connsiteX72" fmla="*/ 179998 w 595120"/>
              <a:gd name="connsiteY72" fmla="*/ 150776 h 608062"/>
              <a:gd name="connsiteX73" fmla="*/ 232614 w 595120"/>
              <a:gd name="connsiteY73" fmla="*/ 116080 h 608062"/>
              <a:gd name="connsiteX74" fmla="*/ 481045 w 595120"/>
              <a:gd name="connsiteY74" fmla="*/ 43609 h 608062"/>
              <a:gd name="connsiteX75" fmla="*/ 527548 w 595120"/>
              <a:gd name="connsiteY75" fmla="*/ 90041 h 608062"/>
              <a:gd name="connsiteX76" fmla="*/ 481045 w 595120"/>
              <a:gd name="connsiteY76" fmla="*/ 136473 h 608062"/>
              <a:gd name="connsiteX77" fmla="*/ 434542 w 595120"/>
              <a:gd name="connsiteY77" fmla="*/ 90041 h 608062"/>
              <a:gd name="connsiteX78" fmla="*/ 481045 w 595120"/>
              <a:gd name="connsiteY78" fmla="*/ 43609 h 608062"/>
              <a:gd name="connsiteX79" fmla="*/ 114407 w 595120"/>
              <a:gd name="connsiteY79" fmla="*/ 43609 h 608062"/>
              <a:gd name="connsiteX80" fmla="*/ 160959 w 595120"/>
              <a:gd name="connsiteY80" fmla="*/ 90090 h 608062"/>
              <a:gd name="connsiteX81" fmla="*/ 114407 w 595120"/>
              <a:gd name="connsiteY81" fmla="*/ 136473 h 608062"/>
              <a:gd name="connsiteX82" fmla="*/ 83637 w 595120"/>
              <a:gd name="connsiteY82" fmla="*/ 124878 h 608062"/>
              <a:gd name="connsiteX83" fmla="*/ 67954 w 595120"/>
              <a:gd name="connsiteY83" fmla="*/ 90090 h 608062"/>
              <a:gd name="connsiteX84" fmla="*/ 114407 w 595120"/>
              <a:gd name="connsiteY84" fmla="*/ 43609 h 608062"/>
              <a:gd name="connsiteX85" fmla="*/ 297751 w 595120"/>
              <a:gd name="connsiteY85" fmla="*/ 0 h 608062"/>
              <a:gd name="connsiteX86" fmla="*/ 347887 w 595120"/>
              <a:gd name="connsiteY86" fmla="*/ 50066 h 608062"/>
              <a:gd name="connsiteX87" fmla="*/ 297751 w 595120"/>
              <a:gd name="connsiteY87" fmla="*/ 100132 h 608062"/>
              <a:gd name="connsiteX88" fmla="*/ 267073 w 595120"/>
              <a:gd name="connsiteY88" fmla="*/ 89623 h 608062"/>
              <a:gd name="connsiteX89" fmla="*/ 247614 w 595120"/>
              <a:gd name="connsiteY89" fmla="*/ 50066 h 608062"/>
              <a:gd name="connsiteX90" fmla="*/ 297751 w 595120"/>
              <a:gd name="connsiteY90" fmla="*/ 0 h 608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595120" h="608062">
                <a:moveTo>
                  <a:pt x="443280" y="151292"/>
                </a:moveTo>
                <a:lnTo>
                  <a:pt x="541196" y="151292"/>
                </a:lnTo>
                <a:cubicBezTo>
                  <a:pt x="570293" y="151292"/>
                  <a:pt x="594127" y="174982"/>
                  <a:pt x="594325" y="204124"/>
                </a:cubicBezTo>
                <a:lnTo>
                  <a:pt x="595120" y="368668"/>
                </a:lnTo>
                <a:cubicBezTo>
                  <a:pt x="595219" y="381058"/>
                  <a:pt x="585189" y="391168"/>
                  <a:pt x="572776" y="391268"/>
                </a:cubicBezTo>
                <a:lnTo>
                  <a:pt x="572677" y="391268"/>
                </a:lnTo>
                <a:cubicBezTo>
                  <a:pt x="560263" y="391268"/>
                  <a:pt x="550233" y="381256"/>
                  <a:pt x="550233" y="368965"/>
                </a:cubicBezTo>
                <a:lnTo>
                  <a:pt x="549339" y="204323"/>
                </a:lnTo>
                <a:cubicBezTo>
                  <a:pt x="549339" y="201745"/>
                  <a:pt x="547155" y="199763"/>
                  <a:pt x="544672" y="199763"/>
                </a:cubicBezTo>
                <a:cubicBezTo>
                  <a:pt x="542090" y="199763"/>
                  <a:pt x="540005" y="201845"/>
                  <a:pt x="540005" y="204422"/>
                </a:cubicBezTo>
                <a:cubicBezTo>
                  <a:pt x="540005" y="428934"/>
                  <a:pt x="540501" y="225436"/>
                  <a:pt x="540501" y="580988"/>
                </a:cubicBezTo>
                <a:cubicBezTo>
                  <a:pt x="540501" y="595856"/>
                  <a:pt x="528386" y="607850"/>
                  <a:pt x="513490" y="607850"/>
                </a:cubicBezTo>
                <a:cubicBezTo>
                  <a:pt x="498693" y="607850"/>
                  <a:pt x="486577" y="595856"/>
                  <a:pt x="486577" y="580988"/>
                </a:cubicBezTo>
                <a:lnTo>
                  <a:pt x="486577" y="371840"/>
                </a:lnTo>
                <a:cubicBezTo>
                  <a:pt x="486577" y="368668"/>
                  <a:pt x="483996" y="366090"/>
                  <a:pt x="480818" y="366090"/>
                </a:cubicBezTo>
                <a:cubicBezTo>
                  <a:pt x="477541" y="366090"/>
                  <a:pt x="474959" y="368668"/>
                  <a:pt x="474959" y="371840"/>
                </a:cubicBezTo>
                <a:lnTo>
                  <a:pt x="474959" y="580988"/>
                </a:lnTo>
                <a:cubicBezTo>
                  <a:pt x="474959" y="595856"/>
                  <a:pt x="462942" y="607850"/>
                  <a:pt x="448046" y="607850"/>
                </a:cubicBezTo>
                <a:cubicBezTo>
                  <a:pt x="433150" y="607850"/>
                  <a:pt x="421134" y="595856"/>
                  <a:pt x="421134" y="580988"/>
                </a:cubicBezTo>
                <a:lnTo>
                  <a:pt x="421134" y="394638"/>
                </a:lnTo>
                <a:cubicBezTo>
                  <a:pt x="436626" y="385915"/>
                  <a:pt x="447153" y="369262"/>
                  <a:pt x="447053" y="350231"/>
                </a:cubicBezTo>
                <a:lnTo>
                  <a:pt x="446160" y="172802"/>
                </a:lnTo>
                <a:cubicBezTo>
                  <a:pt x="446160" y="165368"/>
                  <a:pt x="445067" y="158231"/>
                  <a:pt x="443280" y="151292"/>
                </a:cubicBezTo>
                <a:close/>
                <a:moveTo>
                  <a:pt x="54006" y="151292"/>
                </a:moveTo>
                <a:lnTo>
                  <a:pt x="151891" y="151292"/>
                </a:lnTo>
                <a:cubicBezTo>
                  <a:pt x="150005" y="158231"/>
                  <a:pt x="148913" y="165368"/>
                  <a:pt x="148913" y="172802"/>
                </a:cubicBezTo>
                <a:lnTo>
                  <a:pt x="148019" y="350231"/>
                </a:lnTo>
                <a:cubicBezTo>
                  <a:pt x="147920" y="369163"/>
                  <a:pt x="158344" y="385717"/>
                  <a:pt x="173732" y="394440"/>
                </a:cubicBezTo>
                <a:lnTo>
                  <a:pt x="173732" y="580988"/>
                </a:lnTo>
                <a:cubicBezTo>
                  <a:pt x="173732" y="595856"/>
                  <a:pt x="161719" y="607850"/>
                  <a:pt x="146828" y="607850"/>
                </a:cubicBezTo>
                <a:cubicBezTo>
                  <a:pt x="131937" y="607850"/>
                  <a:pt x="119924" y="595856"/>
                  <a:pt x="119924" y="580988"/>
                </a:cubicBezTo>
                <a:lnTo>
                  <a:pt x="119924" y="371840"/>
                </a:lnTo>
                <a:cubicBezTo>
                  <a:pt x="119924" y="368668"/>
                  <a:pt x="117343" y="366090"/>
                  <a:pt x="114067" y="366090"/>
                </a:cubicBezTo>
                <a:cubicBezTo>
                  <a:pt x="110890" y="366090"/>
                  <a:pt x="108309" y="368668"/>
                  <a:pt x="108309" y="371840"/>
                </a:cubicBezTo>
                <a:lnTo>
                  <a:pt x="108309" y="580988"/>
                </a:lnTo>
                <a:cubicBezTo>
                  <a:pt x="108309" y="595856"/>
                  <a:pt x="96198" y="607850"/>
                  <a:pt x="81306" y="607850"/>
                </a:cubicBezTo>
                <a:cubicBezTo>
                  <a:pt x="66514" y="607850"/>
                  <a:pt x="54403" y="595856"/>
                  <a:pt x="54403" y="580988"/>
                </a:cubicBezTo>
                <a:lnTo>
                  <a:pt x="54403" y="196095"/>
                </a:lnTo>
                <a:cubicBezTo>
                  <a:pt x="48943" y="196095"/>
                  <a:pt x="45766" y="200159"/>
                  <a:pt x="45766" y="204323"/>
                </a:cubicBezTo>
                <a:lnTo>
                  <a:pt x="44872" y="368965"/>
                </a:lnTo>
                <a:cubicBezTo>
                  <a:pt x="44872" y="381256"/>
                  <a:pt x="34845" y="391268"/>
                  <a:pt x="22436" y="391268"/>
                </a:cubicBezTo>
                <a:lnTo>
                  <a:pt x="22337" y="391268"/>
                </a:lnTo>
                <a:cubicBezTo>
                  <a:pt x="9927" y="391168"/>
                  <a:pt x="0" y="381058"/>
                  <a:pt x="0" y="368668"/>
                </a:cubicBezTo>
                <a:lnTo>
                  <a:pt x="893" y="204124"/>
                </a:lnTo>
                <a:cubicBezTo>
                  <a:pt x="993" y="174982"/>
                  <a:pt x="24819" y="151292"/>
                  <a:pt x="54006" y="151292"/>
                </a:cubicBezTo>
                <a:close/>
                <a:moveTo>
                  <a:pt x="232614" y="116080"/>
                </a:moveTo>
                <a:lnTo>
                  <a:pt x="362466" y="116080"/>
                </a:lnTo>
                <a:cubicBezTo>
                  <a:pt x="393837" y="116080"/>
                  <a:pt x="419549" y="141557"/>
                  <a:pt x="419748" y="172882"/>
                </a:cubicBezTo>
                <a:lnTo>
                  <a:pt x="420641" y="350324"/>
                </a:lnTo>
                <a:cubicBezTo>
                  <a:pt x="420641" y="363707"/>
                  <a:pt x="409919" y="374512"/>
                  <a:pt x="396517" y="374611"/>
                </a:cubicBezTo>
                <a:lnTo>
                  <a:pt x="396418" y="374611"/>
                </a:lnTo>
                <a:cubicBezTo>
                  <a:pt x="383115" y="374611"/>
                  <a:pt x="372294" y="363905"/>
                  <a:pt x="372195" y="350522"/>
                </a:cubicBezTo>
                <a:lnTo>
                  <a:pt x="371301" y="173179"/>
                </a:lnTo>
                <a:cubicBezTo>
                  <a:pt x="371301" y="170403"/>
                  <a:pt x="369018" y="168123"/>
                  <a:pt x="366238" y="168123"/>
                </a:cubicBezTo>
                <a:cubicBezTo>
                  <a:pt x="363459" y="168123"/>
                  <a:pt x="361175" y="170403"/>
                  <a:pt x="361175" y="173179"/>
                </a:cubicBezTo>
                <a:cubicBezTo>
                  <a:pt x="361275" y="281726"/>
                  <a:pt x="361771" y="475426"/>
                  <a:pt x="361771" y="579116"/>
                </a:cubicBezTo>
                <a:cubicBezTo>
                  <a:pt x="361771" y="595076"/>
                  <a:pt x="348766" y="608062"/>
                  <a:pt x="332683" y="608062"/>
                </a:cubicBezTo>
                <a:cubicBezTo>
                  <a:pt x="316700" y="608062"/>
                  <a:pt x="303695" y="595076"/>
                  <a:pt x="303695" y="579116"/>
                </a:cubicBezTo>
                <a:lnTo>
                  <a:pt x="303695" y="353695"/>
                </a:lnTo>
                <a:cubicBezTo>
                  <a:pt x="303695" y="350324"/>
                  <a:pt x="300915" y="347449"/>
                  <a:pt x="297440" y="347449"/>
                </a:cubicBezTo>
                <a:cubicBezTo>
                  <a:pt x="293966" y="347449"/>
                  <a:pt x="291186" y="350324"/>
                  <a:pt x="291186" y="353695"/>
                </a:cubicBezTo>
                <a:lnTo>
                  <a:pt x="291186" y="579116"/>
                </a:lnTo>
                <a:cubicBezTo>
                  <a:pt x="291186" y="595076"/>
                  <a:pt x="278181" y="608062"/>
                  <a:pt x="262098" y="608062"/>
                </a:cubicBezTo>
                <a:cubicBezTo>
                  <a:pt x="246115" y="608062"/>
                  <a:pt x="233110" y="595076"/>
                  <a:pt x="233110" y="579116"/>
                </a:cubicBezTo>
                <a:lnTo>
                  <a:pt x="233110" y="173179"/>
                </a:lnTo>
                <a:cubicBezTo>
                  <a:pt x="233110" y="170602"/>
                  <a:pt x="231025" y="168520"/>
                  <a:pt x="228444" y="168520"/>
                </a:cubicBezTo>
                <a:cubicBezTo>
                  <a:pt x="225863" y="168520"/>
                  <a:pt x="223778" y="170602"/>
                  <a:pt x="223778" y="173179"/>
                </a:cubicBezTo>
                <a:lnTo>
                  <a:pt x="222885" y="350522"/>
                </a:lnTo>
                <a:cubicBezTo>
                  <a:pt x="222785" y="363905"/>
                  <a:pt x="211964" y="374611"/>
                  <a:pt x="198661" y="374611"/>
                </a:cubicBezTo>
                <a:lnTo>
                  <a:pt x="198562" y="374611"/>
                </a:lnTo>
                <a:cubicBezTo>
                  <a:pt x="185259" y="374512"/>
                  <a:pt x="174438" y="363707"/>
                  <a:pt x="174538" y="350324"/>
                </a:cubicBezTo>
                <a:lnTo>
                  <a:pt x="175431" y="172882"/>
                </a:lnTo>
                <a:cubicBezTo>
                  <a:pt x="175431" y="165249"/>
                  <a:pt x="177019" y="157814"/>
                  <a:pt x="179998" y="150776"/>
                </a:cubicBezTo>
                <a:cubicBezTo>
                  <a:pt x="188734" y="130355"/>
                  <a:pt x="209085" y="116080"/>
                  <a:pt x="232614" y="116080"/>
                </a:cubicBezTo>
                <a:close/>
                <a:moveTo>
                  <a:pt x="481045" y="43609"/>
                </a:moveTo>
                <a:cubicBezTo>
                  <a:pt x="506728" y="43609"/>
                  <a:pt x="527548" y="64397"/>
                  <a:pt x="527548" y="90041"/>
                </a:cubicBezTo>
                <a:cubicBezTo>
                  <a:pt x="527548" y="115685"/>
                  <a:pt x="506728" y="136473"/>
                  <a:pt x="481045" y="136473"/>
                </a:cubicBezTo>
                <a:cubicBezTo>
                  <a:pt x="455362" y="136473"/>
                  <a:pt x="434542" y="115685"/>
                  <a:pt x="434542" y="90041"/>
                </a:cubicBezTo>
                <a:cubicBezTo>
                  <a:pt x="434542" y="64397"/>
                  <a:pt x="455362" y="43609"/>
                  <a:pt x="481045" y="43609"/>
                </a:cubicBezTo>
                <a:close/>
                <a:moveTo>
                  <a:pt x="114407" y="43609"/>
                </a:moveTo>
                <a:cubicBezTo>
                  <a:pt x="140115" y="43609"/>
                  <a:pt x="160959" y="64422"/>
                  <a:pt x="160959" y="90090"/>
                </a:cubicBezTo>
                <a:cubicBezTo>
                  <a:pt x="160959" y="115660"/>
                  <a:pt x="140115" y="136473"/>
                  <a:pt x="114407" y="136473"/>
                </a:cubicBezTo>
                <a:cubicBezTo>
                  <a:pt x="102595" y="136473"/>
                  <a:pt x="91875" y="132112"/>
                  <a:pt x="83637" y="124878"/>
                </a:cubicBezTo>
                <a:cubicBezTo>
                  <a:pt x="74009" y="116354"/>
                  <a:pt x="67954" y="103866"/>
                  <a:pt x="67954" y="90090"/>
                </a:cubicBezTo>
                <a:cubicBezTo>
                  <a:pt x="67954" y="64422"/>
                  <a:pt x="88798" y="43609"/>
                  <a:pt x="114407" y="43609"/>
                </a:cubicBezTo>
                <a:close/>
                <a:moveTo>
                  <a:pt x="297751" y="0"/>
                </a:moveTo>
                <a:cubicBezTo>
                  <a:pt x="325351" y="0"/>
                  <a:pt x="347887" y="22307"/>
                  <a:pt x="347887" y="50066"/>
                </a:cubicBezTo>
                <a:cubicBezTo>
                  <a:pt x="347887" y="77726"/>
                  <a:pt x="325351" y="100132"/>
                  <a:pt x="297751" y="100132"/>
                </a:cubicBezTo>
                <a:cubicBezTo>
                  <a:pt x="286234" y="100132"/>
                  <a:pt x="275611" y="96166"/>
                  <a:pt x="267073" y="89623"/>
                </a:cubicBezTo>
                <a:cubicBezTo>
                  <a:pt x="254663" y="80006"/>
                  <a:pt x="247614" y="65433"/>
                  <a:pt x="247614" y="50066"/>
                </a:cubicBezTo>
                <a:cubicBezTo>
                  <a:pt x="247614" y="22406"/>
                  <a:pt x="270052" y="0"/>
                  <a:pt x="297751" y="0"/>
                </a:cubicBezTo>
                <a:close/>
              </a:path>
            </a:pathLst>
          </a:cu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pic>
        <p:nvPicPr>
          <p:cNvPr id="31" name="Picture 5">
            <a:extLst>
              <a:ext uri="{FF2B5EF4-FFF2-40B4-BE49-F238E27FC236}">
                <a16:creationId xmlns:a16="http://schemas.microsoft.com/office/drawing/2014/main" id="{90E8FC4A-C940-DD41-C0FD-B9134A40D31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grayscl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043" b="89894" l="7435" r="91822">
                        <a14:foregroundMark x1="7435" y1="25000" x2="7435" y2="38298"/>
                        <a14:foregroundMark x1="91822" y1="26064" x2="91822" y2="36702"/>
                        <a14:foregroundMark x1="63569" y1="55851" x2="65056" y2="62234"/>
                        <a14:foregroundMark x1="61338" y1="48404" x2="61710" y2="68085"/>
                        <a14:foregroundMark x1="62454" y1="51596" x2="72119" y2="82979"/>
                        <a14:foregroundMark x1="68773" y1="62766" x2="68773" y2="6276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3403" y="3735703"/>
            <a:ext cx="767505" cy="536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3545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79A37-CBBD-3BD9-F6F2-8CD2016A6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2">
            <a:extLst>
              <a:ext uri="{FF2B5EF4-FFF2-40B4-BE49-F238E27FC236}">
                <a16:creationId xmlns:a16="http://schemas.microsoft.com/office/drawing/2014/main" id="{FE7FA9F2-AEEB-9C70-3E68-B0943BF86F05}"/>
              </a:ext>
            </a:extLst>
          </p:cNvPr>
          <p:cNvSpPr/>
          <p:nvPr/>
        </p:nvSpPr>
        <p:spPr>
          <a:xfrm>
            <a:off x="3302758" y="1431721"/>
            <a:ext cx="5445493" cy="2908941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41" name="箭头: 右 7">
            <a:extLst>
              <a:ext uri="{FF2B5EF4-FFF2-40B4-BE49-F238E27FC236}">
                <a16:creationId xmlns:a16="http://schemas.microsoft.com/office/drawing/2014/main" id="{7ACB1810-764F-7C14-4200-4431120B8C97}"/>
              </a:ext>
            </a:extLst>
          </p:cNvPr>
          <p:cNvSpPr/>
          <p:nvPr/>
        </p:nvSpPr>
        <p:spPr>
          <a:xfrm>
            <a:off x="2186051" y="3117509"/>
            <a:ext cx="2199799" cy="687250"/>
          </a:xfrm>
          <a:prstGeom prst="rightArrow">
            <a:avLst/>
          </a:prstGeom>
          <a:solidFill>
            <a:srgbClr val="0070C0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pic>
        <p:nvPicPr>
          <p:cNvPr id="2" name="Picture 2" descr="ChatGPT Logo - SVG, PNG, AI, EPS Vectors">
            <a:extLst>
              <a:ext uri="{FF2B5EF4-FFF2-40B4-BE49-F238E27FC236}">
                <a16:creationId xmlns:a16="http://schemas.microsoft.com/office/drawing/2014/main" id="{427A0B45-465A-90F5-79BB-688FFFAE78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1067" y="5093414"/>
            <a:ext cx="869746" cy="869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43">
            <a:extLst>
              <a:ext uri="{FF2B5EF4-FFF2-40B4-BE49-F238E27FC236}">
                <a16:creationId xmlns:a16="http://schemas.microsoft.com/office/drawing/2014/main" id="{FF8AE57F-6386-3FD9-79D6-4BCA89EE2409}"/>
              </a:ext>
            </a:extLst>
          </p:cNvPr>
          <p:cNvSpPr txBox="1"/>
          <p:nvPr/>
        </p:nvSpPr>
        <p:spPr>
          <a:xfrm flipH="1">
            <a:off x="180518" y="5926006"/>
            <a:ext cx="29308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External </a:t>
            </a:r>
            <a:r>
              <a:rPr lang="en-US" altLang="zh-CN" sz="1600" b="1" dirty="0" err="1"/>
              <a:t>Gen</a:t>
            </a:r>
            <a:r>
              <a:rPr lang="en-US" sz="1600" b="1" dirty="0" err="1"/>
              <a:t>AI</a:t>
            </a:r>
            <a:r>
              <a:rPr lang="en-US" sz="1600" b="1" dirty="0"/>
              <a:t> </a:t>
            </a:r>
          </a:p>
          <a:p>
            <a:pPr algn="ctr"/>
            <a:r>
              <a:rPr lang="en-US" sz="1600" dirty="0"/>
              <a:t>(e.g., ChatGPT)</a:t>
            </a: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5B871C3B-B9B4-977D-AA34-ED1E45BFC2A8}"/>
              </a:ext>
            </a:extLst>
          </p:cNvPr>
          <p:cNvSpPr/>
          <p:nvPr/>
        </p:nvSpPr>
        <p:spPr>
          <a:xfrm rot="5400000">
            <a:off x="1267916" y="4473940"/>
            <a:ext cx="786388" cy="320040"/>
          </a:xfrm>
          <a:prstGeom prst="rightArrow">
            <a:avLst/>
          </a:prstGeom>
          <a:solidFill>
            <a:srgbClr val="0070C0">
              <a:alpha val="2427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22CCD8-0F9C-5E87-3076-2C367DB6B0D9}"/>
              </a:ext>
            </a:extLst>
          </p:cNvPr>
          <p:cNvSpPr txBox="1"/>
          <p:nvPr/>
        </p:nvSpPr>
        <p:spPr>
          <a:xfrm>
            <a:off x="9034384" y="2850123"/>
            <a:ext cx="82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Supply</a:t>
            </a:r>
          </a:p>
        </p:txBody>
      </p:sp>
      <p:sp>
        <p:nvSpPr>
          <p:cNvPr id="12" name="TextBox 15">
            <a:extLst>
              <a:ext uri="{FF2B5EF4-FFF2-40B4-BE49-F238E27FC236}">
                <a16:creationId xmlns:a16="http://schemas.microsoft.com/office/drawing/2014/main" id="{5C778FCF-D5B0-C2AC-E5EB-AAB4D4E2E86D}"/>
              </a:ext>
            </a:extLst>
          </p:cNvPr>
          <p:cNvSpPr txBox="1"/>
          <p:nvPr/>
        </p:nvSpPr>
        <p:spPr>
          <a:xfrm>
            <a:off x="4640892" y="3615843"/>
            <a:ext cx="1137523" cy="24622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Questions</a:t>
            </a:r>
          </a:p>
        </p:txBody>
      </p:sp>
      <p:sp>
        <p:nvSpPr>
          <p:cNvPr id="13" name="TextBox 15">
            <a:extLst>
              <a:ext uri="{FF2B5EF4-FFF2-40B4-BE49-F238E27FC236}">
                <a16:creationId xmlns:a16="http://schemas.microsoft.com/office/drawing/2014/main" id="{8AC9E3A1-6441-65AA-2CE3-28532FFF097A}"/>
              </a:ext>
            </a:extLst>
          </p:cNvPr>
          <p:cNvSpPr txBox="1"/>
          <p:nvPr/>
        </p:nvSpPr>
        <p:spPr>
          <a:xfrm>
            <a:off x="6187184" y="3615843"/>
            <a:ext cx="1137523" cy="24622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Answers</a:t>
            </a:r>
          </a:p>
        </p:txBody>
      </p:sp>
      <p:pic>
        <p:nvPicPr>
          <p:cNvPr id="14" name="Picture 3">
            <a:extLst>
              <a:ext uri="{FF2B5EF4-FFF2-40B4-BE49-F238E27FC236}">
                <a16:creationId xmlns:a16="http://schemas.microsoft.com/office/drawing/2014/main" id="{2F611F5B-92C2-025E-4559-35A6802D23B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685" t="252" r="685" b="53500"/>
          <a:stretch/>
        </p:blipFill>
        <p:spPr>
          <a:xfrm>
            <a:off x="4569163" y="3064070"/>
            <a:ext cx="1261981" cy="580820"/>
          </a:xfrm>
          <a:prstGeom prst="rect">
            <a:avLst/>
          </a:prstGeom>
        </p:spPr>
      </p:pic>
      <p:pic>
        <p:nvPicPr>
          <p:cNvPr id="15" name="Picture 30">
            <a:extLst>
              <a:ext uri="{FF2B5EF4-FFF2-40B4-BE49-F238E27FC236}">
                <a16:creationId xmlns:a16="http://schemas.microsoft.com/office/drawing/2014/main" id="{B34011FB-3C98-735D-1306-B161E0D14DE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3752" b="1"/>
          <a:stretch/>
        </p:blipFill>
        <p:spPr>
          <a:xfrm>
            <a:off x="6052929" y="3075368"/>
            <a:ext cx="1261981" cy="580820"/>
          </a:xfrm>
          <a:prstGeom prst="rect">
            <a:avLst/>
          </a:prstGeom>
        </p:spPr>
      </p:pic>
      <p:sp>
        <p:nvSpPr>
          <p:cNvPr id="17" name="TextBox 27">
            <a:extLst>
              <a:ext uri="{FF2B5EF4-FFF2-40B4-BE49-F238E27FC236}">
                <a16:creationId xmlns:a16="http://schemas.microsoft.com/office/drawing/2014/main" id="{4E2FFDE9-6F74-7FDC-F49D-3801499F0337}"/>
              </a:ext>
            </a:extLst>
          </p:cNvPr>
          <p:cNvSpPr txBox="1"/>
          <p:nvPr/>
        </p:nvSpPr>
        <p:spPr>
          <a:xfrm>
            <a:off x="2195674" y="2850123"/>
            <a:ext cx="8384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Supply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E4A6A4C-2D9D-AA40-DE32-BA0BA08531E6}"/>
              </a:ext>
            </a:extLst>
          </p:cNvPr>
          <p:cNvSpPr txBox="1"/>
          <p:nvPr/>
        </p:nvSpPr>
        <p:spPr>
          <a:xfrm flipH="1">
            <a:off x="9863867" y="3837085"/>
            <a:ext cx="12531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Answerers</a:t>
            </a:r>
          </a:p>
        </p:txBody>
      </p:sp>
      <p:sp>
        <p:nvSpPr>
          <p:cNvPr id="19" name="TextBox 6">
            <a:extLst>
              <a:ext uri="{FF2B5EF4-FFF2-40B4-BE49-F238E27FC236}">
                <a16:creationId xmlns:a16="http://schemas.microsoft.com/office/drawing/2014/main" id="{BA936940-CF59-E702-1B9A-FD069D2868F4}"/>
              </a:ext>
            </a:extLst>
          </p:cNvPr>
          <p:cNvSpPr txBox="1"/>
          <p:nvPr/>
        </p:nvSpPr>
        <p:spPr>
          <a:xfrm flipH="1">
            <a:off x="982022" y="3804759"/>
            <a:ext cx="13965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Questioners</a:t>
            </a:r>
          </a:p>
        </p:txBody>
      </p:sp>
      <p:sp>
        <p:nvSpPr>
          <p:cNvPr id="20" name="man-silhouette_43368">
            <a:extLst>
              <a:ext uri="{FF2B5EF4-FFF2-40B4-BE49-F238E27FC236}">
                <a16:creationId xmlns:a16="http://schemas.microsoft.com/office/drawing/2014/main" id="{2788E1F0-66A0-C0DE-F03B-BA7A6C228DDB}"/>
              </a:ext>
            </a:extLst>
          </p:cNvPr>
          <p:cNvSpPr/>
          <p:nvPr/>
        </p:nvSpPr>
        <p:spPr>
          <a:xfrm>
            <a:off x="10266692" y="2802629"/>
            <a:ext cx="447494" cy="1118932"/>
          </a:xfrm>
          <a:custGeom>
            <a:avLst/>
            <a:gdLst>
              <a:gd name="connsiteX0" fmla="*/ 54978 w 241969"/>
              <a:gd name="connsiteY0" fmla="*/ 102390 h 605028"/>
              <a:gd name="connsiteX1" fmla="*/ 116083 w 241969"/>
              <a:gd name="connsiteY1" fmla="*/ 102390 h 605028"/>
              <a:gd name="connsiteX2" fmla="*/ 125886 w 241969"/>
              <a:gd name="connsiteY2" fmla="*/ 102390 h 605028"/>
              <a:gd name="connsiteX3" fmla="*/ 186991 w 241969"/>
              <a:gd name="connsiteY3" fmla="*/ 102390 h 605028"/>
              <a:gd name="connsiteX4" fmla="*/ 241969 w 241969"/>
              <a:gd name="connsiteY4" fmla="*/ 158501 h 605028"/>
              <a:gd name="connsiteX5" fmla="*/ 241969 w 241969"/>
              <a:gd name="connsiteY5" fmla="*/ 319577 h 605028"/>
              <a:gd name="connsiteX6" fmla="*/ 218769 w 241969"/>
              <a:gd name="connsiteY6" fmla="*/ 342740 h 605028"/>
              <a:gd name="connsiteX7" fmla="*/ 195568 w 241969"/>
              <a:gd name="connsiteY7" fmla="*/ 319577 h 605028"/>
              <a:gd name="connsiteX8" fmla="*/ 195487 w 241969"/>
              <a:gd name="connsiteY8" fmla="*/ 177994 h 605028"/>
              <a:gd name="connsiteX9" fmla="*/ 193118 w 241969"/>
              <a:gd name="connsiteY9" fmla="*/ 175629 h 605028"/>
              <a:gd name="connsiteX10" fmla="*/ 188216 w 241969"/>
              <a:gd name="connsiteY10" fmla="*/ 175629 h 605028"/>
              <a:gd name="connsiteX11" fmla="*/ 185766 w 241969"/>
              <a:gd name="connsiteY11" fmla="*/ 177994 h 605028"/>
              <a:gd name="connsiteX12" fmla="*/ 185766 w 241969"/>
              <a:gd name="connsiteY12" fmla="*/ 575178 h 605028"/>
              <a:gd name="connsiteX13" fmla="*/ 155867 w 241969"/>
              <a:gd name="connsiteY13" fmla="*/ 605028 h 605028"/>
              <a:gd name="connsiteX14" fmla="*/ 125886 w 241969"/>
              <a:gd name="connsiteY14" fmla="*/ 575178 h 605028"/>
              <a:gd name="connsiteX15" fmla="*/ 125886 w 241969"/>
              <a:gd name="connsiteY15" fmla="*/ 341516 h 605028"/>
              <a:gd name="connsiteX16" fmla="*/ 123435 w 241969"/>
              <a:gd name="connsiteY16" fmla="*/ 339069 h 605028"/>
              <a:gd name="connsiteX17" fmla="*/ 118615 w 241969"/>
              <a:gd name="connsiteY17" fmla="*/ 339069 h 605028"/>
              <a:gd name="connsiteX18" fmla="*/ 116083 w 241969"/>
              <a:gd name="connsiteY18" fmla="*/ 341516 h 605028"/>
              <a:gd name="connsiteX19" fmla="*/ 116083 w 241969"/>
              <a:gd name="connsiteY19" fmla="*/ 575178 h 605028"/>
              <a:gd name="connsiteX20" fmla="*/ 86184 w 241969"/>
              <a:gd name="connsiteY20" fmla="*/ 605028 h 605028"/>
              <a:gd name="connsiteX21" fmla="*/ 56203 w 241969"/>
              <a:gd name="connsiteY21" fmla="*/ 575178 h 605028"/>
              <a:gd name="connsiteX22" fmla="*/ 56203 w 241969"/>
              <a:gd name="connsiteY22" fmla="*/ 177994 h 605028"/>
              <a:gd name="connsiteX23" fmla="*/ 53834 w 241969"/>
              <a:gd name="connsiteY23" fmla="*/ 175629 h 605028"/>
              <a:gd name="connsiteX24" fmla="*/ 48933 w 241969"/>
              <a:gd name="connsiteY24" fmla="*/ 175629 h 605028"/>
              <a:gd name="connsiteX25" fmla="*/ 46482 w 241969"/>
              <a:gd name="connsiteY25" fmla="*/ 177994 h 605028"/>
              <a:gd name="connsiteX26" fmla="*/ 46482 w 241969"/>
              <a:gd name="connsiteY26" fmla="*/ 319577 h 605028"/>
              <a:gd name="connsiteX27" fmla="*/ 23200 w 241969"/>
              <a:gd name="connsiteY27" fmla="*/ 342740 h 605028"/>
              <a:gd name="connsiteX28" fmla="*/ 0 w 241969"/>
              <a:gd name="connsiteY28" fmla="*/ 319577 h 605028"/>
              <a:gd name="connsiteX29" fmla="*/ 0 w 241969"/>
              <a:gd name="connsiteY29" fmla="*/ 158501 h 605028"/>
              <a:gd name="connsiteX30" fmla="*/ 54978 w 241969"/>
              <a:gd name="connsiteY30" fmla="*/ 102390 h 605028"/>
              <a:gd name="connsiteX31" fmla="*/ 120984 w 241969"/>
              <a:gd name="connsiteY31" fmla="*/ 0 h 605028"/>
              <a:gd name="connsiteX32" fmla="*/ 165546 w 241969"/>
              <a:gd name="connsiteY32" fmla="*/ 44492 h 605028"/>
              <a:gd name="connsiteX33" fmla="*/ 120984 w 241969"/>
              <a:gd name="connsiteY33" fmla="*/ 88984 h 605028"/>
              <a:gd name="connsiteX34" fmla="*/ 76422 w 241969"/>
              <a:gd name="connsiteY34" fmla="*/ 44492 h 605028"/>
              <a:gd name="connsiteX35" fmla="*/ 120984 w 241969"/>
              <a:gd name="connsiteY35" fmla="*/ 0 h 605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241969" h="605028">
                <a:moveTo>
                  <a:pt x="54978" y="102390"/>
                </a:moveTo>
                <a:lnTo>
                  <a:pt x="116083" y="102390"/>
                </a:lnTo>
                <a:lnTo>
                  <a:pt x="125886" y="102390"/>
                </a:lnTo>
                <a:lnTo>
                  <a:pt x="186991" y="102390"/>
                </a:lnTo>
                <a:cubicBezTo>
                  <a:pt x="217543" y="102390"/>
                  <a:pt x="241969" y="126776"/>
                  <a:pt x="241969" y="158501"/>
                </a:cubicBezTo>
                <a:lnTo>
                  <a:pt x="241969" y="319577"/>
                </a:lnTo>
                <a:cubicBezTo>
                  <a:pt x="241969" y="332382"/>
                  <a:pt x="231594" y="342740"/>
                  <a:pt x="218769" y="342740"/>
                </a:cubicBezTo>
                <a:cubicBezTo>
                  <a:pt x="205943" y="342740"/>
                  <a:pt x="195568" y="332382"/>
                  <a:pt x="195568" y="319577"/>
                </a:cubicBezTo>
                <a:cubicBezTo>
                  <a:pt x="195568" y="319577"/>
                  <a:pt x="195487" y="177994"/>
                  <a:pt x="195487" y="177994"/>
                </a:cubicBezTo>
                <a:cubicBezTo>
                  <a:pt x="195487" y="176689"/>
                  <a:pt x="194425" y="175629"/>
                  <a:pt x="193118" y="175629"/>
                </a:cubicBezTo>
                <a:lnTo>
                  <a:pt x="188216" y="175629"/>
                </a:lnTo>
                <a:cubicBezTo>
                  <a:pt x="186828" y="175629"/>
                  <a:pt x="185766" y="176689"/>
                  <a:pt x="185766" y="177994"/>
                </a:cubicBezTo>
                <a:lnTo>
                  <a:pt x="185766" y="575178"/>
                </a:lnTo>
                <a:cubicBezTo>
                  <a:pt x="185766" y="591653"/>
                  <a:pt x="172368" y="605028"/>
                  <a:pt x="155867" y="605028"/>
                </a:cubicBezTo>
                <a:cubicBezTo>
                  <a:pt x="139283" y="605028"/>
                  <a:pt x="125886" y="591653"/>
                  <a:pt x="125886" y="575178"/>
                </a:cubicBezTo>
                <a:lnTo>
                  <a:pt x="125886" y="341516"/>
                </a:lnTo>
                <a:cubicBezTo>
                  <a:pt x="125886" y="339803"/>
                  <a:pt x="125069" y="339069"/>
                  <a:pt x="123435" y="339069"/>
                </a:cubicBezTo>
                <a:lnTo>
                  <a:pt x="118615" y="339069"/>
                </a:lnTo>
                <a:cubicBezTo>
                  <a:pt x="116900" y="339069"/>
                  <a:pt x="116083" y="339803"/>
                  <a:pt x="116083" y="341516"/>
                </a:cubicBezTo>
                <a:lnTo>
                  <a:pt x="116083" y="575178"/>
                </a:lnTo>
                <a:cubicBezTo>
                  <a:pt x="116083" y="591653"/>
                  <a:pt x="102686" y="605028"/>
                  <a:pt x="86184" y="605028"/>
                </a:cubicBezTo>
                <a:cubicBezTo>
                  <a:pt x="69601" y="605028"/>
                  <a:pt x="56203" y="591653"/>
                  <a:pt x="56203" y="575178"/>
                </a:cubicBezTo>
                <a:lnTo>
                  <a:pt x="56203" y="177994"/>
                </a:lnTo>
                <a:cubicBezTo>
                  <a:pt x="56203" y="176689"/>
                  <a:pt x="55141" y="175629"/>
                  <a:pt x="53834" y="175629"/>
                </a:cubicBezTo>
                <a:lnTo>
                  <a:pt x="48933" y="175629"/>
                </a:lnTo>
                <a:cubicBezTo>
                  <a:pt x="47544" y="175629"/>
                  <a:pt x="46482" y="176689"/>
                  <a:pt x="46482" y="177994"/>
                </a:cubicBezTo>
                <a:cubicBezTo>
                  <a:pt x="46482" y="177994"/>
                  <a:pt x="46482" y="319577"/>
                  <a:pt x="46482" y="319577"/>
                </a:cubicBezTo>
                <a:cubicBezTo>
                  <a:pt x="46482" y="332382"/>
                  <a:pt x="36026" y="342740"/>
                  <a:pt x="23200" y="342740"/>
                </a:cubicBezTo>
                <a:cubicBezTo>
                  <a:pt x="10375" y="342740"/>
                  <a:pt x="0" y="332382"/>
                  <a:pt x="0" y="319577"/>
                </a:cubicBezTo>
                <a:lnTo>
                  <a:pt x="0" y="158501"/>
                </a:lnTo>
                <a:cubicBezTo>
                  <a:pt x="0" y="126776"/>
                  <a:pt x="24426" y="102390"/>
                  <a:pt x="54978" y="102390"/>
                </a:cubicBezTo>
                <a:close/>
                <a:moveTo>
                  <a:pt x="120984" y="0"/>
                </a:moveTo>
                <a:cubicBezTo>
                  <a:pt x="145595" y="0"/>
                  <a:pt x="165546" y="19920"/>
                  <a:pt x="165546" y="44492"/>
                </a:cubicBezTo>
                <a:cubicBezTo>
                  <a:pt x="165546" y="69064"/>
                  <a:pt x="145595" y="88984"/>
                  <a:pt x="120984" y="88984"/>
                </a:cubicBezTo>
                <a:cubicBezTo>
                  <a:pt x="96373" y="88984"/>
                  <a:pt x="76422" y="69064"/>
                  <a:pt x="76422" y="44492"/>
                </a:cubicBezTo>
                <a:cubicBezTo>
                  <a:pt x="76422" y="19920"/>
                  <a:pt x="96373" y="0"/>
                  <a:pt x="120984" y="0"/>
                </a:cubicBezTo>
                <a:close/>
              </a:path>
            </a:pathLst>
          </a:cu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1" name="answer_268107">
            <a:extLst>
              <a:ext uri="{FF2B5EF4-FFF2-40B4-BE49-F238E27FC236}">
                <a16:creationId xmlns:a16="http://schemas.microsoft.com/office/drawing/2014/main" id="{0CBF252C-DD28-4C45-098C-AE6C35E912D6}"/>
              </a:ext>
            </a:extLst>
          </p:cNvPr>
          <p:cNvSpPr/>
          <p:nvPr/>
        </p:nvSpPr>
        <p:spPr>
          <a:xfrm>
            <a:off x="1261078" y="2794860"/>
            <a:ext cx="838427" cy="1063351"/>
          </a:xfrm>
          <a:custGeom>
            <a:avLst/>
            <a:gdLst>
              <a:gd name="connsiteX0" fmla="*/ 322413 w 478363"/>
              <a:gd name="connsiteY0" fmla="*/ 385963 h 606692"/>
              <a:gd name="connsiteX1" fmla="*/ 351133 w 478363"/>
              <a:gd name="connsiteY1" fmla="*/ 385963 h 606692"/>
              <a:gd name="connsiteX2" fmla="*/ 351133 w 478363"/>
              <a:gd name="connsiteY2" fmla="*/ 537275 h 606692"/>
              <a:gd name="connsiteX3" fmla="*/ 336773 w 478363"/>
              <a:gd name="connsiteY3" fmla="*/ 551580 h 606692"/>
              <a:gd name="connsiteX4" fmla="*/ 322413 w 478363"/>
              <a:gd name="connsiteY4" fmla="*/ 537275 h 606692"/>
              <a:gd name="connsiteX5" fmla="*/ 245920 w 478363"/>
              <a:gd name="connsiteY5" fmla="*/ 385963 h 606692"/>
              <a:gd name="connsiteX6" fmla="*/ 300467 w 478363"/>
              <a:gd name="connsiteY6" fmla="*/ 385963 h 606692"/>
              <a:gd name="connsiteX7" fmla="*/ 300467 w 478363"/>
              <a:gd name="connsiteY7" fmla="*/ 558452 h 606692"/>
              <a:gd name="connsiteX8" fmla="*/ 273149 w 478363"/>
              <a:gd name="connsiteY8" fmla="*/ 585734 h 606692"/>
              <a:gd name="connsiteX9" fmla="*/ 245920 w 478363"/>
              <a:gd name="connsiteY9" fmla="*/ 558452 h 606692"/>
              <a:gd name="connsiteX10" fmla="*/ 179518 w 478363"/>
              <a:gd name="connsiteY10" fmla="*/ 385963 h 606692"/>
              <a:gd name="connsiteX11" fmla="*/ 234065 w 478363"/>
              <a:gd name="connsiteY11" fmla="*/ 385963 h 606692"/>
              <a:gd name="connsiteX12" fmla="*/ 234065 w 478363"/>
              <a:gd name="connsiteY12" fmla="*/ 558452 h 606692"/>
              <a:gd name="connsiteX13" fmla="*/ 206747 w 478363"/>
              <a:gd name="connsiteY13" fmla="*/ 585734 h 606692"/>
              <a:gd name="connsiteX14" fmla="*/ 179518 w 478363"/>
              <a:gd name="connsiteY14" fmla="*/ 558452 h 606692"/>
              <a:gd name="connsiteX15" fmla="*/ 126806 w 478363"/>
              <a:gd name="connsiteY15" fmla="*/ 385963 h 606692"/>
              <a:gd name="connsiteX16" fmla="*/ 155456 w 478363"/>
              <a:gd name="connsiteY16" fmla="*/ 385963 h 606692"/>
              <a:gd name="connsiteX17" fmla="*/ 155456 w 478363"/>
              <a:gd name="connsiteY17" fmla="*/ 537275 h 606692"/>
              <a:gd name="connsiteX18" fmla="*/ 141131 w 478363"/>
              <a:gd name="connsiteY18" fmla="*/ 551580 h 606692"/>
              <a:gd name="connsiteX19" fmla="*/ 126806 w 478363"/>
              <a:gd name="connsiteY19" fmla="*/ 537275 h 606692"/>
              <a:gd name="connsiteX20" fmla="*/ 13795 w 478363"/>
              <a:gd name="connsiteY20" fmla="*/ 337626 h 606692"/>
              <a:gd name="connsiteX21" fmla="*/ 464569 w 478363"/>
              <a:gd name="connsiteY21" fmla="*/ 337626 h 606692"/>
              <a:gd name="connsiteX22" fmla="*/ 478363 w 478363"/>
              <a:gd name="connsiteY22" fmla="*/ 351399 h 606692"/>
              <a:gd name="connsiteX23" fmla="*/ 464569 w 478363"/>
              <a:gd name="connsiteY23" fmla="*/ 365172 h 606692"/>
              <a:gd name="connsiteX24" fmla="*/ 450952 w 478363"/>
              <a:gd name="connsiteY24" fmla="*/ 365172 h 606692"/>
              <a:gd name="connsiteX25" fmla="*/ 450952 w 478363"/>
              <a:gd name="connsiteY25" fmla="*/ 585543 h 606692"/>
              <a:gd name="connsiteX26" fmla="*/ 429770 w 478363"/>
              <a:gd name="connsiteY26" fmla="*/ 606692 h 606692"/>
              <a:gd name="connsiteX27" fmla="*/ 408589 w 478363"/>
              <a:gd name="connsiteY27" fmla="*/ 585543 h 606692"/>
              <a:gd name="connsiteX28" fmla="*/ 408589 w 478363"/>
              <a:gd name="connsiteY28" fmla="*/ 365172 h 606692"/>
              <a:gd name="connsiteX29" fmla="*/ 71020 w 478363"/>
              <a:gd name="connsiteY29" fmla="*/ 365172 h 606692"/>
              <a:gd name="connsiteX30" fmla="*/ 71020 w 478363"/>
              <a:gd name="connsiteY30" fmla="*/ 585543 h 606692"/>
              <a:gd name="connsiteX31" fmla="*/ 49839 w 478363"/>
              <a:gd name="connsiteY31" fmla="*/ 606692 h 606692"/>
              <a:gd name="connsiteX32" fmla="*/ 28658 w 478363"/>
              <a:gd name="connsiteY32" fmla="*/ 585543 h 606692"/>
              <a:gd name="connsiteX33" fmla="*/ 28658 w 478363"/>
              <a:gd name="connsiteY33" fmla="*/ 365172 h 606692"/>
              <a:gd name="connsiteX34" fmla="*/ 13795 w 478363"/>
              <a:gd name="connsiteY34" fmla="*/ 365172 h 606692"/>
              <a:gd name="connsiteX35" fmla="*/ 0 w 478363"/>
              <a:gd name="connsiteY35" fmla="*/ 351399 h 606692"/>
              <a:gd name="connsiteX36" fmla="*/ 13795 w 478363"/>
              <a:gd name="connsiteY36" fmla="*/ 337626 h 606692"/>
              <a:gd name="connsiteX37" fmla="*/ 239958 w 478363"/>
              <a:gd name="connsiteY37" fmla="*/ 69548 h 606692"/>
              <a:gd name="connsiteX38" fmla="*/ 287131 w 478363"/>
              <a:gd name="connsiteY38" fmla="*/ 116651 h 606692"/>
              <a:gd name="connsiteX39" fmla="*/ 239958 w 478363"/>
              <a:gd name="connsiteY39" fmla="*/ 163754 h 606692"/>
              <a:gd name="connsiteX40" fmla="*/ 192785 w 478363"/>
              <a:gd name="connsiteY40" fmla="*/ 116651 h 606692"/>
              <a:gd name="connsiteX41" fmla="*/ 239958 w 478363"/>
              <a:gd name="connsiteY41" fmla="*/ 69548 h 606692"/>
              <a:gd name="connsiteX42" fmla="*/ 369130 w 478363"/>
              <a:gd name="connsiteY42" fmla="*/ 1049 h 606692"/>
              <a:gd name="connsiteX43" fmla="*/ 386453 w 478363"/>
              <a:gd name="connsiteY43" fmla="*/ 2571 h 606692"/>
              <a:gd name="connsiteX44" fmla="*/ 396155 w 478363"/>
              <a:gd name="connsiteY44" fmla="*/ 33229 h 606692"/>
              <a:gd name="connsiteX45" fmla="*/ 300026 w 478363"/>
              <a:gd name="connsiteY45" fmla="*/ 216109 h 606692"/>
              <a:gd name="connsiteX46" fmla="*/ 300026 w 478363"/>
              <a:gd name="connsiteY46" fmla="*/ 316880 h 606692"/>
              <a:gd name="connsiteX47" fmla="*/ 236741 w 478363"/>
              <a:gd name="connsiteY47" fmla="*/ 316880 h 606692"/>
              <a:gd name="connsiteX48" fmla="*/ 243328 w 478363"/>
              <a:gd name="connsiteY48" fmla="*/ 293776 h 606692"/>
              <a:gd name="connsiteX49" fmla="*/ 199714 w 478363"/>
              <a:gd name="connsiteY49" fmla="*/ 250410 h 606692"/>
              <a:gd name="connsiteX50" fmla="*/ 199625 w 478363"/>
              <a:gd name="connsiteY50" fmla="*/ 250410 h 606692"/>
              <a:gd name="connsiteX51" fmla="*/ 179420 w 478363"/>
              <a:gd name="connsiteY51" fmla="*/ 250410 h 606692"/>
              <a:gd name="connsiteX52" fmla="*/ 179420 w 478363"/>
              <a:gd name="connsiteY52" fmla="*/ 235570 h 606692"/>
              <a:gd name="connsiteX53" fmla="*/ 174257 w 478363"/>
              <a:gd name="connsiteY53" fmla="*/ 228905 h 606692"/>
              <a:gd name="connsiteX54" fmla="*/ 166603 w 478363"/>
              <a:gd name="connsiteY54" fmla="*/ 232460 h 606692"/>
              <a:gd name="connsiteX55" fmla="*/ 166425 w 478363"/>
              <a:gd name="connsiteY55" fmla="*/ 232815 h 606692"/>
              <a:gd name="connsiteX56" fmla="*/ 148178 w 478363"/>
              <a:gd name="connsiteY56" fmla="*/ 271293 h 606692"/>
              <a:gd name="connsiteX57" fmla="*/ 199625 w 478363"/>
              <a:gd name="connsiteY57" fmla="*/ 271204 h 606692"/>
              <a:gd name="connsiteX58" fmla="*/ 199714 w 478363"/>
              <a:gd name="connsiteY58" fmla="*/ 271204 h 606692"/>
              <a:gd name="connsiteX59" fmla="*/ 222500 w 478363"/>
              <a:gd name="connsiteY59" fmla="*/ 293864 h 606692"/>
              <a:gd name="connsiteX60" fmla="*/ 199803 w 478363"/>
              <a:gd name="connsiteY60" fmla="*/ 316613 h 606692"/>
              <a:gd name="connsiteX61" fmla="*/ 112219 w 478363"/>
              <a:gd name="connsiteY61" fmla="*/ 316880 h 606692"/>
              <a:gd name="connsiteX62" fmla="*/ 91569 w 478363"/>
              <a:gd name="connsiteY62" fmla="*/ 284445 h 606692"/>
              <a:gd name="connsiteX63" fmla="*/ 125214 w 478363"/>
              <a:gd name="connsiteY63" fmla="*/ 213443 h 606692"/>
              <a:gd name="connsiteX64" fmla="*/ 179954 w 478363"/>
              <a:gd name="connsiteY64" fmla="*/ 178787 h 606692"/>
              <a:gd name="connsiteX65" fmla="*/ 268784 w 478363"/>
              <a:gd name="connsiteY65" fmla="*/ 178787 h 606692"/>
              <a:gd name="connsiteX66" fmla="*/ 355745 w 478363"/>
              <a:gd name="connsiteY66" fmla="*/ 12257 h 606692"/>
              <a:gd name="connsiteX67" fmla="*/ 369130 w 478363"/>
              <a:gd name="connsiteY67" fmla="*/ 1049 h 606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478363" h="606692">
                <a:moveTo>
                  <a:pt x="322413" y="385963"/>
                </a:moveTo>
                <a:lnTo>
                  <a:pt x="351133" y="385963"/>
                </a:lnTo>
                <a:lnTo>
                  <a:pt x="351133" y="537275"/>
                </a:lnTo>
                <a:cubicBezTo>
                  <a:pt x="351133" y="545183"/>
                  <a:pt x="344711" y="551580"/>
                  <a:pt x="336773" y="551580"/>
                </a:cubicBezTo>
                <a:cubicBezTo>
                  <a:pt x="328835" y="551580"/>
                  <a:pt x="322413" y="545183"/>
                  <a:pt x="322413" y="537275"/>
                </a:cubicBezTo>
                <a:close/>
                <a:moveTo>
                  <a:pt x="245920" y="385963"/>
                </a:moveTo>
                <a:lnTo>
                  <a:pt x="300467" y="385963"/>
                </a:lnTo>
                <a:lnTo>
                  <a:pt x="300467" y="558452"/>
                </a:lnTo>
                <a:cubicBezTo>
                  <a:pt x="300467" y="573559"/>
                  <a:pt x="288276" y="585734"/>
                  <a:pt x="273149" y="585734"/>
                </a:cubicBezTo>
                <a:cubicBezTo>
                  <a:pt x="258111" y="585734"/>
                  <a:pt x="245920" y="573559"/>
                  <a:pt x="245920" y="558452"/>
                </a:cubicBezTo>
                <a:close/>
                <a:moveTo>
                  <a:pt x="179518" y="385963"/>
                </a:moveTo>
                <a:lnTo>
                  <a:pt x="234065" y="385963"/>
                </a:lnTo>
                <a:lnTo>
                  <a:pt x="234065" y="558452"/>
                </a:lnTo>
                <a:cubicBezTo>
                  <a:pt x="234065" y="573559"/>
                  <a:pt x="221874" y="585734"/>
                  <a:pt x="206747" y="585734"/>
                </a:cubicBezTo>
                <a:cubicBezTo>
                  <a:pt x="191709" y="585734"/>
                  <a:pt x="179518" y="573559"/>
                  <a:pt x="179518" y="558452"/>
                </a:cubicBezTo>
                <a:close/>
                <a:moveTo>
                  <a:pt x="126806" y="385963"/>
                </a:moveTo>
                <a:lnTo>
                  <a:pt x="155456" y="385963"/>
                </a:lnTo>
                <a:lnTo>
                  <a:pt x="155456" y="537275"/>
                </a:lnTo>
                <a:cubicBezTo>
                  <a:pt x="155456" y="545183"/>
                  <a:pt x="149050" y="551580"/>
                  <a:pt x="141131" y="551580"/>
                </a:cubicBezTo>
                <a:cubicBezTo>
                  <a:pt x="133212" y="551580"/>
                  <a:pt x="126806" y="545183"/>
                  <a:pt x="126806" y="537275"/>
                </a:cubicBezTo>
                <a:close/>
                <a:moveTo>
                  <a:pt x="13795" y="337626"/>
                </a:moveTo>
                <a:lnTo>
                  <a:pt x="464569" y="337626"/>
                </a:lnTo>
                <a:cubicBezTo>
                  <a:pt x="472133" y="337626"/>
                  <a:pt x="478363" y="343846"/>
                  <a:pt x="478363" y="351399"/>
                </a:cubicBezTo>
                <a:cubicBezTo>
                  <a:pt x="478363" y="359041"/>
                  <a:pt x="472133" y="365172"/>
                  <a:pt x="464569" y="365172"/>
                </a:cubicBezTo>
                <a:lnTo>
                  <a:pt x="450952" y="365172"/>
                </a:lnTo>
                <a:lnTo>
                  <a:pt x="450952" y="585543"/>
                </a:lnTo>
                <a:cubicBezTo>
                  <a:pt x="450952" y="597184"/>
                  <a:pt x="441429" y="606692"/>
                  <a:pt x="429770" y="606692"/>
                </a:cubicBezTo>
                <a:cubicBezTo>
                  <a:pt x="418023" y="606692"/>
                  <a:pt x="408589" y="597184"/>
                  <a:pt x="408589" y="585543"/>
                </a:cubicBezTo>
                <a:lnTo>
                  <a:pt x="408589" y="365172"/>
                </a:lnTo>
                <a:lnTo>
                  <a:pt x="71020" y="365172"/>
                </a:lnTo>
                <a:lnTo>
                  <a:pt x="71020" y="585543"/>
                </a:lnTo>
                <a:cubicBezTo>
                  <a:pt x="71020" y="597184"/>
                  <a:pt x="61498" y="606692"/>
                  <a:pt x="49839" y="606692"/>
                </a:cubicBezTo>
                <a:cubicBezTo>
                  <a:pt x="38091" y="606692"/>
                  <a:pt x="28658" y="597184"/>
                  <a:pt x="28658" y="585543"/>
                </a:cubicBezTo>
                <a:lnTo>
                  <a:pt x="28658" y="365172"/>
                </a:lnTo>
                <a:lnTo>
                  <a:pt x="13795" y="365172"/>
                </a:lnTo>
                <a:cubicBezTo>
                  <a:pt x="6141" y="365172"/>
                  <a:pt x="0" y="359041"/>
                  <a:pt x="0" y="351399"/>
                </a:cubicBezTo>
                <a:cubicBezTo>
                  <a:pt x="0" y="343846"/>
                  <a:pt x="6141" y="337626"/>
                  <a:pt x="13795" y="337626"/>
                </a:cubicBezTo>
                <a:close/>
                <a:moveTo>
                  <a:pt x="239958" y="69548"/>
                </a:moveTo>
                <a:cubicBezTo>
                  <a:pt x="266011" y="69548"/>
                  <a:pt x="287131" y="90637"/>
                  <a:pt x="287131" y="116651"/>
                </a:cubicBezTo>
                <a:cubicBezTo>
                  <a:pt x="287131" y="142665"/>
                  <a:pt x="266011" y="163754"/>
                  <a:pt x="239958" y="163754"/>
                </a:cubicBezTo>
                <a:cubicBezTo>
                  <a:pt x="213905" y="163754"/>
                  <a:pt x="192785" y="142665"/>
                  <a:pt x="192785" y="116651"/>
                </a:cubicBezTo>
                <a:cubicBezTo>
                  <a:pt x="192785" y="90637"/>
                  <a:pt x="213905" y="69548"/>
                  <a:pt x="239958" y="69548"/>
                </a:cubicBezTo>
                <a:close/>
                <a:moveTo>
                  <a:pt x="369130" y="1049"/>
                </a:moveTo>
                <a:cubicBezTo>
                  <a:pt x="374682" y="-695"/>
                  <a:pt x="380890" y="-317"/>
                  <a:pt x="386453" y="2571"/>
                </a:cubicBezTo>
                <a:cubicBezTo>
                  <a:pt x="397579" y="8347"/>
                  <a:pt x="401940" y="22121"/>
                  <a:pt x="396155" y="33229"/>
                </a:cubicBezTo>
                <a:cubicBezTo>
                  <a:pt x="295130" y="226595"/>
                  <a:pt x="302340" y="213354"/>
                  <a:pt x="300026" y="216109"/>
                </a:cubicBezTo>
                <a:lnTo>
                  <a:pt x="300026" y="316880"/>
                </a:lnTo>
                <a:lnTo>
                  <a:pt x="236741" y="316880"/>
                </a:lnTo>
                <a:cubicBezTo>
                  <a:pt x="240925" y="310126"/>
                  <a:pt x="243328" y="302306"/>
                  <a:pt x="243328" y="293776"/>
                </a:cubicBezTo>
                <a:cubicBezTo>
                  <a:pt x="243239" y="269783"/>
                  <a:pt x="223746" y="250410"/>
                  <a:pt x="199714" y="250410"/>
                </a:cubicBezTo>
                <a:lnTo>
                  <a:pt x="199625" y="250410"/>
                </a:lnTo>
                <a:lnTo>
                  <a:pt x="179420" y="250410"/>
                </a:lnTo>
                <a:lnTo>
                  <a:pt x="179420" y="235570"/>
                </a:lnTo>
                <a:cubicBezTo>
                  <a:pt x="179420" y="232371"/>
                  <a:pt x="177284" y="229616"/>
                  <a:pt x="174257" y="228905"/>
                </a:cubicBezTo>
                <a:cubicBezTo>
                  <a:pt x="171142" y="228195"/>
                  <a:pt x="168027" y="229616"/>
                  <a:pt x="166603" y="232460"/>
                </a:cubicBezTo>
                <a:cubicBezTo>
                  <a:pt x="166514" y="232549"/>
                  <a:pt x="166425" y="232727"/>
                  <a:pt x="166425" y="232815"/>
                </a:cubicBezTo>
                <a:cubicBezTo>
                  <a:pt x="156278" y="254231"/>
                  <a:pt x="158414" y="249611"/>
                  <a:pt x="148178" y="271293"/>
                </a:cubicBezTo>
                <a:lnTo>
                  <a:pt x="199625" y="271204"/>
                </a:lnTo>
                <a:lnTo>
                  <a:pt x="199714" y="271204"/>
                </a:lnTo>
                <a:cubicBezTo>
                  <a:pt x="212264" y="271204"/>
                  <a:pt x="222411" y="281335"/>
                  <a:pt x="222500" y="293864"/>
                </a:cubicBezTo>
                <a:cubicBezTo>
                  <a:pt x="222500" y="306394"/>
                  <a:pt x="212353" y="316613"/>
                  <a:pt x="199803" y="316613"/>
                </a:cubicBezTo>
                <a:lnTo>
                  <a:pt x="112219" y="316880"/>
                </a:lnTo>
                <a:cubicBezTo>
                  <a:pt x="95485" y="316880"/>
                  <a:pt x="84537" y="299463"/>
                  <a:pt x="91569" y="284445"/>
                </a:cubicBezTo>
                <a:cubicBezTo>
                  <a:pt x="95218" y="276803"/>
                  <a:pt x="120942" y="222507"/>
                  <a:pt x="125214" y="213443"/>
                </a:cubicBezTo>
                <a:cubicBezTo>
                  <a:pt x="135183" y="192383"/>
                  <a:pt x="156723" y="178787"/>
                  <a:pt x="179954" y="178787"/>
                </a:cubicBezTo>
                <a:lnTo>
                  <a:pt x="268784" y="178787"/>
                </a:lnTo>
                <a:lnTo>
                  <a:pt x="355745" y="12257"/>
                </a:lnTo>
                <a:cubicBezTo>
                  <a:pt x="358682" y="6659"/>
                  <a:pt x="363578" y="2793"/>
                  <a:pt x="369130" y="1049"/>
                </a:cubicBezTo>
                <a:close/>
              </a:path>
            </a:pathLst>
          </a:cu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peech-bubble-with-question-mark_65814">
            <a:extLst>
              <a:ext uri="{FF2B5EF4-FFF2-40B4-BE49-F238E27FC236}">
                <a16:creationId xmlns:a16="http://schemas.microsoft.com/office/drawing/2014/main" id="{76B1D391-3436-3EEF-0D43-3DA98E23BD39}"/>
              </a:ext>
            </a:extLst>
          </p:cNvPr>
          <p:cNvSpPr/>
          <p:nvPr/>
        </p:nvSpPr>
        <p:spPr>
          <a:xfrm>
            <a:off x="1049993" y="2262907"/>
            <a:ext cx="609685" cy="531953"/>
          </a:xfrm>
          <a:custGeom>
            <a:avLst/>
            <a:gdLst>
              <a:gd name="T0" fmla="*/ 554 w 619"/>
              <a:gd name="T1" fmla="*/ 0 h 541"/>
              <a:gd name="T2" fmla="*/ 65 w 619"/>
              <a:gd name="T3" fmla="*/ 0 h 541"/>
              <a:gd name="T4" fmla="*/ 0 w 619"/>
              <a:gd name="T5" fmla="*/ 64 h 541"/>
              <a:gd name="T6" fmla="*/ 0 w 619"/>
              <a:gd name="T7" fmla="*/ 385 h 541"/>
              <a:gd name="T8" fmla="*/ 65 w 619"/>
              <a:gd name="T9" fmla="*/ 450 h 541"/>
              <a:gd name="T10" fmla="*/ 437 w 619"/>
              <a:gd name="T11" fmla="*/ 450 h 541"/>
              <a:gd name="T12" fmla="*/ 508 w 619"/>
              <a:gd name="T13" fmla="*/ 522 h 541"/>
              <a:gd name="T14" fmla="*/ 554 w 619"/>
              <a:gd name="T15" fmla="*/ 541 h 541"/>
              <a:gd name="T16" fmla="*/ 579 w 619"/>
              <a:gd name="T17" fmla="*/ 536 h 541"/>
              <a:gd name="T18" fmla="*/ 619 w 619"/>
              <a:gd name="T19" fmla="*/ 476 h 541"/>
              <a:gd name="T20" fmla="*/ 619 w 619"/>
              <a:gd name="T21" fmla="*/ 64 h 541"/>
              <a:gd name="T22" fmla="*/ 554 w 619"/>
              <a:gd name="T23" fmla="*/ 0 h 541"/>
              <a:gd name="T24" fmla="*/ 339 w 619"/>
              <a:gd name="T25" fmla="*/ 356 h 541"/>
              <a:gd name="T26" fmla="*/ 298 w 619"/>
              <a:gd name="T27" fmla="*/ 395 h 541"/>
              <a:gd name="T28" fmla="*/ 258 w 619"/>
              <a:gd name="T29" fmla="*/ 356 h 541"/>
              <a:gd name="T30" fmla="*/ 258 w 619"/>
              <a:gd name="T31" fmla="*/ 355 h 541"/>
              <a:gd name="T32" fmla="*/ 298 w 619"/>
              <a:gd name="T33" fmla="*/ 315 h 541"/>
              <a:gd name="T34" fmla="*/ 339 w 619"/>
              <a:gd name="T35" fmla="*/ 355 h 541"/>
              <a:gd name="T36" fmla="*/ 339 w 619"/>
              <a:gd name="T37" fmla="*/ 356 h 541"/>
              <a:gd name="T38" fmla="*/ 420 w 619"/>
              <a:gd name="T39" fmla="*/ 161 h 541"/>
              <a:gd name="T40" fmla="*/ 328 w 619"/>
              <a:gd name="T41" fmla="*/ 254 h 541"/>
              <a:gd name="T42" fmla="*/ 327 w 619"/>
              <a:gd name="T43" fmla="*/ 262 h 541"/>
              <a:gd name="T44" fmla="*/ 302 w 619"/>
              <a:gd name="T45" fmla="*/ 285 h 541"/>
              <a:gd name="T46" fmla="*/ 298 w 619"/>
              <a:gd name="T47" fmla="*/ 285 h 541"/>
              <a:gd name="T48" fmla="*/ 273 w 619"/>
              <a:gd name="T49" fmla="*/ 262 h 541"/>
              <a:gd name="T50" fmla="*/ 269 w 619"/>
              <a:gd name="T51" fmla="*/ 231 h 541"/>
              <a:gd name="T52" fmla="*/ 290 w 619"/>
              <a:gd name="T53" fmla="*/ 203 h 541"/>
              <a:gd name="T54" fmla="*/ 349 w 619"/>
              <a:gd name="T55" fmla="*/ 162 h 541"/>
              <a:gd name="T56" fmla="*/ 349 w 619"/>
              <a:gd name="T57" fmla="*/ 161 h 541"/>
              <a:gd name="T58" fmla="*/ 306 w 619"/>
              <a:gd name="T59" fmla="*/ 128 h 541"/>
              <a:gd name="T60" fmla="*/ 252 w 619"/>
              <a:gd name="T61" fmla="*/ 147 h 541"/>
              <a:gd name="T62" fmla="*/ 232 w 619"/>
              <a:gd name="T63" fmla="*/ 154 h 541"/>
              <a:gd name="T64" fmla="*/ 199 w 619"/>
              <a:gd name="T65" fmla="*/ 122 h 541"/>
              <a:gd name="T66" fmla="*/ 211 w 619"/>
              <a:gd name="T67" fmla="*/ 97 h 541"/>
              <a:gd name="T68" fmla="*/ 308 w 619"/>
              <a:gd name="T69" fmla="*/ 64 h 541"/>
              <a:gd name="T70" fmla="*/ 420 w 619"/>
              <a:gd name="T71" fmla="*/ 160 h 541"/>
              <a:gd name="T72" fmla="*/ 420 w 619"/>
              <a:gd name="T73" fmla="*/ 161 h 541"/>
              <a:gd name="T74" fmla="*/ 420 w 619"/>
              <a:gd name="T75" fmla="*/ 161 h 5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619" h="541">
                <a:moveTo>
                  <a:pt x="554" y="0"/>
                </a:moveTo>
                <a:lnTo>
                  <a:pt x="65" y="0"/>
                </a:lnTo>
                <a:cubicBezTo>
                  <a:pt x="29" y="0"/>
                  <a:pt x="0" y="29"/>
                  <a:pt x="0" y="64"/>
                </a:cubicBezTo>
                <a:lnTo>
                  <a:pt x="0" y="385"/>
                </a:lnTo>
                <a:cubicBezTo>
                  <a:pt x="0" y="421"/>
                  <a:pt x="29" y="450"/>
                  <a:pt x="65" y="450"/>
                </a:cubicBezTo>
                <a:lnTo>
                  <a:pt x="437" y="450"/>
                </a:lnTo>
                <a:lnTo>
                  <a:pt x="508" y="522"/>
                </a:lnTo>
                <a:cubicBezTo>
                  <a:pt x="520" y="535"/>
                  <a:pt x="537" y="541"/>
                  <a:pt x="554" y="541"/>
                </a:cubicBezTo>
                <a:cubicBezTo>
                  <a:pt x="562" y="541"/>
                  <a:pt x="571" y="540"/>
                  <a:pt x="579" y="536"/>
                </a:cubicBezTo>
                <a:cubicBezTo>
                  <a:pt x="603" y="526"/>
                  <a:pt x="619" y="503"/>
                  <a:pt x="619" y="476"/>
                </a:cubicBezTo>
                <a:lnTo>
                  <a:pt x="619" y="64"/>
                </a:lnTo>
                <a:cubicBezTo>
                  <a:pt x="619" y="29"/>
                  <a:pt x="590" y="0"/>
                  <a:pt x="554" y="0"/>
                </a:cubicBezTo>
                <a:close/>
                <a:moveTo>
                  <a:pt x="339" y="356"/>
                </a:moveTo>
                <a:cubicBezTo>
                  <a:pt x="339" y="378"/>
                  <a:pt x="322" y="395"/>
                  <a:pt x="298" y="395"/>
                </a:cubicBezTo>
                <a:cubicBezTo>
                  <a:pt x="275" y="395"/>
                  <a:pt x="258" y="378"/>
                  <a:pt x="258" y="356"/>
                </a:cubicBezTo>
                <a:lnTo>
                  <a:pt x="258" y="355"/>
                </a:lnTo>
                <a:cubicBezTo>
                  <a:pt x="258" y="333"/>
                  <a:pt x="275" y="315"/>
                  <a:pt x="298" y="315"/>
                </a:cubicBezTo>
                <a:cubicBezTo>
                  <a:pt x="322" y="315"/>
                  <a:pt x="339" y="333"/>
                  <a:pt x="339" y="355"/>
                </a:cubicBezTo>
                <a:lnTo>
                  <a:pt x="339" y="356"/>
                </a:lnTo>
                <a:close/>
                <a:moveTo>
                  <a:pt x="420" y="161"/>
                </a:moveTo>
                <a:cubicBezTo>
                  <a:pt x="420" y="219"/>
                  <a:pt x="379" y="244"/>
                  <a:pt x="328" y="254"/>
                </a:cubicBezTo>
                <a:lnTo>
                  <a:pt x="327" y="262"/>
                </a:lnTo>
                <a:cubicBezTo>
                  <a:pt x="325" y="274"/>
                  <a:pt x="315" y="285"/>
                  <a:pt x="302" y="285"/>
                </a:cubicBezTo>
                <a:lnTo>
                  <a:pt x="298" y="285"/>
                </a:lnTo>
                <a:cubicBezTo>
                  <a:pt x="285" y="285"/>
                  <a:pt x="275" y="275"/>
                  <a:pt x="273" y="262"/>
                </a:cubicBezTo>
                <a:lnTo>
                  <a:pt x="269" y="231"/>
                </a:lnTo>
                <a:cubicBezTo>
                  <a:pt x="266" y="215"/>
                  <a:pt x="275" y="205"/>
                  <a:pt x="290" y="203"/>
                </a:cubicBezTo>
                <a:cubicBezTo>
                  <a:pt x="330" y="198"/>
                  <a:pt x="349" y="185"/>
                  <a:pt x="349" y="162"/>
                </a:cubicBezTo>
                <a:lnTo>
                  <a:pt x="349" y="161"/>
                </a:lnTo>
                <a:cubicBezTo>
                  <a:pt x="349" y="141"/>
                  <a:pt x="333" y="128"/>
                  <a:pt x="306" y="128"/>
                </a:cubicBezTo>
                <a:cubicBezTo>
                  <a:pt x="286" y="128"/>
                  <a:pt x="269" y="135"/>
                  <a:pt x="252" y="147"/>
                </a:cubicBezTo>
                <a:cubicBezTo>
                  <a:pt x="247" y="151"/>
                  <a:pt x="239" y="154"/>
                  <a:pt x="232" y="154"/>
                </a:cubicBezTo>
                <a:cubicBezTo>
                  <a:pt x="214" y="154"/>
                  <a:pt x="199" y="140"/>
                  <a:pt x="199" y="122"/>
                </a:cubicBezTo>
                <a:cubicBezTo>
                  <a:pt x="199" y="113"/>
                  <a:pt x="203" y="104"/>
                  <a:pt x="211" y="97"/>
                </a:cubicBezTo>
                <a:cubicBezTo>
                  <a:pt x="236" y="77"/>
                  <a:pt x="267" y="64"/>
                  <a:pt x="308" y="64"/>
                </a:cubicBezTo>
                <a:cubicBezTo>
                  <a:pt x="374" y="64"/>
                  <a:pt x="420" y="98"/>
                  <a:pt x="420" y="160"/>
                </a:cubicBezTo>
                <a:lnTo>
                  <a:pt x="420" y="161"/>
                </a:lnTo>
                <a:lnTo>
                  <a:pt x="420" y="161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箭头: 右 9">
            <a:extLst>
              <a:ext uri="{FF2B5EF4-FFF2-40B4-BE49-F238E27FC236}">
                <a16:creationId xmlns:a16="http://schemas.microsoft.com/office/drawing/2014/main" id="{B7D00DC7-F85E-55B5-934C-5650D40FC0C6}"/>
              </a:ext>
            </a:extLst>
          </p:cNvPr>
          <p:cNvSpPr/>
          <p:nvPr/>
        </p:nvSpPr>
        <p:spPr>
          <a:xfrm rot="10800000">
            <a:off x="7458960" y="3117508"/>
            <a:ext cx="2396375" cy="687249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5" name="文本框 33">
            <a:extLst>
              <a:ext uri="{FF2B5EF4-FFF2-40B4-BE49-F238E27FC236}">
                <a16:creationId xmlns:a16="http://schemas.microsoft.com/office/drawing/2014/main" id="{71EABB88-CF06-51D0-255C-11A740EC9B24}"/>
              </a:ext>
            </a:extLst>
          </p:cNvPr>
          <p:cNvSpPr txBox="1"/>
          <p:nvPr/>
        </p:nvSpPr>
        <p:spPr>
          <a:xfrm>
            <a:off x="3531195" y="1437527"/>
            <a:ext cx="48939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/>
              <a:t>Online Q&amp;A Communities</a:t>
            </a:r>
          </a:p>
        </p:txBody>
      </p:sp>
      <p:sp>
        <p:nvSpPr>
          <p:cNvPr id="6" name="technological_376048">
            <a:extLst>
              <a:ext uri="{FF2B5EF4-FFF2-40B4-BE49-F238E27FC236}">
                <a16:creationId xmlns:a16="http://schemas.microsoft.com/office/drawing/2014/main" id="{DD54A784-2766-94E3-5D9C-DCBDCD88332C}"/>
              </a:ext>
            </a:extLst>
          </p:cNvPr>
          <p:cNvSpPr/>
          <p:nvPr/>
        </p:nvSpPr>
        <p:spPr>
          <a:xfrm>
            <a:off x="7547406" y="1642876"/>
            <a:ext cx="731386" cy="688578"/>
          </a:xfrm>
          <a:custGeom>
            <a:avLst/>
            <a:gdLst>
              <a:gd name="connsiteX0" fmla="*/ 234365 w 607639"/>
              <a:gd name="connsiteY0" fmla="*/ 415983 h 572074"/>
              <a:gd name="connsiteX1" fmla="*/ 373276 w 607639"/>
              <a:gd name="connsiteY1" fmla="*/ 415983 h 572074"/>
              <a:gd name="connsiteX2" fmla="*/ 399260 w 607639"/>
              <a:gd name="connsiteY2" fmla="*/ 442031 h 572074"/>
              <a:gd name="connsiteX3" fmla="*/ 373276 w 607639"/>
              <a:gd name="connsiteY3" fmla="*/ 467990 h 572074"/>
              <a:gd name="connsiteX4" fmla="*/ 234365 w 607639"/>
              <a:gd name="connsiteY4" fmla="*/ 467990 h 572074"/>
              <a:gd name="connsiteX5" fmla="*/ 208380 w 607639"/>
              <a:gd name="connsiteY5" fmla="*/ 442031 h 572074"/>
              <a:gd name="connsiteX6" fmla="*/ 234365 w 607639"/>
              <a:gd name="connsiteY6" fmla="*/ 415983 h 572074"/>
              <a:gd name="connsiteX7" fmla="*/ 503414 w 607639"/>
              <a:gd name="connsiteY7" fmla="*/ 364023 h 572074"/>
              <a:gd name="connsiteX8" fmla="*/ 503414 w 607639"/>
              <a:gd name="connsiteY8" fmla="*/ 416013 h 572074"/>
              <a:gd name="connsiteX9" fmla="*/ 555571 w 607639"/>
              <a:gd name="connsiteY9" fmla="*/ 416013 h 572074"/>
              <a:gd name="connsiteX10" fmla="*/ 555571 w 607639"/>
              <a:gd name="connsiteY10" fmla="*/ 364023 h 572074"/>
              <a:gd name="connsiteX11" fmla="*/ 52068 w 607639"/>
              <a:gd name="connsiteY11" fmla="*/ 364023 h 572074"/>
              <a:gd name="connsiteX12" fmla="*/ 52068 w 607639"/>
              <a:gd name="connsiteY12" fmla="*/ 416013 h 572074"/>
              <a:gd name="connsiteX13" fmla="*/ 104136 w 607639"/>
              <a:gd name="connsiteY13" fmla="*/ 416013 h 572074"/>
              <a:gd name="connsiteX14" fmla="*/ 104136 w 607639"/>
              <a:gd name="connsiteY14" fmla="*/ 364023 h 572074"/>
              <a:gd name="connsiteX15" fmla="*/ 364541 w 607639"/>
              <a:gd name="connsiteY15" fmla="*/ 311970 h 572074"/>
              <a:gd name="connsiteX16" fmla="*/ 399259 w 607639"/>
              <a:gd name="connsiteY16" fmla="*/ 346653 h 572074"/>
              <a:gd name="connsiteX17" fmla="*/ 364541 w 607639"/>
              <a:gd name="connsiteY17" fmla="*/ 381336 h 572074"/>
              <a:gd name="connsiteX18" fmla="*/ 329823 w 607639"/>
              <a:gd name="connsiteY18" fmla="*/ 346653 h 572074"/>
              <a:gd name="connsiteX19" fmla="*/ 364541 w 607639"/>
              <a:gd name="connsiteY19" fmla="*/ 311970 h 572074"/>
              <a:gd name="connsiteX20" fmla="*/ 243063 w 607639"/>
              <a:gd name="connsiteY20" fmla="*/ 311970 h 572074"/>
              <a:gd name="connsiteX21" fmla="*/ 277746 w 607639"/>
              <a:gd name="connsiteY21" fmla="*/ 346653 h 572074"/>
              <a:gd name="connsiteX22" fmla="*/ 243063 w 607639"/>
              <a:gd name="connsiteY22" fmla="*/ 381336 h 572074"/>
              <a:gd name="connsiteX23" fmla="*/ 208380 w 607639"/>
              <a:gd name="connsiteY23" fmla="*/ 346653 h 572074"/>
              <a:gd name="connsiteX24" fmla="*/ 243063 w 607639"/>
              <a:gd name="connsiteY24" fmla="*/ 311970 h 572074"/>
              <a:gd name="connsiteX25" fmla="*/ 156204 w 607639"/>
              <a:gd name="connsiteY25" fmla="*/ 260042 h 572074"/>
              <a:gd name="connsiteX26" fmla="*/ 156204 w 607639"/>
              <a:gd name="connsiteY26" fmla="*/ 337983 h 572074"/>
              <a:gd name="connsiteX27" fmla="*/ 156204 w 607639"/>
              <a:gd name="connsiteY27" fmla="*/ 442053 h 572074"/>
              <a:gd name="connsiteX28" fmla="*/ 156204 w 607639"/>
              <a:gd name="connsiteY28" fmla="*/ 519995 h 572074"/>
              <a:gd name="connsiteX29" fmla="*/ 451346 w 607639"/>
              <a:gd name="connsiteY29" fmla="*/ 519995 h 572074"/>
              <a:gd name="connsiteX30" fmla="*/ 451346 w 607639"/>
              <a:gd name="connsiteY30" fmla="*/ 442053 h 572074"/>
              <a:gd name="connsiteX31" fmla="*/ 451346 w 607639"/>
              <a:gd name="connsiteY31" fmla="*/ 337983 h 572074"/>
              <a:gd name="connsiteX32" fmla="*/ 451346 w 607639"/>
              <a:gd name="connsiteY32" fmla="*/ 260042 h 572074"/>
              <a:gd name="connsiteX33" fmla="*/ 303775 w 607639"/>
              <a:gd name="connsiteY33" fmla="*/ 51991 h 572074"/>
              <a:gd name="connsiteX34" fmla="*/ 277786 w 607639"/>
              <a:gd name="connsiteY34" fmla="*/ 78030 h 572074"/>
              <a:gd name="connsiteX35" fmla="*/ 303775 w 607639"/>
              <a:gd name="connsiteY35" fmla="*/ 103981 h 572074"/>
              <a:gd name="connsiteX36" fmla="*/ 329854 w 607639"/>
              <a:gd name="connsiteY36" fmla="*/ 78030 h 572074"/>
              <a:gd name="connsiteX37" fmla="*/ 303775 w 607639"/>
              <a:gd name="connsiteY37" fmla="*/ 51991 h 572074"/>
              <a:gd name="connsiteX38" fmla="*/ 303775 w 607639"/>
              <a:gd name="connsiteY38" fmla="*/ 0 h 572074"/>
              <a:gd name="connsiteX39" fmla="*/ 381922 w 607639"/>
              <a:gd name="connsiteY39" fmla="*/ 78030 h 572074"/>
              <a:gd name="connsiteX40" fmla="*/ 329854 w 607639"/>
              <a:gd name="connsiteY40" fmla="*/ 151528 h 572074"/>
              <a:gd name="connsiteX41" fmla="*/ 329854 w 607639"/>
              <a:gd name="connsiteY41" fmla="*/ 208051 h 572074"/>
              <a:gd name="connsiteX42" fmla="*/ 477425 w 607639"/>
              <a:gd name="connsiteY42" fmla="*/ 208051 h 572074"/>
              <a:gd name="connsiteX43" fmla="*/ 503414 w 607639"/>
              <a:gd name="connsiteY43" fmla="*/ 234002 h 572074"/>
              <a:gd name="connsiteX44" fmla="*/ 503414 w 607639"/>
              <a:gd name="connsiteY44" fmla="*/ 312032 h 572074"/>
              <a:gd name="connsiteX45" fmla="*/ 581561 w 607639"/>
              <a:gd name="connsiteY45" fmla="*/ 312032 h 572074"/>
              <a:gd name="connsiteX46" fmla="*/ 607639 w 607639"/>
              <a:gd name="connsiteY46" fmla="*/ 337983 h 572074"/>
              <a:gd name="connsiteX47" fmla="*/ 607639 w 607639"/>
              <a:gd name="connsiteY47" fmla="*/ 442053 h 572074"/>
              <a:gd name="connsiteX48" fmla="*/ 581561 w 607639"/>
              <a:gd name="connsiteY48" fmla="*/ 468004 h 572074"/>
              <a:gd name="connsiteX49" fmla="*/ 503414 w 607639"/>
              <a:gd name="connsiteY49" fmla="*/ 468004 h 572074"/>
              <a:gd name="connsiteX50" fmla="*/ 503414 w 607639"/>
              <a:gd name="connsiteY50" fmla="*/ 546034 h 572074"/>
              <a:gd name="connsiteX51" fmla="*/ 477425 w 607639"/>
              <a:gd name="connsiteY51" fmla="*/ 572074 h 572074"/>
              <a:gd name="connsiteX52" fmla="*/ 130214 w 607639"/>
              <a:gd name="connsiteY52" fmla="*/ 572074 h 572074"/>
              <a:gd name="connsiteX53" fmla="*/ 104136 w 607639"/>
              <a:gd name="connsiteY53" fmla="*/ 546034 h 572074"/>
              <a:gd name="connsiteX54" fmla="*/ 104136 w 607639"/>
              <a:gd name="connsiteY54" fmla="*/ 468004 h 572074"/>
              <a:gd name="connsiteX55" fmla="*/ 26078 w 607639"/>
              <a:gd name="connsiteY55" fmla="*/ 468004 h 572074"/>
              <a:gd name="connsiteX56" fmla="*/ 0 w 607639"/>
              <a:gd name="connsiteY56" fmla="*/ 442053 h 572074"/>
              <a:gd name="connsiteX57" fmla="*/ 0 w 607639"/>
              <a:gd name="connsiteY57" fmla="*/ 337983 h 572074"/>
              <a:gd name="connsiteX58" fmla="*/ 26078 w 607639"/>
              <a:gd name="connsiteY58" fmla="*/ 312032 h 572074"/>
              <a:gd name="connsiteX59" fmla="*/ 104136 w 607639"/>
              <a:gd name="connsiteY59" fmla="*/ 312032 h 572074"/>
              <a:gd name="connsiteX60" fmla="*/ 104136 w 607639"/>
              <a:gd name="connsiteY60" fmla="*/ 234002 h 572074"/>
              <a:gd name="connsiteX61" fmla="*/ 130214 w 607639"/>
              <a:gd name="connsiteY61" fmla="*/ 208051 h 572074"/>
              <a:gd name="connsiteX62" fmla="*/ 277786 w 607639"/>
              <a:gd name="connsiteY62" fmla="*/ 208051 h 572074"/>
              <a:gd name="connsiteX63" fmla="*/ 277786 w 607639"/>
              <a:gd name="connsiteY63" fmla="*/ 151528 h 572074"/>
              <a:gd name="connsiteX64" fmla="*/ 225718 w 607639"/>
              <a:gd name="connsiteY64" fmla="*/ 78030 h 572074"/>
              <a:gd name="connsiteX65" fmla="*/ 303775 w 607639"/>
              <a:gd name="connsiteY65" fmla="*/ 0 h 572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607639" h="572074">
                <a:moveTo>
                  <a:pt x="234365" y="415983"/>
                </a:moveTo>
                <a:lnTo>
                  <a:pt x="373276" y="415983"/>
                </a:lnTo>
                <a:cubicBezTo>
                  <a:pt x="387603" y="415983"/>
                  <a:pt x="399260" y="427629"/>
                  <a:pt x="399260" y="442031"/>
                </a:cubicBezTo>
                <a:cubicBezTo>
                  <a:pt x="399260" y="456344"/>
                  <a:pt x="387603" y="467990"/>
                  <a:pt x="373276" y="467990"/>
                </a:cubicBezTo>
                <a:lnTo>
                  <a:pt x="234365" y="467990"/>
                </a:lnTo>
                <a:cubicBezTo>
                  <a:pt x="220038" y="467990"/>
                  <a:pt x="208380" y="456344"/>
                  <a:pt x="208380" y="442031"/>
                </a:cubicBezTo>
                <a:cubicBezTo>
                  <a:pt x="208380" y="427629"/>
                  <a:pt x="220038" y="415983"/>
                  <a:pt x="234365" y="415983"/>
                </a:cubicBezTo>
                <a:close/>
                <a:moveTo>
                  <a:pt x="503414" y="364023"/>
                </a:moveTo>
                <a:lnTo>
                  <a:pt x="503414" y="416013"/>
                </a:lnTo>
                <a:lnTo>
                  <a:pt x="555571" y="416013"/>
                </a:lnTo>
                <a:lnTo>
                  <a:pt x="555571" y="364023"/>
                </a:lnTo>
                <a:close/>
                <a:moveTo>
                  <a:pt x="52068" y="364023"/>
                </a:moveTo>
                <a:lnTo>
                  <a:pt x="52068" y="416013"/>
                </a:lnTo>
                <a:lnTo>
                  <a:pt x="104136" y="416013"/>
                </a:lnTo>
                <a:lnTo>
                  <a:pt x="104136" y="364023"/>
                </a:lnTo>
                <a:close/>
                <a:moveTo>
                  <a:pt x="364541" y="311970"/>
                </a:moveTo>
                <a:cubicBezTo>
                  <a:pt x="383715" y="311970"/>
                  <a:pt x="399259" y="327498"/>
                  <a:pt x="399259" y="346653"/>
                </a:cubicBezTo>
                <a:cubicBezTo>
                  <a:pt x="399259" y="365808"/>
                  <a:pt x="383715" y="381336"/>
                  <a:pt x="364541" y="381336"/>
                </a:cubicBezTo>
                <a:cubicBezTo>
                  <a:pt x="345367" y="381336"/>
                  <a:pt x="329823" y="365808"/>
                  <a:pt x="329823" y="346653"/>
                </a:cubicBezTo>
                <a:cubicBezTo>
                  <a:pt x="329823" y="327498"/>
                  <a:pt x="345367" y="311970"/>
                  <a:pt x="364541" y="311970"/>
                </a:cubicBezTo>
                <a:close/>
                <a:moveTo>
                  <a:pt x="243063" y="311970"/>
                </a:moveTo>
                <a:cubicBezTo>
                  <a:pt x="262218" y="311970"/>
                  <a:pt x="277746" y="327498"/>
                  <a:pt x="277746" y="346653"/>
                </a:cubicBezTo>
                <a:cubicBezTo>
                  <a:pt x="277746" y="365808"/>
                  <a:pt x="262218" y="381336"/>
                  <a:pt x="243063" y="381336"/>
                </a:cubicBezTo>
                <a:cubicBezTo>
                  <a:pt x="223908" y="381336"/>
                  <a:pt x="208380" y="365808"/>
                  <a:pt x="208380" y="346653"/>
                </a:cubicBezTo>
                <a:cubicBezTo>
                  <a:pt x="208380" y="327498"/>
                  <a:pt x="223908" y="311970"/>
                  <a:pt x="243063" y="311970"/>
                </a:cubicBezTo>
                <a:close/>
                <a:moveTo>
                  <a:pt x="156204" y="260042"/>
                </a:moveTo>
                <a:lnTo>
                  <a:pt x="156204" y="337983"/>
                </a:lnTo>
                <a:lnTo>
                  <a:pt x="156204" y="442053"/>
                </a:lnTo>
                <a:lnTo>
                  <a:pt x="156204" y="519995"/>
                </a:lnTo>
                <a:lnTo>
                  <a:pt x="451346" y="519995"/>
                </a:lnTo>
                <a:lnTo>
                  <a:pt x="451346" y="442053"/>
                </a:lnTo>
                <a:lnTo>
                  <a:pt x="451346" y="337983"/>
                </a:lnTo>
                <a:lnTo>
                  <a:pt x="451346" y="260042"/>
                </a:lnTo>
                <a:close/>
                <a:moveTo>
                  <a:pt x="303775" y="51991"/>
                </a:moveTo>
                <a:cubicBezTo>
                  <a:pt x="289445" y="51991"/>
                  <a:pt x="277786" y="63633"/>
                  <a:pt x="277786" y="78030"/>
                </a:cubicBezTo>
                <a:cubicBezTo>
                  <a:pt x="277786" y="92339"/>
                  <a:pt x="289445" y="103981"/>
                  <a:pt x="303775" y="103981"/>
                </a:cubicBezTo>
                <a:cubicBezTo>
                  <a:pt x="318194" y="103981"/>
                  <a:pt x="329854" y="92339"/>
                  <a:pt x="329854" y="78030"/>
                </a:cubicBezTo>
                <a:cubicBezTo>
                  <a:pt x="329854" y="63633"/>
                  <a:pt x="318194" y="51991"/>
                  <a:pt x="303775" y="51991"/>
                </a:cubicBezTo>
                <a:close/>
                <a:moveTo>
                  <a:pt x="303775" y="0"/>
                </a:moveTo>
                <a:cubicBezTo>
                  <a:pt x="346854" y="0"/>
                  <a:pt x="381922" y="35016"/>
                  <a:pt x="381922" y="78030"/>
                </a:cubicBezTo>
                <a:cubicBezTo>
                  <a:pt x="381922" y="111891"/>
                  <a:pt x="360116" y="140774"/>
                  <a:pt x="329854" y="151528"/>
                </a:cubicBezTo>
                <a:lnTo>
                  <a:pt x="329854" y="208051"/>
                </a:lnTo>
                <a:lnTo>
                  <a:pt x="477425" y="208051"/>
                </a:lnTo>
                <a:cubicBezTo>
                  <a:pt x="491754" y="208051"/>
                  <a:pt x="503414" y="219693"/>
                  <a:pt x="503414" y="234002"/>
                </a:cubicBezTo>
                <a:lnTo>
                  <a:pt x="503414" y="312032"/>
                </a:lnTo>
                <a:lnTo>
                  <a:pt x="581561" y="312032"/>
                </a:lnTo>
                <a:cubicBezTo>
                  <a:pt x="595980" y="312032"/>
                  <a:pt x="607639" y="323675"/>
                  <a:pt x="607639" y="337983"/>
                </a:cubicBezTo>
                <a:lnTo>
                  <a:pt x="607639" y="442053"/>
                </a:lnTo>
                <a:cubicBezTo>
                  <a:pt x="607639" y="456362"/>
                  <a:pt x="595980" y="468004"/>
                  <a:pt x="581561" y="468004"/>
                </a:cubicBezTo>
                <a:lnTo>
                  <a:pt x="503414" y="468004"/>
                </a:lnTo>
                <a:lnTo>
                  <a:pt x="503414" y="546034"/>
                </a:lnTo>
                <a:cubicBezTo>
                  <a:pt x="503414" y="560432"/>
                  <a:pt x="491754" y="572074"/>
                  <a:pt x="477425" y="572074"/>
                </a:cubicBezTo>
                <a:lnTo>
                  <a:pt x="130214" y="572074"/>
                </a:lnTo>
                <a:cubicBezTo>
                  <a:pt x="115796" y="572074"/>
                  <a:pt x="104136" y="560432"/>
                  <a:pt x="104136" y="546034"/>
                </a:cubicBezTo>
                <a:lnTo>
                  <a:pt x="104136" y="468004"/>
                </a:lnTo>
                <a:lnTo>
                  <a:pt x="26078" y="468004"/>
                </a:lnTo>
                <a:cubicBezTo>
                  <a:pt x="11659" y="468004"/>
                  <a:pt x="0" y="456362"/>
                  <a:pt x="0" y="442053"/>
                </a:cubicBezTo>
                <a:lnTo>
                  <a:pt x="0" y="337983"/>
                </a:lnTo>
                <a:cubicBezTo>
                  <a:pt x="0" y="323675"/>
                  <a:pt x="11659" y="312032"/>
                  <a:pt x="26078" y="312032"/>
                </a:cubicBezTo>
                <a:lnTo>
                  <a:pt x="104136" y="312032"/>
                </a:lnTo>
                <a:lnTo>
                  <a:pt x="104136" y="234002"/>
                </a:lnTo>
                <a:cubicBezTo>
                  <a:pt x="104136" y="219693"/>
                  <a:pt x="115796" y="208051"/>
                  <a:pt x="130214" y="208051"/>
                </a:cubicBezTo>
                <a:lnTo>
                  <a:pt x="277786" y="208051"/>
                </a:lnTo>
                <a:lnTo>
                  <a:pt x="277786" y="151528"/>
                </a:lnTo>
                <a:cubicBezTo>
                  <a:pt x="247435" y="140774"/>
                  <a:pt x="225718" y="111891"/>
                  <a:pt x="225718" y="78030"/>
                </a:cubicBezTo>
                <a:cubicBezTo>
                  <a:pt x="225718" y="35016"/>
                  <a:pt x="260697" y="0"/>
                  <a:pt x="303775" y="0"/>
                </a:cubicBezTo>
                <a:close/>
              </a:path>
            </a:pathLst>
          </a:cu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7" name="文本框 29">
            <a:extLst>
              <a:ext uri="{FF2B5EF4-FFF2-40B4-BE49-F238E27FC236}">
                <a16:creationId xmlns:a16="http://schemas.microsoft.com/office/drawing/2014/main" id="{99D67110-A9B7-37BE-BC93-CEFA14249249}"/>
              </a:ext>
            </a:extLst>
          </p:cNvPr>
          <p:cNvSpPr txBox="1"/>
          <p:nvPr/>
        </p:nvSpPr>
        <p:spPr>
          <a:xfrm>
            <a:off x="7088457" y="2273897"/>
            <a:ext cx="16597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Internal</a:t>
            </a:r>
            <a:r>
              <a:rPr lang="en-US" altLang="zh-CN" sz="1600" b="1" dirty="0">
                <a:solidFill>
                  <a:srgbClr val="FF0000"/>
                </a:solidFill>
              </a:rPr>
              <a:t> </a:t>
            </a:r>
            <a:r>
              <a:rPr lang="en-US" altLang="zh-CN" sz="1600" dirty="0">
                <a:solidFill>
                  <a:srgbClr val="FF0000"/>
                </a:solidFill>
              </a:rPr>
              <a:t>GenAI</a:t>
            </a:r>
          </a:p>
        </p:txBody>
      </p:sp>
      <p:sp>
        <p:nvSpPr>
          <p:cNvPr id="24" name="箭头: 右 37">
            <a:extLst>
              <a:ext uri="{FF2B5EF4-FFF2-40B4-BE49-F238E27FC236}">
                <a16:creationId xmlns:a16="http://schemas.microsoft.com/office/drawing/2014/main" id="{5ECA0691-FC15-AEB5-6630-59CEFB6A3481}"/>
              </a:ext>
            </a:extLst>
          </p:cNvPr>
          <p:cNvSpPr/>
          <p:nvPr/>
        </p:nvSpPr>
        <p:spPr>
          <a:xfrm rot="8293985">
            <a:off x="6535786" y="2376477"/>
            <a:ext cx="877182" cy="272564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25" name="TextBox 27">
            <a:extLst>
              <a:ext uri="{FF2B5EF4-FFF2-40B4-BE49-F238E27FC236}">
                <a16:creationId xmlns:a16="http://schemas.microsoft.com/office/drawing/2014/main" id="{82189825-5F6C-E7F3-9969-C55979C8494A}"/>
              </a:ext>
            </a:extLst>
          </p:cNvPr>
          <p:cNvSpPr txBox="1"/>
          <p:nvPr/>
        </p:nvSpPr>
        <p:spPr>
          <a:xfrm>
            <a:off x="6233361" y="2043076"/>
            <a:ext cx="11271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Supply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13043890-352E-7203-3AC9-3398ECBCF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417312" cy="1325563"/>
          </a:xfrm>
        </p:spPr>
        <p:txBody>
          <a:bodyPr>
            <a:noAutofit/>
          </a:bodyPr>
          <a:lstStyle/>
          <a:p>
            <a:pPr marL="57150" lvl="0" fontAlgn="base">
              <a:spcAft>
                <a:spcPct val="0"/>
              </a:spcAft>
            </a:pPr>
            <a:r>
              <a:rPr lang="en-US" altLang="en-US" sz="2800" dirty="0"/>
              <a:t>One </a:t>
            </a:r>
            <a:r>
              <a:rPr lang="en-US" altLang="zh-CN" sz="2800" dirty="0"/>
              <a:t>Proa</a:t>
            </a:r>
            <a:r>
              <a:rPr lang="en-US" altLang="en-US" sz="2800" dirty="0"/>
              <a:t>ctive Platform Response: Implement</a:t>
            </a:r>
            <a:r>
              <a:rPr lang="zh-CN" altLang="en-US" sz="2800" dirty="0"/>
              <a:t> </a:t>
            </a:r>
            <a:r>
              <a:rPr lang="en-US" altLang="en-US" sz="2800" dirty="0"/>
              <a:t>Internal GenAI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54042CC-F715-0CF4-EC54-E8DF5A6C037B}"/>
              </a:ext>
            </a:extLst>
          </p:cNvPr>
          <p:cNvSpPr txBox="1"/>
          <p:nvPr/>
        </p:nvSpPr>
        <p:spPr>
          <a:xfrm flipH="1">
            <a:off x="7556685" y="4934358"/>
            <a:ext cx="12531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Vi</a:t>
            </a:r>
            <a:r>
              <a:rPr lang="en-US" altLang="zh-CN" sz="1600" b="1" dirty="0"/>
              <a:t>ewers</a:t>
            </a:r>
            <a:endParaRPr lang="en-US" sz="1600" b="1" dirty="0"/>
          </a:p>
        </p:txBody>
      </p:sp>
      <p:sp>
        <p:nvSpPr>
          <p:cNvPr id="30" name="team_150434">
            <a:extLst>
              <a:ext uri="{FF2B5EF4-FFF2-40B4-BE49-F238E27FC236}">
                <a16:creationId xmlns:a16="http://schemas.microsoft.com/office/drawing/2014/main" id="{504F3192-7E33-8CAF-66E4-947386AE3A4C}"/>
              </a:ext>
            </a:extLst>
          </p:cNvPr>
          <p:cNvSpPr/>
          <p:nvPr/>
        </p:nvSpPr>
        <p:spPr>
          <a:xfrm>
            <a:off x="7736552" y="4043278"/>
            <a:ext cx="893410" cy="912840"/>
          </a:xfrm>
          <a:custGeom>
            <a:avLst/>
            <a:gdLst>
              <a:gd name="connsiteX0" fmla="*/ 443280 w 595120"/>
              <a:gd name="connsiteY0" fmla="*/ 151292 h 608062"/>
              <a:gd name="connsiteX1" fmla="*/ 541196 w 595120"/>
              <a:gd name="connsiteY1" fmla="*/ 151292 h 608062"/>
              <a:gd name="connsiteX2" fmla="*/ 594325 w 595120"/>
              <a:gd name="connsiteY2" fmla="*/ 204124 h 608062"/>
              <a:gd name="connsiteX3" fmla="*/ 595120 w 595120"/>
              <a:gd name="connsiteY3" fmla="*/ 368668 h 608062"/>
              <a:gd name="connsiteX4" fmla="*/ 572776 w 595120"/>
              <a:gd name="connsiteY4" fmla="*/ 391268 h 608062"/>
              <a:gd name="connsiteX5" fmla="*/ 572677 w 595120"/>
              <a:gd name="connsiteY5" fmla="*/ 391268 h 608062"/>
              <a:gd name="connsiteX6" fmla="*/ 550233 w 595120"/>
              <a:gd name="connsiteY6" fmla="*/ 368965 h 608062"/>
              <a:gd name="connsiteX7" fmla="*/ 549339 w 595120"/>
              <a:gd name="connsiteY7" fmla="*/ 204323 h 608062"/>
              <a:gd name="connsiteX8" fmla="*/ 544672 w 595120"/>
              <a:gd name="connsiteY8" fmla="*/ 199763 h 608062"/>
              <a:gd name="connsiteX9" fmla="*/ 540005 w 595120"/>
              <a:gd name="connsiteY9" fmla="*/ 204422 h 608062"/>
              <a:gd name="connsiteX10" fmla="*/ 540501 w 595120"/>
              <a:gd name="connsiteY10" fmla="*/ 580988 h 608062"/>
              <a:gd name="connsiteX11" fmla="*/ 513490 w 595120"/>
              <a:gd name="connsiteY11" fmla="*/ 607850 h 608062"/>
              <a:gd name="connsiteX12" fmla="*/ 486577 w 595120"/>
              <a:gd name="connsiteY12" fmla="*/ 580988 h 608062"/>
              <a:gd name="connsiteX13" fmla="*/ 486577 w 595120"/>
              <a:gd name="connsiteY13" fmla="*/ 371840 h 608062"/>
              <a:gd name="connsiteX14" fmla="*/ 480818 w 595120"/>
              <a:gd name="connsiteY14" fmla="*/ 366090 h 608062"/>
              <a:gd name="connsiteX15" fmla="*/ 474959 w 595120"/>
              <a:gd name="connsiteY15" fmla="*/ 371840 h 608062"/>
              <a:gd name="connsiteX16" fmla="*/ 474959 w 595120"/>
              <a:gd name="connsiteY16" fmla="*/ 580988 h 608062"/>
              <a:gd name="connsiteX17" fmla="*/ 448046 w 595120"/>
              <a:gd name="connsiteY17" fmla="*/ 607850 h 608062"/>
              <a:gd name="connsiteX18" fmla="*/ 421134 w 595120"/>
              <a:gd name="connsiteY18" fmla="*/ 580988 h 608062"/>
              <a:gd name="connsiteX19" fmla="*/ 421134 w 595120"/>
              <a:gd name="connsiteY19" fmla="*/ 394638 h 608062"/>
              <a:gd name="connsiteX20" fmla="*/ 447053 w 595120"/>
              <a:gd name="connsiteY20" fmla="*/ 350231 h 608062"/>
              <a:gd name="connsiteX21" fmla="*/ 446160 w 595120"/>
              <a:gd name="connsiteY21" fmla="*/ 172802 h 608062"/>
              <a:gd name="connsiteX22" fmla="*/ 443280 w 595120"/>
              <a:gd name="connsiteY22" fmla="*/ 151292 h 608062"/>
              <a:gd name="connsiteX23" fmla="*/ 54006 w 595120"/>
              <a:gd name="connsiteY23" fmla="*/ 151292 h 608062"/>
              <a:gd name="connsiteX24" fmla="*/ 151891 w 595120"/>
              <a:gd name="connsiteY24" fmla="*/ 151292 h 608062"/>
              <a:gd name="connsiteX25" fmla="*/ 148913 w 595120"/>
              <a:gd name="connsiteY25" fmla="*/ 172802 h 608062"/>
              <a:gd name="connsiteX26" fmla="*/ 148019 w 595120"/>
              <a:gd name="connsiteY26" fmla="*/ 350231 h 608062"/>
              <a:gd name="connsiteX27" fmla="*/ 173732 w 595120"/>
              <a:gd name="connsiteY27" fmla="*/ 394440 h 608062"/>
              <a:gd name="connsiteX28" fmla="*/ 173732 w 595120"/>
              <a:gd name="connsiteY28" fmla="*/ 580988 h 608062"/>
              <a:gd name="connsiteX29" fmla="*/ 146828 w 595120"/>
              <a:gd name="connsiteY29" fmla="*/ 607850 h 608062"/>
              <a:gd name="connsiteX30" fmla="*/ 119924 w 595120"/>
              <a:gd name="connsiteY30" fmla="*/ 580988 h 608062"/>
              <a:gd name="connsiteX31" fmla="*/ 119924 w 595120"/>
              <a:gd name="connsiteY31" fmla="*/ 371840 h 608062"/>
              <a:gd name="connsiteX32" fmla="*/ 114067 w 595120"/>
              <a:gd name="connsiteY32" fmla="*/ 366090 h 608062"/>
              <a:gd name="connsiteX33" fmla="*/ 108309 w 595120"/>
              <a:gd name="connsiteY33" fmla="*/ 371840 h 608062"/>
              <a:gd name="connsiteX34" fmla="*/ 108309 w 595120"/>
              <a:gd name="connsiteY34" fmla="*/ 580988 h 608062"/>
              <a:gd name="connsiteX35" fmla="*/ 81306 w 595120"/>
              <a:gd name="connsiteY35" fmla="*/ 607850 h 608062"/>
              <a:gd name="connsiteX36" fmla="*/ 54403 w 595120"/>
              <a:gd name="connsiteY36" fmla="*/ 580988 h 608062"/>
              <a:gd name="connsiteX37" fmla="*/ 54403 w 595120"/>
              <a:gd name="connsiteY37" fmla="*/ 196095 h 608062"/>
              <a:gd name="connsiteX38" fmla="*/ 45766 w 595120"/>
              <a:gd name="connsiteY38" fmla="*/ 204323 h 608062"/>
              <a:gd name="connsiteX39" fmla="*/ 44872 w 595120"/>
              <a:gd name="connsiteY39" fmla="*/ 368965 h 608062"/>
              <a:gd name="connsiteX40" fmla="*/ 22436 w 595120"/>
              <a:gd name="connsiteY40" fmla="*/ 391268 h 608062"/>
              <a:gd name="connsiteX41" fmla="*/ 22337 w 595120"/>
              <a:gd name="connsiteY41" fmla="*/ 391268 h 608062"/>
              <a:gd name="connsiteX42" fmla="*/ 0 w 595120"/>
              <a:gd name="connsiteY42" fmla="*/ 368668 h 608062"/>
              <a:gd name="connsiteX43" fmla="*/ 893 w 595120"/>
              <a:gd name="connsiteY43" fmla="*/ 204124 h 608062"/>
              <a:gd name="connsiteX44" fmla="*/ 54006 w 595120"/>
              <a:gd name="connsiteY44" fmla="*/ 151292 h 608062"/>
              <a:gd name="connsiteX45" fmla="*/ 232614 w 595120"/>
              <a:gd name="connsiteY45" fmla="*/ 116080 h 608062"/>
              <a:gd name="connsiteX46" fmla="*/ 362466 w 595120"/>
              <a:gd name="connsiteY46" fmla="*/ 116080 h 608062"/>
              <a:gd name="connsiteX47" fmla="*/ 419748 w 595120"/>
              <a:gd name="connsiteY47" fmla="*/ 172882 h 608062"/>
              <a:gd name="connsiteX48" fmla="*/ 420641 w 595120"/>
              <a:gd name="connsiteY48" fmla="*/ 350324 h 608062"/>
              <a:gd name="connsiteX49" fmla="*/ 396517 w 595120"/>
              <a:gd name="connsiteY49" fmla="*/ 374611 h 608062"/>
              <a:gd name="connsiteX50" fmla="*/ 396418 w 595120"/>
              <a:gd name="connsiteY50" fmla="*/ 374611 h 608062"/>
              <a:gd name="connsiteX51" fmla="*/ 372195 w 595120"/>
              <a:gd name="connsiteY51" fmla="*/ 350522 h 608062"/>
              <a:gd name="connsiteX52" fmla="*/ 371301 w 595120"/>
              <a:gd name="connsiteY52" fmla="*/ 173179 h 608062"/>
              <a:gd name="connsiteX53" fmla="*/ 366238 w 595120"/>
              <a:gd name="connsiteY53" fmla="*/ 168123 h 608062"/>
              <a:gd name="connsiteX54" fmla="*/ 361175 w 595120"/>
              <a:gd name="connsiteY54" fmla="*/ 173179 h 608062"/>
              <a:gd name="connsiteX55" fmla="*/ 361771 w 595120"/>
              <a:gd name="connsiteY55" fmla="*/ 579116 h 608062"/>
              <a:gd name="connsiteX56" fmla="*/ 332683 w 595120"/>
              <a:gd name="connsiteY56" fmla="*/ 608062 h 608062"/>
              <a:gd name="connsiteX57" fmla="*/ 303695 w 595120"/>
              <a:gd name="connsiteY57" fmla="*/ 579116 h 608062"/>
              <a:gd name="connsiteX58" fmla="*/ 303695 w 595120"/>
              <a:gd name="connsiteY58" fmla="*/ 353695 h 608062"/>
              <a:gd name="connsiteX59" fmla="*/ 297440 w 595120"/>
              <a:gd name="connsiteY59" fmla="*/ 347449 h 608062"/>
              <a:gd name="connsiteX60" fmla="*/ 291186 w 595120"/>
              <a:gd name="connsiteY60" fmla="*/ 353695 h 608062"/>
              <a:gd name="connsiteX61" fmla="*/ 291186 w 595120"/>
              <a:gd name="connsiteY61" fmla="*/ 579116 h 608062"/>
              <a:gd name="connsiteX62" fmla="*/ 262098 w 595120"/>
              <a:gd name="connsiteY62" fmla="*/ 608062 h 608062"/>
              <a:gd name="connsiteX63" fmla="*/ 233110 w 595120"/>
              <a:gd name="connsiteY63" fmla="*/ 579116 h 608062"/>
              <a:gd name="connsiteX64" fmla="*/ 233110 w 595120"/>
              <a:gd name="connsiteY64" fmla="*/ 173179 h 608062"/>
              <a:gd name="connsiteX65" fmla="*/ 228444 w 595120"/>
              <a:gd name="connsiteY65" fmla="*/ 168520 h 608062"/>
              <a:gd name="connsiteX66" fmla="*/ 223778 w 595120"/>
              <a:gd name="connsiteY66" fmla="*/ 173179 h 608062"/>
              <a:gd name="connsiteX67" fmla="*/ 222885 w 595120"/>
              <a:gd name="connsiteY67" fmla="*/ 350522 h 608062"/>
              <a:gd name="connsiteX68" fmla="*/ 198661 w 595120"/>
              <a:gd name="connsiteY68" fmla="*/ 374611 h 608062"/>
              <a:gd name="connsiteX69" fmla="*/ 198562 w 595120"/>
              <a:gd name="connsiteY69" fmla="*/ 374611 h 608062"/>
              <a:gd name="connsiteX70" fmla="*/ 174538 w 595120"/>
              <a:gd name="connsiteY70" fmla="*/ 350324 h 608062"/>
              <a:gd name="connsiteX71" fmla="*/ 175431 w 595120"/>
              <a:gd name="connsiteY71" fmla="*/ 172882 h 608062"/>
              <a:gd name="connsiteX72" fmla="*/ 179998 w 595120"/>
              <a:gd name="connsiteY72" fmla="*/ 150776 h 608062"/>
              <a:gd name="connsiteX73" fmla="*/ 232614 w 595120"/>
              <a:gd name="connsiteY73" fmla="*/ 116080 h 608062"/>
              <a:gd name="connsiteX74" fmla="*/ 481045 w 595120"/>
              <a:gd name="connsiteY74" fmla="*/ 43609 h 608062"/>
              <a:gd name="connsiteX75" fmla="*/ 527548 w 595120"/>
              <a:gd name="connsiteY75" fmla="*/ 90041 h 608062"/>
              <a:gd name="connsiteX76" fmla="*/ 481045 w 595120"/>
              <a:gd name="connsiteY76" fmla="*/ 136473 h 608062"/>
              <a:gd name="connsiteX77" fmla="*/ 434542 w 595120"/>
              <a:gd name="connsiteY77" fmla="*/ 90041 h 608062"/>
              <a:gd name="connsiteX78" fmla="*/ 481045 w 595120"/>
              <a:gd name="connsiteY78" fmla="*/ 43609 h 608062"/>
              <a:gd name="connsiteX79" fmla="*/ 114407 w 595120"/>
              <a:gd name="connsiteY79" fmla="*/ 43609 h 608062"/>
              <a:gd name="connsiteX80" fmla="*/ 160959 w 595120"/>
              <a:gd name="connsiteY80" fmla="*/ 90090 h 608062"/>
              <a:gd name="connsiteX81" fmla="*/ 114407 w 595120"/>
              <a:gd name="connsiteY81" fmla="*/ 136473 h 608062"/>
              <a:gd name="connsiteX82" fmla="*/ 83637 w 595120"/>
              <a:gd name="connsiteY82" fmla="*/ 124878 h 608062"/>
              <a:gd name="connsiteX83" fmla="*/ 67954 w 595120"/>
              <a:gd name="connsiteY83" fmla="*/ 90090 h 608062"/>
              <a:gd name="connsiteX84" fmla="*/ 114407 w 595120"/>
              <a:gd name="connsiteY84" fmla="*/ 43609 h 608062"/>
              <a:gd name="connsiteX85" fmla="*/ 297751 w 595120"/>
              <a:gd name="connsiteY85" fmla="*/ 0 h 608062"/>
              <a:gd name="connsiteX86" fmla="*/ 347887 w 595120"/>
              <a:gd name="connsiteY86" fmla="*/ 50066 h 608062"/>
              <a:gd name="connsiteX87" fmla="*/ 297751 w 595120"/>
              <a:gd name="connsiteY87" fmla="*/ 100132 h 608062"/>
              <a:gd name="connsiteX88" fmla="*/ 267073 w 595120"/>
              <a:gd name="connsiteY88" fmla="*/ 89623 h 608062"/>
              <a:gd name="connsiteX89" fmla="*/ 247614 w 595120"/>
              <a:gd name="connsiteY89" fmla="*/ 50066 h 608062"/>
              <a:gd name="connsiteX90" fmla="*/ 297751 w 595120"/>
              <a:gd name="connsiteY90" fmla="*/ 0 h 608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595120" h="608062">
                <a:moveTo>
                  <a:pt x="443280" y="151292"/>
                </a:moveTo>
                <a:lnTo>
                  <a:pt x="541196" y="151292"/>
                </a:lnTo>
                <a:cubicBezTo>
                  <a:pt x="570293" y="151292"/>
                  <a:pt x="594127" y="174982"/>
                  <a:pt x="594325" y="204124"/>
                </a:cubicBezTo>
                <a:lnTo>
                  <a:pt x="595120" y="368668"/>
                </a:lnTo>
                <a:cubicBezTo>
                  <a:pt x="595219" y="381058"/>
                  <a:pt x="585189" y="391168"/>
                  <a:pt x="572776" y="391268"/>
                </a:cubicBezTo>
                <a:lnTo>
                  <a:pt x="572677" y="391268"/>
                </a:lnTo>
                <a:cubicBezTo>
                  <a:pt x="560263" y="391268"/>
                  <a:pt x="550233" y="381256"/>
                  <a:pt x="550233" y="368965"/>
                </a:cubicBezTo>
                <a:lnTo>
                  <a:pt x="549339" y="204323"/>
                </a:lnTo>
                <a:cubicBezTo>
                  <a:pt x="549339" y="201745"/>
                  <a:pt x="547155" y="199763"/>
                  <a:pt x="544672" y="199763"/>
                </a:cubicBezTo>
                <a:cubicBezTo>
                  <a:pt x="542090" y="199763"/>
                  <a:pt x="540005" y="201845"/>
                  <a:pt x="540005" y="204422"/>
                </a:cubicBezTo>
                <a:cubicBezTo>
                  <a:pt x="540005" y="428934"/>
                  <a:pt x="540501" y="225436"/>
                  <a:pt x="540501" y="580988"/>
                </a:cubicBezTo>
                <a:cubicBezTo>
                  <a:pt x="540501" y="595856"/>
                  <a:pt x="528386" y="607850"/>
                  <a:pt x="513490" y="607850"/>
                </a:cubicBezTo>
                <a:cubicBezTo>
                  <a:pt x="498693" y="607850"/>
                  <a:pt x="486577" y="595856"/>
                  <a:pt x="486577" y="580988"/>
                </a:cubicBezTo>
                <a:lnTo>
                  <a:pt x="486577" y="371840"/>
                </a:lnTo>
                <a:cubicBezTo>
                  <a:pt x="486577" y="368668"/>
                  <a:pt x="483996" y="366090"/>
                  <a:pt x="480818" y="366090"/>
                </a:cubicBezTo>
                <a:cubicBezTo>
                  <a:pt x="477541" y="366090"/>
                  <a:pt x="474959" y="368668"/>
                  <a:pt x="474959" y="371840"/>
                </a:cubicBezTo>
                <a:lnTo>
                  <a:pt x="474959" y="580988"/>
                </a:lnTo>
                <a:cubicBezTo>
                  <a:pt x="474959" y="595856"/>
                  <a:pt x="462942" y="607850"/>
                  <a:pt x="448046" y="607850"/>
                </a:cubicBezTo>
                <a:cubicBezTo>
                  <a:pt x="433150" y="607850"/>
                  <a:pt x="421134" y="595856"/>
                  <a:pt x="421134" y="580988"/>
                </a:cubicBezTo>
                <a:lnTo>
                  <a:pt x="421134" y="394638"/>
                </a:lnTo>
                <a:cubicBezTo>
                  <a:pt x="436626" y="385915"/>
                  <a:pt x="447153" y="369262"/>
                  <a:pt x="447053" y="350231"/>
                </a:cubicBezTo>
                <a:lnTo>
                  <a:pt x="446160" y="172802"/>
                </a:lnTo>
                <a:cubicBezTo>
                  <a:pt x="446160" y="165368"/>
                  <a:pt x="445067" y="158231"/>
                  <a:pt x="443280" y="151292"/>
                </a:cubicBezTo>
                <a:close/>
                <a:moveTo>
                  <a:pt x="54006" y="151292"/>
                </a:moveTo>
                <a:lnTo>
                  <a:pt x="151891" y="151292"/>
                </a:lnTo>
                <a:cubicBezTo>
                  <a:pt x="150005" y="158231"/>
                  <a:pt x="148913" y="165368"/>
                  <a:pt x="148913" y="172802"/>
                </a:cubicBezTo>
                <a:lnTo>
                  <a:pt x="148019" y="350231"/>
                </a:lnTo>
                <a:cubicBezTo>
                  <a:pt x="147920" y="369163"/>
                  <a:pt x="158344" y="385717"/>
                  <a:pt x="173732" y="394440"/>
                </a:cubicBezTo>
                <a:lnTo>
                  <a:pt x="173732" y="580988"/>
                </a:lnTo>
                <a:cubicBezTo>
                  <a:pt x="173732" y="595856"/>
                  <a:pt x="161719" y="607850"/>
                  <a:pt x="146828" y="607850"/>
                </a:cubicBezTo>
                <a:cubicBezTo>
                  <a:pt x="131937" y="607850"/>
                  <a:pt x="119924" y="595856"/>
                  <a:pt x="119924" y="580988"/>
                </a:cubicBezTo>
                <a:lnTo>
                  <a:pt x="119924" y="371840"/>
                </a:lnTo>
                <a:cubicBezTo>
                  <a:pt x="119924" y="368668"/>
                  <a:pt x="117343" y="366090"/>
                  <a:pt x="114067" y="366090"/>
                </a:cubicBezTo>
                <a:cubicBezTo>
                  <a:pt x="110890" y="366090"/>
                  <a:pt x="108309" y="368668"/>
                  <a:pt x="108309" y="371840"/>
                </a:cubicBezTo>
                <a:lnTo>
                  <a:pt x="108309" y="580988"/>
                </a:lnTo>
                <a:cubicBezTo>
                  <a:pt x="108309" y="595856"/>
                  <a:pt x="96198" y="607850"/>
                  <a:pt x="81306" y="607850"/>
                </a:cubicBezTo>
                <a:cubicBezTo>
                  <a:pt x="66514" y="607850"/>
                  <a:pt x="54403" y="595856"/>
                  <a:pt x="54403" y="580988"/>
                </a:cubicBezTo>
                <a:lnTo>
                  <a:pt x="54403" y="196095"/>
                </a:lnTo>
                <a:cubicBezTo>
                  <a:pt x="48943" y="196095"/>
                  <a:pt x="45766" y="200159"/>
                  <a:pt x="45766" y="204323"/>
                </a:cubicBezTo>
                <a:lnTo>
                  <a:pt x="44872" y="368965"/>
                </a:lnTo>
                <a:cubicBezTo>
                  <a:pt x="44872" y="381256"/>
                  <a:pt x="34845" y="391268"/>
                  <a:pt x="22436" y="391268"/>
                </a:cubicBezTo>
                <a:lnTo>
                  <a:pt x="22337" y="391268"/>
                </a:lnTo>
                <a:cubicBezTo>
                  <a:pt x="9927" y="391168"/>
                  <a:pt x="0" y="381058"/>
                  <a:pt x="0" y="368668"/>
                </a:cubicBezTo>
                <a:lnTo>
                  <a:pt x="893" y="204124"/>
                </a:lnTo>
                <a:cubicBezTo>
                  <a:pt x="993" y="174982"/>
                  <a:pt x="24819" y="151292"/>
                  <a:pt x="54006" y="151292"/>
                </a:cubicBezTo>
                <a:close/>
                <a:moveTo>
                  <a:pt x="232614" y="116080"/>
                </a:moveTo>
                <a:lnTo>
                  <a:pt x="362466" y="116080"/>
                </a:lnTo>
                <a:cubicBezTo>
                  <a:pt x="393837" y="116080"/>
                  <a:pt x="419549" y="141557"/>
                  <a:pt x="419748" y="172882"/>
                </a:cubicBezTo>
                <a:lnTo>
                  <a:pt x="420641" y="350324"/>
                </a:lnTo>
                <a:cubicBezTo>
                  <a:pt x="420641" y="363707"/>
                  <a:pt x="409919" y="374512"/>
                  <a:pt x="396517" y="374611"/>
                </a:cubicBezTo>
                <a:lnTo>
                  <a:pt x="396418" y="374611"/>
                </a:lnTo>
                <a:cubicBezTo>
                  <a:pt x="383115" y="374611"/>
                  <a:pt x="372294" y="363905"/>
                  <a:pt x="372195" y="350522"/>
                </a:cubicBezTo>
                <a:lnTo>
                  <a:pt x="371301" y="173179"/>
                </a:lnTo>
                <a:cubicBezTo>
                  <a:pt x="371301" y="170403"/>
                  <a:pt x="369018" y="168123"/>
                  <a:pt x="366238" y="168123"/>
                </a:cubicBezTo>
                <a:cubicBezTo>
                  <a:pt x="363459" y="168123"/>
                  <a:pt x="361175" y="170403"/>
                  <a:pt x="361175" y="173179"/>
                </a:cubicBezTo>
                <a:cubicBezTo>
                  <a:pt x="361275" y="281726"/>
                  <a:pt x="361771" y="475426"/>
                  <a:pt x="361771" y="579116"/>
                </a:cubicBezTo>
                <a:cubicBezTo>
                  <a:pt x="361771" y="595076"/>
                  <a:pt x="348766" y="608062"/>
                  <a:pt x="332683" y="608062"/>
                </a:cubicBezTo>
                <a:cubicBezTo>
                  <a:pt x="316700" y="608062"/>
                  <a:pt x="303695" y="595076"/>
                  <a:pt x="303695" y="579116"/>
                </a:cubicBezTo>
                <a:lnTo>
                  <a:pt x="303695" y="353695"/>
                </a:lnTo>
                <a:cubicBezTo>
                  <a:pt x="303695" y="350324"/>
                  <a:pt x="300915" y="347449"/>
                  <a:pt x="297440" y="347449"/>
                </a:cubicBezTo>
                <a:cubicBezTo>
                  <a:pt x="293966" y="347449"/>
                  <a:pt x="291186" y="350324"/>
                  <a:pt x="291186" y="353695"/>
                </a:cubicBezTo>
                <a:lnTo>
                  <a:pt x="291186" y="579116"/>
                </a:lnTo>
                <a:cubicBezTo>
                  <a:pt x="291186" y="595076"/>
                  <a:pt x="278181" y="608062"/>
                  <a:pt x="262098" y="608062"/>
                </a:cubicBezTo>
                <a:cubicBezTo>
                  <a:pt x="246115" y="608062"/>
                  <a:pt x="233110" y="595076"/>
                  <a:pt x="233110" y="579116"/>
                </a:cubicBezTo>
                <a:lnTo>
                  <a:pt x="233110" y="173179"/>
                </a:lnTo>
                <a:cubicBezTo>
                  <a:pt x="233110" y="170602"/>
                  <a:pt x="231025" y="168520"/>
                  <a:pt x="228444" y="168520"/>
                </a:cubicBezTo>
                <a:cubicBezTo>
                  <a:pt x="225863" y="168520"/>
                  <a:pt x="223778" y="170602"/>
                  <a:pt x="223778" y="173179"/>
                </a:cubicBezTo>
                <a:lnTo>
                  <a:pt x="222885" y="350522"/>
                </a:lnTo>
                <a:cubicBezTo>
                  <a:pt x="222785" y="363905"/>
                  <a:pt x="211964" y="374611"/>
                  <a:pt x="198661" y="374611"/>
                </a:cubicBezTo>
                <a:lnTo>
                  <a:pt x="198562" y="374611"/>
                </a:lnTo>
                <a:cubicBezTo>
                  <a:pt x="185259" y="374512"/>
                  <a:pt x="174438" y="363707"/>
                  <a:pt x="174538" y="350324"/>
                </a:cubicBezTo>
                <a:lnTo>
                  <a:pt x="175431" y="172882"/>
                </a:lnTo>
                <a:cubicBezTo>
                  <a:pt x="175431" y="165249"/>
                  <a:pt x="177019" y="157814"/>
                  <a:pt x="179998" y="150776"/>
                </a:cubicBezTo>
                <a:cubicBezTo>
                  <a:pt x="188734" y="130355"/>
                  <a:pt x="209085" y="116080"/>
                  <a:pt x="232614" y="116080"/>
                </a:cubicBezTo>
                <a:close/>
                <a:moveTo>
                  <a:pt x="481045" y="43609"/>
                </a:moveTo>
                <a:cubicBezTo>
                  <a:pt x="506728" y="43609"/>
                  <a:pt x="527548" y="64397"/>
                  <a:pt x="527548" y="90041"/>
                </a:cubicBezTo>
                <a:cubicBezTo>
                  <a:pt x="527548" y="115685"/>
                  <a:pt x="506728" y="136473"/>
                  <a:pt x="481045" y="136473"/>
                </a:cubicBezTo>
                <a:cubicBezTo>
                  <a:pt x="455362" y="136473"/>
                  <a:pt x="434542" y="115685"/>
                  <a:pt x="434542" y="90041"/>
                </a:cubicBezTo>
                <a:cubicBezTo>
                  <a:pt x="434542" y="64397"/>
                  <a:pt x="455362" y="43609"/>
                  <a:pt x="481045" y="43609"/>
                </a:cubicBezTo>
                <a:close/>
                <a:moveTo>
                  <a:pt x="114407" y="43609"/>
                </a:moveTo>
                <a:cubicBezTo>
                  <a:pt x="140115" y="43609"/>
                  <a:pt x="160959" y="64422"/>
                  <a:pt x="160959" y="90090"/>
                </a:cubicBezTo>
                <a:cubicBezTo>
                  <a:pt x="160959" y="115660"/>
                  <a:pt x="140115" y="136473"/>
                  <a:pt x="114407" y="136473"/>
                </a:cubicBezTo>
                <a:cubicBezTo>
                  <a:pt x="102595" y="136473"/>
                  <a:pt x="91875" y="132112"/>
                  <a:pt x="83637" y="124878"/>
                </a:cubicBezTo>
                <a:cubicBezTo>
                  <a:pt x="74009" y="116354"/>
                  <a:pt x="67954" y="103866"/>
                  <a:pt x="67954" y="90090"/>
                </a:cubicBezTo>
                <a:cubicBezTo>
                  <a:pt x="67954" y="64422"/>
                  <a:pt x="88798" y="43609"/>
                  <a:pt x="114407" y="43609"/>
                </a:cubicBezTo>
                <a:close/>
                <a:moveTo>
                  <a:pt x="297751" y="0"/>
                </a:moveTo>
                <a:cubicBezTo>
                  <a:pt x="325351" y="0"/>
                  <a:pt x="347887" y="22307"/>
                  <a:pt x="347887" y="50066"/>
                </a:cubicBezTo>
                <a:cubicBezTo>
                  <a:pt x="347887" y="77726"/>
                  <a:pt x="325351" y="100132"/>
                  <a:pt x="297751" y="100132"/>
                </a:cubicBezTo>
                <a:cubicBezTo>
                  <a:pt x="286234" y="100132"/>
                  <a:pt x="275611" y="96166"/>
                  <a:pt x="267073" y="89623"/>
                </a:cubicBezTo>
                <a:cubicBezTo>
                  <a:pt x="254663" y="80006"/>
                  <a:pt x="247614" y="65433"/>
                  <a:pt x="247614" y="50066"/>
                </a:cubicBezTo>
                <a:cubicBezTo>
                  <a:pt x="247614" y="22406"/>
                  <a:pt x="270052" y="0"/>
                  <a:pt x="297751" y="0"/>
                </a:cubicBezTo>
                <a:close/>
              </a:path>
            </a:pathLst>
          </a:cu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pic>
        <p:nvPicPr>
          <p:cNvPr id="31" name="Picture 5">
            <a:extLst>
              <a:ext uri="{FF2B5EF4-FFF2-40B4-BE49-F238E27FC236}">
                <a16:creationId xmlns:a16="http://schemas.microsoft.com/office/drawing/2014/main" id="{5E776D7F-CD7A-644D-D66E-3C1C8E87979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grayscl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043" b="89894" l="7435" r="91822">
                        <a14:foregroundMark x1="7435" y1="25000" x2="7435" y2="38298"/>
                        <a14:foregroundMark x1="91822" y1="26064" x2="91822" y2="36702"/>
                        <a14:foregroundMark x1="63569" y1="55851" x2="65056" y2="62234"/>
                        <a14:foregroundMark x1="61338" y1="48404" x2="61710" y2="68085"/>
                        <a14:foregroundMark x1="62454" y1="51596" x2="72119" y2="82979"/>
                        <a14:foregroundMark x1="68773" y1="62766" x2="68773" y2="6276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3403" y="3735703"/>
            <a:ext cx="767505" cy="536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7303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6DAD5-24D1-421D-8F52-D13A12395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2E1C10EE-C51C-3722-6E98-27CB4C93D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417312" cy="1325563"/>
          </a:xfrm>
        </p:spPr>
        <p:txBody>
          <a:bodyPr>
            <a:noAutofit/>
          </a:bodyPr>
          <a:lstStyle/>
          <a:p>
            <a:pPr marL="57150" lvl="0" fontAlgn="base">
              <a:spcAft>
                <a:spcPct val="0"/>
              </a:spcAft>
            </a:pPr>
            <a:r>
              <a:rPr lang="en-US" altLang="en-US" sz="2800" dirty="0"/>
              <a:t>One </a:t>
            </a:r>
            <a:r>
              <a:rPr lang="en-US" altLang="zh-CN" sz="2800" dirty="0"/>
              <a:t>Proa</a:t>
            </a:r>
            <a:r>
              <a:rPr lang="en-US" altLang="en-US" sz="2800" dirty="0"/>
              <a:t>ctive Platform Response: Implement</a:t>
            </a:r>
            <a:r>
              <a:rPr lang="zh-CN" altLang="en-US" sz="2800" dirty="0"/>
              <a:t> </a:t>
            </a:r>
            <a:r>
              <a:rPr lang="en-US" altLang="en-US" sz="2800" dirty="0"/>
              <a:t>Internal GenAI</a:t>
            </a:r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370BDED1-FDE6-A173-6586-C7128EEFEA5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180517" y="1417863"/>
            <a:ext cx="10956839" cy="5167361"/>
          </a:xfrm>
          <a:prstGeom prst="rect">
            <a:avLst/>
          </a:prstGeom>
        </p:spPr>
      </p:pic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3B325A66-6D16-27EF-B51F-ED7250B14C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8716" y="5082386"/>
            <a:ext cx="8278792" cy="1583797"/>
          </a:xfrm>
        </p:spPr>
        <p:txBody>
          <a:bodyPr>
            <a:normAutofit/>
          </a:bodyPr>
          <a:lstStyle/>
          <a:p>
            <a:pPr marL="57150" lvl="0" fontAlgn="base">
              <a:lnSpc>
                <a:spcPct val="16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/>
              <a:t>Our Research Question:</a:t>
            </a:r>
          </a:p>
          <a:p>
            <a:pPr marL="514350" lvl="1" fontAlgn="base">
              <a:lnSpc>
                <a:spcPct val="16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/>
              <a:t>How does internal GenAI affect </a:t>
            </a:r>
            <a:r>
              <a:rPr lang="en-US" altLang="en-US" sz="1800" i="1" dirty="0"/>
              <a:t>human answerers </a:t>
            </a:r>
            <a:r>
              <a:rPr lang="en-US" altLang="zh-CN" sz="1800" b="1" i="1" dirty="0"/>
              <a:t>(supply)</a:t>
            </a:r>
            <a:r>
              <a:rPr lang="zh-CN" altLang="en-US" sz="1800" i="1" dirty="0"/>
              <a:t> </a:t>
            </a:r>
            <a:r>
              <a:rPr lang="en-US" altLang="en-US" sz="1800" dirty="0"/>
              <a:t>and </a:t>
            </a:r>
            <a:r>
              <a:rPr lang="en-US" altLang="en-US" sz="1800" i="1" dirty="0"/>
              <a:t>viewers</a:t>
            </a:r>
            <a:r>
              <a:rPr lang="en-US" altLang="en-US" sz="1800" dirty="0"/>
              <a:t> </a:t>
            </a:r>
            <a:r>
              <a:rPr lang="en-US" altLang="zh-CN" sz="1800" b="1" i="1" dirty="0"/>
              <a:t>(recognition)</a:t>
            </a:r>
            <a:r>
              <a:rPr lang="zh-CN" altLang="en-US" sz="1800" dirty="0"/>
              <a:t> </a:t>
            </a:r>
            <a:r>
              <a:rPr lang="en-US" altLang="en-US" sz="1800" dirty="0"/>
              <a:t>in online Q&amp;A communities?</a:t>
            </a:r>
          </a:p>
        </p:txBody>
      </p:sp>
    </p:spTree>
    <p:extLst>
      <p:ext uri="{BB962C8B-B14F-4D97-AF65-F5344CB8AC3E}">
        <p14:creationId xmlns:p14="http://schemas.microsoft.com/office/powerpoint/2010/main" val="2043094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03819-098F-8149-0E14-B9D7E03D3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074A0-D861-4C59-7631-93C6953B7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173238" cy="1325563"/>
          </a:xfrm>
        </p:spPr>
        <p:txBody>
          <a:bodyPr>
            <a:noAutofit/>
          </a:bodyPr>
          <a:lstStyle/>
          <a:p>
            <a:r>
              <a:rPr lang="en-US" sz="2800" dirty="0"/>
              <a:t>A Randomized Experiment on </a:t>
            </a:r>
            <a:r>
              <a:rPr lang="en-US" sz="2800" i="1" dirty="0"/>
              <a:t>SegmentFault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4F600-54DA-4D8E-9AA1-436EE00E42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3473"/>
            <a:ext cx="10515600" cy="5140056"/>
          </a:xfrm>
        </p:spPr>
        <p:txBody>
          <a:bodyPr>
            <a:normAutofit/>
          </a:bodyPr>
          <a:lstStyle/>
          <a:p>
            <a:pPr lvl="0" fontAlgn="base">
              <a:lnSpc>
                <a:spcPct val="16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/>
              <a:t>Platform: </a:t>
            </a:r>
          </a:p>
          <a:p>
            <a:pPr lvl="1" fontAlgn="base">
              <a:lnSpc>
                <a:spcPct val="16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 dirty="0"/>
              <a:t>A</a:t>
            </a:r>
            <a:r>
              <a:rPr lang="zh-CN" altLang="en-US" sz="1800" dirty="0"/>
              <a:t> </a:t>
            </a:r>
            <a:r>
              <a:rPr lang="en-US" altLang="zh-CN" sz="1800" dirty="0"/>
              <a:t>l</a:t>
            </a:r>
            <a:r>
              <a:rPr lang="en-US" altLang="en-US" sz="1800" dirty="0"/>
              <a:t>eading Chinese technical </a:t>
            </a:r>
            <a:r>
              <a:rPr lang="en-US" altLang="zh-CN" sz="1800" dirty="0"/>
              <a:t>online</a:t>
            </a:r>
            <a:r>
              <a:rPr lang="zh-CN" altLang="en-US" sz="1800" dirty="0"/>
              <a:t> </a:t>
            </a:r>
            <a:r>
              <a:rPr lang="en-US" altLang="en-US" sz="1800" dirty="0"/>
              <a:t>Q&amp;A community (7M users, 310K questions)</a:t>
            </a:r>
          </a:p>
          <a:p>
            <a:pPr lvl="0" fontAlgn="base">
              <a:lnSpc>
                <a:spcPct val="16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/>
              <a:t>Experiment Design:</a:t>
            </a:r>
          </a:p>
          <a:p>
            <a:pPr lvl="1" fontAlgn="base">
              <a:lnSpc>
                <a:spcPct val="16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/>
              <a:t>Random assignment at the question level </a:t>
            </a:r>
          </a:p>
          <a:p>
            <a:pPr lvl="1" fontAlgn="base">
              <a:lnSpc>
                <a:spcPct val="16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 dirty="0">
                <a:solidFill>
                  <a:srgbClr val="FF0000"/>
                </a:solidFill>
              </a:rPr>
              <a:t>“</a:t>
            </a:r>
            <a:r>
              <a:rPr lang="en-US" altLang="en-US" sz="1800" dirty="0">
                <a:solidFill>
                  <a:srgbClr val="FF0000"/>
                </a:solidFill>
              </a:rPr>
              <a:t>Treat</a:t>
            </a:r>
            <a:r>
              <a:rPr lang="en-US" altLang="zh-CN" sz="1800" dirty="0">
                <a:solidFill>
                  <a:srgbClr val="FF0000"/>
                </a:solidFill>
              </a:rPr>
              <a:t>ed”</a:t>
            </a:r>
            <a:r>
              <a:rPr lang="zh-CN" altLang="en-US" sz="1800" dirty="0">
                <a:solidFill>
                  <a:srgbClr val="FF0000"/>
                </a:solidFill>
              </a:rPr>
              <a:t> </a:t>
            </a:r>
            <a:r>
              <a:rPr lang="en-US" altLang="zh-CN" sz="1800" dirty="0">
                <a:solidFill>
                  <a:srgbClr val="FF0000"/>
                </a:solidFill>
              </a:rPr>
              <a:t>questions</a:t>
            </a:r>
            <a:r>
              <a:rPr lang="en-US" altLang="en-US" sz="1800" dirty="0">
                <a:solidFill>
                  <a:srgbClr val="FF0000"/>
                </a:solidFill>
              </a:rPr>
              <a:t>: </a:t>
            </a:r>
            <a:r>
              <a:rPr lang="en-US" altLang="en-US" sz="1800" dirty="0"/>
              <a:t>AI answer appears immediately</a:t>
            </a:r>
            <a:r>
              <a:rPr lang="zh-CN" altLang="en-US" sz="1800" dirty="0"/>
              <a:t> </a:t>
            </a:r>
            <a:r>
              <a:rPr lang="en-US" altLang="zh-CN" sz="1800" dirty="0"/>
              <a:t>(</a:t>
            </a:r>
            <a:r>
              <a:rPr lang="en-US" altLang="en-US" sz="1800" dirty="0"/>
              <a:t>first position</a:t>
            </a:r>
            <a:r>
              <a:rPr lang="en-US" altLang="zh-CN" sz="1800" dirty="0"/>
              <a:t>)</a:t>
            </a:r>
            <a:endParaRPr lang="en-US" altLang="en-US" sz="1800" dirty="0"/>
          </a:p>
          <a:p>
            <a:pPr lvl="1" fontAlgn="base">
              <a:lnSpc>
                <a:spcPct val="16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 dirty="0">
                <a:solidFill>
                  <a:srgbClr val="00B0F0"/>
                </a:solidFill>
              </a:rPr>
              <a:t>“</a:t>
            </a:r>
            <a:r>
              <a:rPr lang="en-US" altLang="en-US" sz="1800" dirty="0">
                <a:solidFill>
                  <a:srgbClr val="00B0F0"/>
                </a:solidFill>
              </a:rPr>
              <a:t>Control</a:t>
            </a:r>
            <a:r>
              <a:rPr lang="en-US" altLang="zh-CN" sz="1800" dirty="0">
                <a:solidFill>
                  <a:srgbClr val="00B0F0"/>
                </a:solidFill>
              </a:rPr>
              <a:t>”</a:t>
            </a:r>
            <a:r>
              <a:rPr lang="zh-CN" altLang="en-US" sz="1800" dirty="0">
                <a:solidFill>
                  <a:srgbClr val="00B0F0"/>
                </a:solidFill>
              </a:rPr>
              <a:t> </a:t>
            </a:r>
            <a:r>
              <a:rPr lang="en-US" altLang="zh-CN" sz="1800" dirty="0">
                <a:solidFill>
                  <a:srgbClr val="00B0F0"/>
                </a:solidFill>
              </a:rPr>
              <a:t>questions</a:t>
            </a:r>
            <a:r>
              <a:rPr lang="en-US" altLang="en-US" sz="1800" dirty="0">
                <a:solidFill>
                  <a:srgbClr val="00B0F0"/>
                </a:solidFill>
              </a:rPr>
              <a:t>: </a:t>
            </a:r>
            <a:r>
              <a:rPr lang="en-US" altLang="en-US" sz="1800" dirty="0"/>
              <a:t>No AI answer </a:t>
            </a:r>
          </a:p>
          <a:p>
            <a:pPr lvl="1" fontAlgn="base">
              <a:lnSpc>
                <a:spcPct val="16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/>
              <a:t>Period: Sept 2023 - Feb 2024 (150 days, N=3,613 questions) </a:t>
            </a:r>
          </a:p>
          <a:p>
            <a:pPr lvl="0" fontAlgn="base">
              <a:lnSpc>
                <a:spcPct val="16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200" dirty="0"/>
          </a:p>
        </p:txBody>
      </p:sp>
    </p:spTree>
    <p:extLst>
      <p:ext uri="{BB962C8B-B14F-4D97-AF65-F5344CB8AC3E}">
        <p14:creationId xmlns:p14="http://schemas.microsoft.com/office/powerpoint/2010/main" val="2772872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72836-206A-A600-0B6E-D3B76CD2E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2C47F-0028-E917-67BA-4EB5B18E3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173238" cy="1325563"/>
          </a:xfrm>
        </p:spPr>
        <p:txBody>
          <a:bodyPr>
            <a:noAutofit/>
          </a:bodyPr>
          <a:lstStyle/>
          <a:p>
            <a:r>
              <a:rPr lang="en-US" sz="2800" dirty="0"/>
              <a:t>A Randomized Field Experiment on </a:t>
            </a:r>
            <a:r>
              <a:rPr lang="en-US" sz="2800" i="1" dirty="0" err="1"/>
              <a:t>SegmentFault</a:t>
            </a:r>
            <a:endParaRPr lang="en-US" sz="2800" i="1" dirty="0"/>
          </a:p>
        </p:txBody>
      </p:sp>
      <p:pic>
        <p:nvPicPr>
          <p:cNvPr id="44" name="图片 4">
            <a:extLst>
              <a:ext uri="{FF2B5EF4-FFF2-40B4-BE49-F238E27FC236}">
                <a16:creationId xmlns:a16="http://schemas.microsoft.com/office/drawing/2014/main" id="{0BB6BB20-71BD-D10D-5C5A-E1CE6BD3D3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108" y="2111097"/>
            <a:ext cx="2936391" cy="4439802"/>
          </a:xfrm>
          <a:prstGeom prst="rect">
            <a:avLst/>
          </a:prstGeom>
        </p:spPr>
      </p:pic>
      <p:pic>
        <p:nvPicPr>
          <p:cNvPr id="45" name="图片 8">
            <a:extLst>
              <a:ext uri="{FF2B5EF4-FFF2-40B4-BE49-F238E27FC236}">
                <a16:creationId xmlns:a16="http://schemas.microsoft.com/office/drawing/2014/main" id="{10B1F55C-6C5C-D52B-6137-5AFB9516D4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1740" y="2111097"/>
            <a:ext cx="2853214" cy="4439802"/>
          </a:xfrm>
          <a:prstGeom prst="rect">
            <a:avLst/>
          </a:prstGeom>
        </p:spPr>
      </p:pic>
      <p:sp>
        <p:nvSpPr>
          <p:cNvPr id="46" name="矩形 9">
            <a:extLst>
              <a:ext uri="{FF2B5EF4-FFF2-40B4-BE49-F238E27FC236}">
                <a16:creationId xmlns:a16="http://schemas.microsoft.com/office/drawing/2014/main" id="{DF223361-871E-6744-7A51-9A636437FEFA}"/>
              </a:ext>
            </a:extLst>
          </p:cNvPr>
          <p:cNvSpPr/>
          <p:nvPr/>
        </p:nvSpPr>
        <p:spPr>
          <a:xfrm>
            <a:off x="2213356" y="2248817"/>
            <a:ext cx="2723144" cy="1180183"/>
          </a:xfrm>
          <a:prstGeom prst="rect">
            <a:avLst/>
          </a:prstGeom>
          <a:solidFill>
            <a:schemeClr val="bg2">
              <a:alpha val="5000"/>
            </a:schemeClr>
          </a:solidFill>
          <a:ln w="412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10">
            <a:extLst>
              <a:ext uri="{FF2B5EF4-FFF2-40B4-BE49-F238E27FC236}">
                <a16:creationId xmlns:a16="http://schemas.microsoft.com/office/drawing/2014/main" id="{33F35DDF-B565-4D30-C5C1-04077584245C}"/>
              </a:ext>
            </a:extLst>
          </p:cNvPr>
          <p:cNvSpPr/>
          <p:nvPr/>
        </p:nvSpPr>
        <p:spPr>
          <a:xfrm>
            <a:off x="7180937" y="2248817"/>
            <a:ext cx="2644017" cy="1447258"/>
          </a:xfrm>
          <a:prstGeom prst="rect">
            <a:avLst/>
          </a:prstGeom>
          <a:solidFill>
            <a:schemeClr val="bg2">
              <a:alpha val="5000"/>
            </a:schemeClr>
          </a:solidFill>
          <a:ln w="412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 11">
            <a:extLst>
              <a:ext uri="{FF2B5EF4-FFF2-40B4-BE49-F238E27FC236}">
                <a16:creationId xmlns:a16="http://schemas.microsoft.com/office/drawing/2014/main" id="{7D024D57-3986-F970-E2DE-12C10CE5177A}"/>
              </a:ext>
            </a:extLst>
          </p:cNvPr>
          <p:cNvSpPr/>
          <p:nvPr/>
        </p:nvSpPr>
        <p:spPr>
          <a:xfrm>
            <a:off x="2213355" y="3494565"/>
            <a:ext cx="2723144" cy="529940"/>
          </a:xfrm>
          <a:prstGeom prst="rect">
            <a:avLst/>
          </a:prstGeom>
          <a:solidFill>
            <a:schemeClr val="bg1">
              <a:alpha val="5000"/>
            </a:schemeClr>
          </a:solidFill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12">
            <a:extLst>
              <a:ext uri="{FF2B5EF4-FFF2-40B4-BE49-F238E27FC236}">
                <a16:creationId xmlns:a16="http://schemas.microsoft.com/office/drawing/2014/main" id="{0EBD9D4F-1B6C-97E9-F5B6-C9A9714E192C}"/>
              </a:ext>
            </a:extLst>
          </p:cNvPr>
          <p:cNvSpPr/>
          <p:nvPr/>
        </p:nvSpPr>
        <p:spPr>
          <a:xfrm>
            <a:off x="2213355" y="4259896"/>
            <a:ext cx="2723144" cy="1353406"/>
          </a:xfrm>
          <a:prstGeom prst="rect">
            <a:avLst/>
          </a:prstGeom>
          <a:solidFill>
            <a:schemeClr val="bg2">
              <a:alpha val="5000"/>
            </a:schemeClr>
          </a:solidFill>
          <a:ln w="412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 13">
            <a:extLst>
              <a:ext uri="{FF2B5EF4-FFF2-40B4-BE49-F238E27FC236}">
                <a16:creationId xmlns:a16="http://schemas.microsoft.com/office/drawing/2014/main" id="{DEDC28E4-5062-9B08-813A-0729065E29B4}"/>
              </a:ext>
            </a:extLst>
          </p:cNvPr>
          <p:cNvSpPr/>
          <p:nvPr/>
        </p:nvSpPr>
        <p:spPr>
          <a:xfrm>
            <a:off x="7180937" y="5839365"/>
            <a:ext cx="2644017" cy="711533"/>
          </a:xfrm>
          <a:prstGeom prst="rect">
            <a:avLst/>
          </a:prstGeom>
          <a:solidFill>
            <a:schemeClr val="bg2">
              <a:alpha val="5000"/>
            </a:schemeClr>
          </a:solidFill>
          <a:ln w="412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 48">
            <a:extLst>
              <a:ext uri="{FF2B5EF4-FFF2-40B4-BE49-F238E27FC236}">
                <a16:creationId xmlns:a16="http://schemas.microsoft.com/office/drawing/2014/main" id="{8663BEE5-AA99-AB11-D3E6-A820CD404F68}"/>
              </a:ext>
            </a:extLst>
          </p:cNvPr>
          <p:cNvSpPr/>
          <p:nvPr/>
        </p:nvSpPr>
        <p:spPr>
          <a:xfrm>
            <a:off x="2213355" y="5613713"/>
            <a:ext cx="2723144" cy="893072"/>
          </a:xfrm>
          <a:prstGeom prst="rect">
            <a:avLst/>
          </a:prstGeom>
          <a:solidFill>
            <a:schemeClr val="bg2">
              <a:alpha val="5000"/>
            </a:schemeClr>
          </a:solidFill>
          <a:ln w="412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50">
            <a:extLst>
              <a:ext uri="{FF2B5EF4-FFF2-40B4-BE49-F238E27FC236}">
                <a16:creationId xmlns:a16="http://schemas.microsoft.com/office/drawing/2014/main" id="{AB586B03-2A9D-1963-7C84-FDC68F4131EF}"/>
              </a:ext>
            </a:extLst>
          </p:cNvPr>
          <p:cNvSpPr/>
          <p:nvPr/>
        </p:nvSpPr>
        <p:spPr>
          <a:xfrm>
            <a:off x="7180936" y="4999581"/>
            <a:ext cx="2644017" cy="839780"/>
          </a:xfrm>
          <a:prstGeom prst="rect">
            <a:avLst/>
          </a:prstGeom>
          <a:solidFill>
            <a:schemeClr val="bg2">
              <a:alpha val="5000"/>
            </a:schemeClr>
          </a:solidFill>
          <a:ln w="412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矩形 51">
            <a:extLst>
              <a:ext uri="{FF2B5EF4-FFF2-40B4-BE49-F238E27FC236}">
                <a16:creationId xmlns:a16="http://schemas.microsoft.com/office/drawing/2014/main" id="{15098D01-469E-167F-EE1D-5C3667A78BD2}"/>
              </a:ext>
            </a:extLst>
          </p:cNvPr>
          <p:cNvSpPr/>
          <p:nvPr/>
        </p:nvSpPr>
        <p:spPr>
          <a:xfrm flipV="1">
            <a:off x="7180936" y="3931466"/>
            <a:ext cx="2644017" cy="1068115"/>
          </a:xfrm>
          <a:prstGeom prst="rect">
            <a:avLst/>
          </a:prstGeom>
          <a:solidFill>
            <a:schemeClr val="bg2">
              <a:alpha val="5000"/>
            </a:schemeClr>
          </a:solidFill>
          <a:ln w="412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7" name="直接连接符 54">
            <a:extLst>
              <a:ext uri="{FF2B5EF4-FFF2-40B4-BE49-F238E27FC236}">
                <a16:creationId xmlns:a16="http://schemas.microsoft.com/office/drawing/2014/main" id="{7A6A4167-B81A-98B6-93AD-40A28A067D33}"/>
              </a:ext>
            </a:extLst>
          </p:cNvPr>
          <p:cNvCxnSpPr>
            <a:cxnSpLocks/>
          </p:cNvCxnSpPr>
          <p:nvPr/>
        </p:nvCxnSpPr>
        <p:spPr>
          <a:xfrm>
            <a:off x="5978210" y="1607315"/>
            <a:ext cx="0" cy="4943583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矩形: 圆角 55">
            <a:extLst>
              <a:ext uri="{FF2B5EF4-FFF2-40B4-BE49-F238E27FC236}">
                <a16:creationId xmlns:a16="http://schemas.microsoft.com/office/drawing/2014/main" id="{AF818DB9-BF6D-C265-BD73-65813F89D158}"/>
              </a:ext>
            </a:extLst>
          </p:cNvPr>
          <p:cNvSpPr/>
          <p:nvPr/>
        </p:nvSpPr>
        <p:spPr>
          <a:xfrm>
            <a:off x="2823250" y="1548648"/>
            <a:ext cx="1451212" cy="367164"/>
          </a:xfrm>
          <a:prstGeom prst="round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Treatment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79" name="矩形: 圆角 57">
            <a:extLst>
              <a:ext uri="{FF2B5EF4-FFF2-40B4-BE49-F238E27FC236}">
                <a16:creationId xmlns:a16="http://schemas.microsoft.com/office/drawing/2014/main" id="{6FF24D08-74C6-283E-7524-A60EFAB013A9}"/>
              </a:ext>
            </a:extLst>
          </p:cNvPr>
          <p:cNvSpPr/>
          <p:nvPr/>
        </p:nvSpPr>
        <p:spPr>
          <a:xfrm>
            <a:off x="7672741" y="1544941"/>
            <a:ext cx="1451212" cy="367164"/>
          </a:xfrm>
          <a:prstGeom prst="round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Control</a:t>
            </a:r>
            <a:endParaRPr lang="zh-CN" alt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7375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7" grpId="0" animBg="1"/>
      <p:bldP spid="48" grpId="0" animBg="1"/>
      <p:bldP spid="49" grpId="0" animBg="1"/>
      <p:bldP spid="50" grpId="0" animBg="1"/>
      <p:bldP spid="60" grpId="0" animBg="1"/>
      <p:bldP spid="61" grpId="0" animBg="1"/>
      <p:bldP spid="6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E4D0C-B1D3-E653-7ADD-FAD061CB3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BCF75-EFC2-3E75-132C-4EC7BFF00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173238" cy="1325563"/>
          </a:xfrm>
        </p:spPr>
        <p:txBody>
          <a:bodyPr>
            <a:noAutofit/>
          </a:bodyPr>
          <a:lstStyle/>
          <a:p>
            <a:r>
              <a:rPr lang="en-US" altLang="zh-CN" sz="2800" dirty="0"/>
              <a:t>Empirical</a:t>
            </a:r>
            <a:r>
              <a:rPr lang="zh-CN" altLang="en-US" sz="2800" dirty="0"/>
              <a:t> </a:t>
            </a:r>
            <a:r>
              <a:rPr lang="en-US" altLang="zh-CN" sz="2800" dirty="0"/>
              <a:t>Model</a:t>
            </a:r>
            <a:endParaRPr lang="en-US" sz="2800" i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988FAD-C971-96B5-0394-FE377082D0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83473"/>
                <a:ext cx="10515600" cy="514005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400" b="1" dirty="0"/>
                  <a:t>For </a:t>
                </a:r>
                <a:r>
                  <a:rPr lang="en-US" altLang="zh-CN" sz="2400" b="1" dirty="0"/>
                  <a:t>human</a:t>
                </a:r>
                <a:r>
                  <a:rPr lang="zh-CN" altLang="en-US" sz="2400" b="1" dirty="0"/>
                  <a:t> </a:t>
                </a:r>
                <a:r>
                  <a:rPr lang="en-US" sz="2400" b="1" dirty="0"/>
                  <a:t>answer supply:</a:t>
                </a:r>
                <a:br>
                  <a:rPr lang="en-US" sz="24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b="0"/>
                          <m:t>answerNum</m:t>
                        </m:r>
                      </m:e>
                      <m:sub>
                        <m:r>
                          <a:rPr lang="ar-AE" sz="2400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ar-AE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b="1" i="1">
                            <a:solidFill>
                              <a:srgbClr val="FF0000"/>
                            </a:solidFill>
                          </a:rPr>
                          <m:t>AI</m:t>
                        </m:r>
                      </m:e>
                      <m:sub>
                        <m:r>
                          <a:rPr lang="ar-AE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i="1"/>
                          <m:t>questionTiming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 i="1">
                        <a:latin typeface="Cambria Math" panose="02040503050406030204" pitchFamily="18" charset="0"/>
                      </a:rPr>
                      <m:t>𝛾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ar-AE" sz="2400" dirty="0"/>
              </a:p>
              <a:p>
                <a:pPr>
                  <a:lnSpc>
                    <a:spcPct val="150000"/>
                  </a:lnSpc>
                </a:pPr>
                <a:r>
                  <a:rPr lang="en-US" sz="2400" b="1" dirty="0"/>
                  <a:t>For </a:t>
                </a:r>
                <a:r>
                  <a:rPr lang="en-US" altLang="zh-CN" sz="2400" b="1" dirty="0"/>
                  <a:t>viewer</a:t>
                </a:r>
                <a:r>
                  <a:rPr lang="en-US" sz="2400" b="1" dirty="0"/>
                  <a:t> recognition</a:t>
                </a:r>
                <a:r>
                  <a:rPr lang="zh-CN" altLang="en-US" sz="2400" b="1" dirty="0"/>
                  <a:t> </a:t>
                </a:r>
                <a:r>
                  <a:rPr lang="en-US" altLang="zh-CN" sz="2400" b="1" dirty="0"/>
                  <a:t>of</a:t>
                </a:r>
                <a:r>
                  <a:rPr lang="zh-CN" altLang="en-US" sz="2400" b="1" dirty="0"/>
                  <a:t> </a:t>
                </a:r>
                <a:r>
                  <a:rPr lang="en-US" altLang="zh-CN" sz="2400" b="1" dirty="0"/>
                  <a:t>human</a:t>
                </a:r>
                <a:r>
                  <a:rPr lang="zh-CN" altLang="en-US" sz="2400" b="1" dirty="0"/>
                  <a:t> </a:t>
                </a:r>
                <a:r>
                  <a:rPr lang="en-US" altLang="zh-CN" sz="2400" b="1" dirty="0"/>
                  <a:t>answers</a:t>
                </a:r>
                <a:r>
                  <a:rPr lang="en-US" sz="2400" b="1" dirty="0"/>
                  <a:t>:</a:t>
                </a:r>
                <a:br>
                  <a:rPr lang="en-US" sz="24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b="0"/>
                          <m:t>likeNum</m:t>
                        </m:r>
                      </m:e>
                      <m:sub>
                        <m:r>
                          <a:rPr lang="ar-AE" sz="2400" b="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ar-AE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b="1" i="1">
                            <a:solidFill>
                              <a:srgbClr val="FF0000"/>
                            </a:solidFill>
                          </a:rPr>
                          <m:t>AI</m:t>
                        </m:r>
                      </m:e>
                      <m:sub>
                        <m:r>
                          <a:rPr lang="ar-AE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i="1"/>
                          <m:t>answerTiming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 i="1">
                        <a:latin typeface="Cambria Math" panose="02040503050406030204" pitchFamily="18" charset="0"/>
                      </a:rPr>
                      <m:t>𝛾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endParaRPr lang="ar-AE" sz="2400" dirty="0"/>
              </a:p>
              <a:p>
                <a:pPr>
                  <a:lnSpc>
                    <a:spcPct val="150000"/>
                  </a:lnSpc>
                </a:pPr>
                <a:endParaRPr lang="en-US" sz="2400" dirty="0"/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ar-AE" sz="2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captures the causal effect of AI-generated answers.</a:t>
                </a:r>
              </a:p>
              <a:p>
                <a:pPr lvl="0" fontAlgn="base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22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988FAD-C971-96B5-0394-FE377082D0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83473"/>
                <a:ext cx="10515600" cy="5140056"/>
              </a:xfrm>
              <a:blipFill>
                <a:blip r:embed="rId3"/>
                <a:stretch>
                  <a:fillRect l="-8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9849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0EC48-DA19-D30B-287E-E58816168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03FBA-3F25-EA1C-B945-78C568267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173238" cy="1325563"/>
          </a:xfrm>
        </p:spPr>
        <p:txBody>
          <a:bodyPr>
            <a:noAutofit/>
          </a:bodyPr>
          <a:lstStyle/>
          <a:p>
            <a:r>
              <a:rPr lang="en-US" altLang="zh-CN" sz="2400" dirty="0"/>
              <a:t>Effects</a:t>
            </a:r>
            <a:r>
              <a:rPr lang="zh-CN" altLang="en-US" sz="2400" dirty="0"/>
              <a:t> </a:t>
            </a:r>
            <a:r>
              <a:rPr lang="en-US" altLang="zh-CN" sz="2400" dirty="0"/>
              <a:t>of</a:t>
            </a:r>
            <a:r>
              <a:rPr lang="zh-CN" altLang="en-US" sz="2400" dirty="0"/>
              <a:t> </a:t>
            </a:r>
            <a:r>
              <a:rPr lang="en-US" altLang="zh-CN" sz="2400" dirty="0"/>
              <a:t>AI</a:t>
            </a:r>
            <a:r>
              <a:rPr lang="zh-CN" altLang="en-US" sz="2400" dirty="0"/>
              <a:t> </a:t>
            </a:r>
            <a:r>
              <a:rPr lang="en-US" altLang="zh-CN" sz="2400" dirty="0"/>
              <a:t>answers</a:t>
            </a:r>
            <a:r>
              <a:rPr lang="zh-CN" altLang="en-US" sz="2400" dirty="0"/>
              <a:t> </a:t>
            </a:r>
            <a:r>
              <a:rPr lang="en-US" altLang="zh-CN" sz="2400" dirty="0"/>
              <a:t>on</a:t>
            </a:r>
            <a:r>
              <a:rPr lang="zh-CN" altLang="en-US" sz="2400" dirty="0"/>
              <a:t> </a:t>
            </a:r>
            <a:r>
              <a:rPr lang="en-US" altLang="zh-CN" sz="2400" dirty="0"/>
              <a:t>answer</a:t>
            </a:r>
            <a:r>
              <a:rPr lang="zh-CN" altLang="en-US" sz="2400" dirty="0"/>
              <a:t> </a:t>
            </a:r>
            <a:r>
              <a:rPr lang="en-US" altLang="zh-CN" sz="2400" dirty="0"/>
              <a:t>supply</a:t>
            </a:r>
            <a:r>
              <a:rPr lang="zh-CN" altLang="en-US" sz="2400" dirty="0"/>
              <a:t> </a:t>
            </a:r>
            <a:r>
              <a:rPr lang="en-US" altLang="zh-CN" sz="2400" dirty="0"/>
              <a:t>and</a:t>
            </a:r>
            <a:r>
              <a:rPr lang="zh-CN" altLang="en-US" sz="2400" dirty="0"/>
              <a:t> </a:t>
            </a:r>
            <a:r>
              <a:rPr lang="en-US" altLang="zh-CN" sz="2400" dirty="0"/>
              <a:t>viewer</a:t>
            </a:r>
            <a:r>
              <a:rPr lang="zh-CN" altLang="en-US" sz="2400" dirty="0"/>
              <a:t> </a:t>
            </a:r>
            <a:r>
              <a:rPr lang="en-US" altLang="zh-CN" sz="2400" dirty="0"/>
              <a:t>recognition</a:t>
            </a:r>
            <a:endParaRPr lang="en-US" sz="2400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95C967-6C7C-933F-F432-580AAFCFE9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159" b="26503"/>
          <a:stretch>
            <a:fillRect/>
          </a:stretch>
        </p:blipFill>
        <p:spPr>
          <a:xfrm>
            <a:off x="1180563" y="2157413"/>
            <a:ext cx="9698865" cy="290988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2E7D08A-3298-1F62-6451-BEAAC99C6D9C}"/>
              </a:ext>
            </a:extLst>
          </p:cNvPr>
          <p:cNvSpPr/>
          <p:nvPr/>
        </p:nvSpPr>
        <p:spPr>
          <a:xfrm>
            <a:off x="4770783" y="2941982"/>
            <a:ext cx="2690191" cy="19083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fontAlgn="base">
              <a:lnSpc>
                <a:spcPct val="16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56FC70-F0C6-6090-C7EC-E340C80256C0}"/>
              </a:ext>
            </a:extLst>
          </p:cNvPr>
          <p:cNvSpPr/>
          <p:nvPr/>
        </p:nvSpPr>
        <p:spPr>
          <a:xfrm>
            <a:off x="3303639" y="2477729"/>
            <a:ext cx="4157335" cy="4642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lnSpc>
                <a:spcPct val="16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DV: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answerNum</a:t>
            </a:r>
            <a:r>
              <a:rPr lang="en-US" altLang="zh-CN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i="1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7A250A-B374-351F-0160-7684DDC8729B}"/>
              </a:ext>
            </a:extLst>
          </p:cNvPr>
          <p:cNvSpPr/>
          <p:nvPr/>
        </p:nvSpPr>
        <p:spPr>
          <a:xfrm>
            <a:off x="7460975" y="2475257"/>
            <a:ext cx="3418454" cy="4642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lnSpc>
                <a:spcPct val="16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DV: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likeNum</a:t>
            </a:r>
            <a:r>
              <a:rPr lang="en-US" altLang="zh-CN" i="1" baseline="-25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endParaRPr lang="en-US" i="1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744CA3-CEEC-D963-2E57-F549EBA6B473}"/>
              </a:ext>
            </a:extLst>
          </p:cNvPr>
          <p:cNvSpPr/>
          <p:nvPr/>
        </p:nvSpPr>
        <p:spPr>
          <a:xfrm>
            <a:off x="7460974" y="2157413"/>
            <a:ext cx="3418454" cy="26928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052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7A8BF-C4CF-D5CF-E2F0-C199A8765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ED5EF-C116-36B4-21C7-C49D63D0B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173238" cy="1325563"/>
          </a:xfrm>
        </p:spPr>
        <p:txBody>
          <a:bodyPr>
            <a:noAutofit/>
          </a:bodyPr>
          <a:lstStyle/>
          <a:p>
            <a:r>
              <a:rPr lang="en-US" altLang="zh-CN" sz="2400" dirty="0"/>
              <a:t>Effects</a:t>
            </a:r>
            <a:r>
              <a:rPr lang="zh-CN" altLang="en-US" sz="2400" dirty="0"/>
              <a:t> </a:t>
            </a:r>
            <a:r>
              <a:rPr lang="en-US" altLang="zh-CN" sz="2400" dirty="0"/>
              <a:t>of</a:t>
            </a:r>
            <a:r>
              <a:rPr lang="zh-CN" altLang="en-US" sz="2400" dirty="0"/>
              <a:t> </a:t>
            </a:r>
            <a:r>
              <a:rPr lang="en-US" altLang="zh-CN" sz="2400" dirty="0"/>
              <a:t>AI</a:t>
            </a:r>
            <a:r>
              <a:rPr lang="zh-CN" altLang="en-US" sz="2400" dirty="0"/>
              <a:t> </a:t>
            </a:r>
            <a:r>
              <a:rPr lang="en-US" altLang="zh-CN" sz="2400" dirty="0"/>
              <a:t>answers</a:t>
            </a:r>
            <a:r>
              <a:rPr lang="zh-CN" altLang="en-US" sz="2400" dirty="0"/>
              <a:t> </a:t>
            </a:r>
            <a:r>
              <a:rPr lang="en-US" altLang="zh-CN" sz="2400" dirty="0"/>
              <a:t>on</a:t>
            </a:r>
            <a:r>
              <a:rPr lang="zh-CN" altLang="en-US" sz="2400" dirty="0"/>
              <a:t> </a:t>
            </a:r>
            <a:r>
              <a:rPr lang="en-US" altLang="zh-CN" sz="2400" dirty="0"/>
              <a:t>answer</a:t>
            </a:r>
            <a:r>
              <a:rPr lang="zh-CN" altLang="en-US" sz="2400" dirty="0"/>
              <a:t> </a:t>
            </a:r>
            <a:r>
              <a:rPr lang="en-US" altLang="zh-CN" sz="2400" dirty="0"/>
              <a:t>supply</a:t>
            </a:r>
            <a:r>
              <a:rPr lang="zh-CN" altLang="en-US" sz="2400" dirty="0"/>
              <a:t> </a:t>
            </a:r>
            <a:r>
              <a:rPr lang="en-US" altLang="zh-CN" sz="2400" dirty="0"/>
              <a:t>and</a:t>
            </a:r>
            <a:r>
              <a:rPr lang="zh-CN" altLang="en-US" sz="2400" dirty="0"/>
              <a:t> </a:t>
            </a:r>
            <a:r>
              <a:rPr lang="en-US" altLang="zh-CN" sz="2400" dirty="0"/>
              <a:t>viewer</a:t>
            </a:r>
            <a:r>
              <a:rPr lang="zh-CN" altLang="en-US" sz="2400" dirty="0"/>
              <a:t> </a:t>
            </a:r>
            <a:r>
              <a:rPr lang="en-US" altLang="zh-CN" sz="2400" dirty="0"/>
              <a:t>recognition</a:t>
            </a:r>
            <a:endParaRPr lang="en-US" sz="2400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FA6D15-5BED-356D-68D8-4FEC4D02DE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67096"/>
            <a:ext cx="11198629" cy="4178329"/>
          </a:xfrm>
        </p:spPr>
        <p:txBody>
          <a:bodyPr>
            <a:normAutofit fontScale="70000" lnSpcReduction="20000"/>
          </a:bodyPr>
          <a:lstStyle/>
          <a:p>
            <a:pPr fontAlgn="base">
              <a:lnSpc>
                <a:spcPct val="16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/>
              <a:t>Reduced Human Answers </a:t>
            </a:r>
          </a:p>
          <a:p>
            <a:pPr lvl="1" fontAlgn="base">
              <a:lnSpc>
                <a:spcPct val="16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300" dirty="0"/>
              <a:t>-4.</a:t>
            </a:r>
            <a:r>
              <a:rPr lang="en-US" altLang="zh-CN" sz="2300" dirty="0"/>
              <a:t>6</a:t>
            </a:r>
            <a:r>
              <a:rPr lang="en-US" sz="2300" dirty="0"/>
              <a:t>% in human answers</a:t>
            </a:r>
          </a:p>
          <a:p>
            <a:pPr fontAlgn="base">
              <a:lnSpc>
                <a:spcPct val="16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/>
              <a:t>Reduced</a:t>
            </a:r>
            <a:r>
              <a:rPr lang="zh-CN" altLang="en-US" sz="2400" dirty="0"/>
              <a:t> </a:t>
            </a:r>
            <a:r>
              <a:rPr lang="en-US" altLang="zh-CN" sz="2400" dirty="0"/>
              <a:t>Viewer</a:t>
            </a:r>
            <a:r>
              <a:rPr lang="zh-CN" altLang="en-US" sz="2400" dirty="0"/>
              <a:t> </a:t>
            </a:r>
            <a:r>
              <a:rPr lang="en-US" altLang="zh-CN" sz="2400" dirty="0"/>
              <a:t>Recognition</a:t>
            </a:r>
          </a:p>
          <a:p>
            <a:pPr lvl="1" fontAlgn="base">
              <a:lnSpc>
                <a:spcPct val="16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300" dirty="0"/>
              <a:t>-</a:t>
            </a:r>
            <a:r>
              <a:rPr lang="en-US" sz="2300" dirty="0"/>
              <a:t>14.8% </a:t>
            </a:r>
            <a:r>
              <a:rPr lang="en-US" altLang="zh-CN" sz="2300" dirty="0"/>
              <a:t>in</a:t>
            </a:r>
            <a:r>
              <a:rPr lang="zh-CN" altLang="en-US" sz="2300" dirty="0"/>
              <a:t> </a:t>
            </a:r>
            <a:r>
              <a:rPr lang="en-US" sz="2300" dirty="0"/>
              <a:t>likes</a:t>
            </a:r>
          </a:p>
          <a:p>
            <a:pPr fontAlgn="base">
              <a:lnSpc>
                <a:spcPct val="16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500" dirty="0"/>
              <a:t>Robust </a:t>
            </a:r>
            <a:r>
              <a:rPr lang="en-US" altLang="zh-CN" sz="2500" dirty="0"/>
              <a:t>to</a:t>
            </a:r>
            <a:r>
              <a:rPr lang="zh-CN" altLang="en-US" sz="2500" dirty="0"/>
              <a:t> </a:t>
            </a:r>
            <a:endParaRPr lang="en-US" altLang="zh-CN" sz="2500" dirty="0"/>
          </a:p>
          <a:p>
            <a:pPr lvl="1" fontAlgn="base">
              <a:lnSpc>
                <a:spcPct val="16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300" i="1" dirty="0">
                <a:solidFill>
                  <a:schemeClr val="accent2"/>
                </a:solidFill>
              </a:rPr>
              <a:t>specifications with progressive controls</a:t>
            </a:r>
          </a:p>
          <a:p>
            <a:pPr lvl="1" fontAlgn="base">
              <a:lnSpc>
                <a:spcPct val="16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300" i="1" dirty="0">
                <a:solidFill>
                  <a:schemeClr val="accent2"/>
                </a:solidFill>
              </a:rPr>
              <a:t>a</a:t>
            </a:r>
            <a:r>
              <a:rPr lang="en-US" sz="2300" i="1" dirty="0">
                <a:solidFill>
                  <a:schemeClr val="accent2"/>
                </a:solidFill>
              </a:rPr>
              <a:t>lternative </a:t>
            </a:r>
            <a:r>
              <a:rPr lang="en-US" altLang="zh-CN" sz="2300" i="1" dirty="0">
                <a:solidFill>
                  <a:schemeClr val="accent2"/>
                </a:solidFill>
              </a:rPr>
              <a:t>model</a:t>
            </a:r>
            <a:r>
              <a:rPr lang="zh-CN" altLang="en-US" sz="2300" i="1" dirty="0">
                <a:solidFill>
                  <a:schemeClr val="accent2"/>
                </a:solidFill>
              </a:rPr>
              <a:t> </a:t>
            </a:r>
            <a:r>
              <a:rPr lang="en-US" altLang="zh-CN" sz="2300" i="1" dirty="0">
                <a:solidFill>
                  <a:schemeClr val="accent2"/>
                </a:solidFill>
              </a:rPr>
              <a:t>selection</a:t>
            </a:r>
            <a:r>
              <a:rPr lang="en-US" sz="2300" i="1" dirty="0">
                <a:solidFill>
                  <a:schemeClr val="accent2"/>
                </a:solidFill>
              </a:rPr>
              <a:t> </a:t>
            </a:r>
            <a:r>
              <a:rPr lang="en-US" altLang="zh-CN" sz="2300" dirty="0"/>
              <a:t>(</a:t>
            </a:r>
            <a:r>
              <a:rPr lang="en-US" sz="2300" dirty="0"/>
              <a:t>Poisson, zero-inflated Poisson (ZIP), and zero-inflated Negative Binomial (ZINB)</a:t>
            </a:r>
            <a:r>
              <a:rPr lang="zh-CN" altLang="en-US" sz="2300" dirty="0"/>
              <a:t> </a:t>
            </a:r>
            <a:r>
              <a:rPr lang="en-US" altLang="zh-CN" sz="2300" dirty="0"/>
              <a:t>)</a:t>
            </a:r>
          </a:p>
          <a:p>
            <a:pPr lvl="1" fontAlgn="base">
              <a:lnSpc>
                <a:spcPct val="16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300" i="1" dirty="0">
                <a:solidFill>
                  <a:schemeClr val="accent2"/>
                </a:solidFill>
              </a:rPr>
              <a:t>alternative time frame </a:t>
            </a:r>
            <a:r>
              <a:rPr lang="en-US" sz="2300" dirty="0"/>
              <a:t>used in analyses </a:t>
            </a:r>
            <a:r>
              <a:rPr lang="en-US" altLang="zh-CN" sz="2300" dirty="0"/>
              <a:t>(for</a:t>
            </a:r>
            <a:r>
              <a:rPr lang="zh-CN" altLang="en-US" sz="2300" dirty="0"/>
              <a:t> </a:t>
            </a:r>
            <a:r>
              <a:rPr lang="en-US" altLang="zh-CN" sz="2300" dirty="0"/>
              <a:t>both</a:t>
            </a:r>
            <a:r>
              <a:rPr lang="zh-CN" altLang="en-US" sz="2300" dirty="0"/>
              <a:t> </a:t>
            </a:r>
            <a:r>
              <a:rPr lang="en-US" altLang="zh-CN" sz="2300" dirty="0"/>
              <a:t>DV</a:t>
            </a:r>
            <a:r>
              <a:rPr lang="zh-CN" altLang="en-US" sz="2300" dirty="0"/>
              <a:t> </a:t>
            </a:r>
            <a:r>
              <a:rPr lang="en-US" altLang="zh-CN" sz="2300" dirty="0"/>
              <a:t>calculation</a:t>
            </a:r>
            <a:r>
              <a:rPr lang="zh-CN" altLang="en-US" sz="2300" dirty="0"/>
              <a:t> </a:t>
            </a:r>
            <a:r>
              <a:rPr lang="en-US" altLang="zh-CN" sz="2300" dirty="0"/>
              <a:t>and</a:t>
            </a:r>
            <a:r>
              <a:rPr lang="zh-CN" altLang="en-US" sz="2300" dirty="0"/>
              <a:t> </a:t>
            </a:r>
            <a:r>
              <a:rPr lang="en-US" altLang="zh-CN" sz="2300" dirty="0"/>
              <a:t>data</a:t>
            </a:r>
            <a:r>
              <a:rPr lang="zh-CN" altLang="en-US" sz="2300" dirty="0"/>
              <a:t> </a:t>
            </a:r>
            <a:r>
              <a:rPr lang="en-US" altLang="zh-CN" sz="2300" dirty="0"/>
              <a:t>used)</a:t>
            </a:r>
            <a:endParaRPr lang="en-US" sz="2300" dirty="0"/>
          </a:p>
          <a:p>
            <a:pPr lvl="1" fontAlgn="base">
              <a:lnSpc>
                <a:spcPct val="16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300" i="1" dirty="0">
                <a:solidFill>
                  <a:schemeClr val="accent2"/>
                </a:solidFill>
              </a:rPr>
              <a:t>p</a:t>
            </a:r>
            <a:r>
              <a:rPr lang="en-US" sz="2300" i="1" dirty="0">
                <a:solidFill>
                  <a:schemeClr val="accent2"/>
                </a:solidFill>
              </a:rPr>
              <a:t>otential </a:t>
            </a:r>
            <a:r>
              <a:rPr lang="en-US" altLang="zh-CN" sz="2300" i="1" dirty="0">
                <a:solidFill>
                  <a:schemeClr val="accent2"/>
                </a:solidFill>
              </a:rPr>
              <a:t>s</a:t>
            </a:r>
            <a:r>
              <a:rPr lang="en-US" sz="2300" i="1" dirty="0">
                <a:solidFill>
                  <a:schemeClr val="accent2"/>
                </a:solidFill>
              </a:rPr>
              <a:t>pillover </a:t>
            </a:r>
            <a:r>
              <a:rPr lang="en-US" altLang="zh-CN" sz="2300" i="1" dirty="0">
                <a:solidFill>
                  <a:schemeClr val="accent2"/>
                </a:solidFill>
              </a:rPr>
              <a:t>e</a:t>
            </a:r>
            <a:r>
              <a:rPr lang="en-US" sz="2300" i="1" dirty="0">
                <a:solidFill>
                  <a:schemeClr val="accent2"/>
                </a:solidFill>
              </a:rPr>
              <a:t>ffects </a:t>
            </a:r>
          </a:p>
          <a:p>
            <a:pPr lvl="1" fontAlgn="base">
              <a:lnSpc>
                <a:spcPct val="16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300" i="1" dirty="0">
                <a:solidFill>
                  <a:schemeClr val="accent2"/>
                </a:solidFill>
              </a:rPr>
              <a:t>(little)</a:t>
            </a:r>
            <a:r>
              <a:rPr lang="zh-CN" altLang="en-US" sz="2300" i="1" dirty="0">
                <a:solidFill>
                  <a:schemeClr val="accent2"/>
                </a:solidFill>
              </a:rPr>
              <a:t> </a:t>
            </a:r>
            <a:r>
              <a:rPr lang="en-US" altLang="zh-CN" sz="2300" i="1" dirty="0">
                <a:solidFill>
                  <a:schemeClr val="accent2"/>
                </a:solidFill>
              </a:rPr>
              <a:t>potential</a:t>
            </a:r>
            <a:r>
              <a:rPr lang="zh-CN" altLang="en-US" sz="2300" i="1" dirty="0">
                <a:solidFill>
                  <a:schemeClr val="accent2"/>
                </a:solidFill>
              </a:rPr>
              <a:t> </a:t>
            </a:r>
            <a:r>
              <a:rPr lang="en-US" altLang="zh-CN" sz="2300" i="1" dirty="0">
                <a:solidFill>
                  <a:schemeClr val="accent2"/>
                </a:solidFill>
              </a:rPr>
              <a:t>of</a:t>
            </a:r>
            <a:r>
              <a:rPr lang="zh-CN" altLang="en-US" sz="2300" i="1" dirty="0">
                <a:solidFill>
                  <a:schemeClr val="accent2"/>
                </a:solidFill>
              </a:rPr>
              <a:t> </a:t>
            </a:r>
            <a:r>
              <a:rPr lang="en-US" altLang="zh-CN" sz="2300" i="1" dirty="0">
                <a:solidFill>
                  <a:schemeClr val="accent2"/>
                </a:solidFill>
              </a:rPr>
              <a:t>low</a:t>
            </a:r>
            <a:r>
              <a:rPr lang="zh-CN" altLang="en-US" sz="2300" i="1" dirty="0">
                <a:solidFill>
                  <a:schemeClr val="accent2"/>
                </a:solidFill>
              </a:rPr>
              <a:t> </a:t>
            </a:r>
            <a:r>
              <a:rPr lang="en-US" altLang="zh-CN" sz="2300" i="1" dirty="0">
                <a:solidFill>
                  <a:schemeClr val="accent2"/>
                </a:solidFill>
              </a:rPr>
              <a:t>quality</a:t>
            </a:r>
            <a:r>
              <a:rPr lang="zh-CN" altLang="en-US" sz="2300" i="1" dirty="0">
                <a:solidFill>
                  <a:schemeClr val="accent2"/>
                </a:solidFill>
              </a:rPr>
              <a:t> </a:t>
            </a:r>
            <a:r>
              <a:rPr lang="en-US" altLang="zh-CN" sz="2300" i="1" dirty="0">
                <a:solidFill>
                  <a:schemeClr val="accent2"/>
                </a:solidFill>
              </a:rPr>
              <a:t>of</a:t>
            </a:r>
            <a:r>
              <a:rPr lang="zh-CN" altLang="en-US" sz="2300" i="1" dirty="0">
                <a:solidFill>
                  <a:schemeClr val="accent2"/>
                </a:solidFill>
              </a:rPr>
              <a:t> </a:t>
            </a:r>
            <a:r>
              <a:rPr lang="en-US" altLang="zh-CN" sz="2300" i="1" dirty="0">
                <a:solidFill>
                  <a:schemeClr val="accent2"/>
                </a:solidFill>
              </a:rPr>
              <a:t>randomization</a:t>
            </a:r>
            <a:r>
              <a:rPr lang="zh-CN" altLang="en-US" sz="2300" i="1" dirty="0">
                <a:solidFill>
                  <a:schemeClr val="accent2"/>
                </a:solidFill>
              </a:rPr>
              <a:t> </a:t>
            </a:r>
            <a:r>
              <a:rPr lang="en-US" altLang="zh-CN" sz="2300" dirty="0"/>
              <a:t>due</a:t>
            </a:r>
            <a:r>
              <a:rPr lang="zh-CN" altLang="en-US" sz="2300" dirty="0"/>
              <a:t> </a:t>
            </a:r>
            <a:r>
              <a:rPr lang="en-US" altLang="zh-CN" sz="2300" dirty="0"/>
              <a:t>to</a:t>
            </a:r>
            <a:r>
              <a:rPr lang="zh-CN" altLang="en-US" sz="2300" dirty="0"/>
              <a:t> </a:t>
            </a:r>
            <a:r>
              <a:rPr lang="en-US" altLang="zh-CN" sz="2300" dirty="0"/>
              <a:t>unobservable</a:t>
            </a:r>
            <a:r>
              <a:rPr lang="zh-CN" altLang="en-US" sz="2300" dirty="0"/>
              <a:t> </a:t>
            </a:r>
            <a:r>
              <a:rPr lang="en-US" altLang="zh-CN" sz="2300" dirty="0"/>
              <a:t>omitted</a:t>
            </a:r>
            <a:r>
              <a:rPr lang="zh-CN" altLang="en-US" sz="2300" dirty="0"/>
              <a:t> </a:t>
            </a:r>
            <a:r>
              <a:rPr lang="en-US" altLang="zh-CN" sz="2300" dirty="0"/>
              <a:t>variables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3139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FF3AD-A3E0-1988-76DB-B5B3641A6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4F620-C569-59A4-5FFF-A5FFBB96B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173238" cy="1325563"/>
          </a:xfrm>
        </p:spPr>
        <p:txBody>
          <a:bodyPr>
            <a:noAutofit/>
          </a:bodyPr>
          <a:lstStyle/>
          <a:p>
            <a:r>
              <a:rPr lang="en-US" sz="2000" dirty="0"/>
              <a:t>Why </a:t>
            </a:r>
            <a:r>
              <a:rPr lang="en-US" altLang="zh-CN" sz="2000" dirty="0"/>
              <a:t>AI</a:t>
            </a:r>
            <a:r>
              <a:rPr lang="zh-CN" altLang="en-US" sz="2000" dirty="0"/>
              <a:t> </a:t>
            </a:r>
            <a:r>
              <a:rPr lang="en-US" altLang="zh-CN" sz="2000" dirty="0"/>
              <a:t>Deters</a:t>
            </a:r>
            <a:r>
              <a:rPr lang="zh-CN" altLang="en-US" sz="2000" dirty="0"/>
              <a:t> </a:t>
            </a:r>
            <a:r>
              <a:rPr lang="en-US" altLang="zh-CN" sz="2000" dirty="0"/>
              <a:t>human</a:t>
            </a:r>
            <a:r>
              <a:rPr lang="zh-CN" altLang="en-US" sz="2000" dirty="0"/>
              <a:t> </a:t>
            </a:r>
            <a:r>
              <a:rPr lang="en-US" altLang="zh-CN" sz="2000" dirty="0"/>
              <a:t>answer</a:t>
            </a:r>
            <a:r>
              <a:rPr lang="zh-CN" altLang="en-US" sz="2000" dirty="0"/>
              <a:t> </a:t>
            </a:r>
            <a:r>
              <a:rPr lang="en-US" altLang="zh-CN" sz="2000" dirty="0"/>
              <a:t>supply</a:t>
            </a:r>
            <a:r>
              <a:rPr lang="en-US" sz="2000" dirty="0"/>
              <a:t>? Three Theoretical Mechanisms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F8CD865-3DD0-51A9-2AFC-7A5B5F8180C2}"/>
              </a:ext>
            </a:extLst>
          </p:cNvPr>
          <p:cNvSpPr/>
          <p:nvPr/>
        </p:nvSpPr>
        <p:spPr>
          <a:xfrm>
            <a:off x="4105135" y="1804988"/>
            <a:ext cx="3850645" cy="1477338"/>
          </a:xfrm>
          <a:prstGeom prst="roundRect">
            <a:avLst/>
          </a:prstGeom>
          <a:solidFill>
            <a:srgbClr val="E5FCF0"/>
          </a:solidFill>
          <a:ln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125"/>
              </a:spcAft>
            </a:pPr>
            <a:r>
              <a:rPr lang="en-US" altLang="zh-TW" sz="2000" b="1" dirty="0">
                <a:solidFill>
                  <a:srgbClr val="047857"/>
                </a:solidFill>
                <a:latin typeface="-apple-system"/>
              </a:rPr>
              <a:t>1. </a:t>
            </a:r>
            <a:r>
              <a:rPr lang="en-US" altLang="zh-CN" sz="2000" b="1" dirty="0">
                <a:solidFill>
                  <a:srgbClr val="047857"/>
                </a:solidFill>
                <a:latin typeface="-apple-system"/>
              </a:rPr>
              <a:t>Content</a:t>
            </a:r>
            <a:r>
              <a:rPr lang="zh-CN" altLang="en-US" sz="2000" b="1" dirty="0">
                <a:solidFill>
                  <a:srgbClr val="047857"/>
                </a:solidFill>
                <a:latin typeface="-apple-system"/>
              </a:rPr>
              <a:t> </a:t>
            </a:r>
            <a:r>
              <a:rPr lang="en-US" altLang="zh-CN" sz="2000" b="1" dirty="0">
                <a:solidFill>
                  <a:srgbClr val="047857"/>
                </a:solidFill>
                <a:latin typeface="-apple-system"/>
              </a:rPr>
              <a:t>Effect</a:t>
            </a:r>
            <a:br>
              <a:rPr lang="en-US" altLang="zh-CN" sz="2000" b="1" dirty="0">
                <a:solidFill>
                  <a:srgbClr val="047857"/>
                </a:solidFill>
                <a:latin typeface="-apple-system"/>
              </a:rPr>
            </a:br>
            <a:r>
              <a:rPr lang="en-US" altLang="zh-CN" sz="1600" b="1" dirty="0">
                <a:solidFill>
                  <a:srgbClr val="047857"/>
                </a:solidFill>
                <a:latin typeface="-apple-system"/>
              </a:rPr>
              <a:t>(what</a:t>
            </a:r>
            <a:r>
              <a:rPr lang="zh-CN" altLang="en-US" sz="1600" b="1" dirty="0">
                <a:solidFill>
                  <a:srgbClr val="047857"/>
                </a:solidFill>
                <a:latin typeface="-apple-system"/>
              </a:rPr>
              <a:t> </a:t>
            </a:r>
            <a:r>
              <a:rPr lang="en-US" altLang="zh-CN" sz="1600" b="1" dirty="0">
                <a:solidFill>
                  <a:srgbClr val="047857"/>
                </a:solidFill>
                <a:latin typeface="-apple-system"/>
              </a:rPr>
              <a:t>AI</a:t>
            </a:r>
            <a:r>
              <a:rPr lang="zh-CN" altLang="en-US" sz="1600" b="1" dirty="0">
                <a:solidFill>
                  <a:srgbClr val="047857"/>
                </a:solidFill>
                <a:latin typeface="-apple-system"/>
              </a:rPr>
              <a:t> </a:t>
            </a:r>
            <a:r>
              <a:rPr lang="en-US" altLang="zh-CN" sz="1600" b="1" dirty="0">
                <a:solidFill>
                  <a:srgbClr val="047857"/>
                </a:solidFill>
                <a:latin typeface="-apple-system"/>
              </a:rPr>
              <a:t>says)</a:t>
            </a:r>
            <a:br>
              <a:rPr lang="en-US" altLang="zh-CN" sz="1600" b="1" dirty="0">
                <a:solidFill>
                  <a:srgbClr val="047857"/>
                </a:solidFill>
                <a:latin typeface="-apple-system"/>
              </a:rPr>
            </a:br>
            <a:br>
              <a:rPr lang="zh-TW" altLang="en-US" sz="1600" dirty="0">
                <a:solidFill>
                  <a:srgbClr val="333333"/>
                </a:solidFill>
                <a:latin typeface="-apple-system"/>
              </a:rPr>
            </a:br>
            <a:r>
              <a:rPr lang="en-US" altLang="zh-CN" sz="1600" dirty="0">
                <a:solidFill>
                  <a:srgbClr val="333333"/>
                </a:solidFill>
                <a:latin typeface="-apple-system"/>
              </a:rPr>
              <a:t>&gt;</a:t>
            </a:r>
            <a:r>
              <a:rPr lang="zh-CN" altLang="en-US" sz="1600" dirty="0">
                <a:solidFill>
                  <a:srgbClr val="333333"/>
                </a:solidFill>
                <a:latin typeface="-apple-system"/>
              </a:rPr>
              <a:t> </a:t>
            </a:r>
            <a:r>
              <a:rPr lang="en-US" altLang="zh-CN" sz="1600" dirty="0">
                <a:solidFill>
                  <a:srgbClr val="333333"/>
                </a:solidFill>
                <a:latin typeface="-apple-system"/>
              </a:rPr>
              <a:t>Content</a:t>
            </a:r>
            <a:r>
              <a:rPr lang="zh-CN" altLang="en-US" sz="1600" dirty="0">
                <a:solidFill>
                  <a:srgbClr val="333333"/>
                </a:solidFill>
                <a:latin typeface="-apple-system"/>
              </a:rPr>
              <a:t> </a:t>
            </a:r>
            <a:r>
              <a:rPr lang="en-US" altLang="zh-CN" sz="1600" dirty="0">
                <a:solidFill>
                  <a:srgbClr val="333333"/>
                </a:solidFill>
                <a:latin typeface="-apple-system"/>
              </a:rPr>
              <a:t>quality</a:t>
            </a:r>
            <a:r>
              <a:rPr lang="zh-CN" altLang="en-US" sz="1600" dirty="0">
                <a:solidFill>
                  <a:srgbClr val="333333"/>
                </a:solidFill>
                <a:latin typeface="-apple-system"/>
              </a:rPr>
              <a:t> </a:t>
            </a:r>
            <a:r>
              <a:rPr lang="en-US" altLang="zh-CN" sz="1600" dirty="0">
                <a:solidFill>
                  <a:srgbClr val="333333"/>
                </a:solidFill>
                <a:latin typeface="-apple-system"/>
              </a:rPr>
              <a:t>(length,</a:t>
            </a:r>
            <a:r>
              <a:rPr lang="zh-CN" altLang="en-US" sz="1600" dirty="0">
                <a:solidFill>
                  <a:srgbClr val="333333"/>
                </a:solidFill>
                <a:latin typeface="-apple-system"/>
              </a:rPr>
              <a:t> </a:t>
            </a:r>
            <a:r>
              <a:rPr lang="en-US" altLang="zh-CN" sz="1600" dirty="0">
                <a:solidFill>
                  <a:srgbClr val="333333"/>
                </a:solidFill>
                <a:latin typeface="-apple-system"/>
              </a:rPr>
              <a:t>readability,</a:t>
            </a:r>
            <a:r>
              <a:rPr lang="zh-CN" altLang="en-US" sz="1600" dirty="0">
                <a:solidFill>
                  <a:srgbClr val="333333"/>
                </a:solidFill>
                <a:latin typeface="-apple-system"/>
              </a:rPr>
              <a:t> </a:t>
            </a:r>
            <a:r>
              <a:rPr lang="en-US" altLang="zh-CN" sz="1600" dirty="0">
                <a:solidFill>
                  <a:srgbClr val="333333"/>
                </a:solidFill>
                <a:latin typeface="-apple-system"/>
              </a:rPr>
              <a:t>technical</a:t>
            </a:r>
            <a:r>
              <a:rPr lang="zh-CN" altLang="en-US" sz="1600" dirty="0">
                <a:solidFill>
                  <a:srgbClr val="333333"/>
                </a:solidFill>
                <a:latin typeface="-apple-system"/>
              </a:rPr>
              <a:t> </a:t>
            </a:r>
            <a:r>
              <a:rPr lang="en-US" altLang="zh-CN" sz="1600" dirty="0">
                <a:solidFill>
                  <a:srgbClr val="333333"/>
                </a:solidFill>
                <a:latin typeface="-apple-system"/>
              </a:rPr>
              <a:t>depth,</a:t>
            </a:r>
            <a:r>
              <a:rPr lang="zh-CN" altLang="en-US" sz="1600" dirty="0">
                <a:solidFill>
                  <a:srgbClr val="333333"/>
                </a:solidFill>
                <a:latin typeface="-apple-system"/>
              </a:rPr>
              <a:t> </a:t>
            </a:r>
            <a:r>
              <a:rPr lang="en-US" altLang="zh-CN" sz="1600" dirty="0">
                <a:solidFill>
                  <a:srgbClr val="333333"/>
                </a:solidFill>
                <a:latin typeface="-apple-system"/>
              </a:rPr>
              <a:t>…)</a:t>
            </a:r>
            <a:endParaRPr lang="en-US" sz="2000" dirty="0">
              <a:solidFill>
                <a:srgbClr val="333333"/>
              </a:solidFill>
              <a:latin typeface="-apple-syste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8410FD6-B84A-4320-BCB1-BB5EF81289B1}"/>
              </a:ext>
            </a:extLst>
          </p:cNvPr>
          <p:cNvSpPr/>
          <p:nvPr/>
        </p:nvSpPr>
        <p:spPr>
          <a:xfrm>
            <a:off x="4105135" y="3519247"/>
            <a:ext cx="3850645" cy="1477337"/>
          </a:xfrm>
          <a:prstGeom prst="roundRect">
            <a:avLst/>
          </a:prstGeom>
          <a:solidFill>
            <a:srgbClr val="E7F1FF"/>
          </a:solidFill>
          <a:ln>
            <a:solidFill>
              <a:srgbClr val="2562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500"/>
              </a:spcAft>
            </a:pPr>
            <a:r>
              <a:rPr lang="en-US" altLang="zh-TW" sz="2000" b="1" dirty="0">
                <a:solidFill>
                  <a:srgbClr val="1E40AF"/>
                </a:solidFill>
                <a:latin typeface="-apple-system"/>
              </a:rPr>
              <a:t>2. </a:t>
            </a:r>
            <a:r>
              <a:rPr lang="en-US" altLang="zh-CN" sz="2000" b="1" dirty="0">
                <a:solidFill>
                  <a:srgbClr val="1E40AF"/>
                </a:solidFill>
                <a:latin typeface="-apple-system"/>
              </a:rPr>
              <a:t>Position</a:t>
            </a:r>
            <a:r>
              <a:rPr lang="zh-CN" altLang="en-US" sz="2000" b="1" dirty="0">
                <a:solidFill>
                  <a:srgbClr val="1E40AF"/>
                </a:solidFill>
                <a:latin typeface="-apple-system"/>
              </a:rPr>
              <a:t> </a:t>
            </a:r>
            <a:r>
              <a:rPr lang="en-US" altLang="zh-CN" sz="2000" b="1" dirty="0">
                <a:solidFill>
                  <a:srgbClr val="1E40AF"/>
                </a:solidFill>
                <a:latin typeface="-apple-system"/>
              </a:rPr>
              <a:t>Effect</a:t>
            </a:r>
            <a:br>
              <a:rPr lang="en-US" altLang="zh-CN" sz="2800" b="1" dirty="0">
                <a:solidFill>
                  <a:srgbClr val="047857"/>
                </a:solidFill>
                <a:latin typeface="-apple-system"/>
              </a:rPr>
            </a:br>
            <a:r>
              <a:rPr lang="en-US" altLang="zh-CN" sz="1600" b="1" dirty="0">
                <a:solidFill>
                  <a:srgbClr val="1E40AF"/>
                </a:solidFill>
                <a:latin typeface="-apple-system"/>
              </a:rPr>
              <a:t>(when/where</a:t>
            </a:r>
            <a:r>
              <a:rPr lang="zh-CN" altLang="en-US" sz="1600" b="1" dirty="0">
                <a:solidFill>
                  <a:srgbClr val="1E40AF"/>
                </a:solidFill>
                <a:latin typeface="-apple-system"/>
              </a:rPr>
              <a:t> </a:t>
            </a:r>
            <a:r>
              <a:rPr lang="en-US" altLang="zh-CN" sz="1600" b="1" dirty="0">
                <a:solidFill>
                  <a:srgbClr val="1E40AF"/>
                </a:solidFill>
                <a:latin typeface="-apple-system"/>
              </a:rPr>
              <a:t>AI</a:t>
            </a:r>
            <a:r>
              <a:rPr lang="zh-CN" altLang="en-US" sz="1600" b="1" dirty="0">
                <a:solidFill>
                  <a:srgbClr val="1E40AF"/>
                </a:solidFill>
                <a:latin typeface="-apple-system"/>
              </a:rPr>
              <a:t> </a:t>
            </a:r>
            <a:r>
              <a:rPr lang="en-US" altLang="zh-CN" sz="1600" b="1" dirty="0">
                <a:solidFill>
                  <a:srgbClr val="1E40AF"/>
                </a:solidFill>
                <a:latin typeface="-apple-system"/>
              </a:rPr>
              <a:t>arrives)</a:t>
            </a:r>
            <a:br>
              <a:rPr lang="en-US" altLang="zh-CN" sz="1600" b="1" dirty="0">
                <a:solidFill>
                  <a:srgbClr val="1E40AF"/>
                </a:solidFill>
                <a:latin typeface="-apple-system"/>
              </a:rPr>
            </a:br>
            <a:br>
              <a:rPr lang="zh-TW" altLang="en-US" sz="1600" dirty="0">
                <a:solidFill>
                  <a:srgbClr val="333333"/>
                </a:solidFill>
                <a:latin typeface="-apple-system"/>
              </a:rPr>
            </a:br>
            <a:r>
              <a:rPr lang="en-US" altLang="zh-CN" sz="1600" dirty="0">
                <a:solidFill>
                  <a:srgbClr val="333333"/>
                </a:solidFill>
                <a:latin typeface="-apple-system"/>
              </a:rPr>
              <a:t>&gt;</a:t>
            </a:r>
            <a:r>
              <a:rPr lang="zh-CN" altLang="en-US" sz="1600" dirty="0">
                <a:solidFill>
                  <a:srgbClr val="333333"/>
                </a:solidFill>
                <a:latin typeface="-apple-system"/>
              </a:rPr>
              <a:t> </a:t>
            </a:r>
            <a:r>
              <a:rPr lang="en-US" altLang="zh-CN" sz="1600" dirty="0">
                <a:solidFill>
                  <a:srgbClr val="333333"/>
                </a:solidFill>
                <a:latin typeface="-apple-system"/>
              </a:rPr>
              <a:t>Because</a:t>
            </a:r>
            <a:r>
              <a:rPr lang="zh-CN" altLang="en-US" sz="1600" dirty="0">
                <a:solidFill>
                  <a:srgbClr val="333333"/>
                </a:solidFill>
                <a:latin typeface="-apple-system"/>
              </a:rPr>
              <a:t> </a:t>
            </a:r>
            <a:r>
              <a:rPr lang="en-US" altLang="zh-CN" sz="1600" dirty="0">
                <a:solidFill>
                  <a:srgbClr val="333333"/>
                </a:solidFill>
                <a:latin typeface="-apple-system"/>
              </a:rPr>
              <a:t>it</a:t>
            </a:r>
            <a:r>
              <a:rPr lang="zh-CN" altLang="en-US" sz="1600" dirty="0">
                <a:solidFill>
                  <a:srgbClr val="333333"/>
                </a:solidFill>
                <a:latin typeface="-apple-system"/>
              </a:rPr>
              <a:t> </a:t>
            </a:r>
            <a:r>
              <a:rPr lang="en-US" altLang="zh-CN" sz="1600" dirty="0">
                <a:solidFill>
                  <a:srgbClr val="333333"/>
                </a:solidFill>
                <a:latin typeface="-apple-system"/>
              </a:rPr>
              <a:t>is</a:t>
            </a:r>
            <a:r>
              <a:rPr lang="zh-CN" altLang="en-US" sz="1600" dirty="0">
                <a:solidFill>
                  <a:srgbClr val="333333"/>
                </a:solidFill>
                <a:latin typeface="-apple-system"/>
              </a:rPr>
              <a:t> </a:t>
            </a:r>
            <a:r>
              <a:rPr lang="en-US" altLang="zh-CN" sz="1600" dirty="0">
                <a:solidFill>
                  <a:srgbClr val="333333"/>
                </a:solidFill>
                <a:latin typeface="-apple-system"/>
              </a:rPr>
              <a:t>the</a:t>
            </a:r>
            <a:r>
              <a:rPr lang="zh-CN" altLang="en-US" sz="1600" dirty="0">
                <a:solidFill>
                  <a:srgbClr val="333333"/>
                </a:solidFill>
                <a:latin typeface="-apple-system"/>
              </a:rPr>
              <a:t> </a:t>
            </a:r>
            <a:r>
              <a:rPr lang="en-US" altLang="zh-CN" sz="1600" dirty="0">
                <a:solidFill>
                  <a:srgbClr val="333333"/>
                </a:solidFill>
                <a:latin typeface="-apple-system"/>
              </a:rPr>
              <a:t>first,</a:t>
            </a:r>
            <a:r>
              <a:rPr lang="zh-CN" altLang="en-US" sz="1600" dirty="0">
                <a:solidFill>
                  <a:srgbClr val="333333"/>
                </a:solidFill>
                <a:latin typeface="-apple-system"/>
              </a:rPr>
              <a:t> </a:t>
            </a:r>
            <a:r>
              <a:rPr lang="en-US" altLang="zh-CN" sz="1600" dirty="0">
                <a:solidFill>
                  <a:srgbClr val="333333"/>
                </a:solidFill>
                <a:latin typeface="-apple-system"/>
              </a:rPr>
              <a:t>no</a:t>
            </a:r>
            <a:r>
              <a:rPr lang="zh-CN" altLang="en-US" sz="1600" dirty="0">
                <a:solidFill>
                  <a:srgbClr val="333333"/>
                </a:solidFill>
                <a:latin typeface="-apple-system"/>
              </a:rPr>
              <a:t> </a:t>
            </a:r>
            <a:r>
              <a:rPr lang="en-US" altLang="zh-CN" sz="1600" dirty="0">
                <a:solidFill>
                  <a:srgbClr val="333333"/>
                </a:solidFill>
                <a:latin typeface="-apple-system"/>
              </a:rPr>
              <a:t>humans</a:t>
            </a:r>
            <a:r>
              <a:rPr lang="zh-CN" altLang="en-US" sz="1600" dirty="0">
                <a:solidFill>
                  <a:srgbClr val="333333"/>
                </a:solidFill>
                <a:latin typeface="-apple-system"/>
              </a:rPr>
              <a:t> </a:t>
            </a:r>
            <a:r>
              <a:rPr lang="en-US" altLang="zh-CN" sz="1600" dirty="0">
                <a:solidFill>
                  <a:srgbClr val="333333"/>
                </a:solidFill>
                <a:latin typeface="-apple-system"/>
              </a:rPr>
              <a:t>can</a:t>
            </a:r>
            <a:r>
              <a:rPr lang="zh-CN" altLang="en-US" sz="1600" dirty="0">
                <a:solidFill>
                  <a:srgbClr val="333333"/>
                </a:solidFill>
                <a:latin typeface="-apple-system"/>
              </a:rPr>
              <a:t> </a:t>
            </a:r>
            <a:r>
              <a:rPr lang="en-US" altLang="zh-CN" sz="1600" dirty="0">
                <a:solidFill>
                  <a:srgbClr val="333333"/>
                </a:solidFill>
                <a:latin typeface="-apple-system"/>
              </a:rPr>
              <a:t>be</a:t>
            </a:r>
            <a:r>
              <a:rPr lang="zh-CN" altLang="en-US" sz="1600" dirty="0">
                <a:solidFill>
                  <a:srgbClr val="333333"/>
                </a:solidFill>
                <a:latin typeface="-apple-system"/>
              </a:rPr>
              <a:t> </a:t>
            </a:r>
            <a:r>
              <a:rPr lang="en-US" altLang="zh-CN" sz="1600" dirty="0">
                <a:solidFill>
                  <a:srgbClr val="333333"/>
                </a:solidFill>
                <a:latin typeface="-apple-system"/>
              </a:rPr>
              <a:t>the</a:t>
            </a:r>
            <a:r>
              <a:rPr lang="zh-CN" altLang="en-US" sz="1600" dirty="0">
                <a:solidFill>
                  <a:srgbClr val="333333"/>
                </a:solidFill>
                <a:latin typeface="-apple-system"/>
              </a:rPr>
              <a:t> </a:t>
            </a:r>
            <a:r>
              <a:rPr lang="en-US" altLang="zh-CN" sz="1600" dirty="0">
                <a:solidFill>
                  <a:srgbClr val="333333"/>
                </a:solidFill>
                <a:latin typeface="-apple-system"/>
              </a:rPr>
              <a:t>first</a:t>
            </a:r>
            <a:r>
              <a:rPr lang="zh-CN" altLang="en-US" sz="1600" dirty="0">
                <a:solidFill>
                  <a:srgbClr val="333333"/>
                </a:solidFill>
                <a:latin typeface="-apple-system"/>
              </a:rPr>
              <a:t> </a:t>
            </a:r>
            <a:r>
              <a:rPr lang="en-US" altLang="zh-CN" sz="1600" dirty="0">
                <a:solidFill>
                  <a:srgbClr val="333333"/>
                </a:solidFill>
                <a:latin typeface="-apple-system"/>
              </a:rPr>
              <a:t>answerer</a:t>
            </a:r>
            <a:endParaRPr lang="en-US" sz="1600" dirty="0">
              <a:solidFill>
                <a:srgbClr val="333333"/>
              </a:solidFill>
              <a:latin typeface="-apple-syste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E0B5CC7-753E-BC3A-CFA9-CD07A0B5125C}"/>
              </a:ext>
            </a:extLst>
          </p:cNvPr>
          <p:cNvSpPr/>
          <p:nvPr/>
        </p:nvSpPr>
        <p:spPr>
          <a:xfrm>
            <a:off x="4105135" y="5233505"/>
            <a:ext cx="3850645" cy="1477336"/>
          </a:xfrm>
          <a:prstGeom prst="roundRect">
            <a:avLst/>
          </a:prstGeom>
          <a:solidFill>
            <a:srgbClr val="FEEFB1"/>
          </a:solidFill>
          <a:ln>
            <a:solidFill>
              <a:srgbClr val="F69E0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500"/>
              </a:spcAft>
            </a:pPr>
            <a:r>
              <a:rPr lang="en-US" altLang="zh-TW" sz="2000" b="1" dirty="0">
                <a:solidFill>
                  <a:srgbClr val="D97706"/>
                </a:solidFill>
                <a:latin typeface="-apple-system"/>
              </a:rPr>
              <a:t>3. </a:t>
            </a:r>
            <a:r>
              <a:rPr lang="en-US" altLang="zh-CN" sz="2000" b="1" dirty="0">
                <a:solidFill>
                  <a:srgbClr val="D97706"/>
                </a:solidFill>
                <a:latin typeface="-apple-system"/>
              </a:rPr>
              <a:t>Source</a:t>
            </a:r>
            <a:r>
              <a:rPr lang="zh-CN" altLang="en-US" sz="2000" b="1" dirty="0">
                <a:solidFill>
                  <a:srgbClr val="D97706"/>
                </a:solidFill>
                <a:latin typeface="-apple-system"/>
              </a:rPr>
              <a:t> </a:t>
            </a:r>
            <a:r>
              <a:rPr lang="en-US" altLang="zh-CN" sz="2000" b="1" dirty="0">
                <a:solidFill>
                  <a:srgbClr val="D97706"/>
                </a:solidFill>
                <a:latin typeface="-apple-system"/>
              </a:rPr>
              <a:t>Effect</a:t>
            </a:r>
            <a:br>
              <a:rPr lang="en-US" altLang="zh-CN" sz="2000" b="1" dirty="0">
                <a:solidFill>
                  <a:srgbClr val="D97706"/>
                </a:solidFill>
                <a:latin typeface="-apple-system"/>
              </a:rPr>
            </a:br>
            <a:r>
              <a:rPr lang="en-US" altLang="zh-CN" sz="1600" b="1" dirty="0">
                <a:solidFill>
                  <a:srgbClr val="D97706"/>
                </a:solidFill>
                <a:latin typeface="-apple-system"/>
              </a:rPr>
              <a:t>(who</a:t>
            </a:r>
            <a:r>
              <a:rPr lang="zh-CN" altLang="en-US" sz="1600" b="1" dirty="0">
                <a:solidFill>
                  <a:srgbClr val="D97706"/>
                </a:solidFill>
                <a:latin typeface="-apple-system"/>
              </a:rPr>
              <a:t> </a:t>
            </a:r>
            <a:r>
              <a:rPr lang="en-US" altLang="zh-CN" sz="1600" b="1" dirty="0">
                <a:solidFill>
                  <a:srgbClr val="D97706"/>
                </a:solidFill>
                <a:latin typeface="-apple-system"/>
              </a:rPr>
              <a:t>says</a:t>
            </a:r>
            <a:r>
              <a:rPr lang="zh-CN" altLang="en-US" sz="1600" b="1" dirty="0">
                <a:solidFill>
                  <a:srgbClr val="D97706"/>
                </a:solidFill>
                <a:latin typeface="-apple-system"/>
              </a:rPr>
              <a:t> </a:t>
            </a:r>
            <a:r>
              <a:rPr lang="en-US" altLang="zh-CN" sz="1600" b="1" dirty="0">
                <a:solidFill>
                  <a:srgbClr val="D97706"/>
                </a:solidFill>
                <a:latin typeface="-apple-system"/>
              </a:rPr>
              <a:t>it,</a:t>
            </a:r>
            <a:r>
              <a:rPr lang="zh-CN" altLang="en-US" sz="1600" b="1" dirty="0">
                <a:solidFill>
                  <a:srgbClr val="D97706"/>
                </a:solidFill>
                <a:latin typeface="-apple-system"/>
              </a:rPr>
              <a:t> </a:t>
            </a:r>
            <a:r>
              <a:rPr lang="en-US" altLang="zh-CN" sz="1600" b="1" dirty="0">
                <a:solidFill>
                  <a:srgbClr val="D97706"/>
                </a:solidFill>
                <a:latin typeface="-apple-system"/>
              </a:rPr>
              <a:t>AI</a:t>
            </a:r>
            <a:r>
              <a:rPr lang="zh-CN" altLang="en-US" sz="1600" b="1" dirty="0">
                <a:solidFill>
                  <a:srgbClr val="D97706"/>
                </a:solidFill>
                <a:latin typeface="-apple-system"/>
              </a:rPr>
              <a:t> </a:t>
            </a:r>
            <a:r>
              <a:rPr lang="en-US" altLang="zh-CN" sz="1600" b="1" dirty="0">
                <a:solidFill>
                  <a:srgbClr val="D97706"/>
                </a:solidFill>
                <a:latin typeface="-apple-system"/>
              </a:rPr>
              <a:t>versus</a:t>
            </a:r>
            <a:r>
              <a:rPr lang="zh-CN" altLang="en-US" sz="1600" b="1" dirty="0">
                <a:solidFill>
                  <a:srgbClr val="D97706"/>
                </a:solidFill>
                <a:latin typeface="-apple-system"/>
              </a:rPr>
              <a:t> </a:t>
            </a:r>
            <a:r>
              <a:rPr lang="en-US" altLang="zh-CN" sz="1600" b="1" dirty="0">
                <a:solidFill>
                  <a:srgbClr val="D97706"/>
                </a:solidFill>
                <a:latin typeface="-apple-system"/>
              </a:rPr>
              <a:t>human)</a:t>
            </a:r>
            <a:br>
              <a:rPr lang="en-US" altLang="zh-CN" sz="2000" b="1" dirty="0">
                <a:solidFill>
                  <a:srgbClr val="D97706"/>
                </a:solidFill>
                <a:latin typeface="-apple-system"/>
              </a:rPr>
            </a:br>
            <a:br>
              <a:rPr lang="en-US" altLang="zh-CN" sz="2000" b="1" dirty="0">
                <a:solidFill>
                  <a:srgbClr val="D97706"/>
                </a:solidFill>
                <a:latin typeface="-apple-system"/>
              </a:rPr>
            </a:br>
            <a:r>
              <a:rPr lang="en-US" altLang="zh-CN" sz="1600" dirty="0">
                <a:solidFill>
                  <a:srgbClr val="333333"/>
                </a:solidFill>
                <a:latin typeface="-apple-system"/>
              </a:rPr>
              <a:t>&gt;</a:t>
            </a:r>
            <a:r>
              <a:rPr lang="zh-CN" altLang="en-US" sz="1600" dirty="0">
                <a:solidFill>
                  <a:srgbClr val="333333"/>
                </a:solidFill>
                <a:latin typeface="-apple-system"/>
              </a:rPr>
              <a:t> </a:t>
            </a:r>
            <a:r>
              <a:rPr lang="en-US" altLang="zh-CN" sz="1600" dirty="0">
                <a:solidFill>
                  <a:srgbClr val="333333"/>
                </a:solidFill>
                <a:latin typeface="-apple-system"/>
              </a:rPr>
              <a:t>The</a:t>
            </a:r>
            <a:r>
              <a:rPr lang="zh-CN" altLang="en-US" sz="1600" dirty="0">
                <a:solidFill>
                  <a:srgbClr val="333333"/>
                </a:solidFill>
                <a:latin typeface="-apple-system"/>
              </a:rPr>
              <a:t> </a:t>
            </a:r>
            <a:r>
              <a:rPr lang="en-US" altLang="zh-CN" sz="1600" dirty="0">
                <a:solidFill>
                  <a:srgbClr val="333333"/>
                </a:solidFill>
                <a:latin typeface="-apple-system"/>
              </a:rPr>
              <a:t>mere</a:t>
            </a:r>
            <a:r>
              <a:rPr lang="zh-CN" altLang="en-US" sz="1600" dirty="0">
                <a:solidFill>
                  <a:srgbClr val="333333"/>
                </a:solidFill>
                <a:latin typeface="-apple-system"/>
              </a:rPr>
              <a:t> </a:t>
            </a:r>
            <a:r>
              <a:rPr lang="en-US" altLang="zh-CN" sz="1600" dirty="0">
                <a:solidFill>
                  <a:srgbClr val="333333"/>
                </a:solidFill>
                <a:latin typeface="-apple-system"/>
              </a:rPr>
              <a:t>fact</a:t>
            </a:r>
            <a:r>
              <a:rPr lang="zh-CN" altLang="en-US" sz="1600" dirty="0">
                <a:solidFill>
                  <a:srgbClr val="333333"/>
                </a:solidFill>
                <a:latin typeface="-apple-system"/>
              </a:rPr>
              <a:t> </a:t>
            </a:r>
            <a:r>
              <a:rPr lang="en-US" altLang="zh-CN" sz="1600" dirty="0">
                <a:solidFill>
                  <a:srgbClr val="333333"/>
                </a:solidFill>
                <a:latin typeface="-apple-system"/>
              </a:rPr>
              <a:t>that</a:t>
            </a:r>
            <a:r>
              <a:rPr lang="zh-CN" altLang="en-US" sz="1600" dirty="0">
                <a:solidFill>
                  <a:srgbClr val="333333"/>
                </a:solidFill>
                <a:latin typeface="-apple-system"/>
              </a:rPr>
              <a:t> </a:t>
            </a:r>
            <a:r>
              <a:rPr lang="en-US" altLang="zh-CN" sz="1600" dirty="0">
                <a:solidFill>
                  <a:srgbClr val="333333"/>
                </a:solidFill>
                <a:latin typeface="-apple-system"/>
              </a:rPr>
              <a:t>the</a:t>
            </a:r>
            <a:r>
              <a:rPr lang="zh-CN" altLang="en-US" sz="1600" dirty="0">
                <a:solidFill>
                  <a:srgbClr val="333333"/>
                </a:solidFill>
                <a:latin typeface="-apple-system"/>
              </a:rPr>
              <a:t> </a:t>
            </a:r>
            <a:r>
              <a:rPr lang="en-US" altLang="zh-CN" sz="1600" dirty="0">
                <a:solidFill>
                  <a:srgbClr val="333333"/>
                </a:solidFill>
                <a:latin typeface="-apple-system"/>
              </a:rPr>
              <a:t>answer</a:t>
            </a:r>
            <a:r>
              <a:rPr lang="zh-CN" altLang="en-US" sz="1600" dirty="0">
                <a:solidFill>
                  <a:srgbClr val="333333"/>
                </a:solidFill>
                <a:latin typeface="-apple-system"/>
              </a:rPr>
              <a:t> </a:t>
            </a:r>
            <a:r>
              <a:rPr lang="en-US" altLang="zh-CN" sz="1600" dirty="0">
                <a:solidFill>
                  <a:srgbClr val="333333"/>
                </a:solidFill>
                <a:latin typeface="-apple-system"/>
              </a:rPr>
              <a:t>is</a:t>
            </a:r>
            <a:r>
              <a:rPr lang="zh-CN" altLang="en-US" sz="1600" dirty="0">
                <a:solidFill>
                  <a:srgbClr val="333333"/>
                </a:solidFill>
                <a:latin typeface="-apple-system"/>
              </a:rPr>
              <a:t> </a:t>
            </a:r>
            <a:r>
              <a:rPr lang="en-US" altLang="zh-CN" sz="1600" dirty="0">
                <a:solidFill>
                  <a:srgbClr val="333333"/>
                </a:solidFill>
                <a:latin typeface="-apple-system"/>
              </a:rPr>
              <a:t>from</a:t>
            </a:r>
            <a:r>
              <a:rPr lang="zh-CN" altLang="en-US" sz="1600" dirty="0">
                <a:solidFill>
                  <a:srgbClr val="333333"/>
                </a:solidFill>
                <a:latin typeface="-apple-system"/>
              </a:rPr>
              <a:t> </a:t>
            </a:r>
            <a:r>
              <a:rPr lang="en-US" altLang="zh-CN" sz="1600" dirty="0">
                <a:solidFill>
                  <a:srgbClr val="333333"/>
                </a:solidFill>
                <a:latin typeface="-apple-system"/>
              </a:rPr>
              <a:t>AI</a:t>
            </a:r>
            <a:br>
              <a:rPr lang="en-US" altLang="zh-CN" sz="1600" dirty="0">
                <a:solidFill>
                  <a:srgbClr val="333333"/>
                </a:solidFill>
                <a:latin typeface="-apple-system"/>
              </a:rPr>
            </a:br>
            <a:r>
              <a:rPr lang="en-US" altLang="zh-CN" sz="1600" dirty="0">
                <a:solidFill>
                  <a:srgbClr val="333333"/>
                </a:solidFill>
                <a:latin typeface="-apple-system"/>
              </a:rPr>
              <a:t>&gt;</a:t>
            </a:r>
            <a:r>
              <a:rPr lang="zh-CN" altLang="en-US" sz="1600" dirty="0">
                <a:solidFill>
                  <a:srgbClr val="333333"/>
                </a:solidFill>
                <a:latin typeface="-apple-system"/>
              </a:rPr>
              <a:t> </a:t>
            </a:r>
            <a:r>
              <a:rPr lang="en-US" altLang="zh-CN" sz="1600" dirty="0">
                <a:solidFill>
                  <a:srgbClr val="333333"/>
                </a:solidFill>
                <a:latin typeface="-apple-system"/>
              </a:rPr>
              <a:t>Perceived</a:t>
            </a:r>
            <a:r>
              <a:rPr lang="zh-CN" altLang="en-US" sz="1600" dirty="0">
                <a:solidFill>
                  <a:srgbClr val="333333"/>
                </a:solidFill>
                <a:latin typeface="-apple-system"/>
              </a:rPr>
              <a:t> </a:t>
            </a:r>
            <a:r>
              <a:rPr lang="en-US" altLang="zh-CN" sz="1600" dirty="0">
                <a:solidFill>
                  <a:srgbClr val="333333"/>
                </a:solidFill>
                <a:latin typeface="-apple-system"/>
              </a:rPr>
              <a:t>authority</a:t>
            </a:r>
            <a:endParaRPr lang="zh-TW" altLang="en-US" sz="1600" dirty="0">
              <a:solidFill>
                <a:srgbClr val="333333"/>
              </a:solidFill>
              <a:latin typeface="-apple-syste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9AB2FF5-9A1D-8F5F-B987-0745B83248D2}"/>
              </a:ext>
            </a:extLst>
          </p:cNvPr>
          <p:cNvSpPr/>
          <p:nvPr/>
        </p:nvSpPr>
        <p:spPr>
          <a:xfrm>
            <a:off x="368790" y="3786863"/>
            <a:ext cx="3303098" cy="94210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125"/>
              </a:spcAft>
            </a:pPr>
            <a:r>
              <a:rPr lang="en-US" altLang="zh-CN" sz="2000" b="1" dirty="0">
                <a:solidFill>
                  <a:schemeClr val="tx1"/>
                </a:solidFill>
                <a:latin typeface="-apple-system"/>
              </a:rPr>
              <a:t>X:</a:t>
            </a:r>
            <a:r>
              <a:rPr lang="zh-CN" altLang="en-US" sz="2000" b="1" dirty="0">
                <a:solidFill>
                  <a:schemeClr val="tx1"/>
                </a:solidFill>
                <a:latin typeface="-apple-system"/>
              </a:rPr>
              <a:t> </a:t>
            </a:r>
            <a:br>
              <a:rPr lang="en-US" altLang="zh-CN" sz="2000" b="1" dirty="0">
                <a:solidFill>
                  <a:schemeClr val="tx1"/>
                </a:solidFill>
                <a:latin typeface="-apple-system"/>
              </a:rPr>
            </a:br>
            <a:r>
              <a:rPr lang="en-US" altLang="zh-CN" sz="2000" dirty="0">
                <a:solidFill>
                  <a:schemeClr val="tx1"/>
                </a:solidFill>
                <a:latin typeface="-apple-system"/>
              </a:rPr>
              <a:t>The</a:t>
            </a:r>
            <a:r>
              <a:rPr lang="zh-CN" altLang="en-US" sz="2000" dirty="0">
                <a:solidFill>
                  <a:schemeClr val="tx1"/>
                </a:solidFill>
                <a:latin typeface="-apple-system"/>
              </a:rPr>
              <a:t> </a:t>
            </a:r>
            <a:r>
              <a:rPr lang="en-US" altLang="zh-CN" sz="2000" dirty="0">
                <a:solidFill>
                  <a:schemeClr val="tx1"/>
                </a:solidFill>
                <a:latin typeface="-apple-system"/>
              </a:rPr>
              <a:t>presence</a:t>
            </a:r>
            <a:r>
              <a:rPr lang="zh-CN" altLang="en-US" sz="2000" dirty="0">
                <a:solidFill>
                  <a:schemeClr val="tx1"/>
                </a:solidFill>
                <a:latin typeface="-apple-system"/>
              </a:rPr>
              <a:t> </a:t>
            </a:r>
            <a:r>
              <a:rPr lang="en-US" altLang="zh-CN" sz="2000" dirty="0">
                <a:solidFill>
                  <a:schemeClr val="tx1"/>
                </a:solidFill>
                <a:latin typeface="-apple-system"/>
              </a:rPr>
              <a:t>of</a:t>
            </a:r>
            <a:r>
              <a:rPr lang="zh-CN" altLang="en-US" sz="2000" dirty="0">
                <a:solidFill>
                  <a:schemeClr val="tx1"/>
                </a:solidFill>
                <a:latin typeface="-apple-system"/>
              </a:rPr>
              <a:t> </a:t>
            </a:r>
            <a:r>
              <a:rPr lang="en-US" altLang="zh-CN" sz="2000" dirty="0">
                <a:solidFill>
                  <a:schemeClr val="tx1"/>
                </a:solidFill>
                <a:latin typeface="-apple-system"/>
              </a:rPr>
              <a:t>AI</a:t>
            </a:r>
            <a:r>
              <a:rPr lang="zh-CN" altLang="en-US" sz="2000" dirty="0">
                <a:solidFill>
                  <a:schemeClr val="tx1"/>
                </a:solidFill>
                <a:latin typeface="-apple-system"/>
              </a:rPr>
              <a:t> </a:t>
            </a:r>
            <a:r>
              <a:rPr lang="en-US" altLang="zh-CN" sz="2000" dirty="0">
                <a:solidFill>
                  <a:schemeClr val="tx1"/>
                </a:solidFill>
                <a:latin typeface="-apple-system"/>
              </a:rPr>
              <a:t>answers</a:t>
            </a:r>
            <a:endParaRPr lang="en-US" sz="2000" dirty="0">
              <a:solidFill>
                <a:schemeClr val="tx1"/>
              </a:solidFill>
              <a:latin typeface="-apple-system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3B4F257-BFD7-5928-2923-9CB9F0918174}"/>
              </a:ext>
            </a:extLst>
          </p:cNvPr>
          <p:cNvSpPr/>
          <p:nvPr/>
        </p:nvSpPr>
        <p:spPr>
          <a:xfrm>
            <a:off x="8389027" y="3786863"/>
            <a:ext cx="3303098" cy="94210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125"/>
              </a:spcAft>
            </a:pPr>
            <a:r>
              <a:rPr lang="en-US" altLang="zh-CN" sz="2000" b="1" dirty="0">
                <a:solidFill>
                  <a:schemeClr val="tx1"/>
                </a:solidFill>
                <a:latin typeface="-apple-system"/>
              </a:rPr>
              <a:t>Y:</a:t>
            </a:r>
            <a:r>
              <a:rPr lang="zh-CN" altLang="en-US" sz="2000" b="1" dirty="0">
                <a:solidFill>
                  <a:schemeClr val="tx1"/>
                </a:solidFill>
                <a:latin typeface="-apple-system"/>
              </a:rPr>
              <a:t> </a:t>
            </a:r>
            <a:br>
              <a:rPr lang="en-US" altLang="zh-CN" sz="2000" b="1" dirty="0">
                <a:solidFill>
                  <a:schemeClr val="tx1"/>
                </a:solidFill>
                <a:latin typeface="-apple-system"/>
              </a:rPr>
            </a:br>
            <a:r>
              <a:rPr lang="en-US" altLang="zh-CN" sz="2000" dirty="0">
                <a:solidFill>
                  <a:schemeClr val="tx1"/>
                </a:solidFill>
                <a:latin typeface="-apple-system"/>
              </a:rPr>
              <a:t>#</a:t>
            </a:r>
            <a:r>
              <a:rPr lang="zh-CN" altLang="en-US" sz="2000" dirty="0">
                <a:solidFill>
                  <a:schemeClr val="tx1"/>
                </a:solidFill>
                <a:latin typeface="-apple-system"/>
              </a:rPr>
              <a:t> </a:t>
            </a:r>
            <a:r>
              <a:rPr lang="en-US" altLang="zh-CN" sz="2000" dirty="0">
                <a:solidFill>
                  <a:schemeClr val="tx1"/>
                </a:solidFill>
                <a:latin typeface="-apple-system"/>
              </a:rPr>
              <a:t>human</a:t>
            </a:r>
            <a:r>
              <a:rPr lang="zh-CN" altLang="en-US" sz="2000" dirty="0">
                <a:solidFill>
                  <a:schemeClr val="tx1"/>
                </a:solidFill>
                <a:latin typeface="-apple-system"/>
              </a:rPr>
              <a:t> </a:t>
            </a:r>
            <a:r>
              <a:rPr lang="en-US" altLang="zh-CN" sz="2000" dirty="0">
                <a:solidFill>
                  <a:schemeClr val="tx1"/>
                </a:solidFill>
                <a:latin typeface="-apple-system"/>
              </a:rPr>
              <a:t>answers</a:t>
            </a:r>
            <a:endParaRPr lang="en-US" sz="2000" dirty="0">
              <a:solidFill>
                <a:schemeClr val="tx1"/>
              </a:solidFill>
              <a:latin typeface="-apple-syste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9B699E8-095A-210D-59E6-01C83FCD549E}"/>
              </a:ext>
            </a:extLst>
          </p:cNvPr>
          <p:cNvSpPr/>
          <p:nvPr/>
        </p:nvSpPr>
        <p:spPr>
          <a:xfrm>
            <a:off x="3802974" y="1300838"/>
            <a:ext cx="4455201" cy="5557162"/>
          </a:xfrm>
          <a:prstGeom prst="round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125"/>
              </a:spcAft>
            </a:pPr>
            <a:br>
              <a:rPr lang="en-US" altLang="zh-CN" sz="2000" b="1" dirty="0">
                <a:solidFill>
                  <a:schemeClr val="tx1"/>
                </a:solidFill>
                <a:latin typeface="-apple-system"/>
              </a:rPr>
            </a:br>
            <a:r>
              <a:rPr lang="en-US" altLang="zh-CN" sz="2000" b="1" dirty="0">
                <a:solidFill>
                  <a:schemeClr val="tx1"/>
                </a:solidFill>
                <a:latin typeface="-apple-system"/>
              </a:rPr>
              <a:t>M:</a:t>
            </a:r>
            <a:r>
              <a:rPr lang="zh-CN" altLang="en-US" sz="2000" b="1" dirty="0">
                <a:solidFill>
                  <a:schemeClr val="tx1"/>
                </a:solidFill>
                <a:latin typeface="-apple-system"/>
              </a:rPr>
              <a:t> </a:t>
            </a:r>
            <a:r>
              <a:rPr lang="en-US" altLang="zh-CN" sz="2000" dirty="0">
                <a:solidFill>
                  <a:schemeClr val="tx1"/>
                </a:solidFill>
                <a:latin typeface="-apple-system"/>
              </a:rPr>
              <a:t>mechanisms</a:t>
            </a:r>
          </a:p>
          <a:p>
            <a:pPr algn="ctr">
              <a:spcAft>
                <a:spcPts val="1125"/>
              </a:spcAft>
            </a:pPr>
            <a:endParaRPr lang="en-US" altLang="zh-CN" sz="2000" b="1" dirty="0">
              <a:solidFill>
                <a:schemeClr val="tx1"/>
              </a:solidFill>
              <a:latin typeface="-apple-system"/>
            </a:endParaRPr>
          </a:p>
          <a:p>
            <a:pPr algn="ctr">
              <a:spcAft>
                <a:spcPts val="1125"/>
              </a:spcAft>
            </a:pPr>
            <a:endParaRPr lang="en-US" altLang="zh-CN" sz="2000" b="1" dirty="0">
              <a:solidFill>
                <a:schemeClr val="tx1"/>
              </a:solidFill>
              <a:latin typeface="-apple-system"/>
            </a:endParaRPr>
          </a:p>
          <a:p>
            <a:pPr algn="ctr">
              <a:spcAft>
                <a:spcPts val="1125"/>
              </a:spcAft>
            </a:pPr>
            <a:endParaRPr lang="en-US" altLang="zh-CN" sz="2000" b="1" dirty="0">
              <a:solidFill>
                <a:schemeClr val="tx1"/>
              </a:solidFill>
              <a:latin typeface="-apple-system"/>
            </a:endParaRPr>
          </a:p>
          <a:p>
            <a:pPr algn="ctr">
              <a:spcAft>
                <a:spcPts val="1125"/>
              </a:spcAft>
            </a:pPr>
            <a:endParaRPr lang="en-US" altLang="zh-CN" sz="2000" b="1" dirty="0">
              <a:solidFill>
                <a:schemeClr val="tx1"/>
              </a:solidFill>
              <a:latin typeface="-apple-system"/>
            </a:endParaRPr>
          </a:p>
          <a:p>
            <a:pPr algn="ctr">
              <a:spcAft>
                <a:spcPts val="1125"/>
              </a:spcAft>
            </a:pPr>
            <a:endParaRPr lang="en-US" altLang="zh-CN" sz="2000" b="1" dirty="0">
              <a:solidFill>
                <a:schemeClr val="tx1"/>
              </a:solidFill>
              <a:latin typeface="-apple-system"/>
            </a:endParaRPr>
          </a:p>
          <a:p>
            <a:pPr algn="ctr">
              <a:spcAft>
                <a:spcPts val="1125"/>
              </a:spcAft>
            </a:pPr>
            <a:endParaRPr lang="en-US" altLang="zh-CN" sz="2000" b="1" dirty="0">
              <a:solidFill>
                <a:schemeClr val="tx1"/>
              </a:solidFill>
              <a:latin typeface="-apple-system"/>
            </a:endParaRPr>
          </a:p>
          <a:p>
            <a:pPr algn="ctr">
              <a:spcAft>
                <a:spcPts val="1125"/>
              </a:spcAft>
            </a:pPr>
            <a:endParaRPr lang="en-US" altLang="zh-CN" sz="2000" b="1" dirty="0">
              <a:solidFill>
                <a:schemeClr val="tx1"/>
              </a:solidFill>
              <a:latin typeface="-apple-system"/>
            </a:endParaRPr>
          </a:p>
          <a:p>
            <a:pPr algn="ctr">
              <a:spcAft>
                <a:spcPts val="1125"/>
              </a:spcAft>
            </a:pPr>
            <a:endParaRPr lang="en-US" altLang="zh-CN" sz="2000" b="1" dirty="0">
              <a:solidFill>
                <a:schemeClr val="tx1"/>
              </a:solidFill>
              <a:latin typeface="-apple-system"/>
            </a:endParaRPr>
          </a:p>
          <a:p>
            <a:pPr algn="ctr">
              <a:spcAft>
                <a:spcPts val="1125"/>
              </a:spcAft>
            </a:pPr>
            <a:endParaRPr lang="en-US" altLang="zh-CN" sz="2000" b="1" dirty="0">
              <a:solidFill>
                <a:schemeClr val="tx1"/>
              </a:solidFill>
              <a:latin typeface="-apple-system"/>
            </a:endParaRPr>
          </a:p>
          <a:p>
            <a:pPr algn="ctr">
              <a:spcAft>
                <a:spcPts val="1125"/>
              </a:spcAft>
            </a:pPr>
            <a:endParaRPr lang="en-US" altLang="zh-CN" sz="2000" b="1" dirty="0">
              <a:solidFill>
                <a:schemeClr val="tx1"/>
              </a:solidFill>
              <a:latin typeface="-apple-system"/>
            </a:endParaRPr>
          </a:p>
          <a:p>
            <a:pPr algn="ctr">
              <a:spcAft>
                <a:spcPts val="1125"/>
              </a:spcAft>
            </a:pPr>
            <a:endParaRPr lang="en-US" altLang="zh-CN" sz="2000" b="1" dirty="0">
              <a:solidFill>
                <a:schemeClr val="tx1"/>
              </a:solidFill>
              <a:latin typeface="-apple-system"/>
            </a:endParaRPr>
          </a:p>
          <a:p>
            <a:pPr algn="ctr">
              <a:spcAft>
                <a:spcPts val="1125"/>
              </a:spcAft>
            </a:pPr>
            <a:endParaRPr lang="en-US" altLang="zh-CN" sz="2000" b="1" dirty="0">
              <a:solidFill>
                <a:schemeClr val="tx1"/>
              </a:solidFill>
              <a:latin typeface="-apple-system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6424FA-CD05-4755-242B-F571A93DD1F5}"/>
              </a:ext>
            </a:extLst>
          </p:cNvPr>
          <p:cNvSpPr/>
          <p:nvPr/>
        </p:nvSpPr>
        <p:spPr>
          <a:xfrm>
            <a:off x="4054334" y="1800456"/>
            <a:ext cx="4038984" cy="17142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077CAAD-3D13-D2FA-E7C8-E3CAD9B669DE}"/>
              </a:ext>
            </a:extLst>
          </p:cNvPr>
          <p:cNvSpPr/>
          <p:nvPr/>
        </p:nvSpPr>
        <p:spPr>
          <a:xfrm>
            <a:off x="4054334" y="3481856"/>
            <a:ext cx="4140584" cy="17142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F2D6300-F22D-4026-5C2D-FD388F8BF8BA}"/>
              </a:ext>
            </a:extLst>
          </p:cNvPr>
          <p:cNvSpPr/>
          <p:nvPr/>
        </p:nvSpPr>
        <p:spPr>
          <a:xfrm>
            <a:off x="4054334" y="5006971"/>
            <a:ext cx="4038984" cy="17142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4233279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DD6E2-3491-B736-295A-257BB57A7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D6B3F-A969-6B86-F030-1A7883317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173238" cy="1325563"/>
          </a:xfrm>
        </p:spPr>
        <p:txBody>
          <a:bodyPr>
            <a:noAutofit/>
          </a:bodyPr>
          <a:lstStyle/>
          <a:p>
            <a:r>
              <a:rPr lang="en-US" sz="3200" dirty="0"/>
              <a:t>Mechanism 1 - Content Effect</a:t>
            </a:r>
            <a:r>
              <a:rPr lang="en-US" altLang="zh-CN" sz="3200" dirty="0"/>
              <a:t>s</a:t>
            </a:r>
            <a:endParaRPr lang="en-US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80A9F3-6D7E-2411-A673-38DD05E0A4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492" r="10723" b="13976"/>
          <a:stretch>
            <a:fillRect/>
          </a:stretch>
        </p:blipFill>
        <p:spPr>
          <a:xfrm>
            <a:off x="2647950" y="1947864"/>
            <a:ext cx="6156626" cy="321151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A3A998B-EEEC-D06B-FB74-7B313F29B1F1}"/>
              </a:ext>
            </a:extLst>
          </p:cNvPr>
          <p:cNvSpPr/>
          <p:nvPr/>
        </p:nvSpPr>
        <p:spPr>
          <a:xfrm>
            <a:off x="7394713" y="2589559"/>
            <a:ext cx="1409863" cy="24516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C028A55-823B-9FA8-F63C-095EC40A2551}"/>
              </a:ext>
            </a:extLst>
          </p:cNvPr>
          <p:cNvSpPr/>
          <p:nvPr/>
        </p:nvSpPr>
        <p:spPr>
          <a:xfrm>
            <a:off x="1256510" y="5641299"/>
            <a:ext cx="9678980" cy="92168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4300" indent="-228600"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Talking Point:</a:t>
            </a:r>
            <a:r>
              <a:rPr lang="zh-CN" altLang="en-US" sz="1900" b="1" dirty="0">
                <a:solidFill>
                  <a:schemeClr val="tx1"/>
                </a:solidFill>
              </a:rPr>
              <a:t> </a:t>
            </a:r>
            <a:r>
              <a:rPr lang="en-US" altLang="zh-CN" sz="1900" dirty="0">
                <a:solidFill>
                  <a:schemeClr val="tx1"/>
                </a:solidFill>
              </a:rPr>
              <a:t>There</a:t>
            </a:r>
            <a:r>
              <a:rPr lang="zh-CN" altLang="en-US" sz="1900" dirty="0">
                <a:solidFill>
                  <a:schemeClr val="tx1"/>
                </a:solidFill>
              </a:rPr>
              <a:t> </a:t>
            </a:r>
            <a:r>
              <a:rPr lang="en-US" altLang="zh-CN" sz="1900" dirty="0">
                <a:solidFill>
                  <a:schemeClr val="tx1"/>
                </a:solidFill>
              </a:rPr>
              <a:t>is</a:t>
            </a:r>
            <a:r>
              <a:rPr lang="zh-CN" altLang="en-US" sz="1900" dirty="0">
                <a:solidFill>
                  <a:schemeClr val="tx1"/>
                </a:solidFill>
              </a:rPr>
              <a:t> </a:t>
            </a:r>
            <a:r>
              <a:rPr lang="en-US" altLang="zh-CN" sz="1900" dirty="0">
                <a:solidFill>
                  <a:schemeClr val="tx1"/>
                </a:solidFill>
              </a:rPr>
              <a:t>a</a:t>
            </a:r>
            <a:r>
              <a:rPr lang="zh-CN" altLang="en-US" sz="1900" dirty="0">
                <a:solidFill>
                  <a:schemeClr val="tx1"/>
                </a:solidFill>
              </a:rPr>
              <a:t> </a:t>
            </a:r>
            <a:r>
              <a:rPr lang="en-US" altLang="zh-CN" sz="1900" dirty="0">
                <a:solidFill>
                  <a:schemeClr val="tx1"/>
                </a:solidFill>
              </a:rPr>
              <a:t>content</a:t>
            </a:r>
            <a:r>
              <a:rPr lang="zh-CN" altLang="en-US" sz="1900" dirty="0">
                <a:solidFill>
                  <a:schemeClr val="tx1"/>
                </a:solidFill>
              </a:rPr>
              <a:t> </a:t>
            </a:r>
            <a:r>
              <a:rPr lang="en-US" altLang="zh-CN" sz="1900" dirty="0">
                <a:solidFill>
                  <a:schemeClr val="tx1"/>
                </a:solidFill>
              </a:rPr>
              <a:t>effect</a:t>
            </a:r>
            <a:r>
              <a:rPr lang="en-US" sz="1900" dirty="0">
                <a:solidFill>
                  <a:schemeClr val="tx1"/>
                </a:solidFill>
              </a:rPr>
              <a:t>, but </a:t>
            </a:r>
            <a:r>
              <a:rPr lang="en-US" altLang="zh-CN" sz="1900" dirty="0">
                <a:solidFill>
                  <a:schemeClr val="tx1"/>
                </a:solidFill>
              </a:rPr>
              <a:t>it</a:t>
            </a:r>
            <a:r>
              <a:rPr lang="zh-CN" altLang="en-US" sz="1900" dirty="0">
                <a:solidFill>
                  <a:schemeClr val="tx1"/>
                </a:solidFill>
              </a:rPr>
              <a:t> </a:t>
            </a:r>
            <a:r>
              <a:rPr lang="en-US" sz="1900" dirty="0">
                <a:solidFill>
                  <a:schemeClr val="tx1"/>
                </a:solidFill>
              </a:rPr>
              <a:t>explains only about 1/4 of the effect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8279BA-0F72-DDF2-C24A-8C6A6BAA1376}"/>
              </a:ext>
            </a:extLst>
          </p:cNvPr>
          <p:cNvSpPr/>
          <p:nvPr/>
        </p:nvSpPr>
        <p:spPr>
          <a:xfrm>
            <a:off x="7390198" y="1947864"/>
            <a:ext cx="2153852" cy="6416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A4381A-FCD1-4109-C547-8BC350601B6A}"/>
              </a:ext>
            </a:extLst>
          </p:cNvPr>
          <p:cNvSpPr txBox="1"/>
          <p:nvPr/>
        </p:nvSpPr>
        <p:spPr>
          <a:xfrm>
            <a:off x="4177472" y="1578532"/>
            <a:ext cx="86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X→Y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86CB32-3B95-E975-0593-FA24982CDD5F}"/>
              </a:ext>
            </a:extLst>
          </p:cNvPr>
          <p:cNvSpPr txBox="1"/>
          <p:nvPr/>
        </p:nvSpPr>
        <p:spPr>
          <a:xfrm>
            <a:off x="5357675" y="1578532"/>
            <a:ext cx="86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X→M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CF1348-643C-AB29-0870-6B1AFFF7F872}"/>
              </a:ext>
            </a:extLst>
          </p:cNvPr>
          <p:cNvSpPr txBox="1"/>
          <p:nvPr/>
        </p:nvSpPr>
        <p:spPr>
          <a:xfrm>
            <a:off x="7078154" y="1578532"/>
            <a:ext cx="1330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X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+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sz="1400" dirty="0">
                <a:solidFill>
                  <a:srgbClr val="FF0000"/>
                </a:solidFill>
              </a:rPr>
              <a:t>M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→Y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61776B-9F6C-6917-BF56-F598C63D1550}"/>
              </a:ext>
            </a:extLst>
          </p:cNvPr>
          <p:cNvSpPr/>
          <p:nvPr/>
        </p:nvSpPr>
        <p:spPr>
          <a:xfrm>
            <a:off x="4969565" y="1947864"/>
            <a:ext cx="1789043" cy="3093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C708B0-5217-933C-148B-79142892F32B}"/>
              </a:ext>
            </a:extLst>
          </p:cNvPr>
          <p:cNvSpPr/>
          <p:nvPr/>
        </p:nvSpPr>
        <p:spPr>
          <a:xfrm>
            <a:off x="6758609" y="1947864"/>
            <a:ext cx="636104" cy="3093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49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2" grpId="0" animBg="1"/>
      <p:bldP spid="4" grpId="0" animBg="1"/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4261A-EE67-DFAE-EFCA-2B1BE148A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1820F-6811-B576-C8AE-244829A63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173238" cy="1325563"/>
          </a:xfrm>
        </p:spPr>
        <p:txBody>
          <a:bodyPr>
            <a:noAutofit/>
          </a:bodyPr>
          <a:lstStyle/>
          <a:p>
            <a:r>
              <a:rPr lang="en-US" sz="3200" dirty="0"/>
              <a:t>Mechanism </a:t>
            </a:r>
            <a:r>
              <a:rPr lang="en-US" altLang="zh-CN" sz="3200" dirty="0"/>
              <a:t>2</a:t>
            </a:r>
            <a:r>
              <a:rPr lang="en-US" sz="3200" dirty="0"/>
              <a:t> - </a:t>
            </a:r>
            <a:r>
              <a:rPr lang="en-US" altLang="zh-CN" sz="3200" dirty="0"/>
              <a:t>Position</a:t>
            </a:r>
            <a:r>
              <a:rPr lang="en-US" sz="3200" dirty="0"/>
              <a:t> Effect</a:t>
            </a:r>
            <a:r>
              <a:rPr lang="en-US" altLang="zh-CN" sz="3200" dirty="0"/>
              <a:t>s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355D47-EE5C-1A6A-EB7E-F78B9DE77E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072"/>
          <a:stretch>
            <a:fillRect/>
          </a:stretch>
        </p:blipFill>
        <p:spPr>
          <a:xfrm>
            <a:off x="1653903" y="2032000"/>
            <a:ext cx="8541829" cy="2939815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E6AA43-38E0-7757-9519-99958D86040A}"/>
              </a:ext>
            </a:extLst>
          </p:cNvPr>
          <p:cNvSpPr/>
          <p:nvPr/>
        </p:nvSpPr>
        <p:spPr>
          <a:xfrm>
            <a:off x="440142" y="5384581"/>
            <a:ext cx="11543227" cy="92168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4300" indent="-228600"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Talking Point:</a:t>
            </a:r>
            <a:r>
              <a:rPr lang="zh-CN" altLang="en-US" sz="1900" dirty="0">
                <a:solidFill>
                  <a:schemeClr val="tx1"/>
                </a:solidFill>
              </a:rPr>
              <a:t> </a:t>
            </a:r>
            <a:r>
              <a:rPr lang="en-US" altLang="zh-CN" sz="1900" dirty="0">
                <a:solidFill>
                  <a:schemeClr val="tx1"/>
                </a:solidFill>
              </a:rPr>
              <a:t>There</a:t>
            </a:r>
            <a:r>
              <a:rPr lang="zh-CN" altLang="en-US" sz="1900" dirty="0">
                <a:solidFill>
                  <a:schemeClr val="tx1"/>
                </a:solidFill>
              </a:rPr>
              <a:t> </a:t>
            </a:r>
            <a:r>
              <a:rPr lang="en-US" altLang="zh-CN" sz="1900" dirty="0">
                <a:solidFill>
                  <a:schemeClr val="tx1"/>
                </a:solidFill>
              </a:rPr>
              <a:t>is</a:t>
            </a:r>
            <a:r>
              <a:rPr lang="zh-CN" altLang="en-US" sz="1900" dirty="0">
                <a:solidFill>
                  <a:schemeClr val="tx1"/>
                </a:solidFill>
              </a:rPr>
              <a:t> </a:t>
            </a:r>
            <a:r>
              <a:rPr lang="en-US" altLang="zh-CN" sz="1900" dirty="0">
                <a:solidFill>
                  <a:schemeClr val="tx1"/>
                </a:solidFill>
              </a:rPr>
              <a:t>a</a:t>
            </a:r>
            <a:r>
              <a:rPr lang="zh-CN" altLang="en-US" sz="1900" dirty="0">
                <a:solidFill>
                  <a:schemeClr val="tx1"/>
                </a:solidFill>
              </a:rPr>
              <a:t> </a:t>
            </a:r>
            <a:r>
              <a:rPr lang="en-US" altLang="zh-CN" sz="1900" dirty="0">
                <a:solidFill>
                  <a:schemeClr val="tx1"/>
                </a:solidFill>
              </a:rPr>
              <a:t>position</a:t>
            </a:r>
            <a:r>
              <a:rPr lang="zh-CN" altLang="en-US" sz="1900" dirty="0">
                <a:solidFill>
                  <a:schemeClr val="tx1"/>
                </a:solidFill>
              </a:rPr>
              <a:t> </a:t>
            </a:r>
            <a:r>
              <a:rPr lang="en-US" altLang="zh-CN" sz="1900" dirty="0">
                <a:solidFill>
                  <a:schemeClr val="tx1"/>
                </a:solidFill>
              </a:rPr>
              <a:t>effect</a:t>
            </a:r>
            <a:r>
              <a:rPr lang="zh-CN" altLang="en-US" sz="1900" dirty="0">
                <a:solidFill>
                  <a:schemeClr val="tx1"/>
                </a:solidFill>
              </a:rPr>
              <a:t> </a:t>
            </a:r>
            <a:r>
              <a:rPr lang="en-US" altLang="zh-CN" sz="1900" dirty="0">
                <a:solidFill>
                  <a:schemeClr val="tx1"/>
                </a:solidFill>
              </a:rPr>
              <a:t>-</a:t>
            </a:r>
            <a:r>
              <a:rPr lang="zh-CN" altLang="en-US" sz="1900" dirty="0">
                <a:solidFill>
                  <a:schemeClr val="tx1"/>
                </a:solidFill>
              </a:rPr>
              <a:t> </a:t>
            </a:r>
            <a:r>
              <a:rPr lang="en-US" sz="1900" dirty="0">
                <a:solidFill>
                  <a:schemeClr val="tx1"/>
                </a:solidFill>
              </a:rPr>
              <a:t>AI takes this opportunity away from users who value it most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9224A5-1D26-3E33-4F35-7350B87E0FA2}"/>
              </a:ext>
            </a:extLst>
          </p:cNvPr>
          <p:cNvSpPr/>
          <p:nvPr/>
        </p:nvSpPr>
        <p:spPr>
          <a:xfrm>
            <a:off x="6361044" y="2121633"/>
            <a:ext cx="1727916" cy="2464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16C0758-1D09-7613-F455-C7EDB6C3892B}"/>
              </a:ext>
            </a:extLst>
          </p:cNvPr>
          <p:cNvSpPr/>
          <p:nvPr/>
        </p:nvSpPr>
        <p:spPr>
          <a:xfrm>
            <a:off x="8088959" y="2121633"/>
            <a:ext cx="2106773" cy="2464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E4C937-612B-031A-2B07-91E05B0CA9C6}"/>
              </a:ext>
            </a:extLst>
          </p:cNvPr>
          <p:cNvSpPr txBox="1"/>
          <p:nvPr/>
        </p:nvSpPr>
        <p:spPr>
          <a:xfrm>
            <a:off x="4915797" y="1662668"/>
            <a:ext cx="86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X→Y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5A7C8B-307F-5E46-30B3-2277754C8CA9}"/>
              </a:ext>
            </a:extLst>
          </p:cNvPr>
          <p:cNvSpPr txBox="1"/>
          <p:nvPr/>
        </p:nvSpPr>
        <p:spPr>
          <a:xfrm>
            <a:off x="6894802" y="1662668"/>
            <a:ext cx="86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X→M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FEB1AB-F454-FEF6-CF5C-2E02CD819215}"/>
              </a:ext>
            </a:extLst>
          </p:cNvPr>
          <p:cNvSpPr txBox="1"/>
          <p:nvPr/>
        </p:nvSpPr>
        <p:spPr>
          <a:xfrm>
            <a:off x="8719890" y="1661636"/>
            <a:ext cx="1330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X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+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sz="1400" dirty="0">
                <a:solidFill>
                  <a:srgbClr val="FF0000"/>
                </a:solidFill>
              </a:rPr>
              <a:t>M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→Y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3556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66496-D659-02F4-A42F-7845E92B2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5F4D8-D30F-3452-BFE6-D8BEF0D81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173238" cy="1325563"/>
          </a:xfrm>
        </p:spPr>
        <p:txBody>
          <a:bodyPr>
            <a:noAutofit/>
          </a:bodyPr>
          <a:lstStyle/>
          <a:p>
            <a:r>
              <a:rPr lang="en-US" sz="3200" dirty="0"/>
              <a:t>Mechanism </a:t>
            </a:r>
            <a:r>
              <a:rPr lang="en-US" altLang="zh-CN" sz="3200" dirty="0"/>
              <a:t>3</a:t>
            </a:r>
            <a:r>
              <a:rPr lang="en-US" sz="3200" dirty="0"/>
              <a:t> - </a:t>
            </a:r>
            <a:r>
              <a:rPr lang="en-US" altLang="zh-CN" sz="3200" dirty="0"/>
              <a:t>Source</a:t>
            </a:r>
            <a:r>
              <a:rPr lang="en-US" sz="3200" dirty="0"/>
              <a:t> Effect</a:t>
            </a:r>
            <a:r>
              <a:rPr lang="en-US" altLang="zh-CN" sz="3200" dirty="0"/>
              <a:t>s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916778-B5A9-7C0A-E105-F410F8ACAD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365"/>
          <a:stretch>
            <a:fillRect/>
          </a:stretch>
        </p:blipFill>
        <p:spPr>
          <a:xfrm>
            <a:off x="1604406" y="1790700"/>
            <a:ext cx="8640824" cy="262918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EF5D35A-6E6B-E045-68A7-3E20EE24B849}"/>
              </a:ext>
            </a:extLst>
          </p:cNvPr>
          <p:cNvSpPr/>
          <p:nvPr/>
        </p:nvSpPr>
        <p:spPr>
          <a:xfrm>
            <a:off x="7288696" y="2333667"/>
            <a:ext cx="1417982" cy="17214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3D1C48-A0D7-3F1E-1F76-9E8DBBA47F82}"/>
              </a:ext>
            </a:extLst>
          </p:cNvPr>
          <p:cNvSpPr/>
          <p:nvPr/>
        </p:nvSpPr>
        <p:spPr>
          <a:xfrm>
            <a:off x="8706679" y="2333667"/>
            <a:ext cx="1538551" cy="17214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BF1D8FE-E4B8-7F00-1604-664CBF366535}"/>
              </a:ext>
            </a:extLst>
          </p:cNvPr>
          <p:cNvSpPr/>
          <p:nvPr/>
        </p:nvSpPr>
        <p:spPr>
          <a:xfrm>
            <a:off x="1449321" y="4962853"/>
            <a:ext cx="8950993" cy="92168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4300" indent="-228600"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Talking Point:</a:t>
            </a:r>
            <a:r>
              <a:rPr lang="zh-CN" altLang="en-US" sz="1900" b="1" dirty="0">
                <a:solidFill>
                  <a:schemeClr val="tx1"/>
                </a:solidFill>
              </a:rPr>
              <a:t> </a:t>
            </a:r>
            <a:r>
              <a:rPr lang="en-US" altLang="en-US" sz="1900" dirty="0">
                <a:solidFill>
                  <a:schemeClr val="tx1"/>
                </a:solidFill>
              </a:rPr>
              <a:t>57% of total deterrence operates through the source effect</a:t>
            </a:r>
          </a:p>
        </p:txBody>
      </p:sp>
    </p:spTree>
    <p:extLst>
      <p:ext uri="{BB962C8B-B14F-4D97-AF65-F5344CB8AC3E}">
        <p14:creationId xmlns:p14="http://schemas.microsoft.com/office/powerpoint/2010/main" val="1337603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AE7DC-944E-A126-19E8-14FBA77A1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F587C-03C6-FA57-78D2-634E8451F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173238" cy="1325563"/>
          </a:xfrm>
        </p:spPr>
        <p:txBody>
          <a:bodyPr>
            <a:noAutofit/>
          </a:bodyPr>
          <a:lstStyle/>
          <a:p>
            <a:r>
              <a:rPr lang="en-US" sz="2800" dirty="0"/>
              <a:t>Why </a:t>
            </a:r>
            <a:r>
              <a:rPr lang="en-US" altLang="zh-CN" sz="2800" dirty="0"/>
              <a:t>Viewer</a:t>
            </a:r>
            <a:r>
              <a:rPr lang="zh-CN" altLang="en-US" sz="2800" dirty="0"/>
              <a:t> </a:t>
            </a:r>
            <a:r>
              <a:rPr lang="en-US" sz="2800" dirty="0"/>
              <a:t>Recognition Decreases</a:t>
            </a:r>
            <a:r>
              <a:rPr lang="en-US" altLang="zh-CN" sz="2800" dirty="0"/>
              <a:t>?</a:t>
            </a:r>
            <a:endParaRPr lang="en-US" sz="2800"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DDE175F-D8F1-5D73-C692-8F103D717CF5}"/>
              </a:ext>
            </a:extLst>
          </p:cNvPr>
          <p:cNvSpPr/>
          <p:nvPr/>
        </p:nvSpPr>
        <p:spPr>
          <a:xfrm>
            <a:off x="161787" y="2715730"/>
            <a:ext cx="3850645" cy="1705945"/>
          </a:xfrm>
          <a:prstGeom prst="roundRect">
            <a:avLst/>
          </a:prstGeom>
          <a:solidFill>
            <a:srgbClr val="E5FCF0"/>
          </a:solidFill>
          <a:ln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srgbClr val="047857"/>
                </a:solidFill>
                <a:latin typeface="-apple-system"/>
              </a:rPr>
              <a:t>Attraction</a:t>
            </a:r>
            <a:r>
              <a:rPr lang="zh-CN" altLang="en-US" sz="2000" b="1" dirty="0">
                <a:solidFill>
                  <a:srgbClr val="047857"/>
                </a:solidFill>
                <a:latin typeface="-apple-system"/>
              </a:rPr>
              <a:t> </a:t>
            </a:r>
            <a:r>
              <a:rPr lang="en-US" altLang="zh-CN" sz="2000" b="1" dirty="0">
                <a:solidFill>
                  <a:srgbClr val="047857"/>
                </a:solidFill>
                <a:latin typeface="-apple-system"/>
              </a:rPr>
              <a:t>diversion</a:t>
            </a:r>
          </a:p>
          <a:p>
            <a:pPr fontAlgn="base">
              <a:lnSpc>
                <a:spcPct val="140000"/>
              </a:lnSpc>
              <a:spcBef>
                <a:spcPct val="0"/>
              </a:spcBef>
              <a:spcAft>
                <a:spcPts val="1125"/>
              </a:spcAft>
            </a:pPr>
            <a:r>
              <a:rPr lang="en-US" altLang="zh-CN" sz="1600" dirty="0">
                <a:solidFill>
                  <a:srgbClr val="333333"/>
                </a:solidFill>
                <a:latin typeface="-apple-system"/>
              </a:rPr>
              <a:t>&gt;</a:t>
            </a:r>
            <a:r>
              <a:rPr lang="zh-CN" altLang="en-US" sz="1600" dirty="0">
                <a:solidFill>
                  <a:srgbClr val="333333"/>
                </a:solidFill>
                <a:latin typeface="-apple-system"/>
              </a:rPr>
              <a:t> </a:t>
            </a:r>
            <a:r>
              <a:rPr lang="en-US" altLang="zh-CN" sz="1600" dirty="0">
                <a:solidFill>
                  <a:srgbClr val="333333"/>
                </a:solidFill>
                <a:latin typeface="-apple-system"/>
              </a:rPr>
              <a:t>Do</a:t>
            </a:r>
            <a:r>
              <a:rPr lang="zh-CN" altLang="en-US" sz="1600" dirty="0">
                <a:solidFill>
                  <a:srgbClr val="333333"/>
                </a:solidFill>
                <a:latin typeface="-apple-system"/>
              </a:rPr>
              <a:t> </a:t>
            </a:r>
            <a:r>
              <a:rPr lang="en-US" altLang="zh-CN" sz="1600" dirty="0">
                <a:solidFill>
                  <a:srgbClr val="333333"/>
                </a:solidFill>
                <a:latin typeface="-apple-system"/>
              </a:rPr>
              <a:t>not</a:t>
            </a:r>
            <a:r>
              <a:rPr lang="zh-CN" altLang="en-US" sz="1600" dirty="0">
                <a:solidFill>
                  <a:srgbClr val="333333"/>
                </a:solidFill>
                <a:latin typeface="-apple-system"/>
              </a:rPr>
              <a:t> </a:t>
            </a:r>
            <a:r>
              <a:rPr lang="en-US" altLang="zh-CN" sz="1600" dirty="0">
                <a:solidFill>
                  <a:srgbClr val="333333"/>
                </a:solidFill>
                <a:latin typeface="-apple-system"/>
              </a:rPr>
              <a:t>see</a:t>
            </a:r>
            <a:r>
              <a:rPr lang="zh-CN" altLang="en-US" sz="1600" dirty="0">
                <a:solidFill>
                  <a:srgbClr val="333333"/>
                </a:solidFill>
                <a:latin typeface="-apple-system"/>
              </a:rPr>
              <a:t> </a:t>
            </a:r>
            <a:r>
              <a:rPr lang="en-US" altLang="zh-CN" sz="1600" dirty="0">
                <a:solidFill>
                  <a:srgbClr val="333333"/>
                </a:solidFill>
                <a:latin typeface="-apple-system"/>
              </a:rPr>
              <a:t>the</a:t>
            </a:r>
            <a:r>
              <a:rPr lang="zh-CN" altLang="en-US" sz="1600" dirty="0">
                <a:solidFill>
                  <a:srgbClr val="333333"/>
                </a:solidFill>
                <a:latin typeface="-apple-system"/>
              </a:rPr>
              <a:t> </a:t>
            </a:r>
            <a:r>
              <a:rPr lang="en-US" altLang="zh-CN" sz="1600" dirty="0">
                <a:solidFill>
                  <a:srgbClr val="333333"/>
                </a:solidFill>
                <a:latin typeface="-apple-system"/>
              </a:rPr>
              <a:t>human</a:t>
            </a:r>
            <a:r>
              <a:rPr lang="zh-CN" altLang="en-US" sz="1600" dirty="0">
                <a:solidFill>
                  <a:srgbClr val="333333"/>
                </a:solidFill>
                <a:latin typeface="-apple-system"/>
              </a:rPr>
              <a:t> </a:t>
            </a:r>
            <a:r>
              <a:rPr lang="en-US" altLang="zh-CN" sz="1600" dirty="0">
                <a:solidFill>
                  <a:srgbClr val="333333"/>
                </a:solidFill>
                <a:latin typeface="-apple-system"/>
              </a:rPr>
              <a:t>answers</a:t>
            </a:r>
            <a:r>
              <a:rPr lang="zh-CN" altLang="en-US" sz="1600" dirty="0">
                <a:solidFill>
                  <a:srgbClr val="333333"/>
                </a:solidFill>
                <a:latin typeface="-apple-system"/>
              </a:rPr>
              <a:t> </a:t>
            </a:r>
            <a:r>
              <a:rPr lang="en-US" altLang="zh-CN" sz="1600" dirty="0">
                <a:solidFill>
                  <a:srgbClr val="333333"/>
                </a:solidFill>
                <a:latin typeface="-apple-system"/>
              </a:rPr>
              <a:t>due</a:t>
            </a:r>
            <a:r>
              <a:rPr lang="zh-CN" altLang="en-US" sz="1600" dirty="0">
                <a:solidFill>
                  <a:srgbClr val="333333"/>
                </a:solidFill>
                <a:latin typeface="-apple-system"/>
              </a:rPr>
              <a:t> </a:t>
            </a:r>
            <a:r>
              <a:rPr lang="en-US" altLang="zh-CN" sz="1600" dirty="0">
                <a:solidFill>
                  <a:srgbClr val="333333"/>
                </a:solidFill>
                <a:latin typeface="-apple-system"/>
              </a:rPr>
              <a:t>to</a:t>
            </a:r>
            <a:r>
              <a:rPr lang="zh-CN" altLang="en-US" sz="1600" dirty="0">
                <a:solidFill>
                  <a:srgbClr val="333333"/>
                </a:solidFill>
                <a:latin typeface="-apple-system"/>
              </a:rPr>
              <a:t> </a:t>
            </a:r>
            <a:r>
              <a:rPr lang="en-US" altLang="zh-CN" sz="1600" dirty="0">
                <a:solidFill>
                  <a:srgbClr val="333333"/>
                </a:solidFill>
                <a:latin typeface="-apple-system"/>
              </a:rPr>
              <a:t>attraction</a:t>
            </a:r>
            <a:r>
              <a:rPr lang="zh-CN" altLang="en-US" sz="1600" dirty="0">
                <a:solidFill>
                  <a:srgbClr val="333333"/>
                </a:solidFill>
                <a:latin typeface="-apple-system"/>
              </a:rPr>
              <a:t> </a:t>
            </a:r>
            <a:r>
              <a:rPr lang="en-US" altLang="zh-CN" sz="1600" dirty="0">
                <a:solidFill>
                  <a:srgbClr val="333333"/>
                </a:solidFill>
                <a:latin typeface="-apple-system"/>
              </a:rPr>
              <a:t>from</a:t>
            </a:r>
            <a:r>
              <a:rPr lang="zh-CN" altLang="en-US" sz="1600" dirty="0">
                <a:solidFill>
                  <a:srgbClr val="333333"/>
                </a:solidFill>
                <a:latin typeface="-apple-system"/>
              </a:rPr>
              <a:t> </a:t>
            </a:r>
            <a:r>
              <a:rPr lang="en-US" altLang="zh-CN" sz="1600" dirty="0">
                <a:solidFill>
                  <a:srgbClr val="333333"/>
                </a:solidFill>
                <a:latin typeface="-apple-system"/>
              </a:rPr>
              <a:t>AI</a:t>
            </a:r>
            <a:r>
              <a:rPr lang="zh-CN" altLang="en-US" sz="1600" dirty="0">
                <a:solidFill>
                  <a:srgbClr val="333333"/>
                </a:solidFill>
                <a:latin typeface="-apple-system"/>
              </a:rPr>
              <a:t> </a:t>
            </a:r>
            <a:r>
              <a:rPr lang="en-US" altLang="zh-CN" sz="1600" dirty="0">
                <a:solidFill>
                  <a:srgbClr val="333333"/>
                </a:solidFill>
                <a:latin typeface="-apple-system"/>
              </a:rPr>
              <a:t>answers</a:t>
            </a:r>
            <a:endParaRPr lang="en-US" sz="1600" dirty="0">
              <a:solidFill>
                <a:srgbClr val="333333"/>
              </a:solidFill>
              <a:latin typeface="-apple-system"/>
            </a:endParaRPr>
          </a:p>
          <a:p>
            <a:pPr>
              <a:spcAft>
                <a:spcPts val="1125"/>
              </a:spcAft>
            </a:pPr>
            <a:endParaRPr lang="en-US" sz="2000" dirty="0">
              <a:solidFill>
                <a:srgbClr val="333333"/>
              </a:solidFill>
              <a:latin typeface="-apple-syste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4921843-BF1F-F95F-9E66-C4804707C5E1}"/>
              </a:ext>
            </a:extLst>
          </p:cNvPr>
          <p:cNvSpPr/>
          <p:nvPr/>
        </p:nvSpPr>
        <p:spPr>
          <a:xfrm>
            <a:off x="4175371" y="2715730"/>
            <a:ext cx="3850645" cy="1705944"/>
          </a:xfrm>
          <a:prstGeom prst="roundRect">
            <a:avLst/>
          </a:prstGeom>
          <a:solidFill>
            <a:srgbClr val="E7F1FF"/>
          </a:solidFill>
          <a:ln>
            <a:solidFill>
              <a:srgbClr val="2562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srgbClr val="1E40AF"/>
                </a:solidFill>
                <a:latin typeface="-apple-system"/>
              </a:rPr>
              <a:t>Quality</a:t>
            </a:r>
            <a:r>
              <a:rPr lang="zh-CN" altLang="en-US" sz="2000" b="1" dirty="0">
                <a:solidFill>
                  <a:srgbClr val="1E40AF"/>
                </a:solidFill>
                <a:latin typeface="-apple-system"/>
              </a:rPr>
              <a:t> </a:t>
            </a:r>
            <a:r>
              <a:rPr lang="en-US" altLang="zh-CN" sz="2000" b="1" dirty="0">
                <a:solidFill>
                  <a:srgbClr val="1E40AF"/>
                </a:solidFill>
                <a:latin typeface="-apple-system"/>
              </a:rPr>
              <a:t>degradation</a:t>
            </a:r>
          </a:p>
          <a:p>
            <a:pPr fontAlgn="base">
              <a:lnSpc>
                <a:spcPct val="140000"/>
              </a:lnSpc>
              <a:spcBef>
                <a:spcPct val="0"/>
              </a:spcBef>
              <a:spcAft>
                <a:spcPts val="1500"/>
              </a:spcAft>
            </a:pPr>
            <a:r>
              <a:rPr lang="en-US" altLang="zh-CN" sz="1600" dirty="0">
                <a:solidFill>
                  <a:srgbClr val="333333"/>
                </a:solidFill>
                <a:latin typeface="-apple-system"/>
              </a:rPr>
              <a:t>&gt;</a:t>
            </a:r>
            <a:r>
              <a:rPr lang="zh-CN" altLang="en-US" sz="1600" dirty="0">
                <a:solidFill>
                  <a:srgbClr val="333333"/>
                </a:solidFill>
                <a:latin typeface="-apple-system"/>
              </a:rPr>
              <a:t> </a:t>
            </a:r>
            <a:r>
              <a:rPr lang="en-US" altLang="zh-CN" sz="1600" dirty="0">
                <a:solidFill>
                  <a:srgbClr val="333333"/>
                </a:solidFill>
                <a:latin typeface="-apple-system"/>
              </a:rPr>
              <a:t>Objective</a:t>
            </a:r>
            <a:r>
              <a:rPr lang="zh-CN" altLang="en-US" sz="1600" dirty="0">
                <a:solidFill>
                  <a:srgbClr val="333333"/>
                </a:solidFill>
                <a:latin typeface="-apple-system"/>
              </a:rPr>
              <a:t> </a:t>
            </a:r>
            <a:r>
              <a:rPr lang="en-US" altLang="zh-CN" sz="1600" dirty="0">
                <a:solidFill>
                  <a:srgbClr val="333333"/>
                </a:solidFill>
                <a:latin typeface="-apple-system"/>
              </a:rPr>
              <a:t>quality</a:t>
            </a:r>
            <a:r>
              <a:rPr lang="zh-CN" altLang="en-US" sz="1600" dirty="0">
                <a:solidFill>
                  <a:srgbClr val="333333"/>
                </a:solidFill>
                <a:latin typeface="-apple-system"/>
              </a:rPr>
              <a:t> </a:t>
            </a:r>
            <a:r>
              <a:rPr lang="en-US" altLang="zh-CN" sz="1600" dirty="0">
                <a:solidFill>
                  <a:srgbClr val="333333"/>
                </a:solidFill>
                <a:latin typeface="-apple-system"/>
              </a:rPr>
              <a:t>lowers</a:t>
            </a:r>
            <a:endParaRPr lang="en-US" sz="1600" dirty="0">
              <a:solidFill>
                <a:srgbClr val="333333"/>
              </a:solidFill>
              <a:latin typeface="-apple-system"/>
            </a:endParaRPr>
          </a:p>
          <a:p>
            <a:pPr>
              <a:spcAft>
                <a:spcPts val="1500"/>
              </a:spcAft>
            </a:pPr>
            <a:endParaRPr lang="en-US" sz="1600" dirty="0">
              <a:solidFill>
                <a:srgbClr val="333333"/>
              </a:solidFill>
              <a:latin typeface="-apple-syste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996DCDE-D5C2-9994-66CE-FB6BFCF5A6C4}"/>
              </a:ext>
            </a:extLst>
          </p:cNvPr>
          <p:cNvSpPr/>
          <p:nvPr/>
        </p:nvSpPr>
        <p:spPr>
          <a:xfrm>
            <a:off x="8188955" y="2715728"/>
            <a:ext cx="3850645" cy="1705943"/>
          </a:xfrm>
          <a:prstGeom prst="roundRect">
            <a:avLst/>
          </a:prstGeom>
          <a:solidFill>
            <a:srgbClr val="FEEFB1"/>
          </a:solidFill>
          <a:ln>
            <a:solidFill>
              <a:srgbClr val="F69E0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srgbClr val="D97706"/>
                </a:solidFill>
                <a:latin typeface="-apple-system"/>
              </a:rPr>
              <a:t>Heightened</a:t>
            </a:r>
            <a:r>
              <a:rPr lang="zh-CN" altLang="en-US" sz="2000" b="1" dirty="0">
                <a:solidFill>
                  <a:srgbClr val="D97706"/>
                </a:solidFill>
                <a:latin typeface="-apple-system"/>
              </a:rPr>
              <a:t> </a:t>
            </a:r>
            <a:r>
              <a:rPr lang="en-US" altLang="zh-CN" sz="2000" b="1" dirty="0">
                <a:solidFill>
                  <a:srgbClr val="D97706"/>
                </a:solidFill>
                <a:latin typeface="-apple-system"/>
              </a:rPr>
              <a:t>Expectation</a:t>
            </a:r>
          </a:p>
          <a:p>
            <a:pPr fontAlgn="base">
              <a:lnSpc>
                <a:spcPct val="140000"/>
              </a:lnSpc>
              <a:spcBef>
                <a:spcPct val="0"/>
              </a:spcBef>
              <a:spcAft>
                <a:spcPts val="1500"/>
              </a:spcAft>
            </a:pPr>
            <a:r>
              <a:rPr lang="en-US" altLang="zh-CN" sz="1600" dirty="0">
                <a:solidFill>
                  <a:srgbClr val="333333"/>
                </a:solidFill>
                <a:latin typeface="-apple-system"/>
              </a:rPr>
              <a:t>&gt;</a:t>
            </a:r>
            <a:r>
              <a:rPr lang="zh-CN" altLang="en-US" sz="1600" dirty="0">
                <a:solidFill>
                  <a:srgbClr val="333333"/>
                </a:solidFill>
                <a:latin typeface="-apple-system"/>
              </a:rPr>
              <a:t> </a:t>
            </a:r>
            <a:r>
              <a:rPr lang="en-US" altLang="zh-CN" sz="1600" dirty="0">
                <a:solidFill>
                  <a:srgbClr val="333333"/>
                </a:solidFill>
                <a:latin typeface="-apple-system"/>
              </a:rPr>
              <a:t>Quality</a:t>
            </a:r>
            <a:r>
              <a:rPr lang="zh-CN" altLang="en-US" sz="1600" dirty="0">
                <a:solidFill>
                  <a:srgbClr val="333333"/>
                </a:solidFill>
                <a:latin typeface="-apple-system"/>
              </a:rPr>
              <a:t> </a:t>
            </a:r>
            <a:r>
              <a:rPr lang="en-US" altLang="zh-CN" sz="1600" dirty="0">
                <a:solidFill>
                  <a:srgbClr val="333333"/>
                </a:solidFill>
                <a:latin typeface="-apple-system"/>
              </a:rPr>
              <a:t>doesn’t</a:t>
            </a:r>
            <a:r>
              <a:rPr lang="zh-CN" altLang="en-US" sz="1600" dirty="0">
                <a:solidFill>
                  <a:srgbClr val="333333"/>
                </a:solidFill>
                <a:latin typeface="-apple-system"/>
              </a:rPr>
              <a:t> </a:t>
            </a:r>
            <a:r>
              <a:rPr lang="en-US" altLang="zh-CN" sz="1600" dirty="0">
                <a:solidFill>
                  <a:srgbClr val="333333"/>
                </a:solidFill>
                <a:latin typeface="-apple-system"/>
              </a:rPr>
              <a:t>change,</a:t>
            </a:r>
            <a:r>
              <a:rPr lang="zh-CN" altLang="en-US" sz="1600" dirty="0">
                <a:solidFill>
                  <a:srgbClr val="333333"/>
                </a:solidFill>
                <a:latin typeface="-apple-system"/>
              </a:rPr>
              <a:t> </a:t>
            </a:r>
            <a:r>
              <a:rPr lang="en-US" altLang="zh-CN" sz="1600" dirty="0">
                <a:solidFill>
                  <a:srgbClr val="333333"/>
                </a:solidFill>
                <a:latin typeface="-apple-system"/>
              </a:rPr>
              <a:t>but</a:t>
            </a:r>
            <a:r>
              <a:rPr lang="zh-CN" altLang="en-US" sz="1600" dirty="0">
                <a:solidFill>
                  <a:srgbClr val="333333"/>
                </a:solidFill>
                <a:latin typeface="-apple-system"/>
              </a:rPr>
              <a:t> </a:t>
            </a:r>
            <a:r>
              <a:rPr lang="en-US" altLang="zh-CN" sz="1600" dirty="0">
                <a:solidFill>
                  <a:srgbClr val="333333"/>
                </a:solidFill>
                <a:latin typeface="-apple-system"/>
              </a:rPr>
              <a:t>viewers</a:t>
            </a:r>
            <a:r>
              <a:rPr lang="zh-CN" altLang="en-US" sz="1600" dirty="0">
                <a:solidFill>
                  <a:srgbClr val="333333"/>
                </a:solidFill>
                <a:latin typeface="-apple-system"/>
              </a:rPr>
              <a:t> </a:t>
            </a:r>
            <a:r>
              <a:rPr lang="en-US" altLang="zh-CN" sz="1600" dirty="0">
                <a:solidFill>
                  <a:srgbClr val="333333"/>
                </a:solidFill>
                <a:latin typeface="-apple-system"/>
              </a:rPr>
              <a:t>become</a:t>
            </a:r>
            <a:r>
              <a:rPr lang="zh-CN" altLang="en-US" sz="1600" dirty="0">
                <a:solidFill>
                  <a:srgbClr val="333333"/>
                </a:solidFill>
                <a:latin typeface="-apple-system"/>
              </a:rPr>
              <a:t> </a:t>
            </a:r>
            <a:r>
              <a:rPr lang="en-US" altLang="zh-CN" sz="1600" dirty="0">
                <a:solidFill>
                  <a:srgbClr val="333333"/>
                </a:solidFill>
                <a:latin typeface="-apple-system"/>
              </a:rPr>
              <a:t>more</a:t>
            </a:r>
            <a:r>
              <a:rPr lang="zh-CN" altLang="en-US" sz="1600" dirty="0">
                <a:solidFill>
                  <a:srgbClr val="333333"/>
                </a:solidFill>
                <a:latin typeface="-apple-system"/>
              </a:rPr>
              <a:t> </a:t>
            </a:r>
            <a:r>
              <a:rPr lang="en-US" altLang="zh-CN" sz="1600" dirty="0">
                <a:solidFill>
                  <a:srgbClr val="333333"/>
                </a:solidFill>
                <a:latin typeface="-apple-system"/>
              </a:rPr>
              <a:t>picky</a:t>
            </a:r>
            <a:endParaRPr lang="en-US" sz="1600" dirty="0">
              <a:solidFill>
                <a:srgbClr val="333333"/>
              </a:solidFill>
              <a:latin typeface="-apple-system"/>
            </a:endParaRPr>
          </a:p>
          <a:p>
            <a:pPr>
              <a:spcAft>
                <a:spcPts val="1500"/>
              </a:spcAft>
            </a:pPr>
            <a:endParaRPr lang="zh-TW" altLang="en-US" sz="1600" dirty="0">
              <a:solidFill>
                <a:srgbClr val="333333"/>
              </a:solidFill>
              <a:latin typeface="-apple-system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06CBE59-FF90-9E31-EC26-F093F04737F3}"/>
              </a:ext>
            </a:extLst>
          </p:cNvPr>
          <p:cNvSpPr/>
          <p:nvPr/>
        </p:nvSpPr>
        <p:spPr>
          <a:xfrm>
            <a:off x="152400" y="1427901"/>
            <a:ext cx="4038984" cy="51792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4048ADD-8FBC-20A8-5045-C8A55D1586C7}"/>
              </a:ext>
            </a:extLst>
          </p:cNvPr>
          <p:cNvSpPr/>
          <p:nvPr/>
        </p:nvSpPr>
        <p:spPr>
          <a:xfrm>
            <a:off x="4010797" y="1427900"/>
            <a:ext cx="4140584" cy="5179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2607AD-F061-8CF7-43B9-14F713F3AC71}"/>
              </a:ext>
            </a:extLst>
          </p:cNvPr>
          <p:cNvSpPr/>
          <p:nvPr/>
        </p:nvSpPr>
        <p:spPr>
          <a:xfrm>
            <a:off x="8000618" y="1427899"/>
            <a:ext cx="4140584" cy="5179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449067A-4864-7BBC-953D-9C4EA157F86E}"/>
              </a:ext>
            </a:extLst>
          </p:cNvPr>
          <p:cNvSpPr/>
          <p:nvPr/>
        </p:nvSpPr>
        <p:spPr>
          <a:xfrm>
            <a:off x="1110277" y="5046717"/>
            <a:ext cx="9971446" cy="132556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4300" indent="-228600"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Talking Point:</a:t>
            </a:r>
            <a:r>
              <a:rPr lang="zh-CN" altLang="en-US" sz="1900" b="1" dirty="0">
                <a:solidFill>
                  <a:schemeClr val="tx1"/>
                </a:solidFill>
              </a:rPr>
              <a:t> </a:t>
            </a:r>
            <a:endParaRPr lang="en-US" altLang="zh-CN" sz="1900" b="1" dirty="0">
              <a:solidFill>
                <a:schemeClr val="tx1"/>
              </a:solidFill>
            </a:endParaRPr>
          </a:p>
          <a:p>
            <a:pPr marL="571500" lvl="2" indent="-228600"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Human answers haven</a:t>
            </a:r>
            <a:r>
              <a:rPr lang="en-US" altLang="zh-CN" sz="1900" dirty="0">
                <a:solidFill>
                  <a:schemeClr val="tx1"/>
                </a:solidFill>
              </a:rPr>
              <a:t>’</a:t>
            </a:r>
            <a:r>
              <a:rPr lang="en-US" sz="1900" dirty="0">
                <a:solidFill>
                  <a:schemeClr val="tx1"/>
                </a:solidFill>
              </a:rPr>
              <a:t>t gotten worse</a:t>
            </a:r>
          </a:p>
          <a:p>
            <a:pPr marL="571500" lvl="2" indent="-228600"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900" dirty="0">
                <a:solidFill>
                  <a:schemeClr val="tx1"/>
                </a:solidFill>
              </a:rPr>
              <a:t>Viewers’</a:t>
            </a:r>
            <a:r>
              <a:rPr lang="zh-CN" altLang="en-US" sz="1900" dirty="0">
                <a:solidFill>
                  <a:schemeClr val="tx1"/>
                </a:solidFill>
              </a:rPr>
              <a:t> </a:t>
            </a:r>
            <a:r>
              <a:rPr lang="en-US" sz="1900" dirty="0">
                <a:solidFill>
                  <a:schemeClr val="tx1"/>
                </a:solidFill>
              </a:rPr>
              <a:t>standards have gotten higher in the presence of high-quality AI</a:t>
            </a:r>
          </a:p>
        </p:txBody>
      </p:sp>
    </p:spTree>
    <p:extLst>
      <p:ext uri="{BB962C8B-B14F-4D97-AF65-F5344CB8AC3E}">
        <p14:creationId xmlns:p14="http://schemas.microsoft.com/office/powerpoint/2010/main" val="1300379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E7002-9DC3-8572-1B54-76280D7E4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C1906-1AA2-473F-D098-7D5BCAE6D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173238" cy="1325563"/>
          </a:xfrm>
        </p:spPr>
        <p:txBody>
          <a:bodyPr>
            <a:noAutofit/>
          </a:bodyPr>
          <a:lstStyle/>
          <a:p>
            <a:r>
              <a:rPr lang="en-US" sz="2800" dirty="0"/>
              <a:t>Humans Differentiate Through Unique Value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647797-93AF-1A5A-D8E9-C69F71CBA9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420353"/>
            <a:ext cx="7772400" cy="348203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CBE275B-69B3-CB77-3AAC-A2ED0FAD4D3C}"/>
              </a:ext>
            </a:extLst>
          </p:cNvPr>
          <p:cNvSpPr/>
          <p:nvPr/>
        </p:nvSpPr>
        <p:spPr>
          <a:xfrm>
            <a:off x="6268278" y="1690688"/>
            <a:ext cx="3713922" cy="2895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3E6A069-52B5-3EA2-1EEC-E27BB71EBA79}"/>
              </a:ext>
            </a:extLst>
          </p:cNvPr>
          <p:cNvSpPr/>
          <p:nvPr/>
        </p:nvSpPr>
        <p:spPr>
          <a:xfrm>
            <a:off x="1110277" y="5167312"/>
            <a:ext cx="9971446" cy="132556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4300" indent="-228600"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Talking Point:</a:t>
            </a:r>
            <a:r>
              <a:rPr lang="zh-CN" altLang="en-US" sz="1900" b="1" dirty="0">
                <a:solidFill>
                  <a:schemeClr val="tx1"/>
                </a:solidFill>
              </a:rPr>
              <a:t> </a:t>
            </a:r>
            <a:endParaRPr lang="en-US" altLang="zh-CN" sz="1900" b="1" dirty="0">
              <a:solidFill>
                <a:schemeClr val="tx1"/>
              </a:solidFill>
            </a:endParaRPr>
          </a:p>
          <a:p>
            <a:pPr marL="571500" lvl="2" indent="-228600"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There</a:t>
            </a:r>
            <a:r>
              <a:rPr lang="en-US" altLang="zh-CN" sz="1900" dirty="0">
                <a:solidFill>
                  <a:schemeClr val="tx1"/>
                </a:solidFill>
              </a:rPr>
              <a:t>'</a:t>
            </a:r>
            <a:r>
              <a:rPr lang="en-US" sz="1900" dirty="0">
                <a:solidFill>
                  <a:schemeClr val="tx1"/>
                </a:solidFill>
              </a:rPr>
              <a:t>s hope - humans adapt by emphasizing their unique strengths</a:t>
            </a:r>
          </a:p>
        </p:txBody>
      </p:sp>
    </p:spTree>
    <p:extLst>
      <p:ext uri="{BB962C8B-B14F-4D97-AF65-F5344CB8AC3E}">
        <p14:creationId xmlns:p14="http://schemas.microsoft.com/office/powerpoint/2010/main" val="532314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A5411-FF37-4C97-5758-AA8045F9A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3220A-1A68-82B4-2506-8DCDF0687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173238" cy="1325563"/>
          </a:xfrm>
        </p:spPr>
        <p:txBody>
          <a:bodyPr>
            <a:noAutofit/>
          </a:bodyPr>
          <a:lstStyle/>
          <a:p>
            <a:r>
              <a:rPr lang="en-US" sz="2800" dirty="0"/>
              <a:t>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A3398-7604-7831-8CC4-76DA24C553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63290"/>
            <a:ext cx="11198630" cy="557824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altLang="zh-CN" sz="2000" b="1" dirty="0"/>
              <a:t>Effects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of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internal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GenAI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on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human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answer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supply</a:t>
            </a:r>
            <a:r>
              <a:rPr lang="zh-CN" altLang="en-US" sz="2000" b="1" dirty="0"/>
              <a:t> </a:t>
            </a:r>
            <a:r>
              <a:rPr lang="en-US" sz="2000" b="1" dirty="0"/>
              <a:t>:</a:t>
            </a:r>
          </a:p>
          <a:p>
            <a:pPr lvl="1">
              <a:lnSpc>
                <a:spcPct val="110000"/>
              </a:lnSpc>
            </a:pPr>
            <a:r>
              <a:rPr lang="en-US" sz="1800" dirty="0"/>
              <a:t>Internal GenAI reduces </a:t>
            </a:r>
            <a:r>
              <a:rPr lang="en-US" altLang="zh-CN" sz="1800" dirty="0"/>
              <a:t>#</a:t>
            </a:r>
            <a:r>
              <a:rPr lang="zh-CN" altLang="en-US" sz="1800" dirty="0"/>
              <a:t> </a:t>
            </a:r>
            <a:r>
              <a:rPr lang="en-US" sz="1800" dirty="0"/>
              <a:t>human </a:t>
            </a:r>
            <a:r>
              <a:rPr lang="en-US" altLang="zh-CN" sz="1800" dirty="0"/>
              <a:t>answers</a:t>
            </a:r>
            <a:endParaRPr lang="en-US" sz="1800" dirty="0"/>
          </a:p>
          <a:p>
            <a:pPr lvl="1">
              <a:lnSpc>
                <a:spcPct val="110000"/>
              </a:lnSpc>
            </a:pPr>
            <a:r>
              <a:rPr lang="en-US" sz="1800" b="1" dirty="0"/>
              <a:t>Three mechanisms drive deterrence: </a:t>
            </a:r>
          </a:p>
          <a:p>
            <a:pPr lvl="2">
              <a:lnSpc>
                <a:spcPct val="110000"/>
              </a:lnSpc>
            </a:pPr>
            <a:r>
              <a:rPr lang="en-US" sz="1800" dirty="0"/>
              <a:t>Content quality: 26%</a:t>
            </a:r>
          </a:p>
          <a:p>
            <a:pPr lvl="2">
              <a:lnSpc>
                <a:spcPct val="110000"/>
              </a:lnSpc>
            </a:pPr>
            <a:r>
              <a:rPr lang="en-US" sz="1800" dirty="0"/>
              <a:t>Position advantage: 20%</a:t>
            </a:r>
          </a:p>
          <a:p>
            <a:pPr lvl="2">
              <a:lnSpc>
                <a:spcPct val="110000"/>
              </a:lnSpc>
            </a:pPr>
            <a:r>
              <a:rPr lang="en-US" sz="1800" dirty="0"/>
              <a:t>AI source identity: 54% ← Largest contributor</a:t>
            </a:r>
          </a:p>
          <a:p>
            <a:pPr>
              <a:lnSpc>
                <a:spcPct val="110000"/>
              </a:lnSpc>
            </a:pPr>
            <a:r>
              <a:rPr lang="en-US" altLang="zh-CN" sz="2000" b="1" dirty="0"/>
              <a:t>Effects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of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internal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GenAI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on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viewer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recognition</a:t>
            </a:r>
          </a:p>
          <a:p>
            <a:pPr lvl="1">
              <a:lnSpc>
                <a:spcPct val="110000"/>
              </a:lnSpc>
            </a:pPr>
            <a:r>
              <a:rPr lang="en-US" altLang="zh-CN" sz="1800" dirty="0"/>
              <a:t>Inter</a:t>
            </a:r>
            <a:r>
              <a:rPr lang="en-US" sz="1800" dirty="0"/>
              <a:t>nal GenAI </a:t>
            </a:r>
            <a:r>
              <a:rPr lang="en-US" altLang="zh-CN" sz="1800" dirty="0"/>
              <a:t>decreases</a:t>
            </a:r>
            <a:r>
              <a:rPr lang="en-US" sz="1800" dirty="0"/>
              <a:t> </a:t>
            </a:r>
            <a:r>
              <a:rPr lang="en-US" altLang="zh-CN" sz="1800" dirty="0"/>
              <a:t>viewer</a:t>
            </a:r>
            <a:r>
              <a:rPr lang="zh-CN" altLang="en-US" sz="1800" dirty="0"/>
              <a:t> </a:t>
            </a:r>
            <a:r>
              <a:rPr lang="en-US" altLang="zh-CN" sz="1800" dirty="0"/>
              <a:t>recognition</a:t>
            </a:r>
            <a:r>
              <a:rPr lang="zh-CN" altLang="en-US" sz="1800" dirty="0"/>
              <a:t> </a:t>
            </a:r>
            <a:r>
              <a:rPr lang="en-US" altLang="zh-CN" sz="1800" dirty="0"/>
              <a:t>of</a:t>
            </a:r>
            <a:r>
              <a:rPr lang="zh-CN" altLang="en-US" sz="1800" dirty="0"/>
              <a:t> </a:t>
            </a:r>
            <a:r>
              <a:rPr lang="en-US" altLang="zh-CN" sz="1800" dirty="0"/>
              <a:t>human</a:t>
            </a:r>
            <a:r>
              <a:rPr lang="zh-CN" altLang="en-US" sz="1800" dirty="0"/>
              <a:t> </a:t>
            </a:r>
            <a:r>
              <a:rPr lang="en-US" altLang="zh-CN" sz="1800" dirty="0"/>
              <a:t>answers</a:t>
            </a:r>
          </a:p>
          <a:p>
            <a:pPr lvl="1">
              <a:lnSpc>
                <a:spcPct val="110000"/>
              </a:lnSpc>
            </a:pPr>
            <a:r>
              <a:rPr lang="en-US" sz="1800" b="1" dirty="0"/>
              <a:t>Elevated Expectations Mechanism</a:t>
            </a:r>
          </a:p>
          <a:p>
            <a:pPr lvl="2">
              <a:lnSpc>
                <a:spcPct val="110000"/>
              </a:lnSpc>
            </a:pPr>
            <a:r>
              <a:rPr lang="en-US" sz="1800" dirty="0"/>
              <a:t>Recognition decreases not from quality decline but from raised </a:t>
            </a:r>
            <a:r>
              <a:rPr lang="en-US" altLang="zh-CN" sz="1800" dirty="0"/>
              <a:t>expectations</a:t>
            </a:r>
            <a:endParaRPr lang="en-US" sz="2000" b="1" dirty="0"/>
          </a:p>
          <a:p>
            <a:pPr>
              <a:lnSpc>
                <a:spcPct val="110000"/>
              </a:lnSpc>
            </a:pPr>
            <a:r>
              <a:rPr lang="en-US" sz="2000" b="1" dirty="0"/>
              <a:t>Evidence of Human Adaptation</a:t>
            </a:r>
          </a:p>
          <a:p>
            <a:pPr lvl="1">
              <a:lnSpc>
                <a:spcPct val="110000"/>
              </a:lnSpc>
            </a:pPr>
            <a:r>
              <a:rPr lang="en-US" sz="2000" dirty="0"/>
              <a:t>Humans differentiate through experiential, personalized insights</a:t>
            </a:r>
          </a:p>
        </p:txBody>
      </p:sp>
    </p:spTree>
    <p:extLst>
      <p:ext uri="{BB962C8B-B14F-4D97-AF65-F5344CB8AC3E}">
        <p14:creationId xmlns:p14="http://schemas.microsoft.com/office/powerpoint/2010/main" val="2213655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F3C6F-DE70-4447-668C-A3E61B96C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CDC9B-B509-C346-7138-819460CE1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173238" cy="1325563"/>
          </a:xfrm>
        </p:spPr>
        <p:txBody>
          <a:bodyPr>
            <a:noAutofit/>
          </a:bodyPr>
          <a:lstStyle/>
          <a:p>
            <a:r>
              <a:rPr lang="en-US" sz="2800" dirty="0"/>
              <a:t>What Should Platforms and Users Do?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6F44D-9E9B-61F6-655D-BFFF6372DA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11198630" cy="5250845"/>
          </a:xfrm>
        </p:spPr>
        <p:txBody>
          <a:bodyPr>
            <a:normAutofit/>
          </a:bodyPr>
          <a:lstStyle/>
          <a:p>
            <a:r>
              <a:rPr lang="en-US" sz="2400" b="1" dirty="0"/>
              <a:t>For Platforms:</a:t>
            </a:r>
            <a:endParaRPr lang="en-US" sz="2400" dirty="0"/>
          </a:p>
          <a:p>
            <a:pPr lvl="1"/>
            <a:r>
              <a:rPr lang="en-US" sz="2000" b="1" dirty="0"/>
              <a:t>If deploying AI, mitigation strategies:</a:t>
            </a:r>
            <a:r>
              <a:rPr lang="en-US" sz="2000" dirty="0"/>
              <a:t> </a:t>
            </a:r>
          </a:p>
          <a:p>
            <a:pPr lvl="2"/>
            <a:r>
              <a:rPr lang="en-US" dirty="0"/>
              <a:t>Add disclaimers about AI limitations (counter </a:t>
            </a:r>
            <a:r>
              <a:rPr lang="en-US" altLang="zh-CN" dirty="0"/>
              <a:t>“perceived</a:t>
            </a:r>
            <a:r>
              <a:rPr lang="zh-CN" altLang="en-US" dirty="0"/>
              <a:t> </a:t>
            </a:r>
            <a:r>
              <a:rPr lang="en-US" dirty="0"/>
              <a:t>authority</a:t>
            </a:r>
            <a:r>
              <a:rPr lang="en-US" altLang="zh-CN" dirty="0"/>
              <a:t>”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Introduce temporal delays in AI answers (preserve first-mover advantage for humans)</a:t>
            </a:r>
          </a:p>
          <a:p>
            <a:pPr lvl="2"/>
            <a:r>
              <a:rPr lang="en-US" dirty="0"/>
              <a:t>Redesign recognition systems to account for elevated expectations</a:t>
            </a:r>
          </a:p>
          <a:p>
            <a:pPr lvl="2"/>
            <a:r>
              <a:rPr lang="en-US" dirty="0"/>
              <a:t>Highlight human contributions that provide unique value</a:t>
            </a:r>
          </a:p>
          <a:p>
            <a:pPr lvl="2"/>
            <a:endParaRPr lang="en-US" sz="2400" dirty="0"/>
          </a:p>
          <a:p>
            <a:r>
              <a:rPr lang="en-US" sz="2400" b="1" dirty="0"/>
              <a:t>For Community Members:</a:t>
            </a:r>
            <a:endParaRPr lang="en-US" sz="2400" dirty="0"/>
          </a:p>
          <a:p>
            <a:pPr lvl="1"/>
            <a:r>
              <a:rPr lang="en-US" sz="2000" b="1" dirty="0"/>
              <a:t>Differentiation strategy:</a:t>
            </a:r>
            <a:r>
              <a:rPr lang="en-US" sz="2000" dirty="0"/>
              <a:t> </a:t>
            </a:r>
          </a:p>
          <a:p>
            <a:pPr lvl="2"/>
            <a:r>
              <a:rPr lang="en-US" dirty="0"/>
              <a:t>Emphasize personal experiences and contextual understanding</a:t>
            </a:r>
          </a:p>
          <a:p>
            <a:pPr lvl="2"/>
            <a:r>
              <a:rPr lang="en-US" dirty="0"/>
              <a:t>Offer opinionated insights and alternative perspectives</a:t>
            </a:r>
          </a:p>
          <a:p>
            <a:pPr lvl="2"/>
            <a:r>
              <a:rPr lang="en-US" dirty="0"/>
              <a:t>Focus on what AI cannot replicate (experiential knowledge, creative problem-solving)</a:t>
            </a:r>
          </a:p>
        </p:txBody>
      </p:sp>
    </p:spTree>
    <p:extLst>
      <p:ext uri="{BB962C8B-B14F-4D97-AF65-F5344CB8AC3E}">
        <p14:creationId xmlns:p14="http://schemas.microsoft.com/office/powerpoint/2010/main" val="1422838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20E81-4EAD-4274-6BB2-AC82F05A4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045DB-05F3-5C64-3703-98DDB72231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3279" y="1122363"/>
            <a:ext cx="9144000" cy="2387600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Study</a:t>
            </a:r>
            <a:r>
              <a:rPr lang="zh-CN" altLang="en-US" sz="3600" dirty="0"/>
              <a:t> </a:t>
            </a:r>
            <a:r>
              <a:rPr lang="en-US" altLang="zh-CN" sz="3600" dirty="0"/>
              <a:t>2</a:t>
            </a:r>
            <a:r>
              <a:rPr lang="zh-CN" altLang="en-US" sz="3600" dirty="0"/>
              <a:t> </a:t>
            </a:r>
            <a:r>
              <a:rPr lang="en-US" altLang="zh-CN" sz="3600" dirty="0"/>
              <a:t>(ongoing):</a:t>
            </a:r>
            <a:br>
              <a:rPr lang="en-US" altLang="zh-CN" sz="3600" dirty="0"/>
            </a:br>
            <a:br>
              <a:rPr lang="en-US" sz="3600" dirty="0"/>
            </a:br>
            <a:r>
              <a:rPr lang="en-US" altLang="zh-CN" sz="3600" dirty="0"/>
              <a:t>Does</a:t>
            </a:r>
            <a:r>
              <a:rPr lang="zh-CN" altLang="en-US" sz="3600" dirty="0"/>
              <a:t> </a:t>
            </a:r>
            <a:r>
              <a:rPr lang="en-US" altLang="zh-CN" sz="3600" dirty="0"/>
              <a:t>AI</a:t>
            </a:r>
            <a:r>
              <a:rPr lang="zh-CN" altLang="en-US" sz="3600" dirty="0"/>
              <a:t> </a:t>
            </a:r>
            <a:r>
              <a:rPr lang="en-US" altLang="zh-CN" sz="3600" dirty="0"/>
              <a:t>save</a:t>
            </a:r>
            <a:r>
              <a:rPr lang="zh-CN" altLang="en-US" sz="3600" dirty="0"/>
              <a:t> </a:t>
            </a:r>
            <a:r>
              <a:rPr lang="en-US" altLang="zh-CN" sz="3600" dirty="0"/>
              <a:t>babies?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A30012-B805-3705-BA78-1B8D5A2A38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3279" y="3602038"/>
            <a:ext cx="9144000" cy="1655762"/>
          </a:xfrm>
        </p:spPr>
        <p:txBody>
          <a:bodyPr>
            <a:normAutofit/>
          </a:bodyPr>
          <a:lstStyle/>
          <a:p>
            <a:r>
              <a:rPr lang="en-US" sz="2800" dirty="0"/>
              <a:t>The Impacts of facial-recognition AI procurement </a:t>
            </a:r>
            <a:r>
              <a:rPr lang="en-US" altLang="zh-CN" dirty="0"/>
              <a:t>(by</a:t>
            </a:r>
            <a:r>
              <a:rPr lang="zh-CN" altLang="en-US" dirty="0"/>
              <a:t> </a:t>
            </a:r>
            <a:r>
              <a:rPr lang="en-US" altLang="zh-CN" dirty="0"/>
              <a:t>Chinese</a:t>
            </a:r>
            <a:r>
              <a:rPr lang="zh-CN" altLang="en-US" dirty="0"/>
              <a:t> </a:t>
            </a:r>
            <a:r>
              <a:rPr lang="en-US" altLang="zh-CN" dirty="0"/>
              <a:t>governments)</a:t>
            </a:r>
            <a:r>
              <a:rPr lang="zh-CN" altLang="en-US" dirty="0"/>
              <a:t> </a:t>
            </a:r>
            <a:r>
              <a:rPr lang="en-US" altLang="zh-CN" sz="2800" dirty="0"/>
              <a:t>on</a:t>
            </a:r>
            <a:r>
              <a:rPr lang="en-US" sz="2800" dirty="0"/>
              <a:t> </a:t>
            </a:r>
            <a:r>
              <a:rPr lang="en-US" altLang="zh-CN" sz="2800" dirty="0"/>
              <a:t>crimes of child</a:t>
            </a:r>
            <a:r>
              <a:rPr lang="zh-CN" altLang="en-US" sz="2800" dirty="0"/>
              <a:t> </a:t>
            </a:r>
            <a:r>
              <a:rPr lang="en-US" altLang="zh-CN" sz="2800" dirty="0"/>
              <a:t>trafficking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8219720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D11AD-AAC8-B95E-D643-361A6281F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292C6-827A-2341-F413-55BC07B19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2800" dirty="0"/>
              <a:t>Motivation:</a:t>
            </a:r>
            <a:r>
              <a:rPr lang="zh-CN" altLang="en-US" sz="2800" dirty="0"/>
              <a:t> </a:t>
            </a:r>
            <a:r>
              <a:rPr lang="en-US" sz="2800" dirty="0"/>
              <a:t>The Global Child Trafficking Crisis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06926-94B1-3969-0CE5-D10ADF7FD8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83473"/>
            <a:ext cx="11353801" cy="5140056"/>
          </a:xfrm>
        </p:spPr>
        <p:txBody>
          <a:bodyPr>
            <a:normAutofit/>
          </a:bodyPr>
          <a:lstStyle/>
          <a:p>
            <a:r>
              <a:rPr lang="en-US" sz="2400" b="1" dirty="0"/>
              <a:t>The Crisis:</a:t>
            </a:r>
            <a:endParaRPr lang="en-US" sz="2400" dirty="0"/>
          </a:p>
          <a:p>
            <a:pPr lvl="1"/>
            <a:r>
              <a:rPr lang="en-US" sz="2000" dirty="0"/>
              <a:t>420,000 children trafficked annually worldwide</a:t>
            </a:r>
          </a:p>
          <a:p>
            <a:pPr lvl="1"/>
            <a:r>
              <a:rPr lang="en-US" sz="2000" dirty="0"/>
              <a:t>60% of girl victims exploited sexually</a:t>
            </a:r>
          </a:p>
          <a:p>
            <a:pPr lvl="1"/>
            <a:r>
              <a:rPr lang="en-US" sz="2000" dirty="0"/>
              <a:t>Cases tripled over 15 years</a:t>
            </a:r>
          </a:p>
          <a:p>
            <a:pPr lvl="1"/>
            <a:r>
              <a:rPr lang="en-US" sz="2000" dirty="0"/>
              <a:t>Post-pandemic detections surged 31%</a:t>
            </a:r>
          </a:p>
          <a:p>
            <a:pPr lvl="1"/>
            <a:endParaRPr lang="en-US" sz="2000" dirty="0"/>
          </a:p>
          <a:p>
            <a:r>
              <a:rPr lang="en-US" sz="2400" b="1" dirty="0"/>
              <a:t>Technology Limitations:</a:t>
            </a:r>
          </a:p>
          <a:p>
            <a:pPr lvl="1"/>
            <a:r>
              <a:rPr lang="en-US" sz="2000" dirty="0"/>
              <a:t>Traditional </a:t>
            </a:r>
            <a:r>
              <a:rPr lang="en-US" altLang="zh-CN" sz="2000" dirty="0"/>
              <a:t>technology</a:t>
            </a:r>
            <a:r>
              <a:rPr lang="zh-CN" altLang="en-US" sz="2000" dirty="0"/>
              <a:t> </a:t>
            </a:r>
            <a:r>
              <a:rPr lang="en-US" sz="2000" dirty="0"/>
              <a:t>interventions (</a:t>
            </a:r>
            <a:r>
              <a:rPr lang="en-US" altLang="zh-CN" sz="2000" dirty="0"/>
              <a:t>e.g.,</a:t>
            </a:r>
            <a:r>
              <a:rPr lang="zh-CN" altLang="en-US" sz="2000" dirty="0"/>
              <a:t> </a:t>
            </a:r>
            <a:r>
              <a:rPr lang="en-US" sz="2000" dirty="0"/>
              <a:t>biometric systems</a:t>
            </a:r>
            <a:r>
              <a:rPr lang="en-US" altLang="zh-CN" sz="2000" dirty="0"/>
              <a:t>,</a:t>
            </a:r>
            <a:r>
              <a:rPr lang="zh-CN" altLang="en-US" sz="2000" dirty="0"/>
              <a:t> </a:t>
            </a:r>
            <a:r>
              <a:rPr lang="en-US" altLang="zh-CN" sz="2000" dirty="0"/>
              <a:t>surveillance cameras</a:t>
            </a:r>
            <a:r>
              <a:rPr lang="en-US" sz="2000" dirty="0"/>
              <a:t>)</a:t>
            </a:r>
            <a:r>
              <a:rPr lang="zh-CN" altLang="en-US" sz="2000" dirty="0"/>
              <a:t> </a:t>
            </a:r>
            <a:br>
              <a:rPr lang="en-US" altLang="zh-CN" sz="2000" dirty="0"/>
            </a:br>
            <a:r>
              <a:rPr lang="en-US" sz="2000" dirty="0"/>
              <a:t>show minimal impact despite substantial investment</a:t>
            </a:r>
          </a:p>
          <a:p>
            <a:pPr lvl="1"/>
            <a:r>
              <a:rPr lang="en-US" sz="2000" dirty="0"/>
              <a:t>Two key constraints: </a:t>
            </a:r>
          </a:p>
          <a:p>
            <a:pPr lvl="2"/>
            <a:r>
              <a:rPr lang="en-US" i="1" dirty="0">
                <a:solidFill>
                  <a:schemeClr val="accent2"/>
                </a:solidFill>
              </a:rPr>
              <a:t>Scalability</a:t>
            </a:r>
            <a:endParaRPr lang="en-US" dirty="0"/>
          </a:p>
          <a:p>
            <a:pPr lvl="2"/>
            <a:r>
              <a:rPr lang="en-US" i="1" dirty="0">
                <a:solidFill>
                  <a:schemeClr val="accent2"/>
                </a:solidFill>
              </a:rPr>
              <a:t>Reactiv</a:t>
            </a:r>
            <a:r>
              <a:rPr lang="en-US" altLang="zh-CN" i="1" dirty="0">
                <a:solidFill>
                  <a:schemeClr val="accent2"/>
                </a:solidFill>
              </a:rPr>
              <a:t>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343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30CDB-E6D3-7359-FE40-8AF46C266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44CDB-F7CD-58AB-3821-95EEB791A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3600" dirty="0"/>
              <a:t>A</a:t>
            </a:r>
            <a:r>
              <a:rPr lang="zh-CN" altLang="en-US" sz="3600" dirty="0"/>
              <a:t> </a:t>
            </a:r>
            <a:r>
              <a:rPr lang="en-US" altLang="zh-CN" sz="3600" dirty="0"/>
              <a:t>new</a:t>
            </a:r>
            <a:r>
              <a:rPr lang="zh-CN" altLang="en-US" sz="3600" dirty="0"/>
              <a:t> </a:t>
            </a:r>
            <a:r>
              <a:rPr lang="en-US" altLang="zh-CN" sz="3600" dirty="0"/>
              <a:t>hope:</a:t>
            </a:r>
            <a:r>
              <a:rPr lang="zh-CN" altLang="en-US" sz="3600" dirty="0"/>
              <a:t> </a:t>
            </a:r>
            <a:r>
              <a:rPr lang="en-US" altLang="zh-CN" sz="3600" dirty="0"/>
              <a:t>facial-recognition</a:t>
            </a:r>
            <a:r>
              <a:rPr lang="zh-CN" altLang="en-US" sz="3600" dirty="0"/>
              <a:t> </a:t>
            </a:r>
            <a:r>
              <a:rPr lang="en-US" altLang="zh-CN" sz="3600" dirty="0"/>
              <a:t>AI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49C6E-50FB-6A38-FBD5-7C7148C8CC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3473"/>
            <a:ext cx="10515600" cy="5140056"/>
          </a:xfrm>
        </p:spPr>
        <p:txBody>
          <a:bodyPr>
            <a:normAutofit/>
          </a:bodyPr>
          <a:lstStyle/>
          <a:p>
            <a:endParaRPr lang="en-US" sz="2400" b="1" dirty="0"/>
          </a:p>
          <a:p>
            <a:r>
              <a:rPr lang="en-US" sz="2400" b="1" dirty="0"/>
              <a:t>AI Advantages:</a:t>
            </a:r>
            <a:endParaRPr lang="en-US" sz="2400" dirty="0"/>
          </a:p>
          <a:p>
            <a:pPr lvl="1"/>
            <a:r>
              <a:rPr lang="en-US" sz="2000" b="1" dirty="0"/>
              <a:t>Scalable</a:t>
            </a:r>
            <a:r>
              <a:rPr lang="en-US" sz="2000" dirty="0"/>
              <a:t>: Leverages existing camera infrastructure</a:t>
            </a:r>
          </a:p>
          <a:p>
            <a:pPr lvl="1"/>
            <a:r>
              <a:rPr lang="en-US" sz="2000" b="1" dirty="0"/>
              <a:t>Automated</a:t>
            </a:r>
            <a:r>
              <a:rPr lang="en-US" sz="2000" dirty="0"/>
              <a:t>: Real-time detection without human-intensive screening</a:t>
            </a:r>
          </a:p>
          <a:p>
            <a:pPr lvl="1"/>
            <a:r>
              <a:rPr lang="en-US" sz="2000" b="1" dirty="0"/>
              <a:t>Critical Gap:</a:t>
            </a:r>
            <a:endParaRPr lang="en-US" sz="2000" dirty="0"/>
          </a:p>
          <a:p>
            <a:pPr lvl="2"/>
            <a:r>
              <a:rPr lang="en-US" altLang="zh-CN" sz="2100" i="1" dirty="0">
                <a:solidFill>
                  <a:schemeClr val="accent2"/>
                </a:solidFill>
              </a:rPr>
              <a:t>Lack</a:t>
            </a:r>
            <a:r>
              <a:rPr lang="zh-CN" altLang="en-US" sz="2100" i="1" dirty="0">
                <a:solidFill>
                  <a:schemeClr val="accent2"/>
                </a:solidFill>
              </a:rPr>
              <a:t> </a:t>
            </a:r>
            <a:r>
              <a:rPr lang="en-US" altLang="zh-CN" sz="2100" i="1" dirty="0">
                <a:solidFill>
                  <a:schemeClr val="accent2"/>
                </a:solidFill>
              </a:rPr>
              <a:t>of</a:t>
            </a:r>
            <a:r>
              <a:rPr lang="zh-CN" altLang="en-US" sz="2100" i="1" dirty="0">
                <a:solidFill>
                  <a:schemeClr val="accent2"/>
                </a:solidFill>
              </a:rPr>
              <a:t> </a:t>
            </a:r>
            <a:r>
              <a:rPr lang="en-US" altLang="zh-CN" sz="2100" i="1" dirty="0">
                <a:solidFill>
                  <a:schemeClr val="accent2"/>
                </a:solidFill>
              </a:rPr>
              <a:t>empirical</a:t>
            </a:r>
            <a:r>
              <a:rPr lang="zh-CN" altLang="en-US" sz="2100" i="1" dirty="0">
                <a:solidFill>
                  <a:schemeClr val="accent2"/>
                </a:solidFill>
              </a:rPr>
              <a:t> </a:t>
            </a:r>
            <a:r>
              <a:rPr lang="en-US" sz="2100" i="1" dirty="0">
                <a:solidFill>
                  <a:schemeClr val="accent2"/>
                </a:solidFill>
              </a:rPr>
              <a:t>evidence </a:t>
            </a:r>
            <a:r>
              <a:rPr lang="en-US" altLang="zh-CN" sz="2100" i="1" dirty="0">
                <a:solidFill>
                  <a:schemeClr val="accent2"/>
                </a:solidFill>
              </a:rPr>
              <a:t>for</a:t>
            </a:r>
            <a:r>
              <a:rPr lang="en-US" sz="2100" i="1" dirty="0">
                <a:solidFill>
                  <a:schemeClr val="accent2"/>
                </a:solidFill>
              </a:rPr>
              <a:t> AI</a:t>
            </a:r>
            <a:r>
              <a:rPr lang="en-US" altLang="zh-CN" sz="2100" i="1" dirty="0">
                <a:solidFill>
                  <a:schemeClr val="accent2"/>
                </a:solidFill>
              </a:rPr>
              <a:t>’</a:t>
            </a:r>
            <a:r>
              <a:rPr lang="en-US" sz="2100" i="1" dirty="0">
                <a:solidFill>
                  <a:schemeClr val="accent2"/>
                </a:solidFill>
              </a:rPr>
              <a:t>s effectiveness </a:t>
            </a:r>
            <a:r>
              <a:rPr lang="en-US" altLang="zh-CN" sz="2100" i="1" dirty="0">
                <a:solidFill>
                  <a:schemeClr val="accent2"/>
                </a:solidFill>
              </a:rPr>
              <a:t>on</a:t>
            </a:r>
            <a:r>
              <a:rPr lang="zh-CN" altLang="en-US" sz="2100" i="1" dirty="0">
                <a:solidFill>
                  <a:schemeClr val="accent2"/>
                </a:solidFill>
              </a:rPr>
              <a:t> </a:t>
            </a:r>
            <a:r>
              <a:rPr lang="en-US" altLang="zh-CN" sz="2100" i="1" dirty="0">
                <a:solidFill>
                  <a:schemeClr val="accent2"/>
                </a:solidFill>
              </a:rPr>
              <a:t>child</a:t>
            </a:r>
            <a:r>
              <a:rPr lang="zh-CN" altLang="en-US" sz="2100" i="1" dirty="0">
                <a:solidFill>
                  <a:schemeClr val="accent2"/>
                </a:solidFill>
              </a:rPr>
              <a:t> </a:t>
            </a:r>
            <a:r>
              <a:rPr lang="en-US" altLang="zh-CN" sz="2100" i="1" dirty="0">
                <a:solidFill>
                  <a:schemeClr val="accent2"/>
                </a:solidFill>
              </a:rPr>
              <a:t>trafficking</a:t>
            </a:r>
            <a:endParaRPr lang="en-US" sz="2100" i="1" dirty="0">
              <a:solidFill>
                <a:schemeClr val="accent2"/>
              </a:solidFill>
            </a:endParaRPr>
          </a:p>
          <a:p>
            <a:pPr lvl="1"/>
            <a:endParaRPr lang="en-US" sz="2500" i="1" dirty="0">
              <a:solidFill>
                <a:schemeClr val="accent2"/>
              </a:solidFill>
            </a:endParaRPr>
          </a:p>
          <a:p>
            <a:pPr lvl="1"/>
            <a:endParaRPr lang="en-US" sz="2500" i="1" dirty="0">
              <a:solidFill>
                <a:schemeClr val="accent2"/>
              </a:solidFill>
            </a:endParaRPr>
          </a:p>
          <a:p>
            <a:r>
              <a:rPr lang="en-US" altLang="zh-CN" sz="2300" b="1" dirty="0"/>
              <a:t>Why</a:t>
            </a:r>
            <a:r>
              <a:rPr lang="zh-CN" altLang="en-US" sz="2300" b="1" dirty="0"/>
              <a:t> </a:t>
            </a:r>
            <a:r>
              <a:rPr lang="en-US" altLang="zh-CN" sz="2300" b="1" dirty="0"/>
              <a:t>investigating?</a:t>
            </a:r>
            <a:r>
              <a:rPr lang="zh-CN" altLang="en-US" sz="2300" b="1" dirty="0"/>
              <a:t> </a:t>
            </a:r>
            <a:r>
              <a:rPr lang="en-US" altLang="zh-CN" sz="2300" b="1" dirty="0"/>
              <a:t>-</a:t>
            </a:r>
            <a:r>
              <a:rPr lang="zh-CN" altLang="en-US" sz="2300" b="1" dirty="0"/>
              <a:t> </a:t>
            </a:r>
            <a:r>
              <a:rPr lang="en-US" sz="2300" b="1" dirty="0"/>
              <a:t>Practical implications:</a:t>
            </a:r>
          </a:p>
          <a:p>
            <a:pPr lvl="1"/>
            <a:r>
              <a:rPr lang="en-US" sz="2000" dirty="0"/>
              <a:t>Guide resource allocation with empirical evidence</a:t>
            </a:r>
          </a:p>
          <a:p>
            <a:pPr lvl="1"/>
            <a:r>
              <a:rPr lang="en-US" sz="2000" i="1" dirty="0"/>
              <a:t>When</a:t>
            </a:r>
            <a:r>
              <a:rPr lang="en-US" sz="2000" dirty="0"/>
              <a:t> and </a:t>
            </a:r>
            <a:r>
              <a:rPr lang="en-US" sz="2000" i="1" dirty="0"/>
              <a:t>why</a:t>
            </a:r>
            <a:r>
              <a:rPr lang="en-US" sz="2000" dirty="0"/>
              <a:t>?</a:t>
            </a:r>
            <a:r>
              <a:rPr lang="zh-CN" altLang="en-US" sz="2000" dirty="0"/>
              <a:t> </a:t>
            </a:r>
            <a:r>
              <a:rPr lang="en-US" sz="2000" dirty="0"/>
              <a:t>Understand heterogeneity and mechanisms</a:t>
            </a:r>
          </a:p>
        </p:txBody>
      </p:sp>
    </p:spTree>
    <p:extLst>
      <p:ext uri="{BB962C8B-B14F-4D97-AF65-F5344CB8AC3E}">
        <p14:creationId xmlns:p14="http://schemas.microsoft.com/office/powerpoint/2010/main" val="213467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342EA-9D09-B2E5-207F-ACE2B2B77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5FC67-BBC7-14E1-D57D-654747FF3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3600" dirty="0"/>
              <a:t>The</a:t>
            </a:r>
            <a:r>
              <a:rPr lang="zh-CN" altLang="en-US" sz="3600" dirty="0"/>
              <a:t> </a:t>
            </a:r>
            <a:r>
              <a:rPr lang="en-US" altLang="zh-CN" sz="3600" dirty="0"/>
              <a:t>China</a:t>
            </a:r>
            <a:r>
              <a:rPr lang="zh-CN" altLang="en-US" sz="3600" dirty="0"/>
              <a:t> </a:t>
            </a:r>
            <a:r>
              <a:rPr lang="en-US" altLang="zh-CN" sz="3600" dirty="0"/>
              <a:t>Context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21947-C401-3081-0692-A7EDB74F7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3473"/>
            <a:ext cx="10515600" cy="514005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/>
              <a:t>Why China?</a:t>
            </a:r>
          </a:p>
          <a:p>
            <a:pPr lvl="1">
              <a:lnSpc>
                <a:spcPct val="100000"/>
              </a:lnSpc>
            </a:pPr>
            <a:r>
              <a:rPr lang="en-US" sz="2000" b="1" dirty="0"/>
              <a:t>Technology deployment</a:t>
            </a:r>
            <a:r>
              <a:rPr lang="en-US" sz="2000" dirty="0"/>
              <a:t>: </a:t>
            </a:r>
          </a:p>
          <a:p>
            <a:pPr lvl="2">
              <a:lnSpc>
                <a:spcPct val="100000"/>
              </a:lnSpc>
            </a:pPr>
            <a:r>
              <a:rPr lang="en-US" sz="1600" dirty="0"/>
              <a:t>Billions invested in comprehensive facial recognition infrastructure since 2010, with substantial variation across regions and time periods</a:t>
            </a:r>
          </a:p>
          <a:p>
            <a:pPr lvl="1">
              <a:lnSpc>
                <a:spcPct val="100000"/>
              </a:lnSpc>
            </a:pPr>
            <a:r>
              <a:rPr lang="en-US" sz="2000" b="1" dirty="0"/>
              <a:t>China</a:t>
            </a:r>
            <a:r>
              <a:rPr lang="en-US" altLang="zh-CN" sz="2000" b="1" dirty="0"/>
              <a:t>’</a:t>
            </a:r>
            <a:r>
              <a:rPr lang="en-US" sz="2000" b="1" dirty="0"/>
              <a:t>s Unique Child Trafficking Challenges</a:t>
            </a:r>
          </a:p>
          <a:p>
            <a:pPr lvl="2">
              <a:lnSpc>
                <a:spcPct val="100000"/>
              </a:lnSpc>
            </a:pPr>
            <a:r>
              <a:rPr lang="en-US" sz="1800" dirty="0"/>
              <a:t>Legal adoption faces numerous obstacles in China.</a:t>
            </a:r>
          </a:p>
          <a:p>
            <a:pPr lvl="2">
              <a:lnSpc>
                <a:spcPct val="100000"/>
              </a:lnSpc>
            </a:pPr>
            <a:r>
              <a:rPr lang="en-US" sz="1800" dirty="0"/>
              <a:t>Massive internal migration creates vulnerable populations separated from community protection</a:t>
            </a:r>
            <a:endParaRPr lang="en-US" sz="1800" b="1" dirty="0"/>
          </a:p>
          <a:p>
            <a:pPr lvl="1">
              <a:lnSpc>
                <a:spcPct val="100000"/>
              </a:lnSpc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7107686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5D285-42A7-0403-21F6-89D87B6FB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8D501-3C31-B6DA-48A6-47083DF4C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3600" dirty="0"/>
              <a:t>Empirical</a:t>
            </a:r>
            <a:r>
              <a:rPr lang="zh-CN" altLang="en-US" sz="3600" dirty="0"/>
              <a:t> </a:t>
            </a:r>
            <a:r>
              <a:rPr lang="en-US" altLang="zh-CN" sz="3600" dirty="0"/>
              <a:t>model</a:t>
            </a:r>
            <a:endParaRPr lang="en-US" sz="3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C101D9-D8FD-09A2-3F6A-C29B61E039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83473"/>
                <a:ext cx="11049000" cy="5140056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/>
                  <a:t>Main model (OLS)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𝑛𝑢𝑚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+</m:t>
                    </m:r>
                    <m:r>
                      <a:rPr lang="en-US" altLang="zh-CN" b="1" i="1" dirty="0">
                        <a:latin typeface="Cambria Math" panose="02040503050406030204" pitchFamily="18" charset="0"/>
                      </a:rPr>
                      <m:t>𝜷</m:t>
                    </m:r>
                    <m:r>
                      <a:rPr lang="en-US" altLang="zh-CN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𝑛𝑢𝑚</m:t>
                    </m:r>
                    <m:sSub>
                      <m:sSubPr>
                        <m:ctrlPr>
                          <a:rPr lang="en-US" altLang="zh-CN" i="1" dirty="0" err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𝐴𝐼</m:t>
                        </m:r>
                      </m:e>
                      <m:sub>
                        <m:r>
                          <a:rPr lang="en-US" altLang="zh-CN" i="1" dirty="0" err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+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𝑐𝑜𝑢𝑛𝑡𝑦</m:t>
                        </m:r>
                      </m:e>
                      <m:sub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𝑦𝑒𝑎𝑟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 i="1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altLang="zh-C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C101D9-D8FD-09A2-3F6A-C29B61E039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83473"/>
                <a:ext cx="11049000" cy="5140056"/>
              </a:xfrm>
              <a:blipFill>
                <a:blip r:embed="rId3"/>
                <a:stretch>
                  <a:fillRect l="-1033" t="-19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33098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1DD80-881D-8D80-8977-2A848600F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36788-104B-D821-9C74-CC530A15C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3600" dirty="0"/>
              <a:t>Empirical</a:t>
            </a:r>
            <a:r>
              <a:rPr lang="zh-CN" altLang="en-US" sz="3600" dirty="0"/>
              <a:t> </a:t>
            </a:r>
            <a:r>
              <a:rPr lang="en-US" altLang="zh-CN" sz="3600" dirty="0"/>
              <a:t>model</a:t>
            </a:r>
            <a:endParaRPr lang="en-US" sz="3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C93627-1F38-9891-6EDF-1A1D3EC96A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83473"/>
                <a:ext cx="11049000" cy="5140056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/>
                  <a:t>Instrumental Variables</a:t>
                </a:r>
              </a:p>
              <a:p>
                <a:pPr lvl="1"/>
                <a:r>
                  <a:rPr lang="en-US" altLang="zh-CN" dirty="0"/>
                  <a:t>Motivation: </a:t>
                </a:r>
              </a:p>
              <a:p>
                <a:pPr lvl="2"/>
                <a:r>
                  <a:rPr lang="en-US" altLang="zh-CN" dirty="0"/>
                  <a:t>local number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of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AI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suppliers</a:t>
                </a:r>
                <a:r>
                  <a:rPr lang="zh-CN" altLang="en-US" dirty="0"/>
                  <a:t> → </a:t>
                </a:r>
                <a:r>
                  <a:rPr lang="en-US" altLang="zh-CN" dirty="0"/>
                  <a:t>government procurement of facial-recognition AI</a:t>
                </a:r>
                <a:endParaRPr lang="zh-CN" altLang="en-US" dirty="0"/>
              </a:p>
              <a:p>
                <a:pPr lvl="1"/>
                <a:endParaRPr lang="en-US" altLang="zh-CN" dirty="0"/>
              </a:p>
              <a:p>
                <a:r>
                  <a:rPr lang="en-US" altLang="zh-CN" dirty="0"/>
                  <a:t>Causal inference (2SLS)</a:t>
                </a:r>
              </a:p>
              <a:p>
                <a:pPr lvl="1"/>
                <a:r>
                  <a:rPr lang="en-US" altLang="zh-CN" sz="2000" dirty="0"/>
                  <a:t>First stage: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𝑛𝑢𝑚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𝐴𝐼</m:t>
                        </m:r>
                      </m:e>
                      <m:sub>
                        <m:r>
                          <a:rPr lang="en-US" altLang="zh-CN" sz="2000" i="1" dirty="0" err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000" b="0" i="1" dirty="0">
                        <a:latin typeface="Cambria Math" panose="02040503050406030204" pitchFamily="18" charset="0"/>
                      </a:rPr>
                      <m:t>𝛽</m:t>
                    </m:r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prov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𝐴𝐼𝑆𝑢𝑝𝑝𝑙𝑖𝑒𝑟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2018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CN" altLang="en-US" sz="2000" b="0" i="1" dirty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𝑐𝑜𝑢𝑛𝑡𝑦</m:t>
                        </m:r>
                      </m:e>
                      <m:sub>
                        <m:r>
                          <a:rPr lang="en-US" altLang="zh-CN" sz="2000" i="1" dirty="0" err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𝑦𝑒𝑎𝑟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 +</m:t>
                    </m:r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 sz="2000" i="1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 +</m:t>
                    </m:r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altLang="zh-CN" sz="2000" dirty="0"/>
              </a:p>
              <a:p>
                <a:pPr lvl="1"/>
                <a:r>
                  <a:rPr lang="en-US" altLang="zh-CN" sz="2000" dirty="0"/>
                  <a:t>Second stage: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𝑛𝑢𝑚𝐴𝑛𝑇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 +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𝜆</m:t>
                    </m:r>
                    <m:acc>
                      <m:accPr>
                        <m:chr m:val="̂"/>
                        <m:ctrlPr>
                          <a:rPr lang="en-US" altLang="zh-CN" sz="20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𝑛𝑢𝑚𝐴</m:t>
                        </m:r>
                        <m:sSub>
                          <m:sSubPr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  <m:t>𝑖𝑡</m:t>
                            </m:r>
                          </m:sub>
                        </m:sSub>
                      </m:e>
                    </m:acc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𝑐𝑜𝑢𝑛𝑡𝑦</m:t>
                        </m:r>
                      </m:e>
                      <m:sub>
                        <m:r>
                          <a:rPr lang="en-US" altLang="zh-CN" sz="2000" i="1" dirty="0" err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𝑦𝑒𝑎𝑟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 +</m:t>
                    </m:r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 sz="2000" i="1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 +</m:t>
                    </m:r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altLang="zh-CN" sz="2000" dirty="0"/>
              </a:p>
              <a:p>
                <a:endParaRPr lang="en-US" altLang="zh-C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C93627-1F38-9891-6EDF-1A1D3EC96A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83473"/>
                <a:ext cx="11049000" cy="5140056"/>
              </a:xfrm>
              <a:blipFill>
                <a:blip r:embed="rId3"/>
                <a:stretch>
                  <a:fillRect l="-1033" t="-19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6577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490F6-9A44-5CD5-39A1-B85A84E81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032D7-F1BE-C916-05AE-42B562D2A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2800" dirty="0"/>
              <a:t>Finding</a:t>
            </a:r>
            <a:r>
              <a:rPr lang="zh-CN" altLang="en-US" sz="2800" dirty="0"/>
              <a:t> </a:t>
            </a:r>
            <a:r>
              <a:rPr lang="en-US" altLang="zh-CN" sz="2800" dirty="0"/>
              <a:t>1:</a:t>
            </a:r>
            <a:r>
              <a:rPr lang="zh-CN" altLang="en-US" sz="2800" dirty="0"/>
              <a:t> </a:t>
            </a:r>
            <a:r>
              <a:rPr lang="en-US" sz="2800" dirty="0"/>
              <a:t>AI Facial Recognition Systems Reduce Child Trafficking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A5468FE-D329-429D-D42B-A3EAF5CA06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41550"/>
          <a:stretch>
            <a:fillRect/>
          </a:stretch>
        </p:blipFill>
        <p:spPr>
          <a:xfrm>
            <a:off x="2708330" y="1690689"/>
            <a:ext cx="6271757" cy="4318226"/>
          </a:xfrm>
          <a:prstGeom prst="rect">
            <a:avLst/>
          </a:prstGeom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5CB2773-C779-8571-0830-943E2B997278}"/>
              </a:ext>
            </a:extLst>
          </p:cNvPr>
          <p:cNvSpPr/>
          <p:nvPr/>
        </p:nvSpPr>
        <p:spPr>
          <a:xfrm>
            <a:off x="2575044" y="6081802"/>
            <a:ext cx="7030829" cy="70167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4300" indent="-228600"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Talking Point: </a:t>
            </a:r>
            <a:r>
              <a:rPr lang="en-US" altLang="zh-CN" sz="1900" dirty="0">
                <a:solidFill>
                  <a:schemeClr val="tx1"/>
                </a:solidFill>
              </a:rPr>
              <a:t>AI</a:t>
            </a:r>
            <a:r>
              <a:rPr lang="zh-CN" altLang="en-US" sz="1900" dirty="0">
                <a:solidFill>
                  <a:schemeClr val="tx1"/>
                </a:solidFill>
              </a:rPr>
              <a:t> </a:t>
            </a:r>
            <a:r>
              <a:rPr lang="en-US" altLang="zh-CN" sz="1900" dirty="0">
                <a:solidFill>
                  <a:schemeClr val="tx1"/>
                </a:solidFill>
              </a:rPr>
              <a:t>reduces</a:t>
            </a:r>
            <a:r>
              <a:rPr lang="zh-CN" altLang="en-US" sz="1900" dirty="0">
                <a:solidFill>
                  <a:schemeClr val="tx1"/>
                </a:solidFill>
              </a:rPr>
              <a:t> </a:t>
            </a:r>
            <a:r>
              <a:rPr lang="en-US" altLang="zh-CN" sz="1900" dirty="0">
                <a:solidFill>
                  <a:schemeClr val="tx1"/>
                </a:solidFill>
              </a:rPr>
              <a:t>the</a:t>
            </a:r>
            <a:r>
              <a:rPr lang="zh-CN" altLang="en-US" sz="1900" dirty="0">
                <a:solidFill>
                  <a:schemeClr val="tx1"/>
                </a:solidFill>
              </a:rPr>
              <a:t> </a:t>
            </a:r>
            <a:r>
              <a:rPr lang="en-US" altLang="zh-CN" sz="1900" dirty="0">
                <a:solidFill>
                  <a:schemeClr val="tx1"/>
                </a:solidFill>
              </a:rPr>
              <a:t>occurrence</a:t>
            </a:r>
            <a:r>
              <a:rPr lang="zh-CN" altLang="en-US" sz="1900" dirty="0">
                <a:solidFill>
                  <a:schemeClr val="tx1"/>
                </a:solidFill>
              </a:rPr>
              <a:t> </a:t>
            </a:r>
            <a:r>
              <a:rPr lang="en-US" altLang="zh-CN" sz="1900" dirty="0">
                <a:solidFill>
                  <a:schemeClr val="tx1"/>
                </a:solidFill>
              </a:rPr>
              <a:t>of</a:t>
            </a:r>
            <a:r>
              <a:rPr lang="zh-CN" altLang="en-US" sz="1900" dirty="0">
                <a:solidFill>
                  <a:schemeClr val="tx1"/>
                </a:solidFill>
              </a:rPr>
              <a:t> </a:t>
            </a:r>
            <a:r>
              <a:rPr lang="en-US" altLang="zh-CN" sz="1900" dirty="0">
                <a:solidFill>
                  <a:schemeClr val="tx1"/>
                </a:solidFill>
              </a:rPr>
              <a:t>child</a:t>
            </a:r>
            <a:r>
              <a:rPr lang="zh-CN" altLang="en-US" sz="1900" dirty="0">
                <a:solidFill>
                  <a:schemeClr val="tx1"/>
                </a:solidFill>
              </a:rPr>
              <a:t> </a:t>
            </a:r>
            <a:r>
              <a:rPr lang="en-US" altLang="zh-CN" sz="1900" dirty="0">
                <a:solidFill>
                  <a:schemeClr val="tx1"/>
                </a:solidFill>
              </a:rPr>
              <a:t>trafficking.</a:t>
            </a:r>
            <a:endParaRPr lang="en-US" sz="19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48AE45-39F9-C48B-F9C7-4D97C73AB47D}"/>
              </a:ext>
            </a:extLst>
          </p:cNvPr>
          <p:cNvSpPr/>
          <p:nvPr/>
        </p:nvSpPr>
        <p:spPr>
          <a:xfrm>
            <a:off x="6096000" y="2016346"/>
            <a:ext cx="2884087" cy="34833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6680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4AE58-1259-7F30-E954-2E222957C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28775-87EB-A638-E0DA-59F7849FC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2800" dirty="0"/>
              <a:t>Finding</a:t>
            </a:r>
            <a:r>
              <a:rPr lang="zh-CN" altLang="en-US" sz="2800" dirty="0"/>
              <a:t> </a:t>
            </a:r>
            <a:r>
              <a:rPr lang="en-US" altLang="zh-CN" sz="2800" dirty="0"/>
              <a:t>2:</a:t>
            </a:r>
            <a:r>
              <a:rPr lang="zh-CN" altLang="en-US" sz="2800" dirty="0"/>
              <a:t> </a:t>
            </a:r>
            <a:r>
              <a:rPr lang="en-US" sz="2800" dirty="0"/>
              <a:t>Additional Analyses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D15EAE4-EB23-A1FC-9DF0-6DAA9DA79F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368"/>
          <a:stretch>
            <a:fillRect/>
          </a:stretch>
        </p:blipFill>
        <p:spPr>
          <a:xfrm>
            <a:off x="5191432" y="1919287"/>
            <a:ext cx="6169829" cy="3665083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9AEC5C6-75A6-E76F-9C48-FD1DAF2EDAAC}"/>
              </a:ext>
            </a:extLst>
          </p:cNvPr>
          <p:cNvSpPr/>
          <p:nvPr/>
        </p:nvSpPr>
        <p:spPr>
          <a:xfrm>
            <a:off x="943672" y="5584370"/>
            <a:ext cx="10304656" cy="91344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4300" indent="-228600"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Talking Point: </a:t>
            </a:r>
          </a:p>
          <a:p>
            <a:pPr marL="685800" lvl="1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/>
                </a:solidFill>
              </a:rPr>
              <a:t>There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is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a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long-term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i="1" dirty="0">
                <a:solidFill>
                  <a:srgbClr val="B60007"/>
                </a:solidFill>
              </a:rPr>
              <a:t>protection</a:t>
            </a:r>
            <a:r>
              <a:rPr lang="zh-CN" altLang="en-US" i="1" dirty="0">
                <a:solidFill>
                  <a:srgbClr val="B60007"/>
                </a:solidFill>
              </a:rPr>
              <a:t> </a:t>
            </a:r>
            <a:r>
              <a:rPr lang="en-US" altLang="zh-CN" i="1" dirty="0">
                <a:solidFill>
                  <a:srgbClr val="B60007"/>
                </a:solidFill>
              </a:rPr>
              <a:t>effect,</a:t>
            </a:r>
            <a:r>
              <a:rPr lang="zh-CN" altLang="en-US" i="1" dirty="0">
                <a:solidFill>
                  <a:srgbClr val="B60007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but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AI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has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no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impact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on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finding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missing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children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8963F9-33A5-7CCA-39B9-F507E513D84B}"/>
              </a:ext>
            </a:extLst>
          </p:cNvPr>
          <p:cNvSpPr/>
          <p:nvPr/>
        </p:nvSpPr>
        <p:spPr>
          <a:xfrm>
            <a:off x="5191431" y="1919286"/>
            <a:ext cx="6169829" cy="36650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213580-9AA1-206C-7681-5C0D2D2A2F8D}"/>
              </a:ext>
            </a:extLst>
          </p:cNvPr>
          <p:cNvSpPr/>
          <p:nvPr/>
        </p:nvSpPr>
        <p:spPr>
          <a:xfrm>
            <a:off x="6533060" y="2376008"/>
            <a:ext cx="4547506" cy="25352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719D21-79E7-D7F3-0D92-168DD3CB9E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434" y="1919286"/>
            <a:ext cx="3935422" cy="3279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102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E72AB-D98B-030A-ABA4-DE5310066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05E3F-E890-BB73-127D-8D251CAB7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2800" dirty="0"/>
              <a:t>Finding</a:t>
            </a:r>
            <a:r>
              <a:rPr lang="zh-CN" altLang="en-US" sz="2800" dirty="0"/>
              <a:t> </a:t>
            </a:r>
            <a:r>
              <a:rPr lang="en-US" altLang="zh-CN" sz="2800" dirty="0"/>
              <a:t>3:</a:t>
            </a:r>
            <a:r>
              <a:rPr lang="zh-CN" altLang="en-US" sz="2800" dirty="0"/>
              <a:t> </a:t>
            </a:r>
            <a:r>
              <a:rPr lang="en-US" sz="2800" dirty="0"/>
              <a:t>Heterogeneous Effects: </a:t>
            </a:r>
            <a:br>
              <a:rPr lang="en-US" sz="2800" dirty="0"/>
            </a:br>
            <a:r>
              <a:rPr lang="en-US" sz="2800" dirty="0"/>
              <a:t>Victim Gender and Socioeconomic Context </a:t>
            </a:r>
          </a:p>
        </p:txBody>
      </p:sp>
      <p:pic>
        <p:nvPicPr>
          <p:cNvPr id="7" name="Content Placeholder 6" descr="A graph with blue and red lines&#10;&#10;AI-generated content may be incorrect.">
            <a:extLst>
              <a:ext uri="{FF2B5EF4-FFF2-40B4-BE49-F238E27FC236}">
                <a16:creationId xmlns:a16="http://schemas.microsoft.com/office/drawing/2014/main" id="{138D5EED-B521-6A88-8CAA-EA7C257C0E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127" y="1511010"/>
            <a:ext cx="8073745" cy="4261143"/>
          </a:xfrm>
          <a:prstGeom prst="rect">
            <a:avLst/>
          </a:prstGeom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665AD36-0B32-B7F6-EB39-D37CCBA0D376}"/>
              </a:ext>
            </a:extLst>
          </p:cNvPr>
          <p:cNvSpPr/>
          <p:nvPr/>
        </p:nvSpPr>
        <p:spPr>
          <a:xfrm>
            <a:off x="1887344" y="5772153"/>
            <a:ext cx="8417312" cy="91344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4300" indent="-228600"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Talking Point: </a:t>
            </a:r>
          </a:p>
          <a:p>
            <a:pPr marL="685800" lvl="1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/>
                </a:solidFill>
              </a:rPr>
              <a:t>The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protection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effect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concentrates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in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boys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rather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than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girls.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D0324B-57BD-DD63-8C65-94B56A7C58A2}"/>
              </a:ext>
            </a:extLst>
          </p:cNvPr>
          <p:cNvSpPr/>
          <p:nvPr/>
        </p:nvSpPr>
        <p:spPr>
          <a:xfrm>
            <a:off x="1893383" y="2637183"/>
            <a:ext cx="7648181" cy="15902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5297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C8552-8A2C-ED06-3439-4B63CF966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49A74-A3C2-B08A-630D-EB18A01241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3279" y="1122363"/>
            <a:ext cx="9144000" cy="2387600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Study</a:t>
            </a:r>
            <a:r>
              <a:rPr lang="zh-CN" altLang="en-US" sz="3600" dirty="0"/>
              <a:t> </a:t>
            </a:r>
            <a:r>
              <a:rPr lang="en-US" altLang="zh-CN" sz="3600" dirty="0"/>
              <a:t>3</a:t>
            </a:r>
            <a:r>
              <a:rPr lang="zh-CN" altLang="en-US" sz="3600" dirty="0"/>
              <a:t> </a:t>
            </a:r>
            <a:r>
              <a:rPr lang="en-US" altLang="zh-CN" sz="3600" dirty="0"/>
              <a:t>(ongoing):</a:t>
            </a:r>
            <a:br>
              <a:rPr lang="en-US" altLang="zh-CN" sz="3600" dirty="0"/>
            </a:br>
            <a:br>
              <a:rPr lang="en-US" sz="3600" dirty="0"/>
            </a:br>
            <a:r>
              <a:rPr lang="en-US" sz="3600" dirty="0"/>
              <a:t>Open but Isolated: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DC6692-7895-0887-EFDC-3B88C8D57D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3278" y="3602038"/>
            <a:ext cx="9626075" cy="1655762"/>
          </a:xfrm>
        </p:spPr>
        <p:txBody>
          <a:bodyPr>
            <a:normAutofit/>
          </a:bodyPr>
          <a:lstStyle/>
          <a:p>
            <a:r>
              <a:rPr lang="en-US" sz="2800" dirty="0"/>
              <a:t>The Unintended Consequences of AI Model Open-Sourcing</a:t>
            </a:r>
            <a:r>
              <a:rPr lang="zh-CN" altLang="en-US" sz="2800" dirty="0"/>
              <a:t> </a:t>
            </a:r>
            <a:r>
              <a:rPr lang="en-US" sz="2800" dirty="0"/>
              <a:t>on </a:t>
            </a:r>
            <a:r>
              <a:rPr lang="en-US" altLang="zh-CN" sz="2800" dirty="0"/>
              <a:t>A</a:t>
            </a:r>
            <a:r>
              <a:rPr lang="en-US" sz="2800" dirty="0"/>
              <a:t>rchitecture </a:t>
            </a:r>
            <a:r>
              <a:rPr lang="en-US" altLang="zh-CN" sz="2800" dirty="0"/>
              <a:t>A</a:t>
            </a:r>
            <a:r>
              <a:rPr lang="en-US" sz="2800" dirty="0"/>
              <a:t>doption </a:t>
            </a:r>
          </a:p>
        </p:txBody>
      </p:sp>
    </p:spTree>
    <p:extLst>
      <p:ext uri="{BB962C8B-B14F-4D97-AF65-F5344CB8AC3E}">
        <p14:creationId xmlns:p14="http://schemas.microsoft.com/office/powerpoint/2010/main" val="723631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7DFB6-2F09-0FD5-0C59-AA512FDF6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79537-9095-E3F4-4F31-CB687268E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3200" dirty="0"/>
              <a:t>Motivation</a:t>
            </a:r>
            <a:endParaRPr lang="en-US" sz="3200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FDF29DB-62B9-1594-6BCA-2549B267CDCA}"/>
              </a:ext>
            </a:extLst>
          </p:cNvPr>
          <p:cNvSpPr/>
          <p:nvPr/>
        </p:nvSpPr>
        <p:spPr>
          <a:xfrm>
            <a:off x="2879338" y="2033588"/>
            <a:ext cx="6129337" cy="4014788"/>
          </a:xfrm>
          <a:prstGeom prst="roundRect">
            <a:avLst>
              <a:gd name="adj" fmla="val 7851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Model</a:t>
            </a:r>
            <a:r>
              <a:rPr lang="zh-CN" altLang="en-US" b="1" dirty="0"/>
              <a:t> </a:t>
            </a:r>
            <a:r>
              <a:rPr lang="en-US" altLang="zh-CN" b="1" dirty="0"/>
              <a:t>1:</a:t>
            </a:r>
            <a:r>
              <a:rPr lang="zh-CN" altLang="en-US" b="1" dirty="0"/>
              <a:t> </a:t>
            </a:r>
            <a:r>
              <a:rPr lang="en-US" altLang="zh-CN" dirty="0"/>
              <a:t>GPT</a:t>
            </a:r>
            <a:endParaRPr lang="en-US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r>
              <a:rPr lang="en-US" altLang="zh-CN" b="1" dirty="0"/>
              <a:t>Architecture:</a:t>
            </a:r>
            <a:r>
              <a:rPr lang="zh-CN" altLang="en-US" b="1" dirty="0"/>
              <a:t> </a:t>
            </a:r>
            <a:r>
              <a:rPr lang="en-US" altLang="zh-CN" dirty="0"/>
              <a:t>transformer</a:t>
            </a:r>
            <a:endParaRPr lang="en-US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6E9CF5-468F-ECB4-23A7-8232C7DEEA34}"/>
              </a:ext>
            </a:extLst>
          </p:cNvPr>
          <p:cNvSpPr/>
          <p:nvPr/>
        </p:nvSpPr>
        <p:spPr>
          <a:xfrm>
            <a:off x="317114" y="3527762"/>
            <a:ext cx="1811724" cy="79001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Input</a:t>
            </a:r>
            <a:endParaRPr lang="en-US" b="1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2F88EE1-EA19-D7C2-E382-A895E8E1F5BB}"/>
              </a:ext>
            </a:extLst>
          </p:cNvPr>
          <p:cNvSpPr/>
          <p:nvPr/>
        </p:nvSpPr>
        <p:spPr>
          <a:xfrm>
            <a:off x="10032965" y="3527762"/>
            <a:ext cx="1811724" cy="79001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Output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5839270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32CF4-A3A1-A74D-5151-2E64F78BD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EE0D0-574E-B1EC-C4B3-BF7C67257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3200" dirty="0"/>
              <a:t>Motivation</a:t>
            </a:r>
            <a:endParaRPr lang="en-US" sz="3200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CC43B30-03C6-9B4A-4D9F-328F83D0A0D0}"/>
              </a:ext>
            </a:extLst>
          </p:cNvPr>
          <p:cNvSpPr/>
          <p:nvPr/>
        </p:nvSpPr>
        <p:spPr>
          <a:xfrm>
            <a:off x="2879338" y="2033588"/>
            <a:ext cx="6129337" cy="4014788"/>
          </a:xfrm>
          <a:prstGeom prst="roundRect">
            <a:avLst>
              <a:gd name="adj" fmla="val 711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Model</a:t>
            </a:r>
            <a:r>
              <a:rPr lang="zh-CN" altLang="en-US" b="1" dirty="0"/>
              <a:t> </a:t>
            </a:r>
            <a:r>
              <a:rPr lang="en-US" altLang="zh-CN" b="1" dirty="0"/>
              <a:t>2</a:t>
            </a:r>
            <a:r>
              <a:rPr lang="zh-CN" altLang="en-US" b="1" dirty="0"/>
              <a:t> </a:t>
            </a:r>
            <a:r>
              <a:rPr lang="en-US" altLang="zh-CN" dirty="0"/>
              <a:t>(image</a:t>
            </a:r>
            <a:r>
              <a:rPr lang="zh-CN" altLang="en-US" dirty="0"/>
              <a:t> </a:t>
            </a:r>
            <a:r>
              <a:rPr lang="en-US" altLang="zh-CN" dirty="0"/>
              <a:t>generation)</a:t>
            </a:r>
            <a:endParaRPr lang="en-US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r>
              <a:rPr lang="en-US" altLang="zh-CN" b="1" dirty="0"/>
              <a:t>Architecture:</a:t>
            </a:r>
            <a:r>
              <a:rPr lang="zh-CN" altLang="en-US" b="1" dirty="0"/>
              <a:t> </a:t>
            </a:r>
            <a:r>
              <a:rPr lang="en-US" dirty="0"/>
              <a:t>Generative Adversarial Networks (GANs)</a:t>
            </a:r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96C71B1-EF2E-65B8-B36B-3E02E066F55A}"/>
              </a:ext>
            </a:extLst>
          </p:cNvPr>
          <p:cNvSpPr/>
          <p:nvPr/>
        </p:nvSpPr>
        <p:spPr>
          <a:xfrm>
            <a:off x="317114" y="3527762"/>
            <a:ext cx="1811724" cy="79001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Input</a:t>
            </a:r>
            <a:endParaRPr lang="en-US" b="1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F88C5B2-CF64-FB87-89E1-63BABCF2A2C4}"/>
              </a:ext>
            </a:extLst>
          </p:cNvPr>
          <p:cNvSpPr/>
          <p:nvPr/>
        </p:nvSpPr>
        <p:spPr>
          <a:xfrm>
            <a:off x="10032965" y="3527762"/>
            <a:ext cx="1811724" cy="79001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Output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986466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FF4C4-739E-4785-0570-AD207FAFA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5F695-9025-96D3-2E7B-96612D06F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3200" dirty="0"/>
              <a:t>Motivation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35B84-3A22-CE2F-712E-19674CDEC4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3473"/>
            <a:ext cx="11353800" cy="514005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/>
              <a:t>Traditional Open-Source Theory:</a:t>
            </a:r>
            <a:endParaRPr lang="en-US" sz="2400" dirty="0"/>
          </a:p>
          <a:p>
            <a:pPr lvl="1">
              <a:lnSpc>
                <a:spcPct val="100000"/>
              </a:lnSpc>
            </a:pPr>
            <a:r>
              <a:rPr lang="en-US" sz="2000" dirty="0"/>
              <a:t>Open-source development should enhance technology diffusion and architecture </a:t>
            </a:r>
            <a:r>
              <a:rPr lang="en-US" altLang="zh-CN" sz="2000" dirty="0"/>
              <a:t>adoption</a:t>
            </a:r>
            <a:endParaRPr lang="en-US" sz="2000" dirty="0"/>
          </a:p>
          <a:p>
            <a:pPr lvl="1">
              <a:lnSpc>
                <a:spcPct val="100000"/>
              </a:lnSpc>
            </a:pPr>
            <a:endParaRPr lang="en-US" sz="2000" dirty="0"/>
          </a:p>
          <a:p>
            <a:pPr>
              <a:lnSpc>
                <a:spcPct val="100000"/>
              </a:lnSpc>
            </a:pPr>
            <a:r>
              <a:rPr lang="en-US" altLang="zh-CN" sz="2400" b="1" dirty="0"/>
              <a:t>Anecdotal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Evidence</a:t>
            </a:r>
            <a:r>
              <a:rPr lang="en-US" sz="2400" b="1" dirty="0"/>
              <a:t> Challenges </a:t>
            </a:r>
            <a:r>
              <a:rPr lang="en-US" altLang="zh-CN" sz="2400" b="1" dirty="0"/>
              <a:t>This</a:t>
            </a:r>
            <a:r>
              <a:rPr lang="en-US" sz="2400" b="1" dirty="0"/>
              <a:t>:</a:t>
            </a:r>
            <a:endParaRPr lang="en-US" sz="2400" dirty="0"/>
          </a:p>
          <a:p>
            <a:pPr lvl="1">
              <a:lnSpc>
                <a:spcPct val="100000"/>
              </a:lnSpc>
            </a:pPr>
            <a:r>
              <a:rPr lang="en-US" sz="2000" i="1" dirty="0"/>
              <a:t>Open-sourcing may paradoxically reduce </a:t>
            </a:r>
            <a:r>
              <a:rPr lang="en-US" altLang="zh-CN" sz="2000" i="1" dirty="0"/>
              <a:t>architecture</a:t>
            </a:r>
            <a:r>
              <a:rPr lang="zh-CN" altLang="en-US" sz="2000" i="1" dirty="0"/>
              <a:t> </a:t>
            </a:r>
            <a:r>
              <a:rPr lang="en-US" sz="2000" i="1" dirty="0"/>
              <a:t>adoption</a:t>
            </a:r>
            <a:endParaRPr lang="en-US" sz="2000" dirty="0"/>
          </a:p>
          <a:p>
            <a:pPr lvl="1">
              <a:lnSpc>
                <a:spcPct val="100000"/>
              </a:lnSpc>
            </a:pPr>
            <a:r>
              <a:rPr lang="en-US" sz="2000" b="1" dirty="0"/>
              <a:t>Industry concern</a:t>
            </a:r>
            <a:r>
              <a:rPr lang="en-US" sz="2000" dirty="0"/>
              <a:t>: </a:t>
            </a:r>
            <a:r>
              <a:rPr lang="en-US" altLang="zh-CN" sz="2000" dirty="0"/>
              <a:t>AI</a:t>
            </a:r>
            <a:r>
              <a:rPr lang="zh-CN" altLang="en-US" sz="2000" dirty="0"/>
              <a:t> </a:t>
            </a:r>
            <a:r>
              <a:rPr lang="en-US" altLang="zh-CN" sz="2000" dirty="0"/>
              <a:t>model</a:t>
            </a:r>
            <a:r>
              <a:rPr lang="zh-CN" altLang="en-US" sz="2000" dirty="0"/>
              <a:t> </a:t>
            </a:r>
            <a:r>
              <a:rPr lang="en-US" altLang="zh-CN" sz="2000" dirty="0"/>
              <a:t>o</a:t>
            </a:r>
            <a:r>
              <a:rPr lang="en-US" sz="2000" dirty="0"/>
              <a:t>pen</a:t>
            </a:r>
            <a:r>
              <a:rPr lang="en-US" altLang="zh-CN" sz="2000" dirty="0"/>
              <a:t>-sourcing</a:t>
            </a:r>
            <a:r>
              <a:rPr lang="zh-CN" altLang="en-US" sz="2000" dirty="0"/>
              <a:t> </a:t>
            </a:r>
            <a:r>
              <a:rPr lang="en-US" sz="2000" dirty="0"/>
              <a:t>enable cyber attacks and malicious applications</a:t>
            </a:r>
          </a:p>
          <a:p>
            <a:pPr lvl="1">
              <a:lnSpc>
                <a:spcPct val="100000"/>
              </a:lnSpc>
            </a:pPr>
            <a:r>
              <a:rPr lang="en-US" sz="2000" b="1" dirty="0"/>
              <a:t>Academic concern</a:t>
            </a:r>
            <a:r>
              <a:rPr lang="en-US" sz="2000" dirty="0"/>
              <a:t>: Data reliability issues may cause performance degradation and erode developer trust</a:t>
            </a:r>
          </a:p>
          <a:p>
            <a:pPr lvl="1">
              <a:lnSpc>
                <a:spcPct val="100000"/>
              </a:lnSpc>
            </a:pPr>
            <a:endParaRPr lang="en-US" sz="2000" dirty="0"/>
          </a:p>
          <a:p>
            <a:pPr>
              <a:lnSpc>
                <a:spcPct val="100000"/>
              </a:lnSpc>
            </a:pPr>
            <a:r>
              <a:rPr lang="en-US" sz="2400" i="1" dirty="0"/>
              <a:t>The representativeness of this anecdotal evidence remains unclear</a:t>
            </a:r>
            <a:endParaRPr lang="en-US" sz="2400" dirty="0"/>
          </a:p>
          <a:p>
            <a:pPr>
              <a:lnSpc>
                <a:spcPct val="100000"/>
              </a:lnSpc>
            </a:pPr>
            <a:endParaRPr lang="en-US" sz="2400" i="1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2283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4B2F0-9CBE-8517-96D7-3B4D13520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68BE5-3292-D68F-5B70-B018749F9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3200" dirty="0"/>
              <a:t>Motivation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51024-1792-D4B0-1F54-1B8AC9F308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3473"/>
            <a:ext cx="11049000" cy="514005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dirty="0">
                <a:cs typeface="Times New Roman" panose="02020603050405020304" pitchFamily="18" charset="0"/>
              </a:rPr>
              <a:t>Why</a:t>
            </a:r>
            <a:r>
              <a:rPr lang="zh-CN" altLang="en-US" dirty="0">
                <a:cs typeface="Times New Roman" panose="02020603050405020304" pitchFamily="18" charset="0"/>
              </a:rPr>
              <a:t> </a:t>
            </a:r>
            <a:r>
              <a:rPr lang="en-US" altLang="zh-CN" dirty="0">
                <a:cs typeface="Times New Roman" panose="02020603050405020304" pitchFamily="18" charset="0"/>
              </a:rPr>
              <a:t>investigating</a:t>
            </a:r>
            <a:r>
              <a:rPr lang="zh-CN" altLang="en-US" dirty="0">
                <a:cs typeface="Times New Roman" panose="02020603050405020304" pitchFamily="18" charset="0"/>
              </a:rPr>
              <a:t> </a:t>
            </a:r>
            <a:r>
              <a:rPr lang="en-US" altLang="zh-CN" dirty="0">
                <a:cs typeface="Times New Roman" panose="02020603050405020304" pitchFamily="18" charset="0"/>
              </a:rPr>
              <a:t>this?</a:t>
            </a:r>
          </a:p>
          <a:p>
            <a:pPr lvl="1">
              <a:lnSpc>
                <a:spcPct val="100000"/>
              </a:lnSpc>
            </a:pPr>
            <a:r>
              <a:rPr lang="en-US" sz="2800" b="1" dirty="0"/>
              <a:t>For AI suppliers:</a:t>
            </a:r>
            <a:endParaRPr lang="en-US" sz="2800" dirty="0"/>
          </a:p>
          <a:p>
            <a:pPr lvl="2">
              <a:lnSpc>
                <a:spcPct val="100000"/>
              </a:lnSpc>
            </a:pPr>
            <a:r>
              <a:rPr lang="en-US" sz="2400" dirty="0"/>
              <a:t>Open-sourcing represents a critical strategic choice</a:t>
            </a:r>
          </a:p>
        </p:txBody>
      </p:sp>
    </p:spTree>
    <p:extLst>
      <p:ext uri="{BB962C8B-B14F-4D97-AF65-F5344CB8AC3E}">
        <p14:creationId xmlns:p14="http://schemas.microsoft.com/office/powerpoint/2010/main" val="33276637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FA005-1C4E-A5E2-F982-649E1AA21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6311D-0B02-5CF1-34FD-280329B20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3200" dirty="0"/>
              <a:t>Data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D2CD9-1A78-A8E7-F604-BA1DF39015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83473"/>
            <a:ext cx="11192435" cy="5140056"/>
          </a:xfrm>
        </p:spPr>
        <p:txBody>
          <a:bodyPr>
            <a:normAutofit/>
          </a:bodyPr>
          <a:lstStyle/>
          <a:p>
            <a:r>
              <a:rPr lang="en-US" altLang="zh-CN" sz="2400" dirty="0">
                <a:cs typeface="Times New Roman" panose="02020603050405020304" pitchFamily="18" charset="0"/>
              </a:rPr>
              <a:t>Our</a:t>
            </a:r>
            <a:r>
              <a:rPr lang="zh-CN" altLang="en-US" sz="2400" dirty="0"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cs typeface="Times New Roman" panose="02020603050405020304" pitchFamily="18" charset="0"/>
              </a:rPr>
              <a:t>coauthor</a:t>
            </a:r>
            <a:r>
              <a:rPr lang="zh-CN" altLang="en-US" sz="2400" dirty="0"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cs typeface="Times New Roman" panose="02020603050405020304" pitchFamily="18" charset="0"/>
              </a:rPr>
              <a:t>provides</a:t>
            </a:r>
            <a:r>
              <a:rPr lang="zh-CN" altLang="en-US" sz="2400" dirty="0"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cs typeface="Times New Roman" panose="02020603050405020304" pitchFamily="18" charset="0"/>
              </a:rPr>
              <a:t>this</a:t>
            </a:r>
            <a:r>
              <a:rPr lang="zh-CN" altLang="en-US" sz="2400" dirty="0"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cs typeface="Times New Roman" panose="02020603050405020304" pitchFamily="18" charset="0"/>
              </a:rPr>
              <a:t>unique</a:t>
            </a:r>
            <a:r>
              <a:rPr lang="zh-CN" altLang="en-US" sz="2400" dirty="0"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cs typeface="Times New Roman" panose="02020603050405020304" pitchFamily="18" charset="0"/>
              </a:rPr>
              <a:t>data.</a:t>
            </a:r>
          </a:p>
          <a:p>
            <a:pPr lvl="1"/>
            <a:r>
              <a:rPr lang="en-US" altLang="zh-CN" sz="2000" dirty="0">
                <a:cs typeface="Times New Roman" panose="02020603050405020304" pitchFamily="18" charset="0"/>
              </a:rPr>
              <a:t>Each</a:t>
            </a:r>
            <a:r>
              <a:rPr lang="zh-CN" altLang="en-US" sz="2000" dirty="0"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cs typeface="Times New Roman" panose="02020603050405020304" pitchFamily="18" charset="0"/>
              </a:rPr>
              <a:t>model</a:t>
            </a:r>
            <a:r>
              <a:rPr lang="zh-CN" altLang="en-US" sz="2000" dirty="0"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cs typeface="Times New Roman" panose="02020603050405020304" pitchFamily="18" charset="0"/>
              </a:rPr>
              <a:t>is</a:t>
            </a:r>
            <a:r>
              <a:rPr lang="zh-CN" altLang="en-US" sz="2000" dirty="0"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cs typeface="Times New Roman" panose="02020603050405020304" pitchFamily="18" charset="0"/>
              </a:rPr>
              <a:t>labelled</a:t>
            </a:r>
            <a:r>
              <a:rPr lang="zh-CN" altLang="en-US" sz="2000" dirty="0"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cs typeface="Times New Roman" panose="02020603050405020304" pitchFamily="18" charset="0"/>
              </a:rPr>
              <a:t>with</a:t>
            </a:r>
            <a:r>
              <a:rPr lang="zh-CN" altLang="en-US" sz="2000" dirty="0"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cs typeface="Times New Roman" panose="02020603050405020304" pitchFamily="18" charset="0"/>
              </a:rPr>
              <a:t>the architecture</a:t>
            </a:r>
            <a:r>
              <a:rPr lang="zh-CN" altLang="en-US" sz="2000" dirty="0"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cs typeface="Times New Roman" panose="02020603050405020304" pitchFamily="18" charset="0"/>
              </a:rPr>
              <a:t>used</a:t>
            </a:r>
            <a:endParaRPr lang="en-US" sz="2000" dirty="0">
              <a:cs typeface="Times New Roman" panose="02020603050405020304" pitchFamily="18" charset="0"/>
            </a:endParaRPr>
          </a:p>
          <a:p>
            <a:pPr lvl="1"/>
            <a:r>
              <a:rPr lang="en-US" sz="2000" dirty="0">
                <a:ea typeface="SimSun" panose="02010600030101010101" pitchFamily="2" charset="-122"/>
              </a:rPr>
              <a:t>754 unique tasks</a:t>
            </a:r>
            <a:r>
              <a:rPr lang="zh-CN" altLang="en-US" sz="2000" dirty="0"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ea typeface="SimSun" panose="02010600030101010101" pitchFamily="2" charset="-122"/>
              </a:rPr>
              <a:t>(e.g.,</a:t>
            </a:r>
            <a:r>
              <a:rPr lang="zh-CN" altLang="en-US" sz="2000" dirty="0"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ea typeface="SimSun" panose="02010600030101010101" pitchFamily="2" charset="-122"/>
              </a:rPr>
              <a:t>facial</a:t>
            </a:r>
            <a:r>
              <a:rPr lang="zh-CN" altLang="en-US" sz="2000" dirty="0"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ea typeface="SimSun" panose="02010600030101010101" pitchFamily="2" charset="-122"/>
              </a:rPr>
              <a:t>recognition)</a:t>
            </a:r>
            <a:endParaRPr lang="en-US" sz="2000" dirty="0">
              <a:ea typeface="SimSun" panose="02010600030101010101" pitchFamily="2" charset="-122"/>
            </a:endParaRPr>
          </a:p>
          <a:p>
            <a:pPr lvl="1"/>
            <a:endParaRPr lang="en-US" sz="2000" dirty="0">
              <a:ea typeface="SimSun" panose="02010600030101010101" pitchFamily="2" charset="-122"/>
            </a:endParaRPr>
          </a:p>
          <a:p>
            <a:r>
              <a:rPr lang="en-US" altLang="zh-CN" sz="2400" dirty="0">
                <a:ea typeface="SimSun" panose="02010600030101010101" pitchFamily="2" charset="-122"/>
              </a:rPr>
              <a:t>Variable</a:t>
            </a:r>
            <a:endParaRPr lang="en-US" sz="2400" dirty="0">
              <a:ea typeface="SimSun" panose="02010600030101010101" pitchFamily="2" charset="-122"/>
            </a:endParaRPr>
          </a:p>
          <a:p>
            <a:pPr lvl="1"/>
            <a:r>
              <a:rPr lang="en-US" sz="2000" i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numSameModel</a:t>
            </a:r>
            <a:r>
              <a:rPr lang="en-US" sz="2000" i="1" baseline="-250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i,t+1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Number of models in </a:t>
            </a:r>
            <a:r>
              <a:rPr lang="en-US" altLang="zh-CN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time</a:t>
            </a:r>
            <a:r>
              <a:rPr 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t+1</a:t>
            </a:r>
            <a:r>
              <a:rPr 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adopt </a:t>
            </a:r>
            <a:r>
              <a:rPr lang="en-US" altLang="zh-CN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the</a:t>
            </a:r>
            <a:r>
              <a:rPr lang="zh-CN" alt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architecture</a:t>
            </a:r>
            <a:r>
              <a:rPr lang="zh-CN" alt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of</a:t>
            </a:r>
            <a:r>
              <a:rPr 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model </a:t>
            </a:r>
            <a:r>
              <a:rPr lang="en-US" i="1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US" sz="2000" i="1" kern="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altLang="zh-CN" sz="2000" i="1" kern="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Opensource</a:t>
            </a:r>
            <a:r>
              <a:rPr lang="en-US" sz="2000" i="1" kern="0" baseline="-25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2"/>
            <a:r>
              <a:rPr lang="en-US" altLang="zh-CN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Whether</a:t>
            </a:r>
            <a:r>
              <a:rPr lang="zh-CN" alt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odel </a:t>
            </a:r>
            <a:r>
              <a:rPr lang="en-US" i="1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i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has</a:t>
            </a:r>
            <a:r>
              <a:rPr lang="zh-CN" alt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a GitHub</a:t>
            </a:r>
            <a:r>
              <a:rPr lang="zh-CN" alt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repo</a:t>
            </a:r>
          </a:p>
          <a:p>
            <a:pPr lvl="2"/>
            <a:endParaRPr lang="en-US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ea typeface="SimSun" panose="02010600030101010101" pitchFamily="2" charset="-122"/>
              </a:rPr>
              <a:t>Model specification (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</a:rPr>
              <a:t>OLS</a:t>
            </a:r>
            <a:r>
              <a:rPr lang="en-US" sz="2400" dirty="0">
                <a:latin typeface="Times New Roman" panose="02020603050405020304" pitchFamily="18" charset="0"/>
                <a:ea typeface="SimSun" panose="02010600030101010101" pitchFamily="2" charset="-122"/>
              </a:rPr>
              <a:t>)</a:t>
            </a:r>
          </a:p>
          <a:p>
            <a:pPr lvl="1">
              <a:lnSpc>
                <a:spcPct val="100000"/>
              </a:lnSpc>
            </a:pPr>
            <a:r>
              <a:rPr lang="en-US" sz="2000" i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numSameModel</a:t>
            </a:r>
            <a:r>
              <a:rPr lang="en-US" sz="2000" i="1" baseline="-250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i,t+1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kern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= </a:t>
            </a:r>
            <a:r>
              <a:rPr lang="en-US" sz="2000" i="1" kern="0" dirty="0">
                <a:latin typeface="Symbol" pitchFamily="2" charset="2"/>
                <a:ea typeface="Symbol" pitchFamily="2" charset="2"/>
                <a:cs typeface="Symbol" pitchFamily="2" charset="2"/>
              </a:rPr>
              <a:t></a:t>
            </a:r>
            <a:r>
              <a:rPr lang="en-US" sz="2000" i="1" kern="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0</a:t>
            </a:r>
            <a:r>
              <a:rPr lang="en-US" sz="2000" i="1" kern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+ </a:t>
            </a:r>
            <a:r>
              <a:rPr lang="en-US" sz="2000" i="1" kern="0" dirty="0">
                <a:latin typeface="Symbol" pitchFamily="2" charset="2"/>
                <a:ea typeface="Symbol" pitchFamily="2" charset="2"/>
                <a:cs typeface="Symbol" pitchFamily="2" charset="2"/>
              </a:rPr>
              <a:t></a:t>
            </a:r>
            <a:r>
              <a:rPr lang="en-US" sz="2000" i="1" kern="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 </a:t>
            </a:r>
            <a:r>
              <a:rPr lang="en-US" sz="2000" i="1" kern="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is</a:t>
            </a:r>
            <a:r>
              <a:rPr lang="en-US" altLang="zh-CN" sz="2000" i="1" kern="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Open</a:t>
            </a:r>
            <a:r>
              <a:rPr lang="en-US" altLang="zh-CN" sz="2000" i="1" kern="0" dirty="0" err="1">
                <a:latin typeface="Times New Roman" panose="02020603050405020304" pitchFamily="18" charset="0"/>
              </a:rPr>
              <a:t>Source</a:t>
            </a:r>
            <a:r>
              <a:rPr lang="en-US" sz="2000" i="1" kern="0" baseline="-25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it</a:t>
            </a:r>
            <a:r>
              <a:rPr lang="en-US" sz="2000" i="1" kern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+ </a:t>
            </a:r>
            <a:r>
              <a:rPr lang="en-US" sz="2000" i="1" kern="0" dirty="0">
                <a:latin typeface="Symbol" pitchFamily="2" charset="2"/>
                <a:ea typeface="Symbol" pitchFamily="2" charset="2"/>
                <a:cs typeface="Symbol" pitchFamily="2" charset="2"/>
              </a:rPr>
              <a:t></a:t>
            </a:r>
            <a:r>
              <a:rPr lang="en-US" sz="2000" i="1" kern="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US" sz="2000" i="1" kern="0" baseline="-25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it</a:t>
            </a:r>
            <a:r>
              <a:rPr lang="en-US" sz="2000" i="1" kern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+ Task</a:t>
            </a:r>
            <a:r>
              <a:rPr lang="en-US" sz="2000" i="1" kern="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2000" i="1" kern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+ </a:t>
            </a:r>
            <a:r>
              <a:rPr lang="en-US" altLang="zh-CN" sz="2000" i="1" kern="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Time</a:t>
            </a:r>
            <a:r>
              <a:rPr lang="en-US" sz="2000" i="1" kern="0" baseline="-25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z="2000" i="1" kern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+ </a:t>
            </a:r>
            <a:r>
              <a:rPr lang="en-US" sz="2000" i="1" kern="0" dirty="0">
                <a:latin typeface="Symbol" pitchFamily="2" charset="2"/>
                <a:ea typeface="Symbol" pitchFamily="2" charset="2"/>
                <a:cs typeface="Symbol" pitchFamily="2" charset="2"/>
              </a:rPr>
              <a:t></a:t>
            </a:r>
            <a:r>
              <a:rPr lang="en-US" sz="2000" i="1" kern="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it</a:t>
            </a:r>
            <a:endParaRPr lang="en-US" sz="2000" kern="100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lvl="1"/>
            <a:endParaRPr lang="en-US" sz="2000" dirty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66381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BF2EC-03ED-6FDC-CB89-1BB5159CE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10651-D963-DD64-09EB-2D07B051A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3200" dirty="0"/>
              <a:t>Identification</a:t>
            </a:r>
            <a:r>
              <a:rPr lang="zh-CN" altLang="en-US" sz="3200" dirty="0"/>
              <a:t> </a:t>
            </a:r>
            <a:r>
              <a:rPr lang="en-US" altLang="zh-CN" sz="3200" dirty="0"/>
              <a:t>and</a:t>
            </a:r>
            <a:r>
              <a:rPr lang="zh-CN" altLang="en-US" sz="3200" dirty="0"/>
              <a:t> </a:t>
            </a:r>
            <a:r>
              <a:rPr lang="en-US" altLang="zh-CN" sz="3200" dirty="0"/>
              <a:t>preliminary</a:t>
            </a:r>
            <a:r>
              <a:rPr lang="zh-CN" altLang="en-US" sz="3200" dirty="0"/>
              <a:t> </a:t>
            </a:r>
            <a:r>
              <a:rPr lang="en-US" altLang="zh-CN" sz="3200" dirty="0"/>
              <a:t>findings</a:t>
            </a:r>
            <a:endParaRPr lang="en-US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F3414A-E54A-858C-1001-F878610C36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3054"/>
          <a:stretch>
            <a:fillRect/>
          </a:stretch>
        </p:blipFill>
        <p:spPr>
          <a:xfrm>
            <a:off x="3026789" y="2263879"/>
            <a:ext cx="6138419" cy="2861308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182EB95-232A-1589-3EBE-5299DD8A4708}"/>
              </a:ext>
            </a:extLst>
          </p:cNvPr>
          <p:cNvSpPr/>
          <p:nvPr/>
        </p:nvSpPr>
        <p:spPr>
          <a:xfrm>
            <a:off x="1424063" y="5540337"/>
            <a:ext cx="9343873" cy="91344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4300" indent="-228600"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Talking Point: </a:t>
            </a:r>
          </a:p>
          <a:p>
            <a:pPr marL="685800" lvl="1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AI model open-sourcing may paradoxically reduce architecture adoption</a:t>
            </a:r>
          </a:p>
        </p:txBody>
      </p:sp>
    </p:spTree>
    <p:extLst>
      <p:ext uri="{BB962C8B-B14F-4D97-AF65-F5344CB8AC3E}">
        <p14:creationId xmlns:p14="http://schemas.microsoft.com/office/powerpoint/2010/main" val="120408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4232F-5131-4D23-2EF0-4B44163AD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Thank</a:t>
            </a:r>
            <a:r>
              <a:rPr lang="zh-CN" altLang="en-US" dirty="0"/>
              <a:t> </a:t>
            </a:r>
            <a:r>
              <a:rPr lang="en-US" altLang="zh-CN" dirty="0"/>
              <a:t>you!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73338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18198</TotalTime>
  <Words>1960</Words>
  <Application>Microsoft Macintosh PowerPoint</Application>
  <PresentationFormat>Widescreen</PresentationFormat>
  <Paragraphs>331</Paragraphs>
  <Slides>36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5" baseType="lpstr">
      <vt:lpstr>-apple-system</vt:lpstr>
      <vt:lpstr>SimSun</vt:lpstr>
      <vt:lpstr>Aptos</vt:lpstr>
      <vt:lpstr>Arial</vt:lpstr>
      <vt:lpstr>Calibri</vt:lpstr>
      <vt:lpstr>Cambria Math</vt:lpstr>
      <vt:lpstr>Symbol</vt:lpstr>
      <vt:lpstr>Times New Roman</vt:lpstr>
      <vt:lpstr>Office Theme</vt:lpstr>
      <vt:lpstr>AI in Practice:  Platform Governance, Crime Prevention, and Open-Source Paradoxes</vt:lpstr>
      <vt:lpstr>Study 1 (completed):  Content, Position, and Source:</vt:lpstr>
      <vt:lpstr>Online Q&amp;A Communities </vt:lpstr>
      <vt:lpstr>Challenges: External GenAI (ChatGPT) attracts users away from online Q&amp;A communities </vt:lpstr>
      <vt:lpstr>One Proactive Platform Response: Implement Internal GenAI</vt:lpstr>
      <vt:lpstr>One Proactive Platform Response: Implement Internal GenAI</vt:lpstr>
      <vt:lpstr>A Randomized Experiment on SegmentFault</vt:lpstr>
      <vt:lpstr>A Randomized Field Experiment on SegmentFault</vt:lpstr>
      <vt:lpstr>Empirical Model</vt:lpstr>
      <vt:lpstr>Effects of AI answers on answer supply and viewer recognition</vt:lpstr>
      <vt:lpstr>Effects of AI answers on answer supply and viewer recognition</vt:lpstr>
      <vt:lpstr>Why AI Deters human answer supply? Three Theoretical Mechanisms</vt:lpstr>
      <vt:lpstr>Mechanism 1 - Content Effects</vt:lpstr>
      <vt:lpstr>Mechanism 2 - Position Effects</vt:lpstr>
      <vt:lpstr>Mechanism 3 - Source Effects</vt:lpstr>
      <vt:lpstr>Why Viewer Recognition Decreases?</vt:lpstr>
      <vt:lpstr>Humans Differentiate Through Unique Value</vt:lpstr>
      <vt:lpstr>Key Takeaways</vt:lpstr>
      <vt:lpstr>What Should Platforms and Users Do?</vt:lpstr>
      <vt:lpstr>Study 2 (ongoing):  Does AI save babies?</vt:lpstr>
      <vt:lpstr>Motivation: The Global Child Trafficking Crisis</vt:lpstr>
      <vt:lpstr>A new hope: facial-recognition AI</vt:lpstr>
      <vt:lpstr>The China Context</vt:lpstr>
      <vt:lpstr>Empirical model</vt:lpstr>
      <vt:lpstr>Empirical model</vt:lpstr>
      <vt:lpstr>Finding 1: AI Facial Recognition Systems Reduce Child Trafficking </vt:lpstr>
      <vt:lpstr>Finding 2: Additional Analyses</vt:lpstr>
      <vt:lpstr>Finding 3: Heterogeneous Effects:  Victim Gender and Socioeconomic Context </vt:lpstr>
      <vt:lpstr>Study 3 (ongoing):  Open but Isolated: </vt:lpstr>
      <vt:lpstr>Motivation</vt:lpstr>
      <vt:lpstr>Motivation</vt:lpstr>
      <vt:lpstr>Motivation</vt:lpstr>
      <vt:lpstr>Motivation</vt:lpstr>
      <vt:lpstr>Data</vt:lpstr>
      <vt:lpstr>Identification and preliminary findings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Ivan LAM</dc:creator>
  <cp:lastModifiedBy>CHEN Junluo</cp:lastModifiedBy>
  <cp:revision>45</cp:revision>
  <dcterms:created xsi:type="dcterms:W3CDTF">2025-01-21T13:24:11Z</dcterms:created>
  <dcterms:modified xsi:type="dcterms:W3CDTF">2025-12-01T06:41:06Z</dcterms:modified>
</cp:coreProperties>
</file>